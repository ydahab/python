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Ask: what is the difference between what a page SAYS (HTML) and how it LOOKS (CSS)?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Element selector: styles the whole &lt;body&gt;, so every child inherits the font.
2. font-family is a list: the browser uses the first font it has; sans-serif is the safe fallback.
3. color: royalblue uses a named colour (about 140 names exist).
4. #333333 is a hex colour (red, green, blue in base 16): a dark grey.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.card is a class selector (starts with a dot). Reuse it on as many elements as you like.
2. border is a shorthand: width, style and colour in one line.
3. .badge shows a second class; it only styles the element that has class="badge".
4. #title is an ID selector (starts with #). Use an ID only once per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Descendant selector: every &lt;a&gt; link that sits inside an element with class nav.
2. text-decoration: none removes the default underline from links.
3. :hover applies only while the mouse pointer is over the link.
4. It is more specific than .nav a, so its colours win when you hover.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 High School  |  Lesson 1: Basics &amp; Selectors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 High School  |  Lesson 1: Basics &amp; Selectors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5_braces"/>
          <p:cNvSpPr txBox="1"/>
          <p:nvPr/>
        </p:nvSpPr>
        <p:spPr>
          <a:xfrm>
            <a:off x="731520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000" dirty="0"/>
          </a:p>
        </p:txBody>
      </p:sp>
      <p:sp>
        <p:nvSpPr>
          <p:cNvPr id="4" name="a1_pill"/>
          <p:cNvSpPr/>
          <p:nvPr/>
        </p:nvSpPr>
        <p:spPr>
          <a:xfrm>
            <a:off x="731520" y="1463040"/>
            <a:ext cx="265176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5" name="a1_pill_text"/>
          <p:cNvSpPr txBox="1"/>
          <p:nvPr/>
        </p:nvSpPr>
        <p:spPr>
          <a:xfrm>
            <a:off x="731520" y="1463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OF 7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CSS Basics &amp; Selectors</a:t>
            </a:r>
            <a:endParaRPr lang="en-US" sz="48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731520" y="4069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Teach the browser how your HTML should look</a:t>
            </a:r>
            <a:endParaRPr lang="en-US" sz="2200" dirty="0"/>
          </a:p>
        </p:txBody>
      </p:sp>
      <p:sp>
        <p:nvSpPr>
          <p:cNvPr id="8" name="a4_meta"/>
          <p:cNvSpPr txBox="1"/>
          <p:nvPr/>
        </p:nvSpPr>
        <p:spPr>
          <a:xfrm>
            <a:off x="73152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 |  Prior knowledge: basic HTML  |  ~45 min</a:t>
            </a:r>
            <a:endParaRPr lang="en-US" sz="1600" dirty="0"/>
          </a:p>
        </p:txBody>
      </p:sp>
      <p:sp>
        <p:nvSpPr>
          <p:cNvPr id="9" name="a5_layer"/>
          <p:cNvSpPr/>
          <p:nvPr/>
        </p:nvSpPr>
        <p:spPr>
          <a:xfrm>
            <a:off x="7635240" y="1234440"/>
            <a:ext cx="4114800" cy="4480560"/>
          </a:xfrm>
          <a:prstGeom prst="roundRect">
            <a:avLst>
              <a:gd name="adj" fmla="val 2667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10" name="a6_layer"/>
          <p:cNvSpPr/>
          <p:nvPr/>
        </p:nvSpPr>
        <p:spPr>
          <a:xfrm>
            <a:off x="8092440" y="169164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/>
        </p:spPr>
      </p:sp>
      <p:sp>
        <p:nvSpPr>
          <p:cNvPr id="11" name="a7_layer"/>
          <p:cNvSpPr/>
          <p:nvPr/>
        </p:nvSpPr>
        <p:spPr>
          <a:xfrm>
            <a:off x="8503920" y="210312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/>
        </p:spPr>
      </p:sp>
      <p:sp>
        <p:nvSpPr>
          <p:cNvPr id="12" name="a8_layer"/>
          <p:cNvSpPr/>
          <p:nvPr/>
        </p:nvSpPr>
        <p:spPr>
          <a:xfrm>
            <a:off x="8869680" y="2468880"/>
            <a:ext cx="1645920" cy="19202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3" name="a9_cssword"/>
          <p:cNvSpPr txBox="1"/>
          <p:nvPr/>
        </p:nvSpPr>
        <p:spPr>
          <a:xfrm>
            <a:off x="8869680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Learning objective</a:t>
            </a:r>
            <a:endParaRPr lang="en-US" sz="3400" dirty="0"/>
          </a:p>
        </p:txBody>
      </p:sp>
      <p:sp>
        <p:nvSpPr>
          <p:cNvPr id="3" name="a2_panel"/>
          <p:cNvSpPr/>
          <p:nvPr/>
        </p:nvSpPr>
        <p:spPr>
          <a:xfrm>
            <a:off x="548640" y="150876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a2_head"/>
          <p:cNvSpPr txBox="1"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 you can:</a:t>
            </a:r>
            <a:endParaRPr lang="en-US" sz="1900" dirty="0"/>
          </a:p>
        </p:txBody>
      </p:sp>
      <p:sp>
        <p:nvSpPr>
          <p:cNvPr id="5" name="a3_ico_bg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a3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252374" cy="252374"/>
          </a:xfrm>
          <a:prstGeom prst="rect">
            <a:avLst/>
          </a:prstGeom>
        </p:spPr>
      </p:pic>
      <p:sp>
        <p:nvSpPr>
          <p:cNvPr id="7" name="a3_obj"/>
          <p:cNvSpPr txBox="1"/>
          <p:nvPr/>
        </p:nvSpPr>
        <p:spPr>
          <a:xfrm>
            <a:off x="1600200" y="2331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CSS is and how it differs from HTML</a:t>
            </a:r>
            <a:endParaRPr lang="en-US" sz="1800" dirty="0"/>
          </a:p>
        </p:txBody>
      </p:sp>
      <p:sp>
        <p:nvSpPr>
          <p:cNvPr id="8" name="a4_ico_bg"/>
          <p:cNvSpPr/>
          <p:nvPr/>
        </p:nvSpPr>
        <p:spPr>
          <a:xfrm>
            <a:off x="868680" y="3703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a4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3" y="3851453"/>
            <a:ext cx="252374" cy="252374"/>
          </a:xfrm>
          <a:prstGeom prst="rect">
            <a:avLst/>
          </a:prstGeom>
        </p:spPr>
      </p:pic>
      <p:sp>
        <p:nvSpPr>
          <p:cNvPr id="10" name="a4_obj"/>
          <p:cNvSpPr txBox="1"/>
          <p:nvPr/>
        </p:nvSpPr>
        <p:spPr>
          <a:xfrm>
            <a:off x="1600200" y="361188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CSS rule made of a selector, a property and a value</a:t>
            </a:r>
            <a:endParaRPr lang="en-US" sz="1800" dirty="0"/>
          </a:p>
        </p:txBody>
      </p:sp>
      <p:sp>
        <p:nvSpPr>
          <p:cNvPr id="11" name="a5_ico_bg"/>
          <p:cNvSpPr/>
          <p:nvPr/>
        </p:nvSpPr>
        <p:spPr>
          <a:xfrm>
            <a:off x="868680" y="49834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a5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5131613"/>
            <a:ext cx="252374" cy="252374"/>
          </a:xfrm>
          <a:prstGeom prst="rect">
            <a:avLst/>
          </a:prstGeom>
        </p:spPr>
      </p:pic>
      <p:sp>
        <p:nvSpPr>
          <p:cNvPr id="13" name="a5_obj"/>
          <p:cNvSpPr txBox="1"/>
          <p:nvPr/>
        </p:nvSpPr>
        <p:spPr>
          <a:xfrm>
            <a:off x="1600200" y="48920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elements with element, class and ID selectors</a:t>
            </a:r>
            <a:endParaRPr lang="en-US" sz="1800" dirty="0"/>
          </a:p>
        </p:txBody>
      </p:sp>
      <p:sp>
        <p:nvSpPr>
          <p:cNvPr id="14" name="a6_terms_head"/>
          <p:cNvSpPr txBox="1"/>
          <p:nvPr/>
        </p:nvSpPr>
        <p:spPr>
          <a:xfrm>
            <a:off x="6355080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900" dirty="0"/>
          </a:p>
        </p:txBody>
      </p:sp>
      <p:sp>
        <p:nvSpPr>
          <p:cNvPr id="15" name="a6_chip"/>
          <p:cNvSpPr/>
          <p:nvPr/>
        </p:nvSpPr>
        <p:spPr>
          <a:xfrm>
            <a:off x="6355080" y="205740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6" name="a6_chip_text"/>
          <p:cNvSpPr txBox="1"/>
          <p:nvPr/>
        </p:nvSpPr>
        <p:spPr>
          <a:xfrm>
            <a:off x="635508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1300" dirty="0"/>
          </a:p>
        </p:txBody>
      </p:sp>
      <p:sp>
        <p:nvSpPr>
          <p:cNvPr id="17" name="a6_def"/>
          <p:cNvSpPr txBox="1"/>
          <p:nvPr/>
        </p:nvSpPr>
        <p:spPr>
          <a:xfrm>
            <a:off x="8183880" y="1947672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Sheets: the language that describes how HTML elements look.</a:t>
            </a:r>
            <a:endParaRPr lang="en-US" sz="1400" dirty="0"/>
          </a:p>
        </p:txBody>
      </p:sp>
      <p:sp>
        <p:nvSpPr>
          <p:cNvPr id="18" name="a7_chip"/>
          <p:cNvSpPr/>
          <p:nvPr/>
        </p:nvSpPr>
        <p:spPr>
          <a:xfrm>
            <a:off x="6355080" y="3127248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9" name="a7_chip_text"/>
          <p:cNvSpPr txBox="1"/>
          <p:nvPr/>
        </p:nvSpPr>
        <p:spPr>
          <a:xfrm>
            <a:off x="6355080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</a:t>
            </a:r>
            <a:endParaRPr lang="en-US" sz="1300" dirty="0"/>
          </a:p>
        </p:txBody>
      </p:sp>
      <p:sp>
        <p:nvSpPr>
          <p:cNvPr id="20" name="a7_def"/>
          <p:cNvSpPr txBox="1"/>
          <p:nvPr/>
        </p:nvSpPr>
        <p:spPr>
          <a:xfrm>
            <a:off x="8183880" y="3017520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of a rule that picks which elements to style, such as h1 or .card.</a:t>
            </a:r>
            <a:endParaRPr lang="en-US" sz="1400" dirty="0"/>
          </a:p>
        </p:txBody>
      </p:sp>
      <p:sp>
        <p:nvSpPr>
          <p:cNvPr id="21" name="a8_chip"/>
          <p:cNvSpPr/>
          <p:nvPr/>
        </p:nvSpPr>
        <p:spPr>
          <a:xfrm>
            <a:off x="6355080" y="4197096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22" name="a8_chip_text"/>
          <p:cNvSpPr txBox="1"/>
          <p:nvPr/>
        </p:nvSpPr>
        <p:spPr>
          <a:xfrm>
            <a:off x="6355080" y="4197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</a:t>
            </a:r>
            <a:endParaRPr lang="en-US" sz="1300" dirty="0"/>
          </a:p>
        </p:txBody>
      </p:sp>
      <p:sp>
        <p:nvSpPr>
          <p:cNvPr id="23" name="a8_def"/>
          <p:cNvSpPr txBox="1"/>
          <p:nvPr/>
        </p:nvSpPr>
        <p:spPr>
          <a:xfrm>
            <a:off x="8183880" y="4087368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you want to change, such as color or font-size.</a:t>
            </a:r>
            <a:endParaRPr lang="en-US" sz="1400" dirty="0"/>
          </a:p>
        </p:txBody>
      </p:sp>
      <p:sp>
        <p:nvSpPr>
          <p:cNvPr id="24" name="a9_chip"/>
          <p:cNvSpPr/>
          <p:nvPr/>
        </p:nvSpPr>
        <p:spPr>
          <a:xfrm>
            <a:off x="6355080" y="5266944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25" name="a9_chip_text"/>
          <p:cNvSpPr txBox="1"/>
          <p:nvPr/>
        </p:nvSpPr>
        <p:spPr>
          <a:xfrm>
            <a:off x="6355080" y="52669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Declaration</a:t>
            </a:r>
            <a:endParaRPr lang="en-US" sz="1300" dirty="0"/>
          </a:p>
        </p:txBody>
      </p:sp>
      <p:sp>
        <p:nvSpPr>
          <p:cNvPr id="26" name="a9_def"/>
          <p:cNvSpPr txBox="1"/>
          <p:nvPr/>
        </p:nvSpPr>
        <p:spPr>
          <a:xfrm>
            <a:off x="8183880" y="5157216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property and its value, written as property: value; (it ends with a semicolon).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big ideas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card_bar"/>
          <p:cNvSpPr/>
          <p:nvPr/>
        </p:nvSpPr>
        <p:spPr>
          <a:xfrm>
            <a:off x="822960" y="1508760"/>
            <a:ext cx="822960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2_card_h"/>
          <p:cNvSpPr txBox="1"/>
          <p:nvPr/>
        </p:nvSpPr>
        <p:spPr>
          <a:xfrm>
            <a:off x="822960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builds, CSS decorates</a:t>
            </a:r>
            <a:endParaRPr lang="en-US" sz="2000" dirty="0"/>
          </a:p>
        </p:txBody>
      </p:sp>
      <p:sp>
        <p:nvSpPr>
          <p:cNvPr id="8" name="a2_card_b"/>
          <p:cNvSpPr txBox="1"/>
          <p:nvPr/>
        </p:nvSpPr>
        <p:spPr>
          <a:xfrm>
            <a:off x="822960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says what something IS: a heading, a paragraph, a link. CSS says how it LOOKS: its colour, size, spacing and position. Keeping them apart makes pages easier to change.</a:t>
            </a:r>
            <a:endParaRPr lang="en-US" sz="1500" dirty="0"/>
          </a:p>
        </p:txBody>
      </p:sp>
      <p:sp>
        <p:nvSpPr>
          <p:cNvPr id="9" name="a2_card_codebg"/>
          <p:cNvSpPr/>
          <p:nvPr/>
        </p:nvSpPr>
        <p:spPr>
          <a:xfrm>
            <a:off x="822960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0" name="a2_card_code"/>
          <p:cNvSpPr txBox="1"/>
          <p:nvPr/>
        </p:nvSpPr>
        <p:spPr>
          <a:xfrm>
            <a:off x="822960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color: blue; }</a:t>
            </a:r>
            <a:endParaRPr lang="en-US" sz="1300" dirty="0"/>
          </a:p>
        </p:txBody>
      </p:sp>
      <p:sp>
        <p:nvSpPr>
          <p:cNvPr id="11" name="a3_card"/>
          <p:cNvSpPr/>
          <p:nvPr/>
        </p:nvSpPr>
        <p:spPr>
          <a:xfrm>
            <a:off x="4338218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a3_card_bar"/>
          <p:cNvSpPr/>
          <p:nvPr/>
        </p:nvSpPr>
        <p:spPr>
          <a:xfrm>
            <a:off x="4612538" y="1508760"/>
            <a:ext cx="822960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a3_num"/>
          <p:cNvSpPr/>
          <p:nvPr/>
        </p:nvSpPr>
        <p:spPr>
          <a:xfrm>
            <a:off x="4612538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46125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a3_card_h"/>
          <p:cNvSpPr txBox="1"/>
          <p:nvPr/>
        </p:nvSpPr>
        <p:spPr>
          <a:xfrm>
            <a:off x="4612538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add CSS</a:t>
            </a:r>
            <a:endParaRPr lang="en-US" sz="2000" dirty="0"/>
          </a:p>
        </p:txBody>
      </p:sp>
      <p:sp>
        <p:nvSpPr>
          <p:cNvPr id="16" name="a3_card_b"/>
          <p:cNvSpPr txBox="1"/>
          <p:nvPr/>
        </p:nvSpPr>
        <p:spPr>
          <a:xfrm>
            <a:off x="4612538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Inline: a style attribute on one tag. Internal: a &lt;style&gt; block in the page. External: a separate .css file linked with &lt;link&gt;. External is best because one file can style every page.</a:t>
            </a:r>
            <a:endParaRPr lang="en-US" sz="1500" dirty="0"/>
          </a:p>
        </p:txBody>
      </p:sp>
      <p:sp>
        <p:nvSpPr>
          <p:cNvPr id="17" name="a3_card_codebg"/>
          <p:cNvSpPr/>
          <p:nvPr/>
        </p:nvSpPr>
        <p:spPr>
          <a:xfrm>
            <a:off x="4612538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8" name="a3_card_code"/>
          <p:cNvSpPr txBox="1"/>
          <p:nvPr/>
        </p:nvSpPr>
        <p:spPr>
          <a:xfrm>
            <a:off x="4612538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href="style.css"&gt;</a:t>
            </a:r>
            <a:endParaRPr lang="en-US" sz="1300" dirty="0"/>
          </a:p>
        </p:txBody>
      </p:sp>
      <p:sp>
        <p:nvSpPr>
          <p:cNvPr id="19" name="a4_card"/>
          <p:cNvSpPr/>
          <p:nvPr/>
        </p:nvSpPr>
        <p:spPr>
          <a:xfrm>
            <a:off x="8127797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a4_card_bar"/>
          <p:cNvSpPr/>
          <p:nvPr/>
        </p:nvSpPr>
        <p:spPr>
          <a:xfrm>
            <a:off x="8402117" y="1508760"/>
            <a:ext cx="822960" cy="822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a4_num"/>
          <p:cNvSpPr/>
          <p:nvPr/>
        </p:nvSpPr>
        <p:spPr>
          <a:xfrm>
            <a:off x="8402117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a4_numt"/>
          <p:cNvSpPr txBox="1"/>
          <p:nvPr/>
        </p:nvSpPr>
        <p:spPr>
          <a:xfrm>
            <a:off x="840211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a4_card_h"/>
          <p:cNvSpPr txBox="1"/>
          <p:nvPr/>
        </p:nvSpPr>
        <p:spPr>
          <a:xfrm>
            <a:off x="8402117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 decides the winner</a:t>
            </a:r>
            <a:endParaRPr lang="en-US" sz="2000" dirty="0"/>
          </a:p>
        </p:txBody>
      </p:sp>
      <p:sp>
        <p:nvSpPr>
          <p:cNvPr id="24" name="a4_card_b"/>
          <p:cNvSpPr txBox="1"/>
          <p:nvPr/>
        </p:nvSpPr>
        <p:spPr>
          <a:xfrm>
            <a:off x="8402117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rules disagree, the browser picks one. A more specific selector wins (ID beats class beats element). If they are equally specific, the rule written later wins.</a:t>
            </a:r>
            <a:endParaRPr lang="en-US" sz="1500" dirty="0"/>
          </a:p>
        </p:txBody>
      </p:sp>
      <p:sp>
        <p:nvSpPr>
          <p:cNvPr id="25" name="a4_card_codebg"/>
          <p:cNvSpPr/>
          <p:nvPr/>
        </p:nvSpPr>
        <p:spPr>
          <a:xfrm>
            <a:off x="8402117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6" name="a4_card_code"/>
          <p:cNvSpPr txBox="1"/>
          <p:nvPr/>
        </p:nvSpPr>
        <p:spPr>
          <a:xfrm>
            <a:off x="8402117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  &gt;  .class  &gt;  element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Anatomy of a CSS rule</a:t>
            </a:r>
            <a:endParaRPr lang="en-US" sz="3400" dirty="0"/>
          </a:p>
        </p:txBody>
      </p:sp>
      <p:sp>
        <p:nvSpPr>
          <p:cNvPr id="3" name="a2_frame"/>
          <p:cNvSpPr/>
          <p:nvPr/>
        </p:nvSpPr>
        <p:spPr>
          <a:xfrm>
            <a:off x="475488" y="1435608"/>
            <a:ext cx="7095744" cy="4718304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a2_diagram" descr="/home/user/Python/CSS_Course/assets/l1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4572000"/>
          </a:xfrm>
          <a:prstGeom prst="rect">
            <a:avLst/>
          </a:prstGeom>
        </p:spPr>
      </p:pic>
      <p:sp>
        <p:nvSpPr>
          <p:cNvPr id="5" name="a3_num"/>
          <p:cNvSpPr/>
          <p:nvPr/>
        </p:nvSpPr>
        <p:spPr>
          <a:xfrm>
            <a:off x="790956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7909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a3_cap"/>
          <p:cNvSpPr txBox="1"/>
          <p:nvPr/>
        </p:nvSpPr>
        <p:spPr>
          <a:xfrm>
            <a:off x="85496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Selector: tells the browser WHICH elements to style.</a:t>
            </a:r>
            <a:endParaRPr lang="en-US" sz="1600" dirty="0"/>
          </a:p>
        </p:txBody>
      </p:sp>
      <p:sp>
        <p:nvSpPr>
          <p:cNvPr id="8" name="a4_num"/>
          <p:cNvSpPr/>
          <p:nvPr/>
        </p:nvSpPr>
        <p:spPr>
          <a:xfrm>
            <a:off x="7909560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79095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a4_cap"/>
          <p:cNvSpPr txBox="1"/>
          <p:nvPr/>
        </p:nvSpPr>
        <p:spPr>
          <a:xfrm>
            <a:off x="854964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Property: WHAT you want to change. Value: HOW you want to change it.</a:t>
            </a:r>
            <a:endParaRPr lang="en-US" sz="1600" dirty="0"/>
          </a:p>
        </p:txBody>
      </p:sp>
      <p:sp>
        <p:nvSpPr>
          <p:cNvPr id="11" name="a5_num"/>
          <p:cNvSpPr/>
          <p:nvPr/>
        </p:nvSpPr>
        <p:spPr>
          <a:xfrm>
            <a:off x="7909560" y="46177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79095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a5_cap"/>
          <p:cNvSpPr txBox="1"/>
          <p:nvPr/>
        </p:nvSpPr>
        <p:spPr>
          <a:xfrm>
            <a:off x="8549640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 { } hold the declarations. Each declaration ends with a semicolon.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1: Element selectors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element selector is just the tag name. It styles every element of that type.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161284"/>
          </a:xfrm>
          <a:prstGeom prst="roundRect">
            <a:avLst>
              <a:gd name="adj" fmla="val 347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42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Arial, sans-serif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#f4f6ff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royalblue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#333333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23573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3573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25732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36527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36527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3_num"/>
          <p:cNvSpPr/>
          <p:nvPr/>
        </p:nvSpPr>
        <p:spPr>
          <a:xfrm>
            <a:off x="822960" y="43004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822960" y="43004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a5_html"/>
          <p:cNvSpPr/>
          <p:nvPr/>
        </p:nvSpPr>
        <p:spPr>
          <a:xfrm>
            <a:off x="548640" y="5081524"/>
            <a:ext cx="5623560" cy="1182116"/>
          </a:xfrm>
          <a:prstGeom prst="roundRect">
            <a:avLst>
              <a:gd name="adj" fmla="val 7735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731520" y="51546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731520" y="5428996"/>
            <a:ext cx="5257800" cy="77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&lt;h1&gt;My Favourite Sport&lt;/h1&gt;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&lt;p&gt;Football is played by two teams of eleven players.&lt;/p&gt;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&lt;p&gt;Training starts at 4 pm.&lt;/p&gt;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6400800" y="1783080"/>
            <a:ext cx="4693920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6400800" y="1783080"/>
            <a:ext cx="469392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7315200" y="1847088"/>
            <a:ext cx="359664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7424928" y="1847088"/>
            <a:ext cx="341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lesson1/example1/index.html</a:t>
            </a:r>
            <a:endParaRPr lang="en-US" sz="1100" dirty="0"/>
          </a:p>
        </p:txBody>
      </p:sp>
      <p:pic>
        <p:nvPicPr>
          <p:cNvPr id="29" name="a4_shot" descr="/home/user/Python/CSS_Course/assets/l1_ex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4693920" cy="2514600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6400800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6400800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6748272" y="4882896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selector: styles the whole &lt;body&gt;, so every child inherits the font.</a:t>
            </a:r>
            <a:endParaRPr lang="en-US" sz="1250" dirty="0"/>
          </a:p>
        </p:txBody>
      </p:sp>
      <p:sp>
        <p:nvSpPr>
          <p:cNvPr id="33" name="a7_num"/>
          <p:cNvSpPr/>
          <p:nvPr/>
        </p:nvSpPr>
        <p:spPr>
          <a:xfrm>
            <a:off x="6400800" y="5276088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6400800" y="5276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6748272" y="5239512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font-family is a list: the browser uses the first font it has; sans-serif is the safe fallback.</a:t>
            </a:r>
            <a:endParaRPr lang="en-US" sz="1250" dirty="0"/>
          </a:p>
        </p:txBody>
      </p:sp>
      <p:sp>
        <p:nvSpPr>
          <p:cNvPr id="36" name="a8_num"/>
          <p:cNvSpPr/>
          <p:nvPr/>
        </p:nvSpPr>
        <p:spPr>
          <a:xfrm>
            <a:off x="6400800" y="5632704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6400800" y="56327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6748272" y="5596128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royalblue uses a named colour (about 140 names exist).</a:t>
            </a:r>
            <a:endParaRPr lang="en-US" sz="1250" dirty="0"/>
          </a:p>
        </p:txBody>
      </p:sp>
      <p:sp>
        <p:nvSpPr>
          <p:cNvPr id="39" name="a9_num"/>
          <p:cNvSpPr/>
          <p:nvPr/>
        </p:nvSpPr>
        <p:spPr>
          <a:xfrm>
            <a:off x="6400800" y="5989320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6400800" y="5989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6748272" y="5952744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#333333 is a hex colour (red, green, blue in base 16): a dark grey.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2: Class and ID selectors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class (.name) for groups of elements and an ID (#name) for one unique element.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161284"/>
          </a:xfrm>
          <a:prstGeom prst="roundRect">
            <a:avLst>
              <a:gd name="adj" fmla="val 347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42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#eef2ff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2px solid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16px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260px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.badge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gold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2px 8px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#title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25732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32209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32209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43004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43004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3_num"/>
          <p:cNvSpPr/>
          <p:nvPr/>
        </p:nvSpPr>
        <p:spPr>
          <a:xfrm>
            <a:off x="822960" y="45163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822960" y="45163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a5_html"/>
          <p:cNvSpPr/>
          <p:nvPr/>
        </p:nvSpPr>
        <p:spPr>
          <a:xfrm>
            <a:off x="548640" y="5081524"/>
            <a:ext cx="5623560" cy="1182116"/>
          </a:xfrm>
          <a:prstGeom prst="roundRect">
            <a:avLst>
              <a:gd name="adj" fmla="val 7735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731520" y="51546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731520" y="5428996"/>
            <a:ext cx="5257800" cy="77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 id="title"&gt;Coding Club&lt;/h2&gt;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&lt;p&gt;Meets on Tuesday. &lt;span class="badge"&gt;New&lt;/span&gt;&lt;/p&gt;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6400800" y="1783080"/>
            <a:ext cx="4855779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6400800" y="1783080"/>
            <a:ext cx="4855779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7315200" y="1847088"/>
            <a:ext cx="3758499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7424928" y="1847088"/>
            <a:ext cx="3575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lesson1/example2/index.html</a:t>
            </a:r>
            <a:endParaRPr lang="en-US" sz="1100" dirty="0"/>
          </a:p>
        </p:txBody>
      </p:sp>
      <p:pic>
        <p:nvPicPr>
          <p:cNvPr id="29" name="a4_shot" descr="/home/user/Python/CSS_Course/assets/l1_ex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4855779" cy="2514600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6400800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6400800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6748272" y="4882896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.card is a class selector (starts with a dot). Reuse it on as many elements as you like.</a:t>
            </a:r>
            <a:endParaRPr lang="en-US" sz="1250" dirty="0"/>
          </a:p>
        </p:txBody>
      </p:sp>
      <p:sp>
        <p:nvSpPr>
          <p:cNvPr id="33" name="a7_num"/>
          <p:cNvSpPr/>
          <p:nvPr/>
        </p:nvSpPr>
        <p:spPr>
          <a:xfrm>
            <a:off x="6400800" y="5276088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6400800" y="5276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6748272" y="5239512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is a shorthand: width, style and colour in one line.</a:t>
            </a:r>
            <a:endParaRPr lang="en-US" sz="1250" dirty="0"/>
          </a:p>
        </p:txBody>
      </p:sp>
      <p:sp>
        <p:nvSpPr>
          <p:cNvPr id="36" name="a8_num"/>
          <p:cNvSpPr/>
          <p:nvPr/>
        </p:nvSpPr>
        <p:spPr>
          <a:xfrm>
            <a:off x="6400800" y="5632704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6400800" y="56327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6748272" y="5596128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.badge shows a second class; it only styles the element that has class="badge".</a:t>
            </a:r>
            <a:endParaRPr lang="en-US" sz="1250" dirty="0"/>
          </a:p>
        </p:txBody>
      </p:sp>
      <p:sp>
        <p:nvSpPr>
          <p:cNvPr id="39" name="a9_num"/>
          <p:cNvSpPr/>
          <p:nvPr/>
        </p:nvSpPr>
        <p:spPr>
          <a:xfrm>
            <a:off x="6400800" y="5989320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6400800" y="5989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6748272" y="5952744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#title is an ID selector (starts with #). Use an ID only once per page.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3: Pseudo-classes &amp; specificity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pseudo-class (such as :hover) styles an element while it is in a certain state.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161284"/>
          </a:xfrm>
          <a:prstGeom prst="roundRect">
            <a:avLst>
              <a:gd name="adj" fmla="val 347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42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a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8px 14px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a:hover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#ff4f8b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25732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30050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30050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38686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38686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3_num"/>
          <p:cNvSpPr/>
          <p:nvPr/>
        </p:nvSpPr>
        <p:spPr>
          <a:xfrm>
            <a:off x="822960" y="40845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822960" y="40845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a5_html"/>
          <p:cNvSpPr/>
          <p:nvPr/>
        </p:nvSpPr>
        <p:spPr>
          <a:xfrm>
            <a:off x="548640" y="5081524"/>
            <a:ext cx="5623560" cy="1182116"/>
          </a:xfrm>
          <a:prstGeom prst="roundRect">
            <a:avLst>
              <a:gd name="adj" fmla="val 7735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731520" y="51546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731520" y="5428996"/>
            <a:ext cx="5257800" cy="77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class="nav"&gt;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href="#"&gt;Home&lt;/a&gt;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href="#"&gt;Games&lt;/a&gt;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6400800" y="1783080"/>
            <a:ext cx="5242255" cy="2180958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640080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731520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742492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lesson1/example3/index.html</a:t>
            </a:r>
            <a:endParaRPr lang="en-US" sz="1100" dirty="0"/>
          </a:p>
        </p:txBody>
      </p:sp>
      <p:pic>
        <p:nvPicPr>
          <p:cNvPr id="29" name="a4_shot" descr="/home/user/Python/CSS_Course/assets/l1_ex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5242255" cy="1778622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6400800" y="418349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6400800" y="418349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6748272" y="4146918"/>
            <a:ext cx="4894783" cy="522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Descendant selector: every &lt;a&gt; link that sits inside an element with class nav.</a:t>
            </a:r>
            <a:endParaRPr lang="en-US" sz="1250" dirty="0"/>
          </a:p>
        </p:txBody>
      </p:sp>
      <p:sp>
        <p:nvSpPr>
          <p:cNvPr id="33" name="a7_num"/>
          <p:cNvSpPr/>
          <p:nvPr/>
        </p:nvSpPr>
        <p:spPr>
          <a:xfrm>
            <a:off x="6400800" y="4724105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6400800" y="47241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6748272" y="4687529"/>
            <a:ext cx="4894783" cy="522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text-decoration: none removes the default underline from links.</a:t>
            </a:r>
            <a:endParaRPr lang="en-US" sz="1250" dirty="0"/>
          </a:p>
        </p:txBody>
      </p:sp>
      <p:sp>
        <p:nvSpPr>
          <p:cNvPr id="36" name="a8_num"/>
          <p:cNvSpPr/>
          <p:nvPr/>
        </p:nvSpPr>
        <p:spPr>
          <a:xfrm>
            <a:off x="6400800" y="5264715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6400800" y="526471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6748272" y="5228139"/>
            <a:ext cx="4894783" cy="522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:hover applies only while the mouse pointer is over the link.</a:t>
            </a:r>
            <a:endParaRPr lang="en-US" sz="1250" dirty="0"/>
          </a:p>
        </p:txBody>
      </p:sp>
      <p:sp>
        <p:nvSpPr>
          <p:cNvPr id="39" name="a9_num"/>
          <p:cNvSpPr/>
          <p:nvPr/>
        </p:nvSpPr>
        <p:spPr>
          <a:xfrm>
            <a:off x="6400800" y="5805326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6400800" y="580532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6748272" y="5768750"/>
            <a:ext cx="4894783" cy="522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more specific than .nav a, so its colours win when you hover.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Real-world: one stylesheet, a whole website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ico_bg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980590"/>
            <a:ext cx="336499" cy="336499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portal</a:t>
            </a:r>
            <a:endParaRPr lang="en-US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22960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external stylesheet gives every page the same colours and fonts, so the site feels like one place.</a:t>
            </a:r>
            <a:endParaRPr lang="en-US" sz="1500" dirty="0"/>
          </a:p>
        </p:txBody>
      </p:sp>
      <p:sp>
        <p:nvSpPr>
          <p:cNvPr id="8" name="a3_card"/>
          <p:cNvSpPr/>
          <p:nvPr/>
        </p:nvSpPr>
        <p:spPr>
          <a:xfrm>
            <a:off x="4338218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3_ico_bg"/>
          <p:cNvSpPr/>
          <p:nvPr/>
        </p:nvSpPr>
        <p:spPr>
          <a:xfrm>
            <a:off x="4612538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049" y="1980590"/>
            <a:ext cx="336499" cy="336499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website</a:t>
            </a:r>
            <a:endParaRPr lang="en-US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4612538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such as .headline is written once and reused on hundreds of articles. Change it once and all update.</a:t>
            </a:r>
            <a:endParaRPr lang="en-US" sz="1500" dirty="0"/>
          </a:p>
        </p:txBody>
      </p:sp>
      <p:sp>
        <p:nvSpPr>
          <p:cNvPr id="13" name="a4_card"/>
          <p:cNvSpPr/>
          <p:nvPr/>
        </p:nvSpPr>
        <p:spPr>
          <a:xfrm>
            <a:off x="8127797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a4_ico_bg"/>
          <p:cNvSpPr/>
          <p:nvPr/>
        </p:nvSpPr>
        <p:spPr>
          <a:xfrm>
            <a:off x="8402117" y="1783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627" y="1980590"/>
            <a:ext cx="336499" cy="336499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&amp; dark mode</a:t>
            </a:r>
            <a:endParaRPr lang="en-US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402117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few rules re-skins the whole site. Selectors are how designers target exactly what to change.</a:t>
            </a:r>
            <a:endParaRPr lang="en-US" sz="1500" dirty="0"/>
          </a:p>
        </p:txBody>
      </p:sp>
      <p:sp>
        <p:nvSpPr>
          <p:cNvPr id="18" name="a5_try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19" name="a5_ico_bg"/>
          <p:cNvSpPr/>
          <p:nvPr/>
        </p:nvSpPr>
        <p:spPr>
          <a:xfrm>
            <a:off x="868680" y="5212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57" y="5372557"/>
            <a:ext cx="273406" cy="273406"/>
          </a:xfrm>
          <a:prstGeom prst="rect">
            <a:avLst/>
          </a:prstGeom>
        </p:spPr>
      </p:pic>
      <p:sp>
        <p:nvSpPr>
          <p:cNvPr id="21" name="a5_try_text"/>
          <p:cNvSpPr txBox="1"/>
          <p:nvPr/>
        </p:nvSpPr>
        <p:spPr>
          <a:xfrm>
            <a:off x="1737360" y="4983480"/>
            <a:ext cx="9539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website, press F12 (or right-click &gt; Inspect), click an element and read the rules in the Styles panel. Try editing a colour live.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Common mistakes</a:t>
            </a:r>
            <a:endParaRPr lang="en-US" sz="3400" dirty="0"/>
          </a:p>
        </p:txBody>
      </p:sp>
      <p:sp>
        <p:nvSpPr>
          <p:cNvPr id="3" name="a1_hdr"/>
          <p:cNvSpPr txBox="1"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2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500" dirty="0"/>
          </a:p>
        </p:txBody>
      </p:sp>
      <p:sp>
        <p:nvSpPr>
          <p:cNvPr id="4" name="a1_hdr"/>
          <p:cNvSpPr txBox="1"/>
          <p:nvPr/>
        </p:nvSpPr>
        <p:spPr>
          <a:xfrm>
            <a:off x="44348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instead</a:t>
            </a:r>
            <a:endParaRPr lang="en-US" sz="1500" dirty="0"/>
          </a:p>
        </p:txBody>
      </p:sp>
      <p:sp>
        <p:nvSpPr>
          <p:cNvPr id="5" name="a1_hdr"/>
          <p:cNvSpPr txBox="1"/>
          <p:nvPr/>
        </p:nvSpPr>
        <p:spPr>
          <a:xfrm>
            <a:off x="83667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6" name="a2_bad"/>
          <p:cNvSpPr/>
          <p:nvPr/>
        </p:nvSpPr>
        <p:spPr>
          <a:xfrm>
            <a:off x="548640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7" name="a2_bad_bar"/>
          <p:cNvSpPr/>
          <p:nvPr/>
        </p:nvSpPr>
        <p:spPr>
          <a:xfrm>
            <a:off x="548640" y="1892808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a2_bad_t"/>
          <p:cNvSpPr txBox="1"/>
          <p:nvPr/>
        </p:nvSpPr>
        <p:spPr>
          <a:xfrm>
            <a:off x="777240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 blue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a2_good"/>
          <p:cNvSpPr/>
          <p:nvPr/>
        </p:nvSpPr>
        <p:spPr>
          <a:xfrm>
            <a:off x="4434840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0" name="a2_good_bar"/>
          <p:cNvSpPr/>
          <p:nvPr/>
        </p:nvSpPr>
        <p:spPr>
          <a:xfrm>
            <a:off x="4434840" y="1892808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a2_good_t"/>
          <p:cNvSpPr txBox="1"/>
          <p:nvPr/>
        </p:nvSpPr>
        <p:spPr>
          <a:xfrm>
            <a:off x="4663440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blue;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a2_why"/>
          <p:cNvSpPr txBox="1"/>
          <p:nvPr/>
        </p:nvSpPr>
        <p:spPr>
          <a:xfrm>
            <a:off x="8366760" y="1783080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declaration needs a colon between property and value, and a semicolon at the end.</a:t>
            </a:r>
            <a:endParaRPr lang="en-US" sz="1400" dirty="0"/>
          </a:p>
        </p:txBody>
      </p:sp>
      <p:sp>
        <p:nvSpPr>
          <p:cNvPr id="13" name="a3_bad"/>
          <p:cNvSpPr/>
          <p:nvPr/>
        </p:nvSpPr>
        <p:spPr>
          <a:xfrm>
            <a:off x="548640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14" name="a3_bad_bar"/>
          <p:cNvSpPr/>
          <p:nvPr/>
        </p:nvSpPr>
        <p:spPr>
          <a:xfrm>
            <a:off x="548640" y="3374136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a3_bad_t"/>
          <p:cNvSpPr txBox="1"/>
          <p:nvPr/>
        </p:nvSpPr>
        <p:spPr>
          <a:xfrm>
            <a:off x="777240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id="title"&gt;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.title { color: red; }</a:t>
            </a:r>
            <a:endParaRPr lang="en-US" sz="1300" dirty="0"/>
          </a:p>
        </p:txBody>
      </p:sp>
      <p:sp>
        <p:nvSpPr>
          <p:cNvPr id="16" name="a3_good"/>
          <p:cNvSpPr/>
          <p:nvPr/>
        </p:nvSpPr>
        <p:spPr>
          <a:xfrm>
            <a:off x="4434840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7" name="a3_good_bar"/>
          <p:cNvSpPr/>
          <p:nvPr/>
        </p:nvSpPr>
        <p:spPr>
          <a:xfrm>
            <a:off x="4434840" y="3374136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a3_good_t"/>
          <p:cNvSpPr txBox="1"/>
          <p:nvPr/>
        </p:nvSpPr>
        <p:spPr>
          <a:xfrm>
            <a:off x="4663440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id="title"&gt;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#title { color: red; }</a:t>
            </a:r>
            <a:endParaRPr lang="en-US" sz="1300" dirty="0"/>
          </a:p>
        </p:txBody>
      </p:sp>
      <p:sp>
        <p:nvSpPr>
          <p:cNvPr id="19" name="a3_why"/>
          <p:cNvSpPr txBox="1"/>
          <p:nvPr/>
        </p:nvSpPr>
        <p:spPr>
          <a:xfrm>
            <a:off x="8366760" y="3264408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symbol must match the HTML: # for an ID, . for a class. Otherwise nothing matches.</a:t>
            </a:r>
            <a:endParaRPr lang="en-US" sz="1400" dirty="0"/>
          </a:p>
        </p:txBody>
      </p:sp>
      <p:sp>
        <p:nvSpPr>
          <p:cNvPr id="20" name="a4_bad"/>
          <p:cNvSpPr/>
          <p:nvPr/>
        </p:nvSpPr>
        <p:spPr>
          <a:xfrm>
            <a:off x="548640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21" name="a4_bad_bar"/>
          <p:cNvSpPr/>
          <p:nvPr/>
        </p:nvSpPr>
        <p:spPr>
          <a:xfrm>
            <a:off x="548640" y="4855464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a4_bad_t"/>
          <p:cNvSpPr txBox="1"/>
          <p:nvPr/>
        </p:nvSpPr>
        <p:spPr>
          <a:xfrm>
            <a:off x="777240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colour: red;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3" name="a4_good"/>
          <p:cNvSpPr/>
          <p:nvPr/>
        </p:nvSpPr>
        <p:spPr>
          <a:xfrm>
            <a:off x="4434840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24" name="a4_good_bar"/>
          <p:cNvSpPr/>
          <p:nvPr/>
        </p:nvSpPr>
        <p:spPr>
          <a:xfrm>
            <a:off x="4434840" y="4855464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a4_good_t"/>
          <p:cNvSpPr txBox="1"/>
          <p:nvPr/>
        </p:nvSpPr>
        <p:spPr>
          <a:xfrm>
            <a:off x="4663440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red;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6" name="a4_why"/>
          <p:cNvSpPr txBox="1"/>
          <p:nvPr/>
        </p:nvSpPr>
        <p:spPr>
          <a:xfrm>
            <a:off x="8366760" y="474573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uses American spelling. Unknown properties are silently ignored, so check spelling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Tips &amp; best practices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4" name="a2_ico_bg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955902"/>
            <a:ext cx="294437" cy="294437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1645920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external stylesheet</a:t>
            </a:r>
            <a:endParaRPr lang="en-US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22960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CSS in style.css and link it from every page. One change updates the whole site.</a:t>
            </a:r>
            <a:endParaRPr lang="en-US" sz="1500" dirty="0"/>
          </a:p>
        </p:txBody>
      </p:sp>
      <p:sp>
        <p:nvSpPr>
          <p:cNvPr id="8" name="a3_card"/>
          <p:cNvSpPr/>
          <p:nvPr/>
        </p:nvSpPr>
        <p:spPr>
          <a:xfrm>
            <a:off x="6278728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9" name="a3_ico_bg"/>
          <p:cNvSpPr/>
          <p:nvPr/>
        </p:nvSpPr>
        <p:spPr>
          <a:xfrm>
            <a:off x="6553048" y="1783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869" y="1955902"/>
            <a:ext cx="294437" cy="294437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7376008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classes to IDs</a:t>
            </a:r>
            <a:endParaRPr lang="en-US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6553048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reusable and easier to override. Save IDs for page anchors and unique hooks.</a:t>
            </a:r>
            <a:endParaRPr lang="en-US" sz="1500" dirty="0"/>
          </a:p>
        </p:txBody>
      </p:sp>
      <p:sp>
        <p:nvSpPr>
          <p:cNvPr id="13" name="a4_card"/>
          <p:cNvSpPr/>
          <p:nvPr/>
        </p:nvSpPr>
        <p:spPr>
          <a:xfrm>
            <a:off x="548640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4" name="a4_ico_bg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4333342"/>
            <a:ext cx="294437" cy="294437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1645920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Inspect, then experiment</a:t>
            </a:r>
            <a:endParaRPr lang="en-US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22960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F12 to see which rules apply to an element and test changes live before editing your file.</a:t>
            </a:r>
            <a:endParaRPr lang="en-US" sz="1500" dirty="0"/>
          </a:p>
        </p:txBody>
      </p:sp>
      <p:sp>
        <p:nvSpPr>
          <p:cNvPr id="18" name="a5_card"/>
          <p:cNvSpPr/>
          <p:nvPr/>
        </p:nvSpPr>
        <p:spPr>
          <a:xfrm>
            <a:off x="6278728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9" name="a5_ico_bg"/>
          <p:cNvSpPr/>
          <p:nvPr/>
        </p:nvSpPr>
        <p:spPr>
          <a:xfrm>
            <a:off x="6553048" y="4160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869" y="4333342"/>
            <a:ext cx="294437" cy="294437"/>
          </a:xfrm>
          <a:prstGeom prst="rect">
            <a:avLst/>
          </a:prstGeom>
        </p:spPr>
      </p:pic>
      <p:sp>
        <p:nvSpPr>
          <p:cNvPr id="21" name="a5_card_h"/>
          <p:cNvSpPr txBox="1"/>
          <p:nvPr/>
        </p:nvSpPr>
        <p:spPr>
          <a:xfrm>
            <a:off x="7376008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and format neatly</a:t>
            </a:r>
            <a:endParaRPr lang="en-US" sz="1900" dirty="0"/>
          </a:p>
        </p:txBody>
      </p:sp>
      <p:sp>
        <p:nvSpPr>
          <p:cNvPr id="22" name="a5_card_b"/>
          <p:cNvSpPr txBox="1"/>
          <p:nvPr/>
        </p:nvSpPr>
        <p:spPr>
          <a:xfrm>
            <a:off x="6553048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/* notes */ for yourself. One declaration per line, two-space indent, always end with a semicolon.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Activity: style a profile card</a:t>
            </a:r>
            <a:endParaRPr lang="en-US" sz="3400" dirty="0"/>
          </a:p>
        </p:txBody>
      </p:sp>
      <p:sp>
        <p:nvSpPr>
          <p:cNvPr id="3" name="a2_chip"/>
          <p:cNvSpPr/>
          <p:nvPr/>
        </p:nvSpPr>
        <p:spPr>
          <a:xfrm>
            <a:off x="548640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548640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20 min</a:t>
            </a:r>
            <a:endParaRPr lang="en-US" sz="1200" dirty="0"/>
          </a:p>
        </p:txBody>
      </p:sp>
      <p:sp>
        <p:nvSpPr>
          <p:cNvPr id="5" name="a2_chip"/>
          <p:cNvSpPr/>
          <p:nvPr/>
        </p:nvSpPr>
        <p:spPr>
          <a:xfrm>
            <a:off x="2057400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2057400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48640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starter folder and edit style.css. The HTML is done; you write the CSS.</a:t>
            </a:r>
            <a:endParaRPr lang="en-US" sz="1500" dirty="0"/>
          </a:p>
        </p:txBody>
      </p:sp>
      <p:sp>
        <p:nvSpPr>
          <p:cNvPr id="8" name="a4_num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5486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1005840" y="2606040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body: font-family Arial, sans-serif; a pale background-color; padding 24px.</a:t>
            </a:r>
            <a:endParaRPr lang="en-US" sz="1400" dirty="0"/>
          </a:p>
        </p:txBody>
      </p:sp>
      <p:sp>
        <p:nvSpPr>
          <p:cNvPr id="11" name="a5_num"/>
          <p:cNvSpPr/>
          <p:nvPr/>
        </p:nvSpPr>
        <p:spPr>
          <a:xfrm>
            <a:off x="548640" y="32186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54864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1005840" y="3172968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.profile a white card with a 2px solid blue border, border-radius 12px, padding 20px and width 300px.</a:t>
            </a:r>
            <a:endParaRPr lang="en-US" sz="1400" dirty="0"/>
          </a:p>
        </p:txBody>
      </p:sp>
      <p:sp>
        <p:nvSpPr>
          <p:cNvPr id="14" name="a6_num"/>
          <p:cNvSpPr/>
          <p:nvPr/>
        </p:nvSpPr>
        <p:spPr>
          <a:xfrm>
            <a:off x="548640" y="378561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54864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1005840" y="3739896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ID selector #name to colour the heading blue.</a:t>
            </a:r>
            <a:endParaRPr lang="en-US" sz="1400" dirty="0"/>
          </a:p>
        </p:txBody>
      </p:sp>
      <p:sp>
        <p:nvSpPr>
          <p:cNvPr id="17" name="a7_num"/>
          <p:cNvSpPr/>
          <p:nvPr/>
        </p:nvSpPr>
        <p:spPr>
          <a:xfrm>
            <a:off x="548640" y="4352544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54864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1005840" y="4306824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.role pink and bold (font-weight: bold).</a:t>
            </a:r>
            <a:endParaRPr lang="en-US" sz="1400" dirty="0"/>
          </a:p>
        </p:txBody>
      </p:sp>
      <p:sp>
        <p:nvSpPr>
          <p:cNvPr id="20" name="a8_num"/>
          <p:cNvSpPr/>
          <p:nvPr/>
        </p:nvSpPr>
        <p:spPr>
          <a:xfrm>
            <a:off x="548640" y="4919472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a8_numt"/>
          <p:cNvSpPr txBox="1"/>
          <p:nvPr/>
        </p:nvSpPr>
        <p:spPr>
          <a:xfrm>
            <a:off x="548640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a8_step"/>
          <p:cNvSpPr txBox="1"/>
          <p:nvPr/>
        </p:nvSpPr>
        <p:spPr>
          <a:xfrm>
            <a:off x="1005840" y="487375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.btn into a blue button with white text, then change its background on :hover.</a:t>
            </a:r>
            <a:endParaRPr lang="en-US" sz="1400" dirty="0"/>
          </a:p>
        </p:txBody>
      </p:sp>
      <p:sp>
        <p:nvSpPr>
          <p:cNvPr id="23" name="a9_bonus"/>
          <p:cNvSpPr/>
          <p:nvPr/>
        </p:nvSpPr>
        <p:spPr>
          <a:xfrm>
            <a:off x="548640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4D1"/>
          </a:solidFill>
          <a:ln/>
        </p:spPr>
      </p:sp>
      <p:sp>
        <p:nvSpPr>
          <p:cNvPr id="24" name="a9_bonus_t"/>
          <p:cNvSpPr txBox="1"/>
          <p:nvPr/>
        </p:nvSpPr>
        <p:spPr>
          <a:xfrm>
            <a:off x="731520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class to one element and give it its own rule.</a:t>
            </a:r>
            <a:endParaRPr lang="en-US" sz="1350" dirty="0"/>
          </a:p>
        </p:txBody>
      </p:sp>
      <p:sp>
        <p:nvSpPr>
          <p:cNvPr id="25" name="a2_goal_l"/>
          <p:cNvSpPr txBox="1"/>
          <p:nvPr/>
        </p:nvSpPr>
        <p:spPr>
          <a:xfrm>
            <a:off x="658368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your page should look like this</a:t>
            </a:r>
            <a:endParaRPr lang="en-US" sz="1400" dirty="0"/>
          </a:p>
        </p:txBody>
      </p:sp>
      <p:sp>
        <p:nvSpPr>
          <p:cNvPr id="26" name="a3_browser"/>
          <p:cNvSpPr/>
          <p:nvPr/>
        </p:nvSpPr>
        <p:spPr>
          <a:xfrm>
            <a:off x="6583680" y="1828800"/>
            <a:ext cx="5059375" cy="302237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a3_browser_bar"/>
          <p:cNvSpPr/>
          <p:nvPr/>
        </p:nvSpPr>
        <p:spPr>
          <a:xfrm>
            <a:off x="658368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a3_browser_dot"/>
          <p:cNvSpPr/>
          <p:nvPr/>
        </p:nvSpPr>
        <p:spPr>
          <a:xfrm>
            <a:off x="676656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a3_browser_dot"/>
          <p:cNvSpPr/>
          <p:nvPr/>
        </p:nvSpPr>
        <p:spPr>
          <a:xfrm>
            <a:off x="696772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3_browser_dot"/>
          <p:cNvSpPr/>
          <p:nvPr/>
        </p:nvSpPr>
        <p:spPr>
          <a:xfrm>
            <a:off x="716889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a3_browser_url"/>
          <p:cNvSpPr/>
          <p:nvPr/>
        </p:nvSpPr>
        <p:spPr>
          <a:xfrm>
            <a:off x="749808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2" name="a3_browser_urltext"/>
          <p:cNvSpPr txBox="1"/>
          <p:nvPr/>
        </p:nvSpPr>
        <p:spPr>
          <a:xfrm>
            <a:off x="760780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lesson1/activity/solution/index.html</a:t>
            </a:r>
            <a:endParaRPr lang="en-US" sz="1100" dirty="0"/>
          </a:p>
        </p:txBody>
      </p:sp>
      <p:pic>
        <p:nvPicPr>
          <p:cNvPr id="33" name="a3_shot" descr="/home/user/Python/CSS_Course/assets/l1_act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31136"/>
            <a:ext cx="5059375" cy="2620034"/>
          </a:xfrm>
          <a:prstGeom prst="rect">
            <a:avLst/>
          </a:prstGeom>
        </p:spPr>
      </p:pic>
      <p:sp>
        <p:nvSpPr>
          <p:cNvPr id="34" name="a10_files"/>
          <p:cNvSpPr/>
          <p:nvPr/>
        </p:nvSpPr>
        <p:spPr>
          <a:xfrm>
            <a:off x="6583680" y="5079770"/>
            <a:ext cx="505937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a10_files_t"/>
          <p:cNvSpPr txBox="1"/>
          <p:nvPr/>
        </p:nvSpPr>
        <p:spPr>
          <a:xfrm>
            <a:off x="6766560" y="5079770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from: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code/lesson1/activity/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with: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code/lesson1/activity/solution/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Challenge: the school clubs list</a:t>
            </a:r>
            <a:endParaRPr lang="en-US" sz="3400" dirty="0"/>
          </a:p>
        </p:txBody>
      </p:sp>
      <p:sp>
        <p:nvSpPr>
          <p:cNvPr id="3" name="a2_chip"/>
          <p:cNvSpPr/>
          <p:nvPr/>
        </p:nvSpPr>
        <p:spPr>
          <a:xfrm>
            <a:off x="548640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548640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25 min</a:t>
            </a:r>
            <a:endParaRPr lang="en-US" sz="1200" dirty="0"/>
          </a:p>
        </p:txBody>
      </p:sp>
      <p:sp>
        <p:nvSpPr>
          <p:cNvPr id="5" name="a2_chip"/>
          <p:cNvSpPr/>
          <p:nvPr/>
        </p:nvSpPr>
        <p:spPr>
          <a:xfrm>
            <a:off x="2057400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2057400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48640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the list using only selectors you know. No changes to the HTML are allowed.</a:t>
            </a:r>
            <a:endParaRPr lang="en-US" sz="1500" dirty="0"/>
          </a:p>
        </p:txBody>
      </p:sp>
      <p:sp>
        <p:nvSpPr>
          <p:cNvPr id="8" name="a4_num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5486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1005840" y="260604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 gets padding, rounded corners and no bullet (list-style: none).</a:t>
            </a:r>
            <a:endParaRPr lang="en-US" sz="1400" dirty="0"/>
          </a:p>
        </p:txBody>
      </p:sp>
      <p:sp>
        <p:nvSpPr>
          <p:cNvPr id="11" name="a5_num"/>
          <p:cNvSpPr/>
          <p:nvPr/>
        </p:nvSpPr>
        <p:spPr>
          <a:xfrm>
            <a:off x="548640" y="336042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548640" y="3360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1005840" y="331470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with class open get a light green background and dark green text.</a:t>
            </a:r>
            <a:endParaRPr lang="en-US" sz="1400" dirty="0"/>
          </a:p>
        </p:txBody>
      </p:sp>
      <p:sp>
        <p:nvSpPr>
          <p:cNvPr id="14" name="a6_num"/>
          <p:cNvSpPr/>
          <p:nvPr/>
        </p:nvSpPr>
        <p:spPr>
          <a:xfrm>
            <a:off x="548640" y="406908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54864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1005840" y="402336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with class full are grey with text-decoration: line-through.</a:t>
            </a:r>
            <a:endParaRPr lang="en-US" sz="1400" dirty="0"/>
          </a:p>
        </p:txBody>
      </p:sp>
      <p:sp>
        <p:nvSpPr>
          <p:cNvPr id="17" name="a7_num"/>
          <p:cNvSpPr/>
          <p:nvPr/>
        </p:nvSpPr>
        <p:spPr>
          <a:xfrm>
            <a:off x="548640" y="4777740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548640" y="47777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1005840" y="473202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with id featured gets a gold background. Does it beat .open? Why?</a:t>
            </a:r>
            <a:endParaRPr lang="en-US" sz="1400" dirty="0"/>
          </a:p>
        </p:txBody>
      </p:sp>
      <p:sp>
        <p:nvSpPr>
          <p:cNvPr id="20" name="a9_bonus"/>
          <p:cNvSpPr/>
          <p:nvPr/>
        </p:nvSpPr>
        <p:spPr>
          <a:xfrm>
            <a:off x="548640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1D2250"/>
          </a:solidFill>
          <a:ln/>
        </p:spPr>
      </p:sp>
      <p:sp>
        <p:nvSpPr>
          <p:cNvPr id="21" name="a9_bonus_t"/>
          <p:cNvSpPr txBox="1"/>
          <p:nvPr/>
        </p:nvSpPr>
        <p:spPr>
          <a:xfrm>
            <a:off x="731520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li:hover so the hovered club gets a blue outline.</a:t>
            </a:r>
            <a:endParaRPr lang="en-US" sz="1350" dirty="0"/>
          </a:p>
        </p:txBody>
      </p:sp>
      <p:sp>
        <p:nvSpPr>
          <p:cNvPr id="22" name="a2_goal_l"/>
          <p:cNvSpPr txBox="1"/>
          <p:nvPr/>
        </p:nvSpPr>
        <p:spPr>
          <a:xfrm>
            <a:off x="658368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match this result</a:t>
            </a:r>
            <a:endParaRPr lang="en-US" sz="1400" dirty="0"/>
          </a:p>
        </p:txBody>
      </p:sp>
      <p:sp>
        <p:nvSpPr>
          <p:cNvPr id="23" name="a3_browser"/>
          <p:cNvSpPr/>
          <p:nvPr/>
        </p:nvSpPr>
        <p:spPr>
          <a:xfrm>
            <a:off x="6583680" y="1828800"/>
            <a:ext cx="5059375" cy="302237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a3_browser_bar"/>
          <p:cNvSpPr/>
          <p:nvPr/>
        </p:nvSpPr>
        <p:spPr>
          <a:xfrm>
            <a:off x="658368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a3_browser_dot"/>
          <p:cNvSpPr/>
          <p:nvPr/>
        </p:nvSpPr>
        <p:spPr>
          <a:xfrm>
            <a:off x="676656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a3_browser_dot"/>
          <p:cNvSpPr/>
          <p:nvPr/>
        </p:nvSpPr>
        <p:spPr>
          <a:xfrm>
            <a:off x="696772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a3_browser_dot"/>
          <p:cNvSpPr/>
          <p:nvPr/>
        </p:nvSpPr>
        <p:spPr>
          <a:xfrm>
            <a:off x="716889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8" name="a3_browser_url"/>
          <p:cNvSpPr/>
          <p:nvPr/>
        </p:nvSpPr>
        <p:spPr>
          <a:xfrm>
            <a:off x="749808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9" name="a3_browser_urltext"/>
          <p:cNvSpPr txBox="1"/>
          <p:nvPr/>
        </p:nvSpPr>
        <p:spPr>
          <a:xfrm>
            <a:off x="760780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lesson1/challenge/solution/index.html</a:t>
            </a:r>
            <a:endParaRPr lang="en-US" sz="1100" dirty="0"/>
          </a:p>
        </p:txBody>
      </p:sp>
      <p:pic>
        <p:nvPicPr>
          <p:cNvPr id="30" name="a3_shot" descr="/home/user/Python/CSS_Course/assets/l1_chal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31136"/>
            <a:ext cx="5059375" cy="2620034"/>
          </a:xfrm>
          <a:prstGeom prst="rect">
            <a:avLst/>
          </a:prstGeom>
        </p:spPr>
      </p:pic>
      <p:sp>
        <p:nvSpPr>
          <p:cNvPr id="31" name="a10_files"/>
          <p:cNvSpPr/>
          <p:nvPr/>
        </p:nvSpPr>
        <p:spPr>
          <a:xfrm>
            <a:off x="6583680" y="5079770"/>
            <a:ext cx="5059375" cy="914400"/>
          </a:xfrm>
          <a:prstGeom prst="roundRect">
            <a:avLst>
              <a:gd name="adj" fmla="val 10000"/>
            </a:avLst>
          </a:prstGeom>
          <a:solidFill>
            <a:srgbClr val="1D2250"/>
          </a:solidFill>
          <a:ln/>
        </p:spPr>
      </p:sp>
      <p:sp>
        <p:nvSpPr>
          <p:cNvPr id="32" name="a10_files_t"/>
          <p:cNvSpPr txBox="1"/>
          <p:nvPr/>
        </p:nvSpPr>
        <p:spPr>
          <a:xfrm>
            <a:off x="6766560" y="5079770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code/lesson1/challenge/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code/lesson1/challenge/solution/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Quick check</a:t>
            </a:r>
            <a:endParaRPr lang="en-US" sz="3400" dirty="0"/>
          </a:p>
        </p:txBody>
      </p:sp>
      <p:sp>
        <p:nvSpPr>
          <p:cNvPr id="3" name="a2_hint"/>
          <p:cNvSpPr txBox="1"/>
          <p:nvPr/>
        </p:nvSpPr>
        <p:spPr>
          <a:xfrm>
            <a:off x="548640" y="12618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first, then click to reveal each answer.</a:t>
            </a:r>
            <a:endParaRPr lang="en-US" sz="1500" dirty="0"/>
          </a:p>
        </p:txBody>
      </p:sp>
      <p:sp>
        <p:nvSpPr>
          <p:cNvPr id="4" name="a3_row"/>
          <p:cNvSpPr/>
          <p:nvPr/>
        </p:nvSpPr>
        <p:spPr>
          <a:xfrm>
            <a:off x="548640" y="173736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3_q"/>
          <p:cNvSpPr txBox="1"/>
          <p:nvPr/>
        </p:nvSpPr>
        <p:spPr>
          <a:xfrm>
            <a:off x="1600200" y="173736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symbol starts a class selector, and which starts an ID selector?</a:t>
            </a:r>
            <a:endParaRPr lang="en-US" sz="1650" dirty="0"/>
          </a:p>
        </p:txBody>
      </p:sp>
      <p:sp>
        <p:nvSpPr>
          <p:cNvPr id="8" name="k3_ans_bg"/>
          <p:cNvSpPr/>
          <p:nvPr/>
        </p:nvSpPr>
        <p:spPr>
          <a:xfrm>
            <a:off x="7269480" y="1892808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" name="k3_ans"/>
          <p:cNvSpPr txBox="1"/>
          <p:nvPr/>
        </p:nvSpPr>
        <p:spPr>
          <a:xfrm>
            <a:off x="7452360" y="1892808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dot (.) for a class and a hash (#) for an ID.</a:t>
            </a:r>
            <a:endParaRPr lang="en-US" sz="1450" dirty="0"/>
          </a:p>
        </p:txBody>
      </p:sp>
      <p:sp>
        <p:nvSpPr>
          <p:cNvPr id="10" name="a4_row"/>
          <p:cNvSpPr/>
          <p:nvPr/>
        </p:nvSpPr>
        <p:spPr>
          <a:xfrm>
            <a:off x="548640" y="3218688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a4_num"/>
          <p:cNvSpPr/>
          <p:nvPr/>
        </p:nvSpPr>
        <p:spPr>
          <a:xfrm>
            <a:off x="822960" y="36301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4_numt"/>
          <p:cNvSpPr txBox="1"/>
          <p:nvPr/>
        </p:nvSpPr>
        <p:spPr>
          <a:xfrm>
            <a:off x="82296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a4_q"/>
          <p:cNvSpPr txBox="1"/>
          <p:nvPr/>
        </p:nvSpPr>
        <p:spPr>
          <a:xfrm>
            <a:off x="1600200" y="3218688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wrong with this rule?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color blue }</a:t>
            </a:r>
            <a:endParaRPr lang="en-US" sz="1650" dirty="0"/>
          </a:p>
        </p:txBody>
      </p:sp>
      <p:sp>
        <p:nvSpPr>
          <p:cNvPr id="14" name="k4_ans_bg"/>
          <p:cNvSpPr/>
          <p:nvPr/>
        </p:nvSpPr>
        <p:spPr>
          <a:xfrm>
            <a:off x="7269480" y="3374136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k4_ans"/>
          <p:cNvSpPr txBox="1"/>
          <p:nvPr/>
        </p:nvSpPr>
        <p:spPr>
          <a:xfrm>
            <a:off x="7452360" y="3374136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missing the colon and the semicolon. Correct: h1 { color: blue; }</a:t>
            </a:r>
            <a:endParaRPr lang="en-US" sz="1450" dirty="0"/>
          </a:p>
        </p:txBody>
      </p:sp>
      <p:sp>
        <p:nvSpPr>
          <p:cNvPr id="16" name="a5_row"/>
          <p:cNvSpPr/>
          <p:nvPr/>
        </p:nvSpPr>
        <p:spPr>
          <a:xfrm>
            <a:off x="548640" y="4700016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7" name="a5_num"/>
          <p:cNvSpPr/>
          <p:nvPr/>
        </p:nvSpPr>
        <p:spPr>
          <a:xfrm>
            <a:off x="822960" y="511149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5_numt"/>
          <p:cNvSpPr txBox="1"/>
          <p:nvPr/>
        </p:nvSpPr>
        <p:spPr>
          <a:xfrm>
            <a:off x="822960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a5_q"/>
          <p:cNvSpPr txBox="1"/>
          <p:nvPr/>
        </p:nvSpPr>
        <p:spPr>
          <a:xfrm>
            <a:off x="1600200" y="4700016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paragraph has class="note" and the rules p { color: red; } and .note { color: green; } both exist. Which colour wins?</a:t>
            </a:r>
            <a:endParaRPr lang="en-US" sz="1650" dirty="0"/>
          </a:p>
        </p:txBody>
      </p:sp>
      <p:sp>
        <p:nvSpPr>
          <p:cNvPr id="20" name="k5_ans_bg"/>
          <p:cNvSpPr/>
          <p:nvPr/>
        </p:nvSpPr>
        <p:spPr>
          <a:xfrm>
            <a:off x="7269480" y="4855464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k5_ans"/>
          <p:cNvSpPr txBox="1"/>
          <p:nvPr/>
        </p:nvSpPr>
        <p:spPr>
          <a:xfrm>
            <a:off x="7452360" y="4855464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Green. A class selector is more specific than an element selector.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Summary</a:t>
            </a:r>
            <a:endParaRPr lang="en-US" sz="3400" dirty="0"/>
          </a:p>
        </p:txBody>
      </p:sp>
      <p:sp>
        <p:nvSpPr>
          <p:cNvPr id="3" name="a2_ico_bg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28" y="1717700"/>
            <a:ext cx="231343" cy="231343"/>
          </a:xfrm>
          <a:prstGeom prst="rect">
            <a:avLst/>
          </a:prstGeom>
        </p:spPr>
      </p:pic>
      <p:sp>
        <p:nvSpPr>
          <p:cNvPr id="5" name="a2_pt"/>
          <p:cNvSpPr txBox="1"/>
          <p:nvPr/>
        </p:nvSpPr>
        <p:spPr>
          <a:xfrm>
            <a:off x="1280160" y="15087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controls how HTML looks; HTML controls what it means.</a:t>
            </a:r>
            <a:endParaRPr lang="en-US" sz="1650" dirty="0"/>
          </a:p>
        </p:txBody>
      </p:sp>
      <p:sp>
        <p:nvSpPr>
          <p:cNvPr id="6" name="a3_ico_bg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8" y="2650388"/>
            <a:ext cx="231343" cy="231343"/>
          </a:xfrm>
          <a:prstGeom prst="rect">
            <a:avLst/>
          </a:prstGeom>
        </p:spPr>
      </p:pic>
      <p:sp>
        <p:nvSpPr>
          <p:cNvPr id="8" name="a3_pt"/>
          <p:cNvSpPr txBox="1"/>
          <p:nvPr/>
        </p:nvSpPr>
        <p:spPr>
          <a:xfrm>
            <a:off x="1280160" y="244144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= selector + { property: value; } declarations.</a:t>
            </a:r>
            <a:endParaRPr lang="en-US" sz="1650" dirty="0"/>
          </a:p>
        </p:txBody>
      </p:sp>
      <p:sp>
        <p:nvSpPr>
          <p:cNvPr id="9" name="a4_ico_bg"/>
          <p:cNvSpPr/>
          <p:nvPr/>
        </p:nvSpPr>
        <p:spPr>
          <a:xfrm>
            <a:off x="548640" y="344728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3583076"/>
            <a:ext cx="231343" cy="231343"/>
          </a:xfrm>
          <a:prstGeom prst="rect">
            <a:avLst/>
          </a:prstGeom>
        </p:spPr>
      </p:pic>
      <p:sp>
        <p:nvSpPr>
          <p:cNvPr id="11" name="a4_pt"/>
          <p:cNvSpPr txBox="1"/>
          <p:nvPr/>
        </p:nvSpPr>
        <p:spPr>
          <a:xfrm>
            <a:off x="1280160" y="337413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selectors target tags, .class targets groups, #id targets one element.</a:t>
            </a:r>
            <a:endParaRPr lang="en-US" sz="1650" dirty="0"/>
          </a:p>
        </p:txBody>
      </p:sp>
      <p:sp>
        <p:nvSpPr>
          <p:cNvPr id="12" name="a5_ico_bg"/>
          <p:cNvSpPr/>
          <p:nvPr/>
        </p:nvSpPr>
        <p:spPr>
          <a:xfrm>
            <a:off x="548640" y="4379976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" y="4515764"/>
            <a:ext cx="231343" cy="231343"/>
          </a:xfrm>
          <a:prstGeom prst="rect">
            <a:avLst/>
          </a:prstGeom>
        </p:spPr>
      </p:pic>
      <p:sp>
        <p:nvSpPr>
          <p:cNvPr id="14" name="a5_pt"/>
          <p:cNvSpPr txBox="1"/>
          <p:nvPr/>
        </p:nvSpPr>
        <p:spPr>
          <a:xfrm>
            <a:off x="1280160" y="430682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Pseudo-classes such as :hover style an element's state.</a:t>
            </a:r>
            <a:endParaRPr lang="en-US" sz="1650" dirty="0"/>
          </a:p>
        </p:txBody>
      </p:sp>
      <p:sp>
        <p:nvSpPr>
          <p:cNvPr id="15" name="a6_ico_bg"/>
          <p:cNvSpPr/>
          <p:nvPr/>
        </p:nvSpPr>
        <p:spPr>
          <a:xfrm>
            <a:off x="548640" y="53126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a6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" y="5448452"/>
            <a:ext cx="231343" cy="231343"/>
          </a:xfrm>
          <a:prstGeom prst="rect">
            <a:avLst/>
          </a:prstGeom>
        </p:spPr>
      </p:pic>
      <p:sp>
        <p:nvSpPr>
          <p:cNvPr id="17" name="a6_pt"/>
          <p:cNvSpPr txBox="1"/>
          <p:nvPr/>
        </p:nvSpPr>
        <p:spPr>
          <a:xfrm>
            <a:off x="1280160" y="52395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rules clash, the most specific selector wins; ties go to the later rule.</a:t>
            </a:r>
            <a:endParaRPr lang="en-US" sz="1650" dirty="0"/>
          </a:p>
        </p:txBody>
      </p:sp>
      <p:sp>
        <p:nvSpPr>
          <p:cNvPr id="18" name="a8_panel"/>
          <p:cNvSpPr/>
          <p:nvPr/>
        </p:nvSpPr>
        <p:spPr>
          <a:xfrm>
            <a:off x="7315200" y="1508760"/>
            <a:ext cx="4325112" cy="4617720"/>
          </a:xfrm>
          <a:prstGeom prst="roundRect">
            <a:avLst>
              <a:gd name="adj" fmla="val 2960"/>
            </a:avLst>
          </a:prstGeom>
          <a:solidFill>
            <a:schemeClr val="tx1"/>
          </a:solidFill>
          <a:ln/>
        </p:spPr>
      </p:sp>
      <p:sp>
        <p:nvSpPr>
          <p:cNvPr id="19" name="a8_panel_h"/>
          <p:cNvSpPr txBox="1"/>
          <p:nvPr/>
        </p:nvSpPr>
        <p:spPr>
          <a:xfrm>
            <a:off x="763524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2100" dirty="0"/>
          </a:p>
        </p:txBody>
      </p:sp>
      <p:sp>
        <p:nvSpPr>
          <p:cNvPr id="20" name="a9_panel_b"/>
          <p:cNvSpPr txBox="1"/>
          <p:nvPr/>
        </p:nvSpPr>
        <p:spPr>
          <a:xfrm>
            <a:off x="7635240" y="228600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code/lesson1/  (examples, activity, challenge)</a:t>
            </a:r>
            <a:endParaRPr lang="en-US" sz="145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online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playground.html (works offline) or the CodePen links in codepen.html</a:t>
            </a:r>
            <a:endParaRPr lang="en-US" sz="145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2: Colors, Fonts &amp; Text (and CSS variables)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Stylesheet">
  <a:themeElements>
    <a:clrScheme name="Stylesheet">
      <a:dk1>
        <a:srgbClr val="10132B"/>
      </a:dk1>
      <a:lt1>
        <a:srgbClr val="FFFFFF"/>
      </a:lt1>
      <a:dk2>
        <a:srgbClr val="2B3A8F"/>
      </a:dk2>
      <a:lt2>
        <a:srgbClr val="EEF2FF"/>
      </a:lt2>
      <a:accent1>
        <a:srgbClr val="2965F1"/>
      </a:accent1>
      <a:accent2>
        <a:srgbClr val="FFC83D"/>
      </a:accent2>
      <a:accent3>
        <a:srgbClr val="FF4F8B"/>
      </a:accent3>
      <a:accent4>
        <a:srgbClr val="8B5CF6"/>
      </a:accent4>
      <a:accent5>
        <a:srgbClr val="22C55E"/>
      </a:accent5>
      <a:accent6>
        <a:srgbClr val="22D3EE"/>
      </a:accent6>
      <a:hlink>
        <a:srgbClr val="2965F1"/>
      </a:hlink>
      <a:folHlink>
        <a:srgbClr val="8B5CF6"/>
      </a:folHlink>
    </a:clrScheme>
    <a:fontScheme name="Styleshe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for High School - Lesson 1: Basics &amp; Selectors</dc:title>
  <dc:subject>CSS for high-school students</dc:subject>
  <dc:creator>CSS for High School</dc:creator>
  <cp:lastModifiedBy>CSS for High School</cp:lastModifiedBy>
  <cp:revision>1</cp:revision>
  <dcterms:created xsi:type="dcterms:W3CDTF">2026-10-08T23:28:05Z</dcterms:created>
  <dcterms:modified xsi:type="dcterms:W3CDTF">2026-10-08T23:28:05Z</dcterms:modified>
</cp:coreProperties>
</file>