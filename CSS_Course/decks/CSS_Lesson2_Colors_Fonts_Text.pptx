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margin-bottom adds space below each box (see Lesson 3).
2. A colour name: easy to read, but only about 140 exist.
3. Hex #RRGGBB: red, green and blue amounts from 00 to ff.
4. rgb(): each channel is a number from 0 to 255.
5. hsl(): hue 0-360 degrees, then saturation and lightness in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Georgia is a serif font; serif is the generic fallback if it is missing.
2. line-height: 1.6 (no unit) means 1.6 times the font size.
3. 2rem = twice the root font size (32px by default).
4. text-align centres the heading; letter-spacing adds space between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:root is the top of the page, so variables defined here work everywhere.
2. A custom property name always starts with two dashes.
3. var(--brand) reads the value. Change --brand once and every button follows.
4. .btn.alt (no space) targets elements with BOTH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5836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for High School  |  Lesson 2: Colors, Fonts &amp; Text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for High School  |  Lesson 2: Colors, Fonts &amp; Text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braces"/>
          <p:cNvSpPr txBox="1"/>
          <p:nvPr/>
        </p:nvSpPr>
        <p:spPr>
          <a:xfrm>
            <a:off x="731520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6000" dirty="0"/>
          </a:p>
        </p:txBody>
      </p:sp>
      <p:sp>
        <p:nvSpPr>
          <p:cNvPr id="3" name="a1_pill"/>
          <p:cNvSpPr/>
          <p:nvPr/>
        </p:nvSpPr>
        <p:spPr>
          <a:xfrm>
            <a:off x="731520" y="1463040"/>
            <a:ext cx="265176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a1_pill_text"/>
          <p:cNvSpPr txBox="1"/>
          <p:nvPr/>
        </p:nvSpPr>
        <p:spPr>
          <a:xfrm>
            <a:off x="731520" y="14630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OF 7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01168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Colors, Fonts &amp; Text</a:t>
            </a:r>
            <a:endParaRPr lang="en-US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4069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Make your pages readable, on-brand and easy to maintain</a:t>
            </a:r>
            <a:endParaRPr lang="en-US" sz="2200" dirty="0"/>
          </a:p>
        </p:txBody>
      </p:sp>
      <p:sp>
        <p:nvSpPr>
          <p:cNvPr id="7" name="a4_meta"/>
          <p:cNvSpPr txBox="1"/>
          <p:nvPr/>
        </p:nvSpPr>
        <p:spPr>
          <a:xfrm>
            <a:off x="73152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 |  Prior knowledge: Lesson 1  |  ~45 min</a:t>
            </a:r>
            <a:endParaRPr lang="en-US" sz="1600" dirty="0"/>
          </a:p>
        </p:txBody>
      </p:sp>
      <p:sp>
        <p:nvSpPr>
          <p:cNvPr id="8" name="a5_layer"/>
          <p:cNvSpPr/>
          <p:nvPr/>
        </p:nvSpPr>
        <p:spPr>
          <a:xfrm>
            <a:off x="7635240" y="1234440"/>
            <a:ext cx="4114800" cy="4480560"/>
          </a:xfrm>
          <a:prstGeom prst="roundRect">
            <a:avLst>
              <a:gd name="adj" fmla="val 2667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9" name="a6_layer"/>
          <p:cNvSpPr/>
          <p:nvPr/>
        </p:nvSpPr>
        <p:spPr>
          <a:xfrm>
            <a:off x="8092440" y="1691640"/>
            <a:ext cx="3200400" cy="3566160"/>
          </a:xfrm>
          <a:prstGeom prst="roundRect">
            <a:avLst>
              <a:gd name="adj" fmla="val 3429"/>
            </a:avLst>
          </a:prstGeom>
          <a:solidFill>
            <a:schemeClr val="accent3"/>
          </a:solidFill>
          <a:ln/>
        </p:spPr>
      </p:sp>
      <p:sp>
        <p:nvSpPr>
          <p:cNvPr id="10" name="a7_layer"/>
          <p:cNvSpPr/>
          <p:nvPr/>
        </p:nvSpPr>
        <p:spPr>
          <a:xfrm>
            <a:off x="8503920" y="210312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/>
        </p:spPr>
      </p:sp>
      <p:sp>
        <p:nvSpPr>
          <p:cNvPr id="11" name="a8_layer"/>
          <p:cNvSpPr/>
          <p:nvPr/>
        </p:nvSpPr>
        <p:spPr>
          <a:xfrm>
            <a:off x="8869680" y="2468880"/>
            <a:ext cx="1645920" cy="19202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a9_cssword"/>
          <p:cNvSpPr txBox="1"/>
          <p:nvPr/>
        </p:nvSpPr>
        <p:spPr>
          <a:xfrm>
            <a:off x="8869680" y="246888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Learning objective</a:t>
            </a:r>
            <a:endParaRPr lang="en-US" sz="3400" dirty="0"/>
          </a:p>
        </p:txBody>
      </p:sp>
      <p:sp>
        <p:nvSpPr>
          <p:cNvPr id="3" name="a2_panel"/>
          <p:cNvSpPr/>
          <p:nvPr/>
        </p:nvSpPr>
        <p:spPr>
          <a:xfrm>
            <a:off x="548640" y="150876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a2_head"/>
          <p:cNvSpPr txBox="1"/>
          <p:nvPr/>
        </p:nvSpPr>
        <p:spPr>
          <a:xfrm>
            <a:off x="86868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 you can:</a:t>
            </a:r>
            <a:endParaRPr lang="en-US" sz="1900" dirty="0"/>
          </a:p>
        </p:txBody>
      </p:sp>
      <p:sp>
        <p:nvSpPr>
          <p:cNvPr id="5" name="a3_ico_bg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a3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252374" cy="252374"/>
          </a:xfrm>
          <a:prstGeom prst="rect">
            <a:avLst/>
          </a:prstGeom>
        </p:spPr>
      </p:pic>
      <p:sp>
        <p:nvSpPr>
          <p:cNvPr id="7" name="a3_obj"/>
          <p:cNvSpPr txBox="1"/>
          <p:nvPr/>
        </p:nvSpPr>
        <p:spPr>
          <a:xfrm>
            <a:off x="1600200" y="2331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colours with names, hex codes, rgb() and hsl()</a:t>
            </a:r>
            <a:endParaRPr lang="en-US" sz="1800" dirty="0"/>
          </a:p>
        </p:txBody>
      </p:sp>
      <p:sp>
        <p:nvSpPr>
          <p:cNvPr id="8" name="a4_ico_bg"/>
          <p:cNvSpPr/>
          <p:nvPr/>
        </p:nvSpPr>
        <p:spPr>
          <a:xfrm>
            <a:off x="868680" y="37033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a4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13" y="3851453"/>
            <a:ext cx="252374" cy="252374"/>
          </a:xfrm>
          <a:prstGeom prst="rect">
            <a:avLst/>
          </a:prstGeom>
        </p:spPr>
      </p:pic>
      <p:sp>
        <p:nvSpPr>
          <p:cNvPr id="10" name="a4_obj"/>
          <p:cNvSpPr txBox="1"/>
          <p:nvPr/>
        </p:nvSpPr>
        <p:spPr>
          <a:xfrm>
            <a:off x="1600200" y="361188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text with font-family, font-size, line-height and text-align</a:t>
            </a:r>
            <a:endParaRPr lang="en-US" sz="1800" dirty="0"/>
          </a:p>
        </p:txBody>
      </p:sp>
      <p:sp>
        <p:nvSpPr>
          <p:cNvPr id="11" name="a5_ico_bg"/>
          <p:cNvSpPr/>
          <p:nvPr/>
        </p:nvSpPr>
        <p:spPr>
          <a:xfrm>
            <a:off x="868680" y="49834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a5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3" y="5131613"/>
            <a:ext cx="252374" cy="252374"/>
          </a:xfrm>
          <a:prstGeom prst="rect">
            <a:avLst/>
          </a:prstGeom>
        </p:spPr>
      </p:pic>
      <p:sp>
        <p:nvSpPr>
          <p:cNvPr id="13" name="a5_obj"/>
          <p:cNvSpPr txBox="1"/>
          <p:nvPr/>
        </p:nvSpPr>
        <p:spPr>
          <a:xfrm>
            <a:off x="1600200" y="48920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reusable values in CSS variables</a:t>
            </a:r>
            <a:endParaRPr lang="en-US" sz="1800" dirty="0"/>
          </a:p>
        </p:txBody>
      </p:sp>
      <p:sp>
        <p:nvSpPr>
          <p:cNvPr id="14" name="a6_terms_head"/>
          <p:cNvSpPr txBox="1"/>
          <p:nvPr/>
        </p:nvSpPr>
        <p:spPr>
          <a:xfrm>
            <a:off x="6355080" y="1508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1900" dirty="0"/>
          </a:p>
        </p:txBody>
      </p:sp>
      <p:sp>
        <p:nvSpPr>
          <p:cNvPr id="15" name="a6_chip"/>
          <p:cNvSpPr/>
          <p:nvPr/>
        </p:nvSpPr>
        <p:spPr>
          <a:xfrm>
            <a:off x="6355080" y="205740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6" name="a6_chip_text"/>
          <p:cNvSpPr txBox="1"/>
          <p:nvPr/>
        </p:nvSpPr>
        <p:spPr>
          <a:xfrm>
            <a:off x="635508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 code</a:t>
            </a:r>
            <a:endParaRPr lang="en-US" sz="1300" dirty="0"/>
          </a:p>
        </p:txBody>
      </p:sp>
      <p:sp>
        <p:nvSpPr>
          <p:cNvPr id="17" name="a6_def"/>
          <p:cNvSpPr txBox="1"/>
          <p:nvPr/>
        </p:nvSpPr>
        <p:spPr>
          <a:xfrm>
            <a:off x="8183880" y="1947672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colour written as #RRGGBB: red, green and blue amounts in base 16, like #2965f1.</a:t>
            </a:r>
            <a:endParaRPr lang="en-US" sz="1400" dirty="0"/>
          </a:p>
        </p:txBody>
      </p:sp>
      <p:sp>
        <p:nvSpPr>
          <p:cNvPr id="18" name="a7_chip"/>
          <p:cNvSpPr/>
          <p:nvPr/>
        </p:nvSpPr>
        <p:spPr>
          <a:xfrm>
            <a:off x="6355080" y="3127248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9" name="a7_chip_text"/>
          <p:cNvSpPr txBox="1"/>
          <p:nvPr/>
        </p:nvSpPr>
        <p:spPr>
          <a:xfrm>
            <a:off x="6355080" y="3127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</a:t>
            </a:r>
            <a:endParaRPr lang="en-US" sz="1300" dirty="0"/>
          </a:p>
        </p:txBody>
      </p:sp>
      <p:sp>
        <p:nvSpPr>
          <p:cNvPr id="20" name="a7_def"/>
          <p:cNvSpPr txBox="1"/>
          <p:nvPr/>
        </p:nvSpPr>
        <p:spPr>
          <a:xfrm>
            <a:off x="8183880" y="3017520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number measures: px (pixels), rem (a multiple of the root font size), % and more.</a:t>
            </a:r>
            <a:endParaRPr lang="en-US" sz="1400" dirty="0"/>
          </a:p>
        </p:txBody>
      </p:sp>
      <p:sp>
        <p:nvSpPr>
          <p:cNvPr id="21" name="a8_chip"/>
          <p:cNvSpPr/>
          <p:nvPr/>
        </p:nvSpPr>
        <p:spPr>
          <a:xfrm>
            <a:off x="6355080" y="4197096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22" name="a8_chip_text"/>
          <p:cNvSpPr txBox="1"/>
          <p:nvPr/>
        </p:nvSpPr>
        <p:spPr>
          <a:xfrm>
            <a:off x="6355080" y="41970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Typeface</a:t>
            </a:r>
            <a:endParaRPr lang="en-US" sz="1300" dirty="0"/>
          </a:p>
        </p:txBody>
      </p:sp>
      <p:sp>
        <p:nvSpPr>
          <p:cNvPr id="23" name="a8_def"/>
          <p:cNvSpPr txBox="1"/>
          <p:nvPr/>
        </p:nvSpPr>
        <p:spPr>
          <a:xfrm>
            <a:off x="8183880" y="4087368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of letter designs, such as Arial or Georgia. In CSS: font-family.</a:t>
            </a:r>
            <a:endParaRPr lang="en-US" sz="1400" dirty="0"/>
          </a:p>
        </p:txBody>
      </p:sp>
      <p:sp>
        <p:nvSpPr>
          <p:cNvPr id="24" name="a9_chip"/>
          <p:cNvSpPr/>
          <p:nvPr/>
        </p:nvSpPr>
        <p:spPr>
          <a:xfrm>
            <a:off x="6355080" y="5266944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25" name="a9_chip_text"/>
          <p:cNvSpPr txBox="1"/>
          <p:nvPr/>
        </p:nvSpPr>
        <p:spPr>
          <a:xfrm>
            <a:off x="6355080" y="52669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 variable</a:t>
            </a:r>
            <a:endParaRPr lang="en-US" sz="1300" dirty="0"/>
          </a:p>
        </p:txBody>
      </p:sp>
      <p:sp>
        <p:nvSpPr>
          <p:cNvPr id="26" name="a9_def"/>
          <p:cNvSpPr txBox="1"/>
          <p:nvPr/>
        </p:nvSpPr>
        <p:spPr>
          <a:xfrm>
            <a:off x="8183880" y="5157216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value, written --name, that you reuse with var(--name). Also called a custom property.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big ideas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card_bar"/>
          <p:cNvSpPr/>
          <p:nvPr/>
        </p:nvSpPr>
        <p:spPr>
          <a:xfrm>
            <a:off x="822960" y="1508760"/>
            <a:ext cx="822960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2_card_h"/>
          <p:cNvSpPr txBox="1"/>
          <p:nvPr/>
        </p:nvSpPr>
        <p:spPr>
          <a:xfrm>
            <a:off x="822960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colour, many notations</a:t>
            </a:r>
            <a:endParaRPr lang="en-US" sz="2000" dirty="0"/>
          </a:p>
        </p:txBody>
      </p:sp>
      <p:sp>
        <p:nvSpPr>
          <p:cNvPr id="8" name="a2_card_b"/>
          <p:cNvSpPr txBox="1"/>
          <p:nvPr/>
        </p:nvSpPr>
        <p:spPr>
          <a:xfrm>
            <a:off x="822960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can be a name, a hex code, rgb() with three 0-255 numbers, or hsl() with hue (0-360 degrees), saturation and lightness. hsl is the easiest to tweak by hand.</a:t>
            </a:r>
            <a:endParaRPr lang="en-US" sz="1500" dirty="0"/>
          </a:p>
        </p:txBody>
      </p:sp>
      <p:sp>
        <p:nvSpPr>
          <p:cNvPr id="9" name="a2_card_codebg"/>
          <p:cNvSpPr/>
          <p:nvPr/>
        </p:nvSpPr>
        <p:spPr>
          <a:xfrm>
            <a:off x="822960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0" name="a2_card_code"/>
          <p:cNvSpPr txBox="1"/>
          <p:nvPr/>
        </p:nvSpPr>
        <p:spPr>
          <a:xfrm>
            <a:off x="822960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hsl(222, 88%, 55%)</a:t>
            </a:r>
            <a:endParaRPr lang="en-US" sz="1300" dirty="0"/>
          </a:p>
        </p:txBody>
      </p:sp>
      <p:sp>
        <p:nvSpPr>
          <p:cNvPr id="11" name="a3_card"/>
          <p:cNvSpPr/>
          <p:nvPr/>
        </p:nvSpPr>
        <p:spPr>
          <a:xfrm>
            <a:off x="4338218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a3_card_bar"/>
          <p:cNvSpPr/>
          <p:nvPr/>
        </p:nvSpPr>
        <p:spPr>
          <a:xfrm>
            <a:off x="4612538" y="1508760"/>
            <a:ext cx="822960" cy="822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a3_num"/>
          <p:cNvSpPr/>
          <p:nvPr/>
        </p:nvSpPr>
        <p:spPr>
          <a:xfrm>
            <a:off x="4612538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461253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a3_card_h"/>
          <p:cNvSpPr txBox="1"/>
          <p:nvPr/>
        </p:nvSpPr>
        <p:spPr>
          <a:xfrm>
            <a:off x="4612538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about readability</a:t>
            </a:r>
            <a:endParaRPr lang="en-US" sz="2000" dirty="0"/>
          </a:p>
        </p:txBody>
      </p:sp>
      <p:sp>
        <p:nvSpPr>
          <p:cNvPr id="16" name="a3_card_b"/>
          <p:cNvSpPr txBox="1"/>
          <p:nvPr/>
        </p:nvSpPr>
        <p:spPr>
          <a:xfrm>
            <a:off x="4612538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font-family with a fallback, a comfortable font-size, a line-height around 1.5 to 1.7, and enough contrast between text and background.</a:t>
            </a:r>
            <a:endParaRPr lang="en-US" sz="1500" dirty="0"/>
          </a:p>
        </p:txBody>
      </p:sp>
      <p:sp>
        <p:nvSpPr>
          <p:cNvPr id="17" name="a3_card_codebg"/>
          <p:cNvSpPr/>
          <p:nvPr/>
        </p:nvSpPr>
        <p:spPr>
          <a:xfrm>
            <a:off x="4612538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8" name="a3_card_code"/>
          <p:cNvSpPr txBox="1"/>
          <p:nvPr/>
        </p:nvSpPr>
        <p:spPr>
          <a:xfrm>
            <a:off x="4612538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line-height: 1.6;</a:t>
            </a:r>
            <a:endParaRPr lang="en-US" sz="1300" dirty="0"/>
          </a:p>
        </p:txBody>
      </p:sp>
      <p:sp>
        <p:nvSpPr>
          <p:cNvPr id="19" name="a4_card"/>
          <p:cNvSpPr/>
          <p:nvPr/>
        </p:nvSpPr>
        <p:spPr>
          <a:xfrm>
            <a:off x="8127797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a4_card_bar"/>
          <p:cNvSpPr/>
          <p:nvPr/>
        </p:nvSpPr>
        <p:spPr>
          <a:xfrm>
            <a:off x="8402117" y="1508760"/>
            <a:ext cx="822960" cy="8229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a4_num"/>
          <p:cNvSpPr/>
          <p:nvPr/>
        </p:nvSpPr>
        <p:spPr>
          <a:xfrm>
            <a:off x="8402117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a4_numt"/>
          <p:cNvSpPr txBox="1"/>
          <p:nvPr/>
        </p:nvSpPr>
        <p:spPr>
          <a:xfrm>
            <a:off x="8402117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a4_card_h"/>
          <p:cNvSpPr txBox="1"/>
          <p:nvPr/>
        </p:nvSpPr>
        <p:spPr>
          <a:xfrm>
            <a:off x="8402117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px vs rem</a:t>
            </a:r>
            <a:endParaRPr lang="en-US" sz="2000" dirty="0"/>
          </a:p>
        </p:txBody>
      </p:sp>
      <p:sp>
        <p:nvSpPr>
          <p:cNvPr id="24" name="a4_card_b"/>
          <p:cNvSpPr txBox="1"/>
          <p:nvPr/>
        </p:nvSpPr>
        <p:spPr>
          <a:xfrm>
            <a:off x="8402117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 is a fixed size. rem is relative to the page's root font size (16px by default), so text scales when a user changes their browser settings. Prefer rem for font sizes.</a:t>
            </a:r>
            <a:endParaRPr lang="en-US" sz="1500" dirty="0"/>
          </a:p>
        </p:txBody>
      </p:sp>
      <p:sp>
        <p:nvSpPr>
          <p:cNvPr id="25" name="a4_card_codebg"/>
          <p:cNvSpPr/>
          <p:nvPr/>
        </p:nvSpPr>
        <p:spPr>
          <a:xfrm>
            <a:off x="8402117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26" name="a4_card_code"/>
          <p:cNvSpPr txBox="1"/>
          <p:nvPr/>
        </p:nvSpPr>
        <p:spPr>
          <a:xfrm>
            <a:off x="8402117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font-size: 1.25rem;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One blue, four ways to write it</a:t>
            </a:r>
            <a:endParaRPr lang="en-US" sz="3400" dirty="0"/>
          </a:p>
        </p:txBody>
      </p:sp>
      <p:sp>
        <p:nvSpPr>
          <p:cNvPr id="3" name="a2_frame"/>
          <p:cNvSpPr/>
          <p:nvPr/>
        </p:nvSpPr>
        <p:spPr>
          <a:xfrm>
            <a:off x="475488" y="1435608"/>
            <a:ext cx="7095744" cy="4718304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a2_diagram" descr="/home/user/Python/CSS_Course/assets/l2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949440" cy="4572000"/>
          </a:xfrm>
          <a:prstGeom prst="rect">
            <a:avLst/>
          </a:prstGeom>
        </p:spPr>
      </p:pic>
      <p:sp>
        <p:nvSpPr>
          <p:cNvPr id="5" name="a3_num"/>
          <p:cNvSpPr/>
          <p:nvPr/>
        </p:nvSpPr>
        <p:spPr>
          <a:xfrm>
            <a:off x="790956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79095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a3_cap"/>
          <p:cNvSpPr txBox="1"/>
          <p:nvPr/>
        </p:nvSpPr>
        <p:spPr>
          <a:xfrm>
            <a:off x="854964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colour can be written as a name, hex, rgb() or hsl().</a:t>
            </a:r>
            <a:endParaRPr lang="en-US" sz="1600" dirty="0"/>
          </a:p>
        </p:txBody>
      </p:sp>
      <p:sp>
        <p:nvSpPr>
          <p:cNvPr id="8" name="a4_num"/>
          <p:cNvSpPr/>
          <p:nvPr/>
        </p:nvSpPr>
        <p:spPr>
          <a:xfrm>
            <a:off x="7909560" y="31546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79095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a4_cap"/>
          <p:cNvSpPr txBox="1"/>
          <p:nvPr/>
        </p:nvSpPr>
        <p:spPr>
          <a:xfrm>
            <a:off x="854964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hsl(), hue is the colour on a 0-360 degree wheel; saturation is how vivid; lightness is how bright.</a:t>
            </a:r>
            <a:endParaRPr lang="en-US" sz="1600" dirty="0"/>
          </a:p>
        </p:txBody>
      </p:sp>
      <p:sp>
        <p:nvSpPr>
          <p:cNvPr id="11" name="a5_num"/>
          <p:cNvSpPr/>
          <p:nvPr/>
        </p:nvSpPr>
        <p:spPr>
          <a:xfrm>
            <a:off x="7909560" y="46177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790956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a5_cap"/>
          <p:cNvSpPr txBox="1"/>
          <p:nvPr/>
        </p:nvSpPr>
        <p:spPr>
          <a:xfrm>
            <a:off x="8549640" y="4526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hue and saturation, change only lightness: instant shades for hover and borders.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1: Four ways to write a colour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boxes use the same blue written in different notations.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2945384"/>
          </a:xfrm>
          <a:prstGeom prst="roundRect">
            <a:avLst>
              <a:gd name="adj" fmla="val 372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220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14px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Arial, sans-serif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margin-bottom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royalblue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#2965f1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rgb(41, 101, 241)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hsl(222, 88%, 55%)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822960" y="32209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32209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36527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36527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38686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38686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3_num"/>
          <p:cNvSpPr/>
          <p:nvPr/>
        </p:nvSpPr>
        <p:spPr>
          <a:xfrm>
            <a:off x="822960" y="40845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822960" y="40845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a3_num"/>
          <p:cNvSpPr/>
          <p:nvPr/>
        </p:nvSpPr>
        <p:spPr>
          <a:xfrm>
            <a:off x="822960" y="4300474"/>
            <a:ext cx="201168" cy="20116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0" name="a3_numt"/>
          <p:cNvSpPr txBox="1"/>
          <p:nvPr/>
        </p:nvSpPr>
        <p:spPr>
          <a:xfrm>
            <a:off x="822960" y="43004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a5_html"/>
          <p:cNvSpPr/>
          <p:nvPr/>
        </p:nvSpPr>
        <p:spPr>
          <a:xfrm>
            <a:off x="548640" y="4865624"/>
            <a:ext cx="5623560" cy="1398016"/>
          </a:xfrm>
          <a:prstGeom prst="roundRect">
            <a:avLst>
              <a:gd name="adj" fmla="val 6541"/>
            </a:avLst>
          </a:prstGeom>
          <a:solidFill>
            <a:schemeClr val="bg2"/>
          </a:solidFill>
          <a:ln/>
        </p:spPr>
      </p:sp>
      <p:sp>
        <p:nvSpPr>
          <p:cNvPr id="22" name="a5_html_h"/>
          <p:cNvSpPr txBox="1"/>
          <p:nvPr/>
        </p:nvSpPr>
        <p:spPr>
          <a:xfrm>
            <a:off x="731520" y="4938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used</a:t>
            </a:r>
            <a:endParaRPr lang="en-US" sz="1100" dirty="0"/>
          </a:p>
        </p:txBody>
      </p:sp>
      <p:sp>
        <p:nvSpPr>
          <p:cNvPr id="23" name="a5_html_text"/>
          <p:cNvSpPr txBox="1"/>
          <p:nvPr/>
        </p:nvSpPr>
        <p:spPr>
          <a:xfrm>
            <a:off x="731520" y="5213096"/>
            <a:ext cx="5257800" cy="986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class="box a"&gt;royalblue&lt;/div&gt;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class="box b"&gt;#2965f1&lt;/div&gt;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class="box c"&gt;rgb(41, 101, 241)&lt;/div&gt;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class="box d"&gt;hsl(222, 88%, 55%)&lt;/div&gt;</a:t>
            </a:r>
            <a:endParaRPr lang="en-US" sz="1050" dirty="0"/>
          </a:p>
        </p:txBody>
      </p:sp>
      <p:sp>
        <p:nvSpPr>
          <p:cNvPr id="24" name="a4_browser"/>
          <p:cNvSpPr/>
          <p:nvPr/>
        </p:nvSpPr>
        <p:spPr>
          <a:xfrm>
            <a:off x="6400800" y="1783080"/>
            <a:ext cx="4693920" cy="29169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5" name="a4_browser_bar"/>
          <p:cNvSpPr/>
          <p:nvPr/>
        </p:nvSpPr>
        <p:spPr>
          <a:xfrm>
            <a:off x="6400800" y="1783080"/>
            <a:ext cx="4693920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7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9" name="a4_browser_url"/>
          <p:cNvSpPr/>
          <p:nvPr/>
        </p:nvSpPr>
        <p:spPr>
          <a:xfrm>
            <a:off x="7315200" y="1847088"/>
            <a:ext cx="3596640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30" name="a4_browser_urltext"/>
          <p:cNvSpPr txBox="1"/>
          <p:nvPr/>
        </p:nvSpPr>
        <p:spPr>
          <a:xfrm>
            <a:off x="7424928" y="1847088"/>
            <a:ext cx="341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lesson2/example1/index.html</a:t>
            </a:r>
            <a:endParaRPr lang="en-US" sz="1100" dirty="0"/>
          </a:p>
        </p:txBody>
      </p:sp>
      <p:pic>
        <p:nvPicPr>
          <p:cNvPr id="31" name="a4_shot" descr="/home/user/Python/CSS_Course/assets/l2_ex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4693920" cy="2514600"/>
          </a:xfrm>
          <a:prstGeom prst="rect">
            <a:avLst/>
          </a:prstGeom>
        </p:spPr>
      </p:pic>
      <p:sp>
        <p:nvSpPr>
          <p:cNvPr id="32" name="a6_num"/>
          <p:cNvSpPr/>
          <p:nvPr/>
        </p:nvSpPr>
        <p:spPr>
          <a:xfrm>
            <a:off x="6400800" y="491947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a6_numt"/>
          <p:cNvSpPr txBox="1"/>
          <p:nvPr/>
        </p:nvSpPr>
        <p:spPr>
          <a:xfrm>
            <a:off x="6400800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a6_ann"/>
          <p:cNvSpPr txBox="1"/>
          <p:nvPr/>
        </p:nvSpPr>
        <p:spPr>
          <a:xfrm>
            <a:off x="6748272" y="4882896"/>
            <a:ext cx="489478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margin-bottom adds space below each box (see Lesson 3).</a:t>
            </a:r>
            <a:endParaRPr lang="en-US" sz="1250" dirty="0"/>
          </a:p>
        </p:txBody>
      </p:sp>
      <p:sp>
        <p:nvSpPr>
          <p:cNvPr id="35" name="a7_num"/>
          <p:cNvSpPr/>
          <p:nvPr/>
        </p:nvSpPr>
        <p:spPr>
          <a:xfrm>
            <a:off x="6400800" y="5204765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6" name="a7_numt"/>
          <p:cNvSpPr txBox="1"/>
          <p:nvPr/>
        </p:nvSpPr>
        <p:spPr>
          <a:xfrm>
            <a:off x="6400800" y="520476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a7_ann"/>
          <p:cNvSpPr txBox="1"/>
          <p:nvPr/>
        </p:nvSpPr>
        <p:spPr>
          <a:xfrm>
            <a:off x="6748272" y="5168189"/>
            <a:ext cx="489478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colour name: easy to read, but only about 140 exist.</a:t>
            </a:r>
            <a:endParaRPr lang="en-US" sz="1250" dirty="0"/>
          </a:p>
        </p:txBody>
      </p:sp>
      <p:sp>
        <p:nvSpPr>
          <p:cNvPr id="38" name="a8_num"/>
          <p:cNvSpPr/>
          <p:nvPr/>
        </p:nvSpPr>
        <p:spPr>
          <a:xfrm>
            <a:off x="6400800" y="5490058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9" name="a8_numt"/>
          <p:cNvSpPr txBox="1"/>
          <p:nvPr/>
        </p:nvSpPr>
        <p:spPr>
          <a:xfrm>
            <a:off x="6400800" y="549005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a8_ann"/>
          <p:cNvSpPr txBox="1"/>
          <p:nvPr/>
        </p:nvSpPr>
        <p:spPr>
          <a:xfrm>
            <a:off x="6748272" y="5453482"/>
            <a:ext cx="489478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#RRGGBB: red, green and blue amounts from 00 to ff.</a:t>
            </a:r>
            <a:endParaRPr lang="en-US" sz="1250" dirty="0"/>
          </a:p>
        </p:txBody>
      </p:sp>
      <p:sp>
        <p:nvSpPr>
          <p:cNvPr id="41" name="a9_num"/>
          <p:cNvSpPr/>
          <p:nvPr/>
        </p:nvSpPr>
        <p:spPr>
          <a:xfrm>
            <a:off x="6400800" y="5775350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2" name="a9_numt"/>
          <p:cNvSpPr txBox="1"/>
          <p:nvPr/>
        </p:nvSpPr>
        <p:spPr>
          <a:xfrm>
            <a:off x="6400800" y="57753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a9_ann"/>
          <p:cNvSpPr txBox="1"/>
          <p:nvPr/>
        </p:nvSpPr>
        <p:spPr>
          <a:xfrm>
            <a:off x="6748272" y="5738774"/>
            <a:ext cx="489478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rgb(): each channel is a number from 0 to 255.</a:t>
            </a:r>
            <a:endParaRPr lang="en-US" sz="1250" dirty="0"/>
          </a:p>
        </p:txBody>
      </p:sp>
      <p:sp>
        <p:nvSpPr>
          <p:cNvPr id="44" name="a10_num"/>
          <p:cNvSpPr/>
          <p:nvPr/>
        </p:nvSpPr>
        <p:spPr>
          <a:xfrm>
            <a:off x="6400800" y="6060643"/>
            <a:ext cx="228600" cy="2286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45" name="a10_numt"/>
          <p:cNvSpPr txBox="1"/>
          <p:nvPr/>
        </p:nvSpPr>
        <p:spPr>
          <a:xfrm>
            <a:off x="6400800" y="606064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a10_ann"/>
          <p:cNvSpPr txBox="1"/>
          <p:nvPr/>
        </p:nvSpPr>
        <p:spPr>
          <a:xfrm>
            <a:off x="6748272" y="6024067"/>
            <a:ext cx="489478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hsl(): hue 0-360 degrees, then saturation and lightness in %.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6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9" dur="6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6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6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6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6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6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2: Readable typography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text styling is mostly about size, spacing and alignment.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3161284"/>
          </a:xfrm>
          <a:prstGeom prst="roundRect">
            <a:avLst>
              <a:gd name="adj" fmla="val 3471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242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Georgia, serif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18px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1.6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#1f2937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2rem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letter-spacing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822960" y="25732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30050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30050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38686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38686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3_num"/>
          <p:cNvSpPr/>
          <p:nvPr/>
        </p:nvSpPr>
        <p:spPr>
          <a:xfrm>
            <a:off x="822960" y="40845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822960" y="40845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a5_html"/>
          <p:cNvSpPr/>
          <p:nvPr/>
        </p:nvSpPr>
        <p:spPr>
          <a:xfrm>
            <a:off x="548640" y="5081524"/>
            <a:ext cx="5623560" cy="1182116"/>
          </a:xfrm>
          <a:prstGeom prst="roundRect">
            <a:avLst>
              <a:gd name="adj" fmla="val 7735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731520" y="51546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used</a:t>
            </a:r>
            <a:endParaRPr lang="en-US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731520" y="5428996"/>
            <a:ext cx="5257800" cy="77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&lt;h1&gt;Why we read on screens&lt;/h1&gt;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&lt;p&gt;Good typography makes long text easy on the eyes. Space between lines helps your eyes find the next line without effort.&lt;/p&gt;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&lt;p&gt;Short lines and clear contrast help even more.&lt;/p&gt;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6400800" y="1783080"/>
            <a:ext cx="4267200" cy="29169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6400800" y="1783080"/>
            <a:ext cx="4267200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7315200" y="1847088"/>
            <a:ext cx="3169920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7424928" y="1847088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lesson2/example2/index.html</a:t>
            </a:r>
            <a:endParaRPr lang="en-US" sz="1100" dirty="0"/>
          </a:p>
        </p:txBody>
      </p:sp>
      <p:pic>
        <p:nvPicPr>
          <p:cNvPr id="29" name="a4_shot" descr="/home/user/Python/CSS_Course/assets/l2_ex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4267200" cy="2514600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6400800" y="491947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6400800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6748272" y="4882896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is a serif font; serif is the generic fallback if it is missing.</a:t>
            </a:r>
            <a:endParaRPr lang="en-US" sz="1250" dirty="0"/>
          </a:p>
        </p:txBody>
      </p:sp>
      <p:sp>
        <p:nvSpPr>
          <p:cNvPr id="33" name="a7_num"/>
          <p:cNvSpPr/>
          <p:nvPr/>
        </p:nvSpPr>
        <p:spPr>
          <a:xfrm>
            <a:off x="6400800" y="5276088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6400800" y="52760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6748272" y="5239512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line-height: 1.6 (no unit) means 1.6 times the font size.</a:t>
            </a:r>
            <a:endParaRPr lang="en-US" sz="1250" dirty="0"/>
          </a:p>
        </p:txBody>
      </p:sp>
      <p:sp>
        <p:nvSpPr>
          <p:cNvPr id="36" name="a8_num"/>
          <p:cNvSpPr/>
          <p:nvPr/>
        </p:nvSpPr>
        <p:spPr>
          <a:xfrm>
            <a:off x="6400800" y="5632704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6400800" y="56327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6748272" y="5596128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2rem = twice the root font size (32px by default).</a:t>
            </a:r>
            <a:endParaRPr lang="en-US" sz="1250" dirty="0"/>
          </a:p>
        </p:txBody>
      </p:sp>
      <p:sp>
        <p:nvSpPr>
          <p:cNvPr id="39" name="a9_num"/>
          <p:cNvSpPr/>
          <p:nvPr/>
        </p:nvSpPr>
        <p:spPr>
          <a:xfrm>
            <a:off x="6400800" y="5989320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6400800" y="5989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6748272" y="5952744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text-align centres the heading; letter-spacing adds space between letters.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3: CSS variables (custom properties)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 value once, reuse it everywhere, and change it in one place.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3377184"/>
          </a:xfrm>
          <a:prstGeom prst="roundRect">
            <a:avLst>
              <a:gd name="adj" fmla="val 324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--brand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#2965f1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--accent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#ff4f8b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var(--brand)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none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 20px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.btn.alt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var(--accent)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822960" y="23573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23573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25732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34368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34368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3_num"/>
          <p:cNvSpPr/>
          <p:nvPr/>
        </p:nvSpPr>
        <p:spPr>
          <a:xfrm>
            <a:off x="822960" y="47322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822960" y="4732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a5_html"/>
          <p:cNvSpPr/>
          <p:nvPr/>
        </p:nvSpPr>
        <p:spPr>
          <a:xfrm>
            <a:off x="548640" y="5297424"/>
            <a:ext cx="5623560" cy="966216"/>
          </a:xfrm>
          <a:prstGeom prst="roundRect">
            <a:avLst>
              <a:gd name="adj" fmla="val 9464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731520" y="5370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used</a:t>
            </a:r>
            <a:endParaRPr lang="en-US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731520" y="5644896"/>
            <a:ext cx="525780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class="btn"&gt;Join&lt;/button&gt;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class="btn alt"&gt;Donate&lt;/button&gt;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6400800" y="1783080"/>
            <a:ext cx="5242255" cy="1432065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640080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731520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742492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lesson2/example3/index.html</a:t>
            </a:r>
            <a:endParaRPr lang="en-US" sz="1100" dirty="0"/>
          </a:p>
        </p:txBody>
      </p:sp>
      <p:pic>
        <p:nvPicPr>
          <p:cNvPr id="29" name="a4_shot" descr="/home/user/Python/CSS_Course/assets/l2_ex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5242255" cy="1029729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6400800" y="3434601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6400800" y="3434601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6748272" y="3398025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:root is the top of the page, so variables defined here work everywhere.</a:t>
            </a:r>
            <a:endParaRPr lang="en-US" sz="1250" dirty="0"/>
          </a:p>
        </p:txBody>
      </p:sp>
      <p:sp>
        <p:nvSpPr>
          <p:cNvPr id="33" name="a7_num"/>
          <p:cNvSpPr/>
          <p:nvPr/>
        </p:nvSpPr>
        <p:spPr>
          <a:xfrm>
            <a:off x="6400800" y="4001529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6400800" y="400152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6748272" y="3964953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property name always starts with two dashes.</a:t>
            </a:r>
            <a:endParaRPr lang="en-US" sz="1250" dirty="0"/>
          </a:p>
        </p:txBody>
      </p:sp>
      <p:sp>
        <p:nvSpPr>
          <p:cNvPr id="36" name="a8_num"/>
          <p:cNvSpPr/>
          <p:nvPr/>
        </p:nvSpPr>
        <p:spPr>
          <a:xfrm>
            <a:off x="6400800" y="4568457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6400800" y="456845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6748272" y="4531881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var(--brand) reads the value. Change --brand once and every button follows.</a:t>
            </a:r>
            <a:endParaRPr lang="en-US" sz="1250" dirty="0"/>
          </a:p>
        </p:txBody>
      </p:sp>
      <p:sp>
        <p:nvSpPr>
          <p:cNvPr id="39" name="a9_num"/>
          <p:cNvSpPr/>
          <p:nvPr/>
        </p:nvSpPr>
        <p:spPr>
          <a:xfrm>
            <a:off x="6400800" y="5135385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6400800" y="513538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6748272" y="5098809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.btn.alt (no space) targets elements with BOTH classes.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Real-world: brand colours and readable text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ico_bg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980590"/>
            <a:ext cx="336499" cy="336499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822960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</a:t>
            </a:r>
            <a:endParaRPr lang="en-US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22960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keep brand colours in variables, so a redesign means changing a few lines instead of hundreds.</a:t>
            </a:r>
            <a:endParaRPr lang="en-US" sz="1500" dirty="0"/>
          </a:p>
        </p:txBody>
      </p:sp>
      <p:sp>
        <p:nvSpPr>
          <p:cNvPr id="8" name="a3_card"/>
          <p:cNvSpPr/>
          <p:nvPr/>
        </p:nvSpPr>
        <p:spPr>
          <a:xfrm>
            <a:off x="4338218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a3_ico_bg"/>
          <p:cNvSpPr/>
          <p:nvPr/>
        </p:nvSpPr>
        <p:spPr>
          <a:xfrm>
            <a:off x="4612538" y="17830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049" y="1980590"/>
            <a:ext cx="336499" cy="336499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4612538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4612538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contrast and a sensible line-height help people with low vision or dyslexia. Teachers and exam boards care about this too.</a:t>
            </a:r>
            <a:endParaRPr lang="en-US" sz="1500" dirty="0"/>
          </a:p>
        </p:txBody>
      </p:sp>
      <p:sp>
        <p:nvSpPr>
          <p:cNvPr id="13" name="a4_card"/>
          <p:cNvSpPr/>
          <p:nvPr/>
        </p:nvSpPr>
        <p:spPr>
          <a:xfrm>
            <a:off x="8127797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a4_ico_bg"/>
          <p:cNvSpPr/>
          <p:nvPr/>
        </p:nvSpPr>
        <p:spPr>
          <a:xfrm>
            <a:off x="8402117" y="17830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627" y="1980590"/>
            <a:ext cx="336499" cy="336499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8402117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Respecting user settings</a:t>
            </a:r>
            <a:endParaRPr lang="en-US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402117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rem lets text grow when users raise their browser font size, instead of ignoring their needs.</a:t>
            </a:r>
            <a:endParaRPr lang="en-US" sz="1500" dirty="0"/>
          </a:p>
        </p:txBody>
      </p:sp>
      <p:sp>
        <p:nvSpPr>
          <p:cNvPr id="18" name="a5_try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19" name="a5_ico_bg"/>
          <p:cNvSpPr/>
          <p:nvPr/>
        </p:nvSpPr>
        <p:spPr>
          <a:xfrm>
            <a:off x="868680" y="5212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157" y="5372557"/>
            <a:ext cx="273406" cy="273406"/>
          </a:xfrm>
          <a:prstGeom prst="rect">
            <a:avLst/>
          </a:prstGeom>
        </p:spPr>
      </p:pic>
      <p:sp>
        <p:nvSpPr>
          <p:cNvPr id="21" name="a5_try_text"/>
          <p:cNvSpPr txBox="1"/>
          <p:nvPr/>
        </p:nvSpPr>
        <p:spPr>
          <a:xfrm>
            <a:off x="1737360" y="4983480"/>
            <a:ext cx="9539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DevTools (F12), select the body, and look at Computed. Find the font-family the browser really used and the font-size in px.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Common mistakes</a:t>
            </a:r>
            <a:endParaRPr lang="en-US" sz="3400" dirty="0"/>
          </a:p>
        </p:txBody>
      </p:sp>
      <p:sp>
        <p:nvSpPr>
          <p:cNvPr id="3" name="a1_hdr"/>
          <p:cNvSpPr txBox="1"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2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500" dirty="0"/>
          </a:p>
        </p:txBody>
      </p:sp>
      <p:sp>
        <p:nvSpPr>
          <p:cNvPr id="4" name="a1_hdr"/>
          <p:cNvSpPr txBox="1"/>
          <p:nvPr/>
        </p:nvSpPr>
        <p:spPr>
          <a:xfrm>
            <a:off x="44348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instead</a:t>
            </a:r>
            <a:endParaRPr lang="en-US" sz="1500" dirty="0"/>
          </a:p>
        </p:txBody>
      </p:sp>
      <p:sp>
        <p:nvSpPr>
          <p:cNvPr id="5" name="a1_hdr"/>
          <p:cNvSpPr txBox="1"/>
          <p:nvPr/>
        </p:nvSpPr>
        <p:spPr>
          <a:xfrm>
            <a:off x="83667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6" name="a2_bad"/>
          <p:cNvSpPr/>
          <p:nvPr/>
        </p:nvSpPr>
        <p:spPr>
          <a:xfrm>
            <a:off x="548640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7" name="a2_bad_bar"/>
          <p:cNvSpPr/>
          <p:nvPr/>
        </p:nvSpPr>
        <p:spPr>
          <a:xfrm>
            <a:off x="548640" y="1892808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a2_bad_t"/>
          <p:cNvSpPr txBox="1"/>
          <p:nvPr/>
        </p:nvSpPr>
        <p:spPr>
          <a:xfrm>
            <a:off x="777240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font-family: Times New Roman;</a:t>
            </a:r>
            <a:endParaRPr lang="en-US" sz="1300" dirty="0"/>
          </a:p>
        </p:txBody>
      </p:sp>
      <p:sp>
        <p:nvSpPr>
          <p:cNvPr id="9" name="a2_good"/>
          <p:cNvSpPr/>
          <p:nvPr/>
        </p:nvSpPr>
        <p:spPr>
          <a:xfrm>
            <a:off x="4434840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0" name="a2_good_bar"/>
          <p:cNvSpPr/>
          <p:nvPr/>
        </p:nvSpPr>
        <p:spPr>
          <a:xfrm>
            <a:off x="4434840" y="1892808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a2_good_t"/>
          <p:cNvSpPr txBox="1"/>
          <p:nvPr/>
        </p:nvSpPr>
        <p:spPr>
          <a:xfrm>
            <a:off x="4663440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font-family: "Times New Roman", serif;</a:t>
            </a:r>
            <a:endParaRPr lang="en-US" sz="1300" dirty="0"/>
          </a:p>
        </p:txBody>
      </p:sp>
      <p:sp>
        <p:nvSpPr>
          <p:cNvPr id="12" name="a2_why"/>
          <p:cNvSpPr txBox="1"/>
          <p:nvPr/>
        </p:nvSpPr>
        <p:spPr>
          <a:xfrm>
            <a:off x="8366760" y="1783080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names with spaces need quotes, and you should always add a generic fallback such as serif.</a:t>
            </a:r>
            <a:endParaRPr lang="en-US" sz="1400" dirty="0"/>
          </a:p>
        </p:txBody>
      </p:sp>
      <p:sp>
        <p:nvSpPr>
          <p:cNvPr id="13" name="a3_bad"/>
          <p:cNvSpPr/>
          <p:nvPr/>
        </p:nvSpPr>
        <p:spPr>
          <a:xfrm>
            <a:off x="548640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14" name="a3_bad_bar"/>
          <p:cNvSpPr/>
          <p:nvPr/>
        </p:nvSpPr>
        <p:spPr>
          <a:xfrm>
            <a:off x="548640" y="3374136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a3_bad_t"/>
          <p:cNvSpPr txBox="1"/>
          <p:nvPr/>
        </p:nvSpPr>
        <p:spPr>
          <a:xfrm>
            <a:off x="777240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line-height: 1.6px;</a:t>
            </a:r>
            <a:endParaRPr lang="en-US" sz="1300" dirty="0"/>
          </a:p>
        </p:txBody>
      </p:sp>
      <p:sp>
        <p:nvSpPr>
          <p:cNvPr id="16" name="a3_good"/>
          <p:cNvSpPr/>
          <p:nvPr/>
        </p:nvSpPr>
        <p:spPr>
          <a:xfrm>
            <a:off x="4434840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7" name="a3_good_bar"/>
          <p:cNvSpPr/>
          <p:nvPr/>
        </p:nvSpPr>
        <p:spPr>
          <a:xfrm>
            <a:off x="4434840" y="3374136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a3_good_t"/>
          <p:cNvSpPr txBox="1"/>
          <p:nvPr/>
        </p:nvSpPr>
        <p:spPr>
          <a:xfrm>
            <a:off x="4663440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line-height: 1.6;</a:t>
            </a:r>
            <a:endParaRPr lang="en-US" sz="1300" dirty="0"/>
          </a:p>
        </p:txBody>
      </p:sp>
      <p:sp>
        <p:nvSpPr>
          <p:cNvPr id="19" name="a3_why"/>
          <p:cNvSpPr txBox="1"/>
          <p:nvPr/>
        </p:nvSpPr>
        <p:spPr>
          <a:xfrm>
            <a:off x="8366760" y="3264408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px you set a tiny fixed height. A unitless number scales with the font size.</a:t>
            </a:r>
            <a:endParaRPr lang="en-US" sz="1400" dirty="0"/>
          </a:p>
        </p:txBody>
      </p:sp>
      <p:sp>
        <p:nvSpPr>
          <p:cNvPr id="20" name="a4_bad"/>
          <p:cNvSpPr/>
          <p:nvPr/>
        </p:nvSpPr>
        <p:spPr>
          <a:xfrm>
            <a:off x="548640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21" name="a4_bad_bar"/>
          <p:cNvSpPr/>
          <p:nvPr/>
        </p:nvSpPr>
        <p:spPr>
          <a:xfrm>
            <a:off x="548640" y="4855464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a4_bad_t"/>
          <p:cNvSpPr txBox="1"/>
          <p:nvPr/>
        </p:nvSpPr>
        <p:spPr>
          <a:xfrm>
            <a:off x="777240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#333;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background: #444;</a:t>
            </a:r>
            <a:endParaRPr lang="en-US" sz="1300" dirty="0"/>
          </a:p>
        </p:txBody>
      </p:sp>
      <p:sp>
        <p:nvSpPr>
          <p:cNvPr id="23" name="a4_good"/>
          <p:cNvSpPr/>
          <p:nvPr/>
        </p:nvSpPr>
        <p:spPr>
          <a:xfrm>
            <a:off x="4434840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24" name="a4_good_bar"/>
          <p:cNvSpPr/>
          <p:nvPr/>
        </p:nvSpPr>
        <p:spPr>
          <a:xfrm>
            <a:off x="4434840" y="4855464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a4_good_t"/>
          <p:cNvSpPr txBox="1"/>
          <p:nvPr/>
        </p:nvSpPr>
        <p:spPr>
          <a:xfrm>
            <a:off x="4663440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#ffffff;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background: #1f2937;</a:t>
            </a:r>
            <a:endParaRPr lang="en-US" sz="1300" dirty="0"/>
          </a:p>
        </p:txBody>
      </p:sp>
      <p:sp>
        <p:nvSpPr>
          <p:cNvPr id="26" name="a4_why"/>
          <p:cNvSpPr txBox="1"/>
          <p:nvPr/>
        </p:nvSpPr>
        <p:spPr>
          <a:xfrm>
            <a:off x="8366760" y="4745736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contrast is hard to read. Aim for strong contrast between text and background.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Tips &amp; best practices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4" name="a2_ico_bg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955902"/>
            <a:ext cx="294437" cy="294437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1645920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small palette</a:t>
            </a:r>
            <a:endParaRPr lang="en-US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22960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1 main colour, 1 accent and a few neutrals. Store them as variables on :root.</a:t>
            </a:r>
            <a:endParaRPr lang="en-US" sz="1500" dirty="0"/>
          </a:p>
        </p:txBody>
      </p:sp>
      <p:sp>
        <p:nvSpPr>
          <p:cNvPr id="8" name="a3_card"/>
          <p:cNvSpPr/>
          <p:nvPr/>
        </p:nvSpPr>
        <p:spPr>
          <a:xfrm>
            <a:off x="6278728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9" name="a3_ico_bg"/>
          <p:cNvSpPr/>
          <p:nvPr/>
        </p:nvSpPr>
        <p:spPr>
          <a:xfrm>
            <a:off x="6553048" y="1783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869" y="1955902"/>
            <a:ext cx="294437" cy="294437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7376008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contrast</a:t>
            </a:r>
            <a:endParaRPr lang="en-US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6553048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shows a contrast ratio in the colour picker. Aim for 4.5:1 or better for body text.</a:t>
            </a:r>
            <a:endParaRPr lang="en-US" sz="1500" dirty="0"/>
          </a:p>
        </p:txBody>
      </p:sp>
      <p:sp>
        <p:nvSpPr>
          <p:cNvPr id="13" name="a4_card"/>
          <p:cNvSpPr/>
          <p:nvPr/>
        </p:nvSpPr>
        <p:spPr>
          <a:xfrm>
            <a:off x="548640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4" name="a4_ico_bg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4333342"/>
            <a:ext cx="294437" cy="294437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1645920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your fonts</a:t>
            </a:r>
            <a:endParaRPr lang="en-US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22960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typefaces are plenty: one for headings, one for body text. More looks messy and loads slower.</a:t>
            </a:r>
            <a:endParaRPr lang="en-US" sz="1500" dirty="0"/>
          </a:p>
        </p:txBody>
      </p:sp>
      <p:sp>
        <p:nvSpPr>
          <p:cNvPr id="18" name="a5_card"/>
          <p:cNvSpPr/>
          <p:nvPr/>
        </p:nvSpPr>
        <p:spPr>
          <a:xfrm>
            <a:off x="6278728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9" name="a5_ico_bg"/>
          <p:cNvSpPr/>
          <p:nvPr/>
        </p:nvSpPr>
        <p:spPr>
          <a:xfrm>
            <a:off x="6553048" y="4160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869" y="4333342"/>
            <a:ext cx="294437" cy="294437"/>
          </a:xfrm>
          <a:prstGeom prst="rect">
            <a:avLst/>
          </a:prstGeom>
        </p:spPr>
      </p:pic>
      <p:sp>
        <p:nvSpPr>
          <p:cNvPr id="21" name="a5_card_h"/>
          <p:cNvSpPr txBox="1"/>
          <p:nvPr/>
        </p:nvSpPr>
        <p:spPr>
          <a:xfrm>
            <a:off x="7376008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hsl for shades</a:t>
            </a:r>
            <a:endParaRPr lang="en-US" sz="1900" dirty="0"/>
          </a:p>
        </p:txBody>
      </p:sp>
      <p:sp>
        <p:nvSpPr>
          <p:cNvPr id="22" name="a5_card_b"/>
          <p:cNvSpPr txBox="1"/>
          <p:nvPr/>
        </p:nvSpPr>
        <p:spPr>
          <a:xfrm>
            <a:off x="6553048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darker hover colour? Keep the hue and lower the lightness by 8 to 10 percent.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Activity: design a quote card</a:t>
            </a:r>
            <a:endParaRPr lang="en-US" sz="3400" dirty="0"/>
          </a:p>
        </p:txBody>
      </p:sp>
      <p:sp>
        <p:nvSpPr>
          <p:cNvPr id="3" name="a2_chip"/>
          <p:cNvSpPr/>
          <p:nvPr/>
        </p:nvSpPr>
        <p:spPr>
          <a:xfrm>
            <a:off x="548640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548640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20 min</a:t>
            </a:r>
            <a:endParaRPr lang="en-US" sz="1200" dirty="0"/>
          </a:p>
        </p:txBody>
      </p:sp>
      <p:sp>
        <p:nvSpPr>
          <p:cNvPr id="5" name="a2_chip"/>
          <p:cNvSpPr/>
          <p:nvPr/>
        </p:nvSpPr>
        <p:spPr>
          <a:xfrm>
            <a:off x="2057400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2057400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48640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style.css in the starter folder. Use variables for your colours.</a:t>
            </a:r>
            <a:endParaRPr lang="en-US" sz="1500" dirty="0"/>
          </a:p>
        </p:txBody>
      </p:sp>
      <p:sp>
        <p:nvSpPr>
          <p:cNvPr id="8" name="a4_num"/>
          <p:cNvSpPr/>
          <p:nvPr/>
        </p:nvSpPr>
        <p:spPr>
          <a:xfrm>
            <a:off x="548640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54864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1005840" y="2606040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--ink, --paper and --accent on :root (any colours you like).</a:t>
            </a:r>
            <a:endParaRPr lang="en-US" sz="1400" dirty="0"/>
          </a:p>
        </p:txBody>
      </p:sp>
      <p:sp>
        <p:nvSpPr>
          <p:cNvPr id="11" name="a5_num"/>
          <p:cNvSpPr/>
          <p:nvPr/>
        </p:nvSpPr>
        <p:spPr>
          <a:xfrm>
            <a:off x="548640" y="321868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548640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1005840" y="3172968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body with the paper background, the ink text colour, font-family Georgia, serif.</a:t>
            </a:r>
            <a:endParaRPr lang="en-US" sz="1400" dirty="0"/>
          </a:p>
        </p:txBody>
      </p:sp>
      <p:sp>
        <p:nvSpPr>
          <p:cNvPr id="14" name="a6_num"/>
          <p:cNvSpPr/>
          <p:nvPr/>
        </p:nvSpPr>
        <p:spPr>
          <a:xfrm>
            <a:off x="548640" y="3785616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548640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1005840" y="3739896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blockquote a large font-size (1.5rem), line-height 1.5 and a thick left border in the accent colour.</a:t>
            </a:r>
            <a:endParaRPr lang="en-US" sz="1400" dirty="0"/>
          </a:p>
        </p:txBody>
      </p:sp>
      <p:sp>
        <p:nvSpPr>
          <p:cNvPr id="17" name="a7_num"/>
          <p:cNvSpPr/>
          <p:nvPr/>
        </p:nvSpPr>
        <p:spPr>
          <a:xfrm>
            <a:off x="548640" y="4352544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548640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1005840" y="4306824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cite small (0.9rem), not italic, in the accent colour.</a:t>
            </a:r>
            <a:endParaRPr lang="en-US" sz="1400" dirty="0"/>
          </a:p>
        </p:txBody>
      </p:sp>
      <p:sp>
        <p:nvSpPr>
          <p:cNvPr id="20" name="a8_num"/>
          <p:cNvSpPr/>
          <p:nvPr/>
        </p:nvSpPr>
        <p:spPr>
          <a:xfrm>
            <a:off x="548640" y="4919472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a8_numt"/>
          <p:cNvSpPr txBox="1"/>
          <p:nvPr/>
        </p:nvSpPr>
        <p:spPr>
          <a:xfrm>
            <a:off x="548640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a8_step"/>
          <p:cNvSpPr txBox="1"/>
          <p:nvPr/>
        </p:nvSpPr>
        <p:spPr>
          <a:xfrm>
            <a:off x="1005840" y="4873752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the h1 and add letter-spacing.</a:t>
            </a:r>
            <a:endParaRPr lang="en-US" sz="1400" dirty="0"/>
          </a:p>
        </p:txBody>
      </p:sp>
      <p:sp>
        <p:nvSpPr>
          <p:cNvPr id="23" name="a9_bonus"/>
          <p:cNvSpPr/>
          <p:nvPr/>
        </p:nvSpPr>
        <p:spPr>
          <a:xfrm>
            <a:off x="548640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F4D1"/>
          </a:solidFill>
          <a:ln/>
        </p:spPr>
      </p:sp>
      <p:sp>
        <p:nvSpPr>
          <p:cNvPr id="24" name="a9_bonus_t"/>
          <p:cNvSpPr txBox="1"/>
          <p:nvPr/>
        </p:nvSpPr>
        <p:spPr>
          <a:xfrm>
            <a:off x="731520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the three variables to create a dark version.</a:t>
            </a:r>
            <a:endParaRPr lang="en-US" sz="1350" dirty="0"/>
          </a:p>
        </p:txBody>
      </p:sp>
      <p:sp>
        <p:nvSpPr>
          <p:cNvPr id="25" name="a2_goal_l"/>
          <p:cNvSpPr txBox="1"/>
          <p:nvPr/>
        </p:nvSpPr>
        <p:spPr>
          <a:xfrm>
            <a:off x="658368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your page should look like this</a:t>
            </a:r>
            <a:endParaRPr lang="en-US" sz="1400" dirty="0"/>
          </a:p>
        </p:txBody>
      </p:sp>
      <p:sp>
        <p:nvSpPr>
          <p:cNvPr id="26" name="a3_browser"/>
          <p:cNvSpPr/>
          <p:nvPr/>
        </p:nvSpPr>
        <p:spPr>
          <a:xfrm>
            <a:off x="6583680" y="1828800"/>
            <a:ext cx="5059375" cy="311271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a3_browser_bar"/>
          <p:cNvSpPr/>
          <p:nvPr/>
        </p:nvSpPr>
        <p:spPr>
          <a:xfrm>
            <a:off x="658368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a3_browser_dot"/>
          <p:cNvSpPr/>
          <p:nvPr/>
        </p:nvSpPr>
        <p:spPr>
          <a:xfrm>
            <a:off x="676656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a3_browser_dot"/>
          <p:cNvSpPr/>
          <p:nvPr/>
        </p:nvSpPr>
        <p:spPr>
          <a:xfrm>
            <a:off x="696772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a3_browser_dot"/>
          <p:cNvSpPr/>
          <p:nvPr/>
        </p:nvSpPr>
        <p:spPr>
          <a:xfrm>
            <a:off x="716889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1" name="a3_browser_url"/>
          <p:cNvSpPr/>
          <p:nvPr/>
        </p:nvSpPr>
        <p:spPr>
          <a:xfrm>
            <a:off x="749808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32" name="a3_browser_urltext"/>
          <p:cNvSpPr txBox="1"/>
          <p:nvPr/>
        </p:nvSpPr>
        <p:spPr>
          <a:xfrm>
            <a:off x="760780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lesson2/activity/solution/index.html</a:t>
            </a:r>
            <a:endParaRPr lang="en-US" sz="1100" dirty="0"/>
          </a:p>
        </p:txBody>
      </p:sp>
      <p:pic>
        <p:nvPicPr>
          <p:cNvPr id="33" name="a3_shot" descr="/home/user/Python/CSS_Course/assets/l2_act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31136"/>
            <a:ext cx="5059375" cy="2710380"/>
          </a:xfrm>
          <a:prstGeom prst="rect">
            <a:avLst/>
          </a:prstGeom>
        </p:spPr>
      </p:pic>
      <p:sp>
        <p:nvSpPr>
          <p:cNvPr id="34" name="a10_files"/>
          <p:cNvSpPr/>
          <p:nvPr/>
        </p:nvSpPr>
        <p:spPr>
          <a:xfrm>
            <a:off x="6583680" y="5170116"/>
            <a:ext cx="505937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5" name="a10_files_t"/>
          <p:cNvSpPr txBox="1"/>
          <p:nvPr/>
        </p:nvSpPr>
        <p:spPr>
          <a:xfrm>
            <a:off x="6766560" y="5170116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from: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code/lesson2/activity/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with: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code/lesson2/activity/solution/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Challenge: a light and dark theme</a:t>
            </a:r>
            <a:endParaRPr lang="en-US" sz="3400" dirty="0"/>
          </a:p>
        </p:txBody>
      </p:sp>
      <p:sp>
        <p:nvSpPr>
          <p:cNvPr id="3" name="a2_chip"/>
          <p:cNvSpPr/>
          <p:nvPr/>
        </p:nvSpPr>
        <p:spPr>
          <a:xfrm>
            <a:off x="548640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548640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25 min</a:t>
            </a:r>
            <a:endParaRPr lang="en-US" sz="1200" dirty="0"/>
          </a:p>
        </p:txBody>
      </p:sp>
      <p:sp>
        <p:nvSpPr>
          <p:cNvPr id="5" name="a2_chip"/>
          <p:cNvSpPr/>
          <p:nvPr/>
        </p:nvSpPr>
        <p:spPr>
          <a:xfrm>
            <a:off x="2057400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2057400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48640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card's colours come only from variables, then re-theme it by overriding them.</a:t>
            </a:r>
            <a:endParaRPr lang="en-US" sz="1500" dirty="0"/>
          </a:p>
        </p:txBody>
      </p:sp>
      <p:sp>
        <p:nvSpPr>
          <p:cNvPr id="8" name="a4_num"/>
          <p:cNvSpPr/>
          <p:nvPr/>
        </p:nvSpPr>
        <p:spPr>
          <a:xfrm>
            <a:off x="548640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54864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1005840" y="260604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:root define --bg, --text and --accent for a light theme.</a:t>
            </a:r>
            <a:endParaRPr lang="en-US" sz="1400" dirty="0"/>
          </a:p>
        </p:txBody>
      </p:sp>
      <p:sp>
        <p:nvSpPr>
          <p:cNvPr id="11" name="a5_num"/>
          <p:cNvSpPr/>
          <p:nvPr/>
        </p:nvSpPr>
        <p:spPr>
          <a:xfrm>
            <a:off x="548640" y="336042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548640" y="33604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1005840" y="331470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var() for the background, text and heading colours.</a:t>
            </a:r>
            <a:endParaRPr lang="en-US" sz="1400" dirty="0"/>
          </a:p>
        </p:txBody>
      </p:sp>
      <p:sp>
        <p:nvSpPr>
          <p:cNvPr id="14" name="a6_num"/>
          <p:cNvSpPr/>
          <p:nvPr/>
        </p:nvSpPr>
        <p:spPr>
          <a:xfrm>
            <a:off x="548640" y="4069080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54864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1005840" y="402336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body.dark with new values for the same three variables.</a:t>
            </a:r>
            <a:endParaRPr lang="en-US" sz="1400" dirty="0"/>
          </a:p>
        </p:txBody>
      </p:sp>
      <p:sp>
        <p:nvSpPr>
          <p:cNvPr id="17" name="a7_num"/>
          <p:cNvSpPr/>
          <p:nvPr/>
        </p:nvSpPr>
        <p:spPr>
          <a:xfrm>
            <a:off x="548640" y="4777740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548640" y="47777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1005840" y="473202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class="dark" to the body in index.html and watch everything change.</a:t>
            </a:r>
            <a:endParaRPr lang="en-US" sz="1400" dirty="0"/>
          </a:p>
        </p:txBody>
      </p:sp>
      <p:sp>
        <p:nvSpPr>
          <p:cNvPr id="20" name="a9_bonus"/>
          <p:cNvSpPr/>
          <p:nvPr/>
        </p:nvSpPr>
        <p:spPr>
          <a:xfrm>
            <a:off x="548640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1D2250"/>
          </a:solidFill>
          <a:ln/>
        </p:spPr>
      </p:sp>
      <p:sp>
        <p:nvSpPr>
          <p:cNvPr id="21" name="a9_bonus_t"/>
          <p:cNvSpPr txBox="1"/>
          <p:nvPr/>
        </p:nvSpPr>
        <p:spPr>
          <a:xfrm>
            <a:off x="731520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.tag a hsl() background and a hover colour that is 10% darker.</a:t>
            </a:r>
            <a:endParaRPr lang="en-US" sz="1350" dirty="0"/>
          </a:p>
        </p:txBody>
      </p:sp>
      <p:sp>
        <p:nvSpPr>
          <p:cNvPr id="22" name="a2_goal_l"/>
          <p:cNvSpPr txBox="1"/>
          <p:nvPr/>
        </p:nvSpPr>
        <p:spPr>
          <a:xfrm>
            <a:off x="658368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match this result</a:t>
            </a:r>
            <a:endParaRPr lang="en-US" sz="1400" dirty="0"/>
          </a:p>
        </p:txBody>
      </p:sp>
      <p:sp>
        <p:nvSpPr>
          <p:cNvPr id="23" name="a3_browser"/>
          <p:cNvSpPr/>
          <p:nvPr/>
        </p:nvSpPr>
        <p:spPr>
          <a:xfrm>
            <a:off x="6583680" y="1828800"/>
            <a:ext cx="5059375" cy="2932024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4" name="a3_browser_bar"/>
          <p:cNvSpPr/>
          <p:nvPr/>
        </p:nvSpPr>
        <p:spPr>
          <a:xfrm>
            <a:off x="658368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a3_browser_dot"/>
          <p:cNvSpPr/>
          <p:nvPr/>
        </p:nvSpPr>
        <p:spPr>
          <a:xfrm>
            <a:off x="676656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a3_browser_dot"/>
          <p:cNvSpPr/>
          <p:nvPr/>
        </p:nvSpPr>
        <p:spPr>
          <a:xfrm>
            <a:off x="696772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a3_browser_dot"/>
          <p:cNvSpPr/>
          <p:nvPr/>
        </p:nvSpPr>
        <p:spPr>
          <a:xfrm>
            <a:off x="716889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8" name="a3_browser_url"/>
          <p:cNvSpPr/>
          <p:nvPr/>
        </p:nvSpPr>
        <p:spPr>
          <a:xfrm>
            <a:off x="749808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9" name="a3_browser_urltext"/>
          <p:cNvSpPr txBox="1"/>
          <p:nvPr/>
        </p:nvSpPr>
        <p:spPr>
          <a:xfrm>
            <a:off x="760780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lesson2/challenge/solution/index.html</a:t>
            </a:r>
            <a:endParaRPr lang="en-US" sz="1100" dirty="0"/>
          </a:p>
        </p:txBody>
      </p:sp>
      <p:pic>
        <p:nvPicPr>
          <p:cNvPr id="30" name="a3_shot" descr="/home/user/Python/CSS_Course/assets/l2_chal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31136"/>
            <a:ext cx="5059375" cy="2529688"/>
          </a:xfrm>
          <a:prstGeom prst="rect">
            <a:avLst/>
          </a:prstGeom>
        </p:spPr>
      </p:pic>
      <p:sp>
        <p:nvSpPr>
          <p:cNvPr id="31" name="a10_files"/>
          <p:cNvSpPr/>
          <p:nvPr/>
        </p:nvSpPr>
        <p:spPr>
          <a:xfrm>
            <a:off x="6583680" y="4989424"/>
            <a:ext cx="5059375" cy="914400"/>
          </a:xfrm>
          <a:prstGeom prst="roundRect">
            <a:avLst>
              <a:gd name="adj" fmla="val 10000"/>
            </a:avLst>
          </a:prstGeom>
          <a:solidFill>
            <a:srgbClr val="1D2250"/>
          </a:solidFill>
          <a:ln/>
        </p:spPr>
      </p:sp>
      <p:sp>
        <p:nvSpPr>
          <p:cNvPr id="32" name="a10_files_t"/>
          <p:cNvSpPr txBox="1"/>
          <p:nvPr/>
        </p:nvSpPr>
        <p:spPr>
          <a:xfrm>
            <a:off x="6766560" y="4989424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from: 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code/lesson2/challenge/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with: 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code/lesson2/challenge/solution/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Quick check</a:t>
            </a:r>
            <a:endParaRPr lang="en-US" sz="3400" dirty="0"/>
          </a:p>
        </p:txBody>
      </p:sp>
      <p:sp>
        <p:nvSpPr>
          <p:cNvPr id="3" name="a2_hint"/>
          <p:cNvSpPr txBox="1"/>
          <p:nvPr/>
        </p:nvSpPr>
        <p:spPr>
          <a:xfrm>
            <a:off x="548640" y="12618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first, then click to reveal each answer.</a:t>
            </a:r>
            <a:endParaRPr lang="en-US" sz="1500" dirty="0"/>
          </a:p>
        </p:txBody>
      </p:sp>
      <p:sp>
        <p:nvSpPr>
          <p:cNvPr id="4" name="a3_row"/>
          <p:cNvSpPr/>
          <p:nvPr/>
        </p:nvSpPr>
        <p:spPr>
          <a:xfrm>
            <a:off x="548640" y="173736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3_q"/>
          <p:cNvSpPr txBox="1"/>
          <p:nvPr/>
        </p:nvSpPr>
        <p:spPr>
          <a:xfrm>
            <a:off x="1600200" y="173736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same colour as rgb(255, 0, 0)?</a:t>
            </a:r>
            <a:endParaRPr lang="en-US" sz="1650" dirty="0"/>
          </a:p>
        </p:txBody>
      </p:sp>
      <p:sp>
        <p:nvSpPr>
          <p:cNvPr id="8" name="k3_ans_bg"/>
          <p:cNvSpPr/>
          <p:nvPr/>
        </p:nvSpPr>
        <p:spPr>
          <a:xfrm>
            <a:off x="7269480" y="1892808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9" name="k3_ans"/>
          <p:cNvSpPr txBox="1"/>
          <p:nvPr/>
        </p:nvSpPr>
        <p:spPr>
          <a:xfrm>
            <a:off x="7452360" y="1892808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Red: #ff0000, or the name red. Red is at maximum (ff = 255), green and blue are 0.</a:t>
            </a:r>
            <a:endParaRPr lang="en-US" sz="1450" dirty="0"/>
          </a:p>
        </p:txBody>
      </p:sp>
      <p:sp>
        <p:nvSpPr>
          <p:cNvPr id="10" name="a4_row"/>
          <p:cNvSpPr/>
          <p:nvPr/>
        </p:nvSpPr>
        <p:spPr>
          <a:xfrm>
            <a:off x="548640" y="3218688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a4_num"/>
          <p:cNvSpPr/>
          <p:nvPr/>
        </p:nvSpPr>
        <p:spPr>
          <a:xfrm>
            <a:off x="822960" y="363016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4_numt"/>
          <p:cNvSpPr txBox="1"/>
          <p:nvPr/>
        </p:nvSpPr>
        <p:spPr>
          <a:xfrm>
            <a:off x="82296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a4_q"/>
          <p:cNvSpPr txBox="1"/>
          <p:nvPr/>
        </p:nvSpPr>
        <p:spPr>
          <a:xfrm>
            <a:off x="1600200" y="3218688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line-height: 1.6 better than 1.6px?</a:t>
            </a:r>
            <a:endParaRPr lang="en-US" sz="1650" dirty="0"/>
          </a:p>
        </p:txBody>
      </p:sp>
      <p:sp>
        <p:nvSpPr>
          <p:cNvPr id="14" name="k4_ans_bg"/>
          <p:cNvSpPr/>
          <p:nvPr/>
        </p:nvSpPr>
        <p:spPr>
          <a:xfrm>
            <a:off x="7269480" y="3374136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k4_ans"/>
          <p:cNvSpPr txBox="1"/>
          <p:nvPr/>
        </p:nvSpPr>
        <p:spPr>
          <a:xfrm>
            <a:off x="7452360" y="3374136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unit means 1.6 times the font size, so spacing scales with any text size. 1.6px is almost no height.</a:t>
            </a:r>
            <a:endParaRPr lang="en-US" sz="1450" dirty="0"/>
          </a:p>
        </p:txBody>
      </p:sp>
      <p:sp>
        <p:nvSpPr>
          <p:cNvPr id="16" name="a5_row"/>
          <p:cNvSpPr/>
          <p:nvPr/>
        </p:nvSpPr>
        <p:spPr>
          <a:xfrm>
            <a:off x="548640" y="4700016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7" name="a5_num"/>
          <p:cNvSpPr/>
          <p:nvPr/>
        </p:nvSpPr>
        <p:spPr>
          <a:xfrm>
            <a:off x="822960" y="511149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5_numt"/>
          <p:cNvSpPr txBox="1"/>
          <p:nvPr/>
        </p:nvSpPr>
        <p:spPr>
          <a:xfrm>
            <a:off x="822960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a5_q"/>
          <p:cNvSpPr txBox="1"/>
          <p:nvPr/>
        </p:nvSpPr>
        <p:spPr>
          <a:xfrm>
            <a:off x="1600200" y="4700016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do you read a variable named --brand?</a:t>
            </a:r>
            <a:endParaRPr lang="en-US" sz="1650" dirty="0"/>
          </a:p>
        </p:txBody>
      </p:sp>
      <p:sp>
        <p:nvSpPr>
          <p:cNvPr id="20" name="k5_ans_bg"/>
          <p:cNvSpPr/>
          <p:nvPr/>
        </p:nvSpPr>
        <p:spPr>
          <a:xfrm>
            <a:off x="7269480" y="4855464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1" name="k5_ans"/>
          <p:cNvSpPr txBox="1"/>
          <p:nvPr/>
        </p:nvSpPr>
        <p:spPr>
          <a:xfrm>
            <a:off x="7452360" y="4855464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var(--brand). Define it first, for example on :root.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Summary</a:t>
            </a:r>
            <a:endParaRPr lang="en-US" sz="3400" dirty="0"/>
          </a:p>
        </p:txBody>
      </p:sp>
      <p:sp>
        <p:nvSpPr>
          <p:cNvPr id="3" name="a2_ico_bg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428" y="1717700"/>
            <a:ext cx="231343" cy="231343"/>
          </a:xfrm>
          <a:prstGeom prst="rect">
            <a:avLst/>
          </a:prstGeom>
        </p:spPr>
      </p:pic>
      <p:sp>
        <p:nvSpPr>
          <p:cNvPr id="5" name="a2_pt"/>
          <p:cNvSpPr txBox="1"/>
          <p:nvPr/>
        </p:nvSpPr>
        <p:spPr>
          <a:xfrm>
            <a:off x="1280160" y="15087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Colours: names, #hex, rgb() and hsl(). Use hsl() to make shades.</a:t>
            </a:r>
            <a:endParaRPr lang="en-US" sz="1650" dirty="0"/>
          </a:p>
        </p:txBody>
      </p:sp>
      <p:sp>
        <p:nvSpPr>
          <p:cNvPr id="6" name="a3_ico_bg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8" y="2650388"/>
            <a:ext cx="231343" cy="231343"/>
          </a:xfrm>
          <a:prstGeom prst="rect">
            <a:avLst/>
          </a:prstGeom>
        </p:spPr>
      </p:pic>
      <p:sp>
        <p:nvSpPr>
          <p:cNvPr id="8" name="a3_pt"/>
          <p:cNvSpPr txBox="1"/>
          <p:nvPr/>
        </p:nvSpPr>
        <p:spPr>
          <a:xfrm>
            <a:off x="1280160" y="244144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font-family needs fallbacks; line-height 1.5 to 1.7 reads well.</a:t>
            </a:r>
            <a:endParaRPr lang="en-US" sz="1650" dirty="0"/>
          </a:p>
        </p:txBody>
      </p:sp>
      <p:sp>
        <p:nvSpPr>
          <p:cNvPr id="9" name="a4_ico_bg"/>
          <p:cNvSpPr/>
          <p:nvPr/>
        </p:nvSpPr>
        <p:spPr>
          <a:xfrm>
            <a:off x="548640" y="344728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3583076"/>
            <a:ext cx="231343" cy="231343"/>
          </a:xfrm>
          <a:prstGeom prst="rect">
            <a:avLst/>
          </a:prstGeom>
        </p:spPr>
      </p:pic>
      <p:sp>
        <p:nvSpPr>
          <p:cNvPr id="11" name="a4_pt"/>
          <p:cNvSpPr txBox="1"/>
          <p:nvPr/>
        </p:nvSpPr>
        <p:spPr>
          <a:xfrm>
            <a:off x="1280160" y="337413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rem for font sizes so text respects user settings.</a:t>
            </a:r>
            <a:endParaRPr lang="en-US" sz="1650" dirty="0"/>
          </a:p>
        </p:txBody>
      </p:sp>
      <p:sp>
        <p:nvSpPr>
          <p:cNvPr id="12" name="a5_ico_bg"/>
          <p:cNvSpPr/>
          <p:nvPr/>
        </p:nvSpPr>
        <p:spPr>
          <a:xfrm>
            <a:off x="548640" y="4379976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28" y="4515764"/>
            <a:ext cx="231343" cy="231343"/>
          </a:xfrm>
          <a:prstGeom prst="rect">
            <a:avLst/>
          </a:prstGeom>
        </p:spPr>
      </p:pic>
      <p:sp>
        <p:nvSpPr>
          <p:cNvPr id="14" name="a5_pt"/>
          <p:cNvSpPr txBox="1"/>
          <p:nvPr/>
        </p:nvSpPr>
        <p:spPr>
          <a:xfrm>
            <a:off x="1280160" y="430682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define --name on :root, use var(--name).</a:t>
            </a:r>
            <a:endParaRPr lang="en-US" sz="1650" dirty="0"/>
          </a:p>
        </p:txBody>
      </p:sp>
      <p:sp>
        <p:nvSpPr>
          <p:cNvPr id="15" name="a6_ico_bg"/>
          <p:cNvSpPr/>
          <p:nvPr/>
        </p:nvSpPr>
        <p:spPr>
          <a:xfrm>
            <a:off x="548640" y="531266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a6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" y="5448452"/>
            <a:ext cx="231343" cy="231343"/>
          </a:xfrm>
          <a:prstGeom prst="rect">
            <a:avLst/>
          </a:prstGeom>
        </p:spPr>
      </p:pic>
      <p:sp>
        <p:nvSpPr>
          <p:cNvPr id="17" name="a6_pt"/>
          <p:cNvSpPr txBox="1"/>
          <p:nvPr/>
        </p:nvSpPr>
        <p:spPr>
          <a:xfrm>
            <a:off x="1280160" y="523951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matters: readable text is part of good design.</a:t>
            </a:r>
            <a:endParaRPr lang="en-US" sz="1650" dirty="0"/>
          </a:p>
        </p:txBody>
      </p:sp>
      <p:sp>
        <p:nvSpPr>
          <p:cNvPr id="18" name="a8_panel"/>
          <p:cNvSpPr/>
          <p:nvPr/>
        </p:nvSpPr>
        <p:spPr>
          <a:xfrm>
            <a:off x="7315200" y="1508760"/>
            <a:ext cx="4325112" cy="4617720"/>
          </a:xfrm>
          <a:prstGeom prst="roundRect">
            <a:avLst>
              <a:gd name="adj" fmla="val 2960"/>
            </a:avLst>
          </a:prstGeom>
          <a:solidFill>
            <a:schemeClr val="tx1"/>
          </a:solidFill>
          <a:ln/>
        </p:spPr>
      </p:sp>
      <p:sp>
        <p:nvSpPr>
          <p:cNvPr id="19" name="a8_panel_h"/>
          <p:cNvSpPr txBox="1"/>
          <p:nvPr/>
        </p:nvSpPr>
        <p:spPr>
          <a:xfrm>
            <a:off x="763524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lang="en-US" sz="2100" dirty="0"/>
          </a:p>
        </p:txBody>
      </p:sp>
      <p:sp>
        <p:nvSpPr>
          <p:cNvPr id="20" name="a9_panel_b"/>
          <p:cNvSpPr txBox="1"/>
          <p:nvPr/>
        </p:nvSpPr>
        <p:spPr>
          <a:xfrm>
            <a:off x="7635240" y="2286000"/>
            <a:ext cx="3703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code/lesson2/  (examples, activity, challenge)</a:t>
            </a:r>
            <a:endParaRPr lang="en-US" sz="145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online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playground.html (works offline) or the CodePen links in codepen.html</a:t>
            </a:r>
            <a:endParaRPr lang="en-US" sz="145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3: The Box Model (padding, border, margin)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Stylesheet">
  <a:themeElements>
    <a:clrScheme name="Stylesheet">
      <a:dk1>
        <a:srgbClr val="10132B"/>
      </a:dk1>
      <a:lt1>
        <a:srgbClr val="FFFFFF"/>
      </a:lt1>
      <a:dk2>
        <a:srgbClr val="2B3A8F"/>
      </a:dk2>
      <a:lt2>
        <a:srgbClr val="EEF2FF"/>
      </a:lt2>
      <a:accent1>
        <a:srgbClr val="2965F1"/>
      </a:accent1>
      <a:accent2>
        <a:srgbClr val="FFC83D"/>
      </a:accent2>
      <a:accent3>
        <a:srgbClr val="FF4F8B"/>
      </a:accent3>
      <a:accent4>
        <a:srgbClr val="8B5CF6"/>
      </a:accent4>
      <a:accent5>
        <a:srgbClr val="22C55E"/>
      </a:accent5>
      <a:accent6>
        <a:srgbClr val="22D3EE"/>
      </a:accent6>
      <a:hlink>
        <a:srgbClr val="2965F1"/>
      </a:hlink>
      <a:folHlink>
        <a:srgbClr val="8B5CF6"/>
      </a:folHlink>
    </a:clrScheme>
    <a:fontScheme name="Styleshee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for High School - Lesson 2: Colors, Fonts &amp; Text</dc:title>
  <dc:subject>CSS for high-school students</dc:subject>
  <dc:creator>CSS for High School</dc:creator>
  <cp:lastModifiedBy>CSS for High School</cp:lastModifiedBy>
  <cp:revision>1</cp:revision>
  <dcterms:created xsi:type="dcterms:W3CDTF">2026-10-08T23:28:05Z</dcterms:created>
  <dcterms:modified xsi:type="dcterms:W3CDTF">2026-10-08T23:28:05Z</dcterms:modified>
</cp:coreProperties>
</file>