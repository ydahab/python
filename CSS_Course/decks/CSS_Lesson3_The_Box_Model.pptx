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width sets the CONTENT width (by default).
2. padding: 20px adds space on all four sides inside the border.
3. border: width, style, colour.
4. margin: 24px keeps cards away from each other and from the edges.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 ask for a 200px wide box in both cases.
2. content-box (default): 200 + 2x20 padding + 2x5 border = 250px.
3. border-box: padding and border are inside the 200px, so it stays 200px.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max-width: the box can shrink but never grows past 420px.
2. margin: 0 auto means 0 top and bottom, auto left and right = centred.
3. inline-block keeps the item in the line but lets it use width, height and padding.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 High School  |  Lesson 3: The Box Model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 High School  |  Lesson 3: The Box Model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braces"/>
          <p:cNvSpPr txBox="1"/>
          <p:nvPr/>
        </p:nvSpPr>
        <p:spPr>
          <a:xfrm>
            <a:off x="731520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6000" dirty="0"/>
          </a:p>
        </p:txBody>
      </p:sp>
      <p:sp>
        <p:nvSpPr>
          <p:cNvPr id="3" name="a1_pill"/>
          <p:cNvSpPr/>
          <p:nvPr/>
        </p:nvSpPr>
        <p:spPr>
          <a:xfrm>
            <a:off x="731520" y="1463040"/>
            <a:ext cx="265176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a1_pill_text"/>
          <p:cNvSpPr txBox="1"/>
          <p:nvPr/>
        </p:nvSpPr>
        <p:spPr>
          <a:xfrm>
            <a:off x="731520" y="14630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OF 7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The Box Model</a:t>
            </a:r>
            <a:endParaRPr lang="en-US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4069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Every element is a box: learn to size and space it</a:t>
            </a:r>
            <a:endParaRPr lang="en-US" sz="2200" dirty="0"/>
          </a:p>
        </p:txBody>
      </p:sp>
      <p:sp>
        <p:nvSpPr>
          <p:cNvPr id="7" name="a4_meta"/>
          <p:cNvSpPr txBox="1"/>
          <p:nvPr/>
        </p:nvSpPr>
        <p:spPr>
          <a:xfrm>
            <a:off x="73152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 |  Prior knowledge: Lessons 1-2  |  ~45 min</a:t>
            </a:r>
            <a:endParaRPr lang="en-US" sz="1600" dirty="0"/>
          </a:p>
        </p:txBody>
      </p:sp>
      <p:sp>
        <p:nvSpPr>
          <p:cNvPr id="8" name="a5_layer"/>
          <p:cNvSpPr/>
          <p:nvPr/>
        </p:nvSpPr>
        <p:spPr>
          <a:xfrm>
            <a:off x="7635240" y="1234440"/>
            <a:ext cx="4114800" cy="4480560"/>
          </a:xfrm>
          <a:prstGeom prst="roundRect">
            <a:avLst>
              <a:gd name="adj" fmla="val 2667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9" name="a6_layer"/>
          <p:cNvSpPr/>
          <p:nvPr/>
        </p:nvSpPr>
        <p:spPr>
          <a:xfrm>
            <a:off x="8092440" y="1691640"/>
            <a:ext cx="3200400" cy="356616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/>
        </p:spPr>
      </p:sp>
      <p:sp>
        <p:nvSpPr>
          <p:cNvPr id="10" name="a7_layer"/>
          <p:cNvSpPr/>
          <p:nvPr/>
        </p:nvSpPr>
        <p:spPr>
          <a:xfrm>
            <a:off x="8503920" y="210312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/>
        </p:spPr>
      </p:sp>
      <p:sp>
        <p:nvSpPr>
          <p:cNvPr id="11" name="a8_layer"/>
          <p:cNvSpPr/>
          <p:nvPr/>
        </p:nvSpPr>
        <p:spPr>
          <a:xfrm>
            <a:off x="8869680" y="2468880"/>
            <a:ext cx="1645920" cy="19202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a9_cssword"/>
          <p:cNvSpPr txBox="1"/>
          <p:nvPr/>
        </p:nvSpPr>
        <p:spPr>
          <a:xfrm>
            <a:off x="8869680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Learning objective</a:t>
            </a:r>
            <a:endParaRPr lang="en-US" sz="3400" dirty="0"/>
          </a:p>
        </p:txBody>
      </p:sp>
      <p:sp>
        <p:nvSpPr>
          <p:cNvPr id="3" name="a2_panel"/>
          <p:cNvSpPr/>
          <p:nvPr/>
        </p:nvSpPr>
        <p:spPr>
          <a:xfrm>
            <a:off x="548640" y="150876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a2_head"/>
          <p:cNvSpPr txBox="1"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 you can:</a:t>
            </a:r>
            <a:endParaRPr lang="en-US" sz="1900" dirty="0"/>
          </a:p>
        </p:txBody>
      </p:sp>
      <p:sp>
        <p:nvSpPr>
          <p:cNvPr id="5" name="a3_ico_bg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a3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252374" cy="252374"/>
          </a:xfrm>
          <a:prstGeom prst="rect">
            <a:avLst/>
          </a:prstGeom>
        </p:spPr>
      </p:pic>
      <p:sp>
        <p:nvSpPr>
          <p:cNvPr id="7" name="a3_obj"/>
          <p:cNvSpPr txBox="1"/>
          <p:nvPr/>
        </p:nvSpPr>
        <p:spPr>
          <a:xfrm>
            <a:off x="1600200" y="2331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four layers of the box model</a:t>
            </a:r>
            <a:endParaRPr lang="en-US" sz="1800" dirty="0"/>
          </a:p>
        </p:txBody>
      </p:sp>
      <p:sp>
        <p:nvSpPr>
          <p:cNvPr id="8" name="a4_ico_bg"/>
          <p:cNvSpPr/>
          <p:nvPr/>
        </p:nvSpPr>
        <p:spPr>
          <a:xfrm>
            <a:off x="868680" y="37033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a4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13" y="3851453"/>
            <a:ext cx="252374" cy="252374"/>
          </a:xfrm>
          <a:prstGeom prst="rect">
            <a:avLst/>
          </a:prstGeom>
        </p:spPr>
      </p:pic>
      <p:sp>
        <p:nvSpPr>
          <p:cNvPr id="10" name="a4_obj"/>
          <p:cNvSpPr txBox="1"/>
          <p:nvPr/>
        </p:nvSpPr>
        <p:spPr>
          <a:xfrm>
            <a:off x="1600200" y="361188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space with padding, border and margin</a:t>
            </a:r>
            <a:endParaRPr lang="en-US" sz="1800" dirty="0"/>
          </a:p>
        </p:txBody>
      </p:sp>
      <p:sp>
        <p:nvSpPr>
          <p:cNvPr id="11" name="a5_ico_bg"/>
          <p:cNvSpPr/>
          <p:nvPr/>
        </p:nvSpPr>
        <p:spPr>
          <a:xfrm>
            <a:off x="868680" y="49834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a5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5131613"/>
            <a:ext cx="252374" cy="252374"/>
          </a:xfrm>
          <a:prstGeom prst="rect">
            <a:avLst/>
          </a:prstGeom>
        </p:spPr>
      </p:pic>
      <p:sp>
        <p:nvSpPr>
          <p:cNvPr id="13" name="a5_obj"/>
          <p:cNvSpPr txBox="1"/>
          <p:nvPr/>
        </p:nvSpPr>
        <p:spPr>
          <a:xfrm>
            <a:off x="1600200" y="48920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box-sizing: border-box and display: inline-block to size elements predictably</a:t>
            </a:r>
            <a:endParaRPr lang="en-US" sz="1800" dirty="0"/>
          </a:p>
        </p:txBody>
      </p:sp>
      <p:sp>
        <p:nvSpPr>
          <p:cNvPr id="14" name="a6_terms_head"/>
          <p:cNvSpPr txBox="1"/>
          <p:nvPr/>
        </p:nvSpPr>
        <p:spPr>
          <a:xfrm>
            <a:off x="6355080" y="1508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900" dirty="0"/>
          </a:p>
        </p:txBody>
      </p:sp>
      <p:sp>
        <p:nvSpPr>
          <p:cNvPr id="15" name="a6_chip"/>
          <p:cNvSpPr/>
          <p:nvPr/>
        </p:nvSpPr>
        <p:spPr>
          <a:xfrm>
            <a:off x="6355080" y="205740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6" name="a6_chip_text"/>
          <p:cNvSpPr txBox="1"/>
          <p:nvPr/>
        </p:nvSpPr>
        <p:spPr>
          <a:xfrm>
            <a:off x="635508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1300" dirty="0"/>
          </a:p>
        </p:txBody>
      </p:sp>
      <p:sp>
        <p:nvSpPr>
          <p:cNvPr id="17" name="a6_def"/>
          <p:cNvSpPr txBox="1"/>
          <p:nvPr/>
        </p:nvSpPr>
        <p:spPr>
          <a:xfrm>
            <a:off x="8183880" y="1947672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INSIDE an element, between its content and its border.</a:t>
            </a:r>
            <a:endParaRPr lang="en-US" sz="1400" dirty="0"/>
          </a:p>
        </p:txBody>
      </p:sp>
      <p:sp>
        <p:nvSpPr>
          <p:cNvPr id="18" name="a7_chip"/>
          <p:cNvSpPr/>
          <p:nvPr/>
        </p:nvSpPr>
        <p:spPr>
          <a:xfrm>
            <a:off x="6355080" y="3127248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9" name="a7_chip_text"/>
          <p:cNvSpPr txBox="1"/>
          <p:nvPr/>
        </p:nvSpPr>
        <p:spPr>
          <a:xfrm>
            <a:off x="6355080" y="3127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endParaRPr lang="en-US" sz="1300" dirty="0"/>
          </a:p>
        </p:txBody>
      </p:sp>
      <p:sp>
        <p:nvSpPr>
          <p:cNvPr id="20" name="a7_def"/>
          <p:cNvSpPr txBox="1"/>
          <p:nvPr/>
        </p:nvSpPr>
        <p:spPr>
          <a:xfrm>
            <a:off x="8183880" y="3017520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drawn around the padding. It has a width, a style and a colour.</a:t>
            </a:r>
            <a:endParaRPr lang="en-US" sz="1400" dirty="0"/>
          </a:p>
        </p:txBody>
      </p:sp>
      <p:sp>
        <p:nvSpPr>
          <p:cNvPr id="21" name="a8_chip"/>
          <p:cNvSpPr/>
          <p:nvPr/>
        </p:nvSpPr>
        <p:spPr>
          <a:xfrm>
            <a:off x="6355080" y="4197096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22" name="a8_chip_text"/>
          <p:cNvSpPr txBox="1"/>
          <p:nvPr/>
        </p:nvSpPr>
        <p:spPr>
          <a:xfrm>
            <a:off x="6355080" y="4197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endParaRPr lang="en-US" sz="1300" dirty="0"/>
          </a:p>
        </p:txBody>
      </p:sp>
      <p:sp>
        <p:nvSpPr>
          <p:cNvPr id="23" name="a8_def"/>
          <p:cNvSpPr txBox="1"/>
          <p:nvPr/>
        </p:nvSpPr>
        <p:spPr>
          <a:xfrm>
            <a:off x="8183880" y="4087368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OUTSIDE an element, pushing other elements away. It is always transparent.</a:t>
            </a:r>
            <a:endParaRPr lang="en-US" sz="1400" dirty="0"/>
          </a:p>
        </p:txBody>
      </p:sp>
      <p:sp>
        <p:nvSpPr>
          <p:cNvPr id="24" name="a9_chip"/>
          <p:cNvSpPr/>
          <p:nvPr/>
        </p:nvSpPr>
        <p:spPr>
          <a:xfrm>
            <a:off x="6355080" y="5266944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25" name="a9_chip_text"/>
          <p:cNvSpPr txBox="1"/>
          <p:nvPr/>
        </p:nvSpPr>
        <p:spPr>
          <a:xfrm>
            <a:off x="6355080" y="52669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/ inline</a:t>
            </a:r>
            <a:endParaRPr lang="en-US" sz="1300" dirty="0"/>
          </a:p>
        </p:txBody>
      </p:sp>
      <p:sp>
        <p:nvSpPr>
          <p:cNvPr id="26" name="a9_def"/>
          <p:cNvSpPr txBox="1"/>
          <p:nvPr/>
        </p:nvSpPr>
        <p:spPr>
          <a:xfrm>
            <a:off x="8183880" y="5157216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elements start on a new line and fill the width. Inline elements flow inside a line of text.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big ideas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card_bar"/>
          <p:cNvSpPr/>
          <p:nvPr/>
        </p:nvSpPr>
        <p:spPr>
          <a:xfrm>
            <a:off x="822960" y="1508760"/>
            <a:ext cx="822960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2_card_h"/>
          <p:cNvSpPr txBox="1"/>
          <p:nvPr/>
        </p:nvSpPr>
        <p:spPr>
          <a:xfrm>
            <a:off x="822960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is a box</a:t>
            </a:r>
            <a:endParaRPr lang="en-US" sz="2000" dirty="0"/>
          </a:p>
        </p:txBody>
      </p:sp>
      <p:sp>
        <p:nvSpPr>
          <p:cNvPr id="8" name="a2_card_b"/>
          <p:cNvSpPr txBox="1"/>
          <p:nvPr/>
        </p:nvSpPr>
        <p:spPr>
          <a:xfrm>
            <a:off x="822960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wraps each element in a rectangular box with four layers, from the inside out: content, padding, border and margin. Learn the layers and layout starts to make sense.</a:t>
            </a:r>
            <a:endParaRPr lang="en-US" sz="1500" dirty="0"/>
          </a:p>
        </p:txBody>
      </p:sp>
      <p:sp>
        <p:nvSpPr>
          <p:cNvPr id="9" name="a2_card_codebg"/>
          <p:cNvSpPr/>
          <p:nvPr/>
        </p:nvSpPr>
        <p:spPr>
          <a:xfrm>
            <a:off x="822960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0" name="a2_card_code"/>
          <p:cNvSpPr txBox="1"/>
          <p:nvPr/>
        </p:nvSpPr>
        <p:spPr>
          <a:xfrm>
            <a:off x="822960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&gt; padding &gt; border &gt; margin</a:t>
            </a:r>
            <a:endParaRPr lang="en-US" sz="1300" dirty="0"/>
          </a:p>
        </p:txBody>
      </p:sp>
      <p:sp>
        <p:nvSpPr>
          <p:cNvPr id="11" name="a3_card"/>
          <p:cNvSpPr/>
          <p:nvPr/>
        </p:nvSpPr>
        <p:spPr>
          <a:xfrm>
            <a:off x="4338218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a3_card_bar"/>
          <p:cNvSpPr/>
          <p:nvPr/>
        </p:nvSpPr>
        <p:spPr>
          <a:xfrm>
            <a:off x="4612538" y="1508760"/>
            <a:ext cx="822960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a3_num"/>
          <p:cNvSpPr/>
          <p:nvPr/>
        </p:nvSpPr>
        <p:spPr>
          <a:xfrm>
            <a:off x="4612538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46125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a3_card_h"/>
          <p:cNvSpPr txBox="1"/>
          <p:nvPr/>
        </p:nvSpPr>
        <p:spPr>
          <a:xfrm>
            <a:off x="4612538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is inside, margin is outside</a:t>
            </a:r>
            <a:endParaRPr lang="en-US" sz="2000" dirty="0"/>
          </a:p>
        </p:txBody>
      </p:sp>
      <p:sp>
        <p:nvSpPr>
          <p:cNvPr id="16" name="a3_card_b"/>
          <p:cNvSpPr txBox="1"/>
          <p:nvPr/>
        </p:nvSpPr>
        <p:spPr>
          <a:xfrm>
            <a:off x="4612538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makes the element itself roomier, and the background colour fills it. Margin keeps neighbours apart and never shows a background colour.</a:t>
            </a:r>
            <a:endParaRPr lang="en-US" sz="1500" dirty="0"/>
          </a:p>
        </p:txBody>
      </p:sp>
      <p:sp>
        <p:nvSpPr>
          <p:cNvPr id="17" name="a3_card_codebg"/>
          <p:cNvSpPr/>
          <p:nvPr/>
        </p:nvSpPr>
        <p:spPr>
          <a:xfrm>
            <a:off x="4612538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8" name="a3_card_code"/>
          <p:cNvSpPr txBox="1"/>
          <p:nvPr/>
        </p:nvSpPr>
        <p:spPr>
          <a:xfrm>
            <a:off x="4612538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padding: 16px;  margin: 24px;</a:t>
            </a:r>
            <a:endParaRPr lang="en-US" sz="1300" dirty="0"/>
          </a:p>
        </p:txBody>
      </p:sp>
      <p:sp>
        <p:nvSpPr>
          <p:cNvPr id="19" name="a4_card"/>
          <p:cNvSpPr/>
          <p:nvPr/>
        </p:nvSpPr>
        <p:spPr>
          <a:xfrm>
            <a:off x="8127797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a4_card_bar"/>
          <p:cNvSpPr/>
          <p:nvPr/>
        </p:nvSpPr>
        <p:spPr>
          <a:xfrm>
            <a:off x="8402117" y="1508760"/>
            <a:ext cx="822960" cy="822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a4_num"/>
          <p:cNvSpPr/>
          <p:nvPr/>
        </p:nvSpPr>
        <p:spPr>
          <a:xfrm>
            <a:off x="8402117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a4_numt"/>
          <p:cNvSpPr txBox="1"/>
          <p:nvPr/>
        </p:nvSpPr>
        <p:spPr>
          <a:xfrm>
            <a:off x="8402117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a4_card_h"/>
          <p:cNvSpPr txBox="1"/>
          <p:nvPr/>
        </p:nvSpPr>
        <p:spPr>
          <a:xfrm>
            <a:off x="8402117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border-box makes sizing sane</a:t>
            </a:r>
            <a:endParaRPr lang="en-US" sz="2000" dirty="0"/>
          </a:p>
        </p:txBody>
      </p:sp>
      <p:sp>
        <p:nvSpPr>
          <p:cNvPr id="24" name="a4_card_b"/>
          <p:cNvSpPr txBox="1"/>
          <p:nvPr/>
        </p:nvSpPr>
        <p:spPr>
          <a:xfrm>
            <a:off x="8402117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width only measures the content, so padding and border make the box bigger. With box-sizing: border-box the width includes padding and border.</a:t>
            </a:r>
            <a:endParaRPr lang="en-US" sz="1500" dirty="0"/>
          </a:p>
        </p:txBody>
      </p:sp>
      <p:sp>
        <p:nvSpPr>
          <p:cNvPr id="25" name="a4_card_codebg"/>
          <p:cNvSpPr/>
          <p:nvPr/>
        </p:nvSpPr>
        <p:spPr>
          <a:xfrm>
            <a:off x="8402117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6" name="a4_card_code"/>
          <p:cNvSpPr txBox="1"/>
          <p:nvPr/>
        </p:nvSpPr>
        <p:spPr>
          <a:xfrm>
            <a:off x="8402117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box-sizing: border-box; 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box model, layer by layer</a:t>
            </a:r>
            <a:endParaRPr lang="en-US" sz="3400" dirty="0"/>
          </a:p>
        </p:txBody>
      </p:sp>
      <p:sp>
        <p:nvSpPr>
          <p:cNvPr id="3" name="a2_frame"/>
          <p:cNvSpPr/>
          <p:nvPr/>
        </p:nvSpPr>
        <p:spPr>
          <a:xfrm>
            <a:off x="475488" y="1435608"/>
            <a:ext cx="7095744" cy="4718304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a2_diagram" descr="/home/user/Python/CSS_Course/assets/l3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4572000"/>
          </a:xfrm>
          <a:prstGeom prst="rect">
            <a:avLst/>
          </a:prstGeom>
        </p:spPr>
      </p:pic>
      <p:sp>
        <p:nvSpPr>
          <p:cNvPr id="5" name="a3_num"/>
          <p:cNvSpPr/>
          <p:nvPr/>
        </p:nvSpPr>
        <p:spPr>
          <a:xfrm>
            <a:off x="790956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7909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a3_cap"/>
          <p:cNvSpPr txBox="1"/>
          <p:nvPr/>
        </p:nvSpPr>
        <p:spPr>
          <a:xfrm>
            <a:off x="854964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inside out: content, then padding, then border, then margin.</a:t>
            </a:r>
            <a:endParaRPr lang="en-US" sz="1600" dirty="0"/>
          </a:p>
        </p:txBody>
      </p:sp>
      <p:sp>
        <p:nvSpPr>
          <p:cNvPr id="8" name="a4_num"/>
          <p:cNvSpPr/>
          <p:nvPr/>
        </p:nvSpPr>
        <p:spPr>
          <a:xfrm>
            <a:off x="7909560" y="3154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79095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a4_cap"/>
          <p:cNvSpPr txBox="1"/>
          <p:nvPr/>
        </p:nvSpPr>
        <p:spPr>
          <a:xfrm>
            <a:off x="854964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and border are part of the element's visible box. Margin is the space around it.</a:t>
            </a:r>
            <a:endParaRPr lang="en-US" sz="1600" dirty="0"/>
          </a:p>
        </p:txBody>
      </p:sp>
      <p:sp>
        <p:nvSpPr>
          <p:cNvPr id="11" name="a5_num"/>
          <p:cNvSpPr/>
          <p:nvPr/>
        </p:nvSpPr>
        <p:spPr>
          <a:xfrm>
            <a:off x="7909560" y="46177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790956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a5_cap"/>
          <p:cNvSpPr txBox="1"/>
          <p:nvPr/>
        </p:nvSpPr>
        <p:spPr>
          <a:xfrm>
            <a:off x="8549640" y="4526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width = content + padding + border (left and right), unless you use border-box.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1: Padding, border and margin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cards: watch how the margin separates them while padding fills each one.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2513584"/>
          </a:xfrm>
          <a:prstGeom prst="roundRect">
            <a:avLst>
              <a:gd name="adj" fmla="val 436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177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4px solid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#eef2ff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Arial, sans-serif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822960" y="25732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27891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27891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30050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30050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3_num"/>
          <p:cNvSpPr/>
          <p:nvPr/>
        </p:nvSpPr>
        <p:spPr>
          <a:xfrm>
            <a:off x="822960" y="32209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822960" y="32209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a5_html"/>
          <p:cNvSpPr/>
          <p:nvPr/>
        </p:nvSpPr>
        <p:spPr>
          <a:xfrm>
            <a:off x="548640" y="4433824"/>
            <a:ext cx="5623560" cy="1829816"/>
          </a:xfrm>
          <a:prstGeom prst="roundRect">
            <a:avLst>
              <a:gd name="adj" fmla="val 4997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731520" y="4506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731520" y="4781296"/>
            <a:ext cx="5257800" cy="141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class="card"&gt;First card&lt;/div&gt;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class="card"&gt;Second card&lt;/div&gt;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6400800" y="1783080"/>
            <a:ext cx="4267200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6400800" y="1783080"/>
            <a:ext cx="426720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7315200" y="1847088"/>
            <a:ext cx="316992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7424928" y="1847088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lesson3/example1/index.html</a:t>
            </a:r>
            <a:endParaRPr lang="en-US" sz="1100" dirty="0"/>
          </a:p>
        </p:txBody>
      </p:sp>
      <p:pic>
        <p:nvPicPr>
          <p:cNvPr id="29" name="a4_shot" descr="/home/user/Python/CSS_Course/assets/l3_ex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4267200" cy="2514600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6400800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6400800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6748272" y="4882896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sets the CONTENT width (by default).</a:t>
            </a:r>
            <a:endParaRPr lang="en-US" sz="1250" dirty="0"/>
          </a:p>
        </p:txBody>
      </p:sp>
      <p:sp>
        <p:nvSpPr>
          <p:cNvPr id="33" name="a7_num"/>
          <p:cNvSpPr/>
          <p:nvPr/>
        </p:nvSpPr>
        <p:spPr>
          <a:xfrm>
            <a:off x="6400800" y="5276088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6400800" y="5276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6748272" y="5239512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padding: 20px adds space on all four sides inside the border.</a:t>
            </a:r>
            <a:endParaRPr lang="en-US" sz="1250" dirty="0"/>
          </a:p>
        </p:txBody>
      </p:sp>
      <p:sp>
        <p:nvSpPr>
          <p:cNvPr id="36" name="a8_num"/>
          <p:cNvSpPr/>
          <p:nvPr/>
        </p:nvSpPr>
        <p:spPr>
          <a:xfrm>
            <a:off x="6400800" y="5632704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6400800" y="56327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6748272" y="5596128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border: width, style, colour.</a:t>
            </a:r>
            <a:endParaRPr lang="en-US" sz="1250" dirty="0"/>
          </a:p>
        </p:txBody>
      </p:sp>
      <p:sp>
        <p:nvSpPr>
          <p:cNvPr id="39" name="a9_num"/>
          <p:cNvSpPr/>
          <p:nvPr/>
        </p:nvSpPr>
        <p:spPr>
          <a:xfrm>
            <a:off x="6400800" y="5989320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6400800" y="5989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6748272" y="5952744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24px keeps cards away from each other and from the edges.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2: box-sizing: content-box vs border-box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boxes say width: 200px, but they do not end up the same size.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2945384"/>
          </a:xfrm>
          <a:prstGeom prst="roundRect">
            <a:avLst>
              <a:gd name="adj" fmla="val 372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20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5px solid #ff4f8b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#fff1f6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margin-bottom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Arial, sans-serif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.content-box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box-sizing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content-box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.border-box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box-sizing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border-box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822960" y="25732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40845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40845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43004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43004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5_html"/>
          <p:cNvSpPr/>
          <p:nvPr/>
        </p:nvSpPr>
        <p:spPr>
          <a:xfrm>
            <a:off x="548640" y="4865624"/>
            <a:ext cx="5623560" cy="1398016"/>
          </a:xfrm>
          <a:prstGeom prst="roundRect">
            <a:avLst>
              <a:gd name="adj" fmla="val 6541"/>
            </a:avLst>
          </a:prstGeom>
          <a:solidFill>
            <a:schemeClr val="bg2"/>
          </a:solidFill>
          <a:ln/>
        </p:spPr>
      </p:sp>
      <p:sp>
        <p:nvSpPr>
          <p:cNvPr id="18" name="a5_html_h"/>
          <p:cNvSpPr txBox="1"/>
          <p:nvPr/>
        </p:nvSpPr>
        <p:spPr>
          <a:xfrm>
            <a:off x="731520" y="4938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19" name="a5_html_text"/>
          <p:cNvSpPr txBox="1"/>
          <p:nvPr/>
        </p:nvSpPr>
        <p:spPr>
          <a:xfrm>
            <a:off x="731520" y="5213096"/>
            <a:ext cx="5257800" cy="986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class="box content-box"&gt;content-box: 250px wide&lt;/div&gt;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class="box border-box"&gt;border-box: 200px wide&lt;/div&gt;</a:t>
            </a:r>
            <a:endParaRPr lang="en-US" sz="1050" dirty="0"/>
          </a:p>
        </p:txBody>
      </p:sp>
      <p:sp>
        <p:nvSpPr>
          <p:cNvPr id="20" name="a4_browser"/>
          <p:cNvSpPr/>
          <p:nvPr/>
        </p:nvSpPr>
        <p:spPr>
          <a:xfrm>
            <a:off x="6400800" y="1783080"/>
            <a:ext cx="4267200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a4_browser_bar"/>
          <p:cNvSpPr/>
          <p:nvPr/>
        </p:nvSpPr>
        <p:spPr>
          <a:xfrm>
            <a:off x="6400800" y="1783080"/>
            <a:ext cx="426720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5" name="a4_browser_url"/>
          <p:cNvSpPr/>
          <p:nvPr/>
        </p:nvSpPr>
        <p:spPr>
          <a:xfrm>
            <a:off x="7315200" y="1847088"/>
            <a:ext cx="316992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6" name="a4_browser_urltext"/>
          <p:cNvSpPr txBox="1"/>
          <p:nvPr/>
        </p:nvSpPr>
        <p:spPr>
          <a:xfrm>
            <a:off x="7424928" y="1847088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lesson3/example2/index.html</a:t>
            </a:r>
            <a:endParaRPr lang="en-US" sz="1100" dirty="0"/>
          </a:p>
        </p:txBody>
      </p:sp>
      <p:pic>
        <p:nvPicPr>
          <p:cNvPr id="27" name="a4_shot" descr="/home/user/Python/CSS_Course/assets/l3_ex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4267200" cy="2514600"/>
          </a:xfrm>
          <a:prstGeom prst="rect">
            <a:avLst/>
          </a:prstGeom>
        </p:spPr>
      </p:pic>
      <p:sp>
        <p:nvSpPr>
          <p:cNvPr id="28" name="a6_num"/>
          <p:cNvSpPr/>
          <p:nvPr/>
        </p:nvSpPr>
        <p:spPr>
          <a:xfrm>
            <a:off x="6400800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a6_numt"/>
          <p:cNvSpPr txBox="1"/>
          <p:nvPr/>
        </p:nvSpPr>
        <p:spPr>
          <a:xfrm>
            <a:off x="6400800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a6_ann"/>
          <p:cNvSpPr txBox="1"/>
          <p:nvPr/>
        </p:nvSpPr>
        <p:spPr>
          <a:xfrm>
            <a:off x="6748272" y="4882896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 for a 200px wide box in both cases.</a:t>
            </a:r>
            <a:endParaRPr lang="en-US" sz="1250" dirty="0"/>
          </a:p>
        </p:txBody>
      </p:sp>
      <p:sp>
        <p:nvSpPr>
          <p:cNvPr id="31" name="a7_num"/>
          <p:cNvSpPr/>
          <p:nvPr/>
        </p:nvSpPr>
        <p:spPr>
          <a:xfrm>
            <a:off x="6400800" y="5394960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2" name="a7_numt"/>
          <p:cNvSpPr txBox="1"/>
          <p:nvPr/>
        </p:nvSpPr>
        <p:spPr>
          <a:xfrm>
            <a:off x="6400800" y="5394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a7_ann"/>
          <p:cNvSpPr txBox="1"/>
          <p:nvPr/>
        </p:nvSpPr>
        <p:spPr>
          <a:xfrm>
            <a:off x="6748272" y="5358384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content-box (default): 200 + 2x20 padding + 2x5 border = 250px.</a:t>
            </a:r>
            <a:endParaRPr lang="en-US" sz="1250" dirty="0"/>
          </a:p>
        </p:txBody>
      </p:sp>
      <p:sp>
        <p:nvSpPr>
          <p:cNvPr id="34" name="a8_num"/>
          <p:cNvSpPr/>
          <p:nvPr/>
        </p:nvSpPr>
        <p:spPr>
          <a:xfrm>
            <a:off x="6400800" y="5870448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5" name="a8_numt"/>
          <p:cNvSpPr txBox="1"/>
          <p:nvPr/>
        </p:nvSpPr>
        <p:spPr>
          <a:xfrm>
            <a:off x="6400800" y="5870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a8_ann"/>
          <p:cNvSpPr txBox="1"/>
          <p:nvPr/>
        </p:nvSpPr>
        <p:spPr>
          <a:xfrm>
            <a:off x="6748272" y="5833872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border-box: padding and border are inside the 200px, so it stays 200px.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3: Centring and inline-block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0 auto centres a block with a set width. inline-block lets inline items have a box.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3377184"/>
          </a:xfrm>
          <a:prstGeom prst="roundRect">
            <a:avLst>
              <a:gd name="adj" fmla="val 324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.page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420px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auto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16px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2px solid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.tag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inline-block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4px 12px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gold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822960" y="25732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27891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27891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40845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40845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5_html"/>
          <p:cNvSpPr/>
          <p:nvPr/>
        </p:nvSpPr>
        <p:spPr>
          <a:xfrm>
            <a:off x="548640" y="5297424"/>
            <a:ext cx="5623560" cy="966216"/>
          </a:xfrm>
          <a:prstGeom prst="roundRect">
            <a:avLst>
              <a:gd name="adj" fmla="val 9464"/>
            </a:avLst>
          </a:prstGeom>
          <a:solidFill>
            <a:schemeClr val="bg2"/>
          </a:solidFill>
          <a:ln/>
        </p:spPr>
      </p:sp>
      <p:sp>
        <p:nvSpPr>
          <p:cNvPr id="18" name="a5_html_h"/>
          <p:cNvSpPr txBox="1"/>
          <p:nvPr/>
        </p:nvSpPr>
        <p:spPr>
          <a:xfrm>
            <a:off x="731520" y="5370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19" name="a5_html_text"/>
          <p:cNvSpPr txBox="1"/>
          <p:nvPr/>
        </p:nvSpPr>
        <p:spPr>
          <a:xfrm>
            <a:off x="731520" y="5644896"/>
            <a:ext cx="525780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class="page"&gt;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&lt;h2&gt;Match day&lt;/h2&gt;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0" name="a4_browser"/>
          <p:cNvSpPr/>
          <p:nvPr/>
        </p:nvSpPr>
        <p:spPr>
          <a:xfrm>
            <a:off x="6400800" y="1783080"/>
            <a:ext cx="4693920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a4_browser_bar"/>
          <p:cNvSpPr/>
          <p:nvPr/>
        </p:nvSpPr>
        <p:spPr>
          <a:xfrm>
            <a:off x="6400800" y="1783080"/>
            <a:ext cx="469392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5" name="a4_browser_url"/>
          <p:cNvSpPr/>
          <p:nvPr/>
        </p:nvSpPr>
        <p:spPr>
          <a:xfrm>
            <a:off x="7315200" y="1847088"/>
            <a:ext cx="359664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6" name="a4_browser_urltext"/>
          <p:cNvSpPr txBox="1"/>
          <p:nvPr/>
        </p:nvSpPr>
        <p:spPr>
          <a:xfrm>
            <a:off x="7424928" y="1847088"/>
            <a:ext cx="341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lesson3/example3/index.html</a:t>
            </a:r>
            <a:endParaRPr lang="en-US" sz="1100" dirty="0"/>
          </a:p>
        </p:txBody>
      </p:sp>
      <p:pic>
        <p:nvPicPr>
          <p:cNvPr id="27" name="a4_shot" descr="/home/user/Python/CSS_Course/assets/l3_ex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4693920" cy="2514600"/>
          </a:xfrm>
          <a:prstGeom prst="rect">
            <a:avLst/>
          </a:prstGeom>
        </p:spPr>
      </p:pic>
      <p:sp>
        <p:nvSpPr>
          <p:cNvPr id="28" name="a6_num"/>
          <p:cNvSpPr/>
          <p:nvPr/>
        </p:nvSpPr>
        <p:spPr>
          <a:xfrm>
            <a:off x="6400800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a6_numt"/>
          <p:cNvSpPr txBox="1"/>
          <p:nvPr/>
        </p:nvSpPr>
        <p:spPr>
          <a:xfrm>
            <a:off x="6400800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a6_ann"/>
          <p:cNvSpPr txBox="1"/>
          <p:nvPr/>
        </p:nvSpPr>
        <p:spPr>
          <a:xfrm>
            <a:off x="6748272" y="4882896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max-width: the box can shrink but never grows past 420px.</a:t>
            </a:r>
            <a:endParaRPr lang="en-US" sz="1250" dirty="0"/>
          </a:p>
        </p:txBody>
      </p:sp>
      <p:sp>
        <p:nvSpPr>
          <p:cNvPr id="31" name="a7_num"/>
          <p:cNvSpPr/>
          <p:nvPr/>
        </p:nvSpPr>
        <p:spPr>
          <a:xfrm>
            <a:off x="6400800" y="5394960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2" name="a7_numt"/>
          <p:cNvSpPr txBox="1"/>
          <p:nvPr/>
        </p:nvSpPr>
        <p:spPr>
          <a:xfrm>
            <a:off x="6400800" y="5394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a7_ann"/>
          <p:cNvSpPr txBox="1"/>
          <p:nvPr/>
        </p:nvSpPr>
        <p:spPr>
          <a:xfrm>
            <a:off x="6748272" y="5358384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0 auto means 0 top and bottom, auto left and right = centred.</a:t>
            </a:r>
            <a:endParaRPr lang="en-US" sz="1250" dirty="0"/>
          </a:p>
        </p:txBody>
      </p:sp>
      <p:sp>
        <p:nvSpPr>
          <p:cNvPr id="34" name="a8_num"/>
          <p:cNvSpPr/>
          <p:nvPr/>
        </p:nvSpPr>
        <p:spPr>
          <a:xfrm>
            <a:off x="6400800" y="5870448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5" name="a8_numt"/>
          <p:cNvSpPr txBox="1"/>
          <p:nvPr/>
        </p:nvSpPr>
        <p:spPr>
          <a:xfrm>
            <a:off x="6400800" y="5870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a8_ann"/>
          <p:cNvSpPr txBox="1"/>
          <p:nvPr/>
        </p:nvSpPr>
        <p:spPr>
          <a:xfrm>
            <a:off x="6748272" y="5833872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inline-block keeps the item in the line but lets it use width, height and padding.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Real-world: cards, buttons and comfortable pages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ico_bg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980590"/>
            <a:ext cx="336499" cy="336499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and buttons</a:t>
            </a:r>
            <a:endParaRPr lang="en-US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22960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card, button and menu item on a website is a box with padding for breathing room and a border or shadow.</a:t>
            </a:r>
            <a:endParaRPr lang="en-US" sz="1500" dirty="0"/>
          </a:p>
        </p:txBody>
      </p:sp>
      <p:sp>
        <p:nvSpPr>
          <p:cNvPr id="8" name="a3_card"/>
          <p:cNvSpPr/>
          <p:nvPr/>
        </p:nvSpPr>
        <p:spPr>
          <a:xfrm>
            <a:off x="4338218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a3_ico_bg"/>
          <p:cNvSpPr/>
          <p:nvPr/>
        </p:nvSpPr>
        <p:spPr>
          <a:xfrm>
            <a:off x="4612538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049" y="1980590"/>
            <a:ext cx="336499" cy="336499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articles</a:t>
            </a:r>
            <a:endParaRPr lang="en-US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4612538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sites limit article width with max-width and centre it with margin: 0 auto, so lines are not too long to read.</a:t>
            </a:r>
            <a:endParaRPr lang="en-US" sz="1500" dirty="0"/>
          </a:p>
        </p:txBody>
      </p:sp>
      <p:sp>
        <p:nvSpPr>
          <p:cNvPr id="13" name="a4_card"/>
          <p:cNvSpPr/>
          <p:nvPr/>
        </p:nvSpPr>
        <p:spPr>
          <a:xfrm>
            <a:off x="8127797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a4_ico_bg"/>
          <p:cNvSpPr/>
          <p:nvPr/>
        </p:nvSpPr>
        <p:spPr>
          <a:xfrm>
            <a:off x="8402117" y="17830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627" y="1980590"/>
            <a:ext cx="336499" cy="336499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grids</a:t>
            </a:r>
            <a:endParaRPr lang="en-US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402117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shops use margin and gap to keep products apart, and border-box so cards line up exactly.</a:t>
            </a:r>
            <a:endParaRPr lang="en-US" sz="1500" dirty="0"/>
          </a:p>
        </p:txBody>
      </p:sp>
      <p:sp>
        <p:nvSpPr>
          <p:cNvPr id="18" name="a5_try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19" name="a5_ico_bg"/>
          <p:cNvSpPr/>
          <p:nvPr/>
        </p:nvSpPr>
        <p:spPr>
          <a:xfrm>
            <a:off x="868680" y="5212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57" y="5372557"/>
            <a:ext cx="273406" cy="273406"/>
          </a:xfrm>
          <a:prstGeom prst="rect">
            <a:avLst/>
          </a:prstGeom>
        </p:spPr>
      </p:pic>
      <p:sp>
        <p:nvSpPr>
          <p:cNvPr id="21" name="a5_try_text"/>
          <p:cNvSpPr txBox="1"/>
          <p:nvPr/>
        </p:nvSpPr>
        <p:spPr>
          <a:xfrm>
            <a:off x="1737360" y="4983480"/>
            <a:ext cx="9539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DevTools (F12), select any element and hover the box-model diagram in the Computed tab. The browser highlights margin, border, padding and content in different colours.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Common mistakes</a:t>
            </a:r>
            <a:endParaRPr lang="en-US" sz="3400" dirty="0"/>
          </a:p>
        </p:txBody>
      </p:sp>
      <p:sp>
        <p:nvSpPr>
          <p:cNvPr id="3" name="a1_hdr"/>
          <p:cNvSpPr txBox="1"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2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500" dirty="0"/>
          </a:p>
        </p:txBody>
      </p:sp>
      <p:sp>
        <p:nvSpPr>
          <p:cNvPr id="4" name="a1_hdr"/>
          <p:cNvSpPr txBox="1"/>
          <p:nvPr/>
        </p:nvSpPr>
        <p:spPr>
          <a:xfrm>
            <a:off x="44348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instead</a:t>
            </a:r>
            <a:endParaRPr lang="en-US" sz="1500" dirty="0"/>
          </a:p>
        </p:txBody>
      </p:sp>
      <p:sp>
        <p:nvSpPr>
          <p:cNvPr id="5" name="a1_hdr"/>
          <p:cNvSpPr txBox="1"/>
          <p:nvPr/>
        </p:nvSpPr>
        <p:spPr>
          <a:xfrm>
            <a:off x="83667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6" name="a2_bad"/>
          <p:cNvSpPr/>
          <p:nvPr/>
        </p:nvSpPr>
        <p:spPr>
          <a:xfrm>
            <a:off x="548640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7" name="a2_bad_bar"/>
          <p:cNvSpPr/>
          <p:nvPr/>
        </p:nvSpPr>
        <p:spPr>
          <a:xfrm>
            <a:off x="548640" y="1892808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a2_bad_t"/>
          <p:cNvSpPr txBox="1"/>
          <p:nvPr/>
        </p:nvSpPr>
        <p:spPr>
          <a:xfrm>
            <a:off x="777240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padding: 20;</a:t>
            </a:r>
            <a:endParaRPr lang="en-US" sz="1300" dirty="0"/>
          </a:p>
        </p:txBody>
      </p:sp>
      <p:sp>
        <p:nvSpPr>
          <p:cNvPr id="9" name="a2_good"/>
          <p:cNvSpPr/>
          <p:nvPr/>
        </p:nvSpPr>
        <p:spPr>
          <a:xfrm>
            <a:off x="4434840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0" name="a2_good_bar"/>
          <p:cNvSpPr/>
          <p:nvPr/>
        </p:nvSpPr>
        <p:spPr>
          <a:xfrm>
            <a:off x="4434840" y="1892808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a2_good_t"/>
          <p:cNvSpPr txBox="1"/>
          <p:nvPr/>
        </p:nvSpPr>
        <p:spPr>
          <a:xfrm>
            <a:off x="4663440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padding: 20px;</a:t>
            </a:r>
            <a:endParaRPr lang="en-US" sz="1300" dirty="0"/>
          </a:p>
        </p:txBody>
      </p:sp>
      <p:sp>
        <p:nvSpPr>
          <p:cNvPr id="12" name="a2_why"/>
          <p:cNvSpPr txBox="1"/>
          <p:nvPr/>
        </p:nvSpPr>
        <p:spPr>
          <a:xfrm>
            <a:off x="8366760" y="1783080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needs a unit. Only 0 can be written without one.</a:t>
            </a:r>
            <a:endParaRPr lang="en-US" sz="1400" dirty="0"/>
          </a:p>
        </p:txBody>
      </p:sp>
      <p:sp>
        <p:nvSpPr>
          <p:cNvPr id="13" name="a3_bad"/>
          <p:cNvSpPr/>
          <p:nvPr/>
        </p:nvSpPr>
        <p:spPr>
          <a:xfrm>
            <a:off x="548640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14" name="a3_bad_bar"/>
          <p:cNvSpPr/>
          <p:nvPr/>
        </p:nvSpPr>
        <p:spPr>
          <a:xfrm>
            <a:off x="548640" y="3374136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a3_bad_t"/>
          <p:cNvSpPr txBox="1"/>
          <p:nvPr/>
        </p:nvSpPr>
        <p:spPr>
          <a:xfrm>
            <a:off x="777240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 { margin: 0 auto; }</a:t>
            </a:r>
            <a:endParaRPr lang="en-US" sz="1300" dirty="0"/>
          </a:p>
        </p:txBody>
      </p:sp>
      <p:sp>
        <p:nvSpPr>
          <p:cNvPr id="16" name="a3_good"/>
          <p:cNvSpPr/>
          <p:nvPr/>
        </p:nvSpPr>
        <p:spPr>
          <a:xfrm>
            <a:off x="4434840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7" name="a3_good_bar"/>
          <p:cNvSpPr/>
          <p:nvPr/>
        </p:nvSpPr>
        <p:spPr>
          <a:xfrm>
            <a:off x="4434840" y="3374136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a3_good_t"/>
          <p:cNvSpPr txBox="1"/>
          <p:nvPr/>
        </p:nvSpPr>
        <p:spPr>
          <a:xfrm>
            <a:off x="4663440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block;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200px;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0 auto;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9" name="a3_why"/>
          <p:cNvSpPr txBox="1"/>
          <p:nvPr/>
        </p:nvSpPr>
        <p:spPr>
          <a:xfrm>
            <a:off x="8366760" y="3264408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margins centre only blocks with a width. Inline elements ignore them.</a:t>
            </a:r>
            <a:endParaRPr lang="en-US" sz="1400" dirty="0"/>
          </a:p>
        </p:txBody>
      </p:sp>
      <p:sp>
        <p:nvSpPr>
          <p:cNvPr id="20" name="a4_bad"/>
          <p:cNvSpPr/>
          <p:nvPr/>
        </p:nvSpPr>
        <p:spPr>
          <a:xfrm>
            <a:off x="548640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21" name="a4_bad_bar"/>
          <p:cNvSpPr/>
          <p:nvPr/>
        </p:nvSpPr>
        <p:spPr>
          <a:xfrm>
            <a:off x="548640" y="4855464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a4_bad_t"/>
          <p:cNvSpPr txBox="1"/>
          <p:nvPr/>
        </p:nvSpPr>
        <p:spPr>
          <a:xfrm>
            <a:off x="777240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100%;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3" name="a4_good"/>
          <p:cNvSpPr/>
          <p:nvPr/>
        </p:nvSpPr>
        <p:spPr>
          <a:xfrm>
            <a:off x="4434840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24" name="a4_good_bar"/>
          <p:cNvSpPr/>
          <p:nvPr/>
        </p:nvSpPr>
        <p:spPr>
          <a:xfrm>
            <a:off x="4434840" y="4855464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a4_good_t"/>
          <p:cNvSpPr txBox="1"/>
          <p:nvPr/>
        </p:nvSpPr>
        <p:spPr>
          <a:xfrm>
            <a:off x="4663440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box-sizing: border-box; 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100%;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6" name="a4_why"/>
          <p:cNvSpPr txBox="1"/>
          <p:nvPr/>
        </p:nvSpPr>
        <p:spPr>
          <a:xfrm>
            <a:off x="8366760" y="474573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default content-box, 100% plus padding is wider than the screen and causes a horizontal scrollbar.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Tips &amp; best practices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4" name="a2_ico_bg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955902"/>
            <a:ext cx="294437" cy="294437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1645920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every stylesheet with border-box</a:t>
            </a:r>
            <a:endParaRPr lang="en-US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22960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*, *::before, *::after { box-sizing: border-box; } and sizes behave the way you expect.</a:t>
            </a:r>
            <a:endParaRPr lang="en-US" sz="1500" dirty="0"/>
          </a:p>
        </p:txBody>
      </p:sp>
      <p:sp>
        <p:nvSpPr>
          <p:cNvPr id="8" name="a3_card"/>
          <p:cNvSpPr/>
          <p:nvPr/>
        </p:nvSpPr>
        <p:spPr>
          <a:xfrm>
            <a:off x="6278728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9" name="a3_ico_bg"/>
          <p:cNvSpPr/>
          <p:nvPr/>
        </p:nvSpPr>
        <p:spPr>
          <a:xfrm>
            <a:off x="6553048" y="1783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869" y="1955902"/>
            <a:ext cx="294437" cy="294437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7376008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DevTools show you</a:t>
            </a:r>
            <a:endParaRPr lang="en-US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6553048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an element in the Elements panel to see its margin (orange), padding (green) and content (blue).</a:t>
            </a:r>
            <a:endParaRPr lang="en-US" sz="1500" dirty="0"/>
          </a:p>
        </p:txBody>
      </p:sp>
      <p:sp>
        <p:nvSpPr>
          <p:cNvPr id="13" name="a4_card"/>
          <p:cNvSpPr/>
          <p:nvPr/>
        </p:nvSpPr>
        <p:spPr>
          <a:xfrm>
            <a:off x="548640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4" name="a4_ico_bg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4333342"/>
            <a:ext cx="294437" cy="294437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1645920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inside, margin between</a:t>
            </a:r>
            <a:endParaRPr lang="en-US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22960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padding to give an element room. Use margin to separate it from its neighbours.</a:t>
            </a:r>
            <a:endParaRPr lang="en-US" sz="1500" dirty="0"/>
          </a:p>
        </p:txBody>
      </p:sp>
      <p:sp>
        <p:nvSpPr>
          <p:cNvPr id="18" name="a5_card"/>
          <p:cNvSpPr/>
          <p:nvPr/>
        </p:nvSpPr>
        <p:spPr>
          <a:xfrm>
            <a:off x="6278728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9" name="a5_ico_bg"/>
          <p:cNvSpPr/>
          <p:nvPr/>
        </p:nvSpPr>
        <p:spPr>
          <a:xfrm>
            <a:off x="6553048" y="4160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869" y="4333342"/>
            <a:ext cx="294437" cy="294437"/>
          </a:xfrm>
          <a:prstGeom prst="rect">
            <a:avLst/>
          </a:prstGeom>
        </p:spPr>
      </p:pic>
      <p:sp>
        <p:nvSpPr>
          <p:cNvPr id="21" name="a5_card_h"/>
          <p:cNvSpPr txBox="1"/>
          <p:nvPr/>
        </p:nvSpPr>
        <p:spPr>
          <a:xfrm>
            <a:off x="7376008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order</a:t>
            </a:r>
            <a:endParaRPr lang="en-US" sz="1900" dirty="0"/>
          </a:p>
        </p:txBody>
      </p:sp>
      <p:sp>
        <p:nvSpPr>
          <p:cNvPr id="22" name="a5_card_b"/>
          <p:cNvSpPr txBox="1"/>
          <p:nvPr/>
        </p:nvSpPr>
        <p:spPr>
          <a:xfrm>
            <a:off x="6553048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padding: 10px 20px 30px 40px goes top, right, bottom, left (clockwise). Two values mean vertical, horizontal.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Activity: build a product card</a:t>
            </a:r>
            <a:endParaRPr lang="en-US" sz="3400" dirty="0"/>
          </a:p>
        </p:txBody>
      </p:sp>
      <p:sp>
        <p:nvSpPr>
          <p:cNvPr id="3" name="a2_chip"/>
          <p:cNvSpPr/>
          <p:nvPr/>
        </p:nvSpPr>
        <p:spPr>
          <a:xfrm>
            <a:off x="548640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548640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20 min</a:t>
            </a:r>
            <a:endParaRPr lang="en-US" sz="1200" dirty="0"/>
          </a:p>
        </p:txBody>
      </p:sp>
      <p:sp>
        <p:nvSpPr>
          <p:cNvPr id="5" name="a2_chip"/>
          <p:cNvSpPr/>
          <p:nvPr/>
        </p:nvSpPr>
        <p:spPr>
          <a:xfrm>
            <a:off x="2057400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2057400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48640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plain content into a neat card using only box-model properties.</a:t>
            </a:r>
            <a:endParaRPr lang="en-US" sz="1500" dirty="0"/>
          </a:p>
        </p:txBody>
      </p:sp>
      <p:sp>
        <p:nvSpPr>
          <p:cNvPr id="8" name="a4_num"/>
          <p:cNvSpPr/>
          <p:nvPr/>
        </p:nvSpPr>
        <p:spPr>
          <a:xfrm>
            <a:off x="548640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5486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1005840" y="2606040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* { box-sizing: border-box; } at the top.</a:t>
            </a:r>
            <a:endParaRPr lang="en-US" sz="1400" dirty="0"/>
          </a:p>
        </p:txBody>
      </p:sp>
      <p:sp>
        <p:nvSpPr>
          <p:cNvPr id="11" name="a5_num"/>
          <p:cNvSpPr/>
          <p:nvPr/>
        </p:nvSpPr>
        <p:spPr>
          <a:xfrm>
            <a:off x="548640" y="32186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54864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1005840" y="3172968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.product width 260px, padding 20px, a 1px solid grey border and border-radius 12px.</a:t>
            </a:r>
            <a:endParaRPr lang="en-US" sz="1400" dirty="0"/>
          </a:p>
        </p:txBody>
      </p:sp>
      <p:sp>
        <p:nvSpPr>
          <p:cNvPr id="14" name="a6_num"/>
          <p:cNvSpPr/>
          <p:nvPr/>
        </p:nvSpPr>
        <p:spPr>
          <a:xfrm>
            <a:off x="548640" y="3785616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548640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1005840" y="3739896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margin: 24px auto so the card is centred.</a:t>
            </a:r>
            <a:endParaRPr lang="en-US" sz="1400" dirty="0"/>
          </a:p>
        </p:txBody>
      </p:sp>
      <p:sp>
        <p:nvSpPr>
          <p:cNvPr id="17" name="a7_num"/>
          <p:cNvSpPr/>
          <p:nvPr/>
        </p:nvSpPr>
        <p:spPr>
          <a:xfrm>
            <a:off x="548640" y="4352544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54864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1005840" y="4306824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.price as a gold pill: display inline-block, padding 4px 12px, border-radius 20px.</a:t>
            </a:r>
            <a:endParaRPr lang="en-US" sz="1400" dirty="0"/>
          </a:p>
        </p:txBody>
      </p:sp>
      <p:sp>
        <p:nvSpPr>
          <p:cNvPr id="20" name="a8_num"/>
          <p:cNvSpPr/>
          <p:nvPr/>
        </p:nvSpPr>
        <p:spPr>
          <a:xfrm>
            <a:off x="548640" y="4919472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a8_numt"/>
          <p:cNvSpPr txBox="1"/>
          <p:nvPr/>
        </p:nvSpPr>
        <p:spPr>
          <a:xfrm>
            <a:off x="548640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a8_step"/>
          <p:cNvSpPr txBox="1"/>
          <p:nvPr/>
        </p:nvSpPr>
        <p:spPr>
          <a:xfrm>
            <a:off x="1005840" y="4873752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button fill the card width (display: block; width: 100%) with padding 10px.</a:t>
            </a:r>
            <a:endParaRPr lang="en-US" sz="1400" dirty="0"/>
          </a:p>
        </p:txBody>
      </p:sp>
      <p:sp>
        <p:nvSpPr>
          <p:cNvPr id="23" name="a9_bonus"/>
          <p:cNvSpPr/>
          <p:nvPr/>
        </p:nvSpPr>
        <p:spPr>
          <a:xfrm>
            <a:off x="548640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4D1"/>
          </a:solidFill>
          <a:ln/>
        </p:spPr>
      </p:sp>
      <p:sp>
        <p:nvSpPr>
          <p:cNvPr id="24" name="a9_bonus_t"/>
          <p:cNvSpPr txBox="1"/>
          <p:nvPr/>
        </p:nvSpPr>
        <p:spPr>
          <a:xfrm>
            <a:off x="731520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box-shadow: 0 6px 16px rgba(0,0,0,0.12) to lift the card.</a:t>
            </a:r>
            <a:endParaRPr lang="en-US" sz="1350" dirty="0"/>
          </a:p>
        </p:txBody>
      </p:sp>
      <p:sp>
        <p:nvSpPr>
          <p:cNvPr id="25" name="a2_goal_l"/>
          <p:cNvSpPr txBox="1"/>
          <p:nvPr/>
        </p:nvSpPr>
        <p:spPr>
          <a:xfrm>
            <a:off x="658368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your page should look like this</a:t>
            </a:r>
            <a:endParaRPr lang="en-US" sz="1400" dirty="0"/>
          </a:p>
        </p:txBody>
      </p:sp>
      <p:sp>
        <p:nvSpPr>
          <p:cNvPr id="26" name="a3_browser"/>
          <p:cNvSpPr/>
          <p:nvPr/>
        </p:nvSpPr>
        <p:spPr>
          <a:xfrm>
            <a:off x="6583680" y="1828800"/>
            <a:ext cx="4655127" cy="31455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a3_browser_bar"/>
          <p:cNvSpPr/>
          <p:nvPr/>
        </p:nvSpPr>
        <p:spPr>
          <a:xfrm>
            <a:off x="6583680" y="1828800"/>
            <a:ext cx="4655127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a3_browser_dot"/>
          <p:cNvSpPr/>
          <p:nvPr/>
        </p:nvSpPr>
        <p:spPr>
          <a:xfrm>
            <a:off x="676656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a3_browser_dot"/>
          <p:cNvSpPr/>
          <p:nvPr/>
        </p:nvSpPr>
        <p:spPr>
          <a:xfrm>
            <a:off x="696772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a3_browser_dot"/>
          <p:cNvSpPr/>
          <p:nvPr/>
        </p:nvSpPr>
        <p:spPr>
          <a:xfrm>
            <a:off x="716889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a3_browser_url"/>
          <p:cNvSpPr/>
          <p:nvPr/>
        </p:nvSpPr>
        <p:spPr>
          <a:xfrm>
            <a:off x="7498080" y="1892808"/>
            <a:ext cx="3557847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2" name="a3_browser_urltext"/>
          <p:cNvSpPr txBox="1"/>
          <p:nvPr/>
        </p:nvSpPr>
        <p:spPr>
          <a:xfrm>
            <a:off x="7607808" y="1892808"/>
            <a:ext cx="3374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lesson3/activity/solution/index.html</a:t>
            </a:r>
            <a:endParaRPr lang="en-US" sz="1100" dirty="0"/>
          </a:p>
        </p:txBody>
      </p:sp>
      <p:pic>
        <p:nvPicPr>
          <p:cNvPr id="33" name="a3_shot" descr="/home/user/Python/CSS_Course/assets/l3_act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31136"/>
            <a:ext cx="4655127" cy="2743200"/>
          </a:xfrm>
          <a:prstGeom prst="rect">
            <a:avLst/>
          </a:prstGeom>
        </p:spPr>
      </p:pic>
      <p:sp>
        <p:nvSpPr>
          <p:cNvPr id="34" name="a10_files"/>
          <p:cNvSpPr/>
          <p:nvPr/>
        </p:nvSpPr>
        <p:spPr>
          <a:xfrm>
            <a:off x="6583680" y="5202936"/>
            <a:ext cx="505937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5" name="a10_files_t"/>
          <p:cNvSpPr txBox="1"/>
          <p:nvPr/>
        </p:nvSpPr>
        <p:spPr>
          <a:xfrm>
            <a:off x="6766560" y="5202936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from: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code/lesson3/activity/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with: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code/lesson3/activity/solution/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Challenge: the exact business card</a:t>
            </a:r>
            <a:endParaRPr lang="en-US" sz="3400" dirty="0"/>
          </a:p>
        </p:txBody>
      </p:sp>
      <p:sp>
        <p:nvSpPr>
          <p:cNvPr id="3" name="a2_chip"/>
          <p:cNvSpPr/>
          <p:nvPr/>
        </p:nvSpPr>
        <p:spPr>
          <a:xfrm>
            <a:off x="548640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548640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25 min</a:t>
            </a:r>
            <a:endParaRPr lang="en-US" sz="1200" dirty="0"/>
          </a:p>
        </p:txBody>
      </p:sp>
      <p:sp>
        <p:nvSpPr>
          <p:cNvPr id="5" name="a2_chip"/>
          <p:cNvSpPr/>
          <p:nvPr/>
        </p:nvSpPr>
        <p:spPr>
          <a:xfrm>
            <a:off x="2057400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2057400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48640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business card that is EXACTLY 350px wide and 200px tall in total, border included.</a:t>
            </a:r>
            <a:endParaRPr lang="en-US" sz="1500" dirty="0"/>
          </a:p>
        </p:txBody>
      </p:sp>
      <p:sp>
        <p:nvSpPr>
          <p:cNvPr id="8" name="a4_num"/>
          <p:cNvSpPr/>
          <p:nvPr/>
        </p:nvSpPr>
        <p:spPr>
          <a:xfrm>
            <a:off x="548640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5486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1005840" y="260604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box-sizing so that width: 350px and height: 200px are the final outer size.</a:t>
            </a:r>
            <a:endParaRPr lang="en-US" sz="1400" dirty="0"/>
          </a:p>
        </p:txBody>
      </p:sp>
      <p:sp>
        <p:nvSpPr>
          <p:cNvPr id="11" name="a5_num"/>
          <p:cNvSpPr/>
          <p:nvPr/>
        </p:nvSpPr>
        <p:spPr>
          <a:xfrm>
            <a:off x="548640" y="336042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548640" y="3360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1005840" y="331470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6px solid border, 24px padding and a centred position on the page.</a:t>
            </a:r>
            <a:endParaRPr lang="en-US" sz="1400" dirty="0"/>
          </a:p>
        </p:txBody>
      </p:sp>
      <p:sp>
        <p:nvSpPr>
          <p:cNvPr id="14" name="a6_num"/>
          <p:cNvSpPr/>
          <p:nvPr/>
        </p:nvSpPr>
        <p:spPr>
          <a:xfrm>
            <a:off x="548640" y="4069080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54864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1005840" y="402336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12px of space between the three text lines using margin.</a:t>
            </a:r>
            <a:endParaRPr lang="en-US" sz="1400" dirty="0"/>
          </a:p>
        </p:txBody>
      </p:sp>
      <p:sp>
        <p:nvSpPr>
          <p:cNvPr id="17" name="a7_num"/>
          <p:cNvSpPr/>
          <p:nvPr/>
        </p:nvSpPr>
        <p:spPr>
          <a:xfrm>
            <a:off x="548640" y="4777740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548640" y="47777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1005840" y="473202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size in DevTools: the box must measure 350 x 200.</a:t>
            </a:r>
            <a:endParaRPr lang="en-US" sz="1400" dirty="0"/>
          </a:p>
        </p:txBody>
      </p:sp>
      <p:sp>
        <p:nvSpPr>
          <p:cNvPr id="20" name="a9_bonus"/>
          <p:cNvSpPr/>
          <p:nvPr/>
        </p:nvSpPr>
        <p:spPr>
          <a:xfrm>
            <a:off x="548640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1D2250"/>
          </a:solidFill>
          <a:ln/>
        </p:spPr>
      </p:sp>
      <p:sp>
        <p:nvSpPr>
          <p:cNvPr id="21" name="a9_bonus_t"/>
          <p:cNvSpPr txBox="1"/>
          <p:nvPr/>
        </p:nvSpPr>
        <p:spPr>
          <a:xfrm>
            <a:off x="731520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name line larger and give the job title a coloured left border.</a:t>
            </a:r>
            <a:endParaRPr lang="en-US" sz="1350" dirty="0"/>
          </a:p>
        </p:txBody>
      </p:sp>
      <p:sp>
        <p:nvSpPr>
          <p:cNvPr id="22" name="a2_goal_l"/>
          <p:cNvSpPr txBox="1"/>
          <p:nvPr/>
        </p:nvSpPr>
        <p:spPr>
          <a:xfrm>
            <a:off x="658368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match this result</a:t>
            </a:r>
            <a:endParaRPr lang="en-US" sz="1400" dirty="0"/>
          </a:p>
        </p:txBody>
      </p:sp>
      <p:sp>
        <p:nvSpPr>
          <p:cNvPr id="23" name="a3_browser"/>
          <p:cNvSpPr/>
          <p:nvPr/>
        </p:nvSpPr>
        <p:spPr>
          <a:xfrm>
            <a:off x="6583680" y="1828800"/>
            <a:ext cx="5059375" cy="311271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a3_browser_bar"/>
          <p:cNvSpPr/>
          <p:nvPr/>
        </p:nvSpPr>
        <p:spPr>
          <a:xfrm>
            <a:off x="658368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a3_browser_dot"/>
          <p:cNvSpPr/>
          <p:nvPr/>
        </p:nvSpPr>
        <p:spPr>
          <a:xfrm>
            <a:off x="676656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a3_browser_dot"/>
          <p:cNvSpPr/>
          <p:nvPr/>
        </p:nvSpPr>
        <p:spPr>
          <a:xfrm>
            <a:off x="696772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a3_browser_dot"/>
          <p:cNvSpPr/>
          <p:nvPr/>
        </p:nvSpPr>
        <p:spPr>
          <a:xfrm>
            <a:off x="716889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8" name="a3_browser_url"/>
          <p:cNvSpPr/>
          <p:nvPr/>
        </p:nvSpPr>
        <p:spPr>
          <a:xfrm>
            <a:off x="749808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9" name="a3_browser_urltext"/>
          <p:cNvSpPr txBox="1"/>
          <p:nvPr/>
        </p:nvSpPr>
        <p:spPr>
          <a:xfrm>
            <a:off x="760780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lesson3/challenge/solution/index.html</a:t>
            </a:r>
            <a:endParaRPr lang="en-US" sz="1100" dirty="0"/>
          </a:p>
        </p:txBody>
      </p:sp>
      <p:pic>
        <p:nvPicPr>
          <p:cNvPr id="30" name="a3_shot" descr="/home/user/Python/CSS_Course/assets/l3_chal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31136"/>
            <a:ext cx="5059375" cy="2710380"/>
          </a:xfrm>
          <a:prstGeom prst="rect">
            <a:avLst/>
          </a:prstGeom>
        </p:spPr>
      </p:pic>
      <p:sp>
        <p:nvSpPr>
          <p:cNvPr id="31" name="a10_files"/>
          <p:cNvSpPr/>
          <p:nvPr/>
        </p:nvSpPr>
        <p:spPr>
          <a:xfrm>
            <a:off x="6583680" y="5170116"/>
            <a:ext cx="5059375" cy="914400"/>
          </a:xfrm>
          <a:prstGeom prst="roundRect">
            <a:avLst>
              <a:gd name="adj" fmla="val 10000"/>
            </a:avLst>
          </a:prstGeom>
          <a:solidFill>
            <a:srgbClr val="1D2250"/>
          </a:solidFill>
          <a:ln/>
        </p:spPr>
      </p:sp>
      <p:sp>
        <p:nvSpPr>
          <p:cNvPr id="32" name="a10_files_t"/>
          <p:cNvSpPr txBox="1"/>
          <p:nvPr/>
        </p:nvSpPr>
        <p:spPr>
          <a:xfrm>
            <a:off x="6766560" y="5170116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code/lesson3/challenge/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code/lesson3/challenge/solution/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Quick check</a:t>
            </a:r>
            <a:endParaRPr lang="en-US" sz="3400" dirty="0"/>
          </a:p>
        </p:txBody>
      </p:sp>
      <p:sp>
        <p:nvSpPr>
          <p:cNvPr id="3" name="a2_hint"/>
          <p:cNvSpPr txBox="1"/>
          <p:nvPr/>
        </p:nvSpPr>
        <p:spPr>
          <a:xfrm>
            <a:off x="548640" y="12618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first, then click to reveal each answer.</a:t>
            </a:r>
            <a:endParaRPr lang="en-US" sz="1500" dirty="0"/>
          </a:p>
        </p:txBody>
      </p:sp>
      <p:sp>
        <p:nvSpPr>
          <p:cNvPr id="4" name="a3_row"/>
          <p:cNvSpPr/>
          <p:nvPr/>
        </p:nvSpPr>
        <p:spPr>
          <a:xfrm>
            <a:off x="548640" y="173736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3_q"/>
          <p:cNvSpPr txBox="1"/>
          <p:nvPr/>
        </p:nvSpPr>
        <p:spPr>
          <a:xfrm>
            <a:off x="1600200" y="173736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four layers of the box model from the inside out.</a:t>
            </a:r>
            <a:endParaRPr lang="en-US" sz="1650" dirty="0"/>
          </a:p>
        </p:txBody>
      </p:sp>
      <p:sp>
        <p:nvSpPr>
          <p:cNvPr id="8" name="k3_ans_bg"/>
          <p:cNvSpPr/>
          <p:nvPr/>
        </p:nvSpPr>
        <p:spPr>
          <a:xfrm>
            <a:off x="7269480" y="1892808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" name="k3_ans"/>
          <p:cNvSpPr txBox="1"/>
          <p:nvPr/>
        </p:nvSpPr>
        <p:spPr>
          <a:xfrm>
            <a:off x="7452360" y="1892808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padding, border, margin.</a:t>
            </a:r>
            <a:endParaRPr lang="en-US" sz="1450" dirty="0"/>
          </a:p>
        </p:txBody>
      </p:sp>
      <p:sp>
        <p:nvSpPr>
          <p:cNvPr id="10" name="a4_row"/>
          <p:cNvSpPr/>
          <p:nvPr/>
        </p:nvSpPr>
        <p:spPr>
          <a:xfrm>
            <a:off x="548640" y="3218688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a4_num"/>
          <p:cNvSpPr/>
          <p:nvPr/>
        </p:nvSpPr>
        <p:spPr>
          <a:xfrm>
            <a:off x="822960" y="36301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4_numt"/>
          <p:cNvSpPr txBox="1"/>
          <p:nvPr/>
        </p:nvSpPr>
        <p:spPr>
          <a:xfrm>
            <a:off x="82296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a4_q"/>
          <p:cNvSpPr txBox="1"/>
          <p:nvPr/>
        </p:nvSpPr>
        <p:spPr>
          <a:xfrm>
            <a:off x="1600200" y="3218688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 has width: 200px; padding: 10px; border: 5px solid. What is its total width with the default box-sizing?</a:t>
            </a:r>
            <a:endParaRPr lang="en-US" sz="1650" dirty="0"/>
          </a:p>
        </p:txBody>
      </p:sp>
      <p:sp>
        <p:nvSpPr>
          <p:cNvPr id="14" name="k4_ans_bg"/>
          <p:cNvSpPr/>
          <p:nvPr/>
        </p:nvSpPr>
        <p:spPr>
          <a:xfrm>
            <a:off x="7269480" y="3374136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k4_ans"/>
          <p:cNvSpPr txBox="1"/>
          <p:nvPr/>
        </p:nvSpPr>
        <p:spPr>
          <a:xfrm>
            <a:off x="7452360" y="3374136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230px: 200 + 2x10 + 2x5. With border-box it would stay 200px.</a:t>
            </a:r>
            <a:endParaRPr lang="en-US" sz="1450" dirty="0"/>
          </a:p>
        </p:txBody>
      </p:sp>
      <p:sp>
        <p:nvSpPr>
          <p:cNvPr id="16" name="a5_row"/>
          <p:cNvSpPr/>
          <p:nvPr/>
        </p:nvSpPr>
        <p:spPr>
          <a:xfrm>
            <a:off x="548640" y="4700016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7" name="a5_num"/>
          <p:cNvSpPr/>
          <p:nvPr/>
        </p:nvSpPr>
        <p:spPr>
          <a:xfrm>
            <a:off x="822960" y="511149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5_numt"/>
          <p:cNvSpPr txBox="1"/>
          <p:nvPr/>
        </p:nvSpPr>
        <p:spPr>
          <a:xfrm>
            <a:off x="822960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a5_q"/>
          <p:cNvSpPr txBox="1"/>
          <p:nvPr/>
        </p:nvSpPr>
        <p:spPr>
          <a:xfrm>
            <a:off x="1600200" y="4700016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span { margin: 0 auto; } not centre the text?</a:t>
            </a:r>
            <a:endParaRPr lang="en-US" sz="1650" dirty="0"/>
          </a:p>
        </p:txBody>
      </p:sp>
      <p:sp>
        <p:nvSpPr>
          <p:cNvPr id="20" name="k5_ans_bg"/>
          <p:cNvSpPr/>
          <p:nvPr/>
        </p:nvSpPr>
        <p:spPr>
          <a:xfrm>
            <a:off x="7269480" y="4855464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1" name="k5_ans"/>
          <p:cNvSpPr txBox="1"/>
          <p:nvPr/>
        </p:nvSpPr>
        <p:spPr>
          <a:xfrm>
            <a:off x="7452360" y="4855464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span is inline, so auto margins are ignored. Make it display: block with a width.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Summary</a:t>
            </a:r>
            <a:endParaRPr lang="en-US" sz="3400" dirty="0"/>
          </a:p>
        </p:txBody>
      </p:sp>
      <p:sp>
        <p:nvSpPr>
          <p:cNvPr id="3" name="a2_ico_bg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428" y="1717700"/>
            <a:ext cx="231343" cy="231343"/>
          </a:xfrm>
          <a:prstGeom prst="rect">
            <a:avLst/>
          </a:prstGeom>
        </p:spPr>
      </p:pic>
      <p:sp>
        <p:nvSpPr>
          <p:cNvPr id="5" name="a2_pt"/>
          <p:cNvSpPr txBox="1"/>
          <p:nvPr/>
        </p:nvSpPr>
        <p:spPr>
          <a:xfrm>
            <a:off x="1280160" y="15087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is a box: content, padding, border, margin.</a:t>
            </a:r>
            <a:endParaRPr lang="en-US" sz="1650" dirty="0"/>
          </a:p>
        </p:txBody>
      </p:sp>
      <p:sp>
        <p:nvSpPr>
          <p:cNvPr id="6" name="a3_ico_bg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8" y="2650388"/>
            <a:ext cx="231343" cy="231343"/>
          </a:xfrm>
          <a:prstGeom prst="rect">
            <a:avLst/>
          </a:prstGeom>
        </p:spPr>
      </p:pic>
      <p:sp>
        <p:nvSpPr>
          <p:cNvPr id="8" name="a3_pt"/>
          <p:cNvSpPr txBox="1"/>
          <p:nvPr/>
        </p:nvSpPr>
        <p:spPr>
          <a:xfrm>
            <a:off x="1280160" y="244144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is inside the border; margin is outside and transparent.</a:t>
            </a:r>
            <a:endParaRPr lang="en-US" sz="1650" dirty="0"/>
          </a:p>
        </p:txBody>
      </p:sp>
      <p:sp>
        <p:nvSpPr>
          <p:cNvPr id="9" name="a4_ico_bg"/>
          <p:cNvSpPr/>
          <p:nvPr/>
        </p:nvSpPr>
        <p:spPr>
          <a:xfrm>
            <a:off x="548640" y="344728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3583076"/>
            <a:ext cx="231343" cy="231343"/>
          </a:xfrm>
          <a:prstGeom prst="rect">
            <a:avLst/>
          </a:prstGeom>
        </p:spPr>
      </p:pic>
      <p:sp>
        <p:nvSpPr>
          <p:cNvPr id="11" name="a4_pt"/>
          <p:cNvSpPr txBox="1"/>
          <p:nvPr/>
        </p:nvSpPr>
        <p:spPr>
          <a:xfrm>
            <a:off x="1280160" y="337413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box-sizing: border-box makes width include padding and border.</a:t>
            </a:r>
            <a:endParaRPr lang="en-US" sz="1650" dirty="0"/>
          </a:p>
        </p:txBody>
      </p:sp>
      <p:sp>
        <p:nvSpPr>
          <p:cNvPr id="12" name="a5_ico_bg"/>
          <p:cNvSpPr/>
          <p:nvPr/>
        </p:nvSpPr>
        <p:spPr>
          <a:xfrm>
            <a:off x="548640" y="4379976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" y="4515764"/>
            <a:ext cx="231343" cy="231343"/>
          </a:xfrm>
          <a:prstGeom prst="rect">
            <a:avLst/>
          </a:prstGeom>
        </p:spPr>
      </p:pic>
      <p:sp>
        <p:nvSpPr>
          <p:cNvPr id="14" name="a5_pt"/>
          <p:cNvSpPr txBox="1"/>
          <p:nvPr/>
        </p:nvSpPr>
        <p:spPr>
          <a:xfrm>
            <a:off x="1280160" y="430682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0 auto centres a block that has a width.</a:t>
            </a:r>
            <a:endParaRPr lang="en-US" sz="1650" dirty="0"/>
          </a:p>
        </p:txBody>
      </p:sp>
      <p:sp>
        <p:nvSpPr>
          <p:cNvPr id="15" name="a6_ico_bg"/>
          <p:cNvSpPr/>
          <p:nvPr/>
        </p:nvSpPr>
        <p:spPr>
          <a:xfrm>
            <a:off x="548640" y="531266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a6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" y="5448452"/>
            <a:ext cx="231343" cy="231343"/>
          </a:xfrm>
          <a:prstGeom prst="rect">
            <a:avLst/>
          </a:prstGeom>
        </p:spPr>
      </p:pic>
      <p:sp>
        <p:nvSpPr>
          <p:cNvPr id="17" name="a6_pt"/>
          <p:cNvSpPr txBox="1"/>
          <p:nvPr/>
        </p:nvSpPr>
        <p:spPr>
          <a:xfrm>
            <a:off x="1280160" y="52395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inline-block lets inline items take width, height and padding.</a:t>
            </a:r>
            <a:endParaRPr lang="en-US" sz="1650" dirty="0"/>
          </a:p>
        </p:txBody>
      </p:sp>
      <p:sp>
        <p:nvSpPr>
          <p:cNvPr id="18" name="a8_panel"/>
          <p:cNvSpPr/>
          <p:nvPr/>
        </p:nvSpPr>
        <p:spPr>
          <a:xfrm>
            <a:off x="7315200" y="1508760"/>
            <a:ext cx="4325112" cy="4617720"/>
          </a:xfrm>
          <a:prstGeom prst="roundRect">
            <a:avLst>
              <a:gd name="adj" fmla="val 2960"/>
            </a:avLst>
          </a:prstGeom>
          <a:solidFill>
            <a:schemeClr val="tx1"/>
          </a:solidFill>
          <a:ln/>
        </p:spPr>
      </p:sp>
      <p:sp>
        <p:nvSpPr>
          <p:cNvPr id="19" name="a8_panel_h"/>
          <p:cNvSpPr txBox="1"/>
          <p:nvPr/>
        </p:nvSpPr>
        <p:spPr>
          <a:xfrm>
            <a:off x="763524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2100" dirty="0"/>
          </a:p>
        </p:txBody>
      </p:sp>
      <p:sp>
        <p:nvSpPr>
          <p:cNvPr id="20" name="a9_panel_b"/>
          <p:cNvSpPr txBox="1"/>
          <p:nvPr/>
        </p:nvSpPr>
        <p:spPr>
          <a:xfrm>
            <a:off x="7635240" y="2286000"/>
            <a:ext cx="3703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code/lesson3/  (examples, activity, challenge)</a:t>
            </a:r>
            <a:endParaRPr lang="en-US" sz="145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online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playground.html (works offline) or the CodePen links in codepen.html</a:t>
            </a:r>
            <a:endParaRPr lang="en-US" sz="145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4: Layout with Flexbox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Stylesheet">
  <a:themeElements>
    <a:clrScheme name="Stylesheet">
      <a:dk1>
        <a:srgbClr val="10132B"/>
      </a:dk1>
      <a:lt1>
        <a:srgbClr val="FFFFFF"/>
      </a:lt1>
      <a:dk2>
        <a:srgbClr val="2B3A8F"/>
      </a:dk2>
      <a:lt2>
        <a:srgbClr val="EEF2FF"/>
      </a:lt2>
      <a:accent1>
        <a:srgbClr val="2965F1"/>
      </a:accent1>
      <a:accent2>
        <a:srgbClr val="FFC83D"/>
      </a:accent2>
      <a:accent3>
        <a:srgbClr val="FF4F8B"/>
      </a:accent3>
      <a:accent4>
        <a:srgbClr val="8B5CF6"/>
      </a:accent4>
      <a:accent5>
        <a:srgbClr val="22C55E"/>
      </a:accent5>
      <a:accent6>
        <a:srgbClr val="22D3EE"/>
      </a:accent6>
      <a:hlink>
        <a:srgbClr val="2965F1"/>
      </a:hlink>
      <a:folHlink>
        <a:srgbClr val="8B5CF6"/>
      </a:folHlink>
    </a:clrScheme>
    <a:fontScheme name="Styleshe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for High School - Lesson 3: The Box Model</dc:title>
  <dc:subject>CSS for high-school students</dc:subject>
  <dc:creator>CSS for High School</dc:creator>
  <cp:lastModifiedBy>CSS for High School</cp:lastModifiedBy>
  <cp:revision>1</cp:revision>
  <dcterms:created xsi:type="dcterms:W3CDTF">2026-10-08T23:28:05Z</dcterms:created>
  <dcterms:modified xsi:type="dcterms:W3CDTF">2026-10-08T23:28:05Z</dcterms:modified>
</cp:coreProperties>
</file>