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display: flex makes .nav a flex container: logo and links become items.
2. space-between puts the first item at the left, the last at the right.
3. align-items: center centres the items vertically.
4. The links container is also flex; gap adds 18px between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flex-wrap: wrap lets items move to a new line instead of squashing.
2. gap sets the space between rows and columns.
3. flex: 1 1 150px = grow 1, shrink 1, ideal width 150px.
4. Result: each row fills the full width, and the last row stretches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flex-direction: column stacks items; now the main axis is vertical.
2. So justify-content centres vertically and align-items centres horizontally.
3. min-height gives the box room so there is something to centre inside.
4. linear-gradient() blends colours; it is used like a background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5836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Shape 0"/>
          <p:cNvSpPr/>
          <p:nvPr/>
        </p:nvSpPr>
        <p:spPr>
          <a:xfrm>
            <a:off x="548640" y="1143000"/>
            <a:ext cx="822960" cy="640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for High School  |  Lesson 4: Flexbox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Shape 0"/>
          <p:cNvSpPr/>
          <p:nvPr/>
        </p:nvSpPr>
        <p:spPr>
          <a:xfrm>
            <a:off x="548640" y="1143000"/>
            <a:ext cx="822960" cy="6400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for High School  |  Lesson 4: Flexbox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5_braces"/>
          <p:cNvSpPr txBox="1"/>
          <p:nvPr/>
        </p:nvSpPr>
        <p:spPr>
          <a:xfrm>
            <a:off x="731520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6000" dirty="0"/>
          </a:p>
        </p:txBody>
      </p:sp>
      <p:sp>
        <p:nvSpPr>
          <p:cNvPr id="3" name="a1_pill"/>
          <p:cNvSpPr/>
          <p:nvPr/>
        </p:nvSpPr>
        <p:spPr>
          <a:xfrm>
            <a:off x="731520" y="146304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4" name="a1_pill_text"/>
          <p:cNvSpPr txBox="1"/>
          <p:nvPr/>
        </p:nvSpPr>
        <p:spPr>
          <a:xfrm>
            <a:off x="731520" y="14630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 OF 7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2011680"/>
            <a:ext cx="6583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Layout with Flexbox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40690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Arrange items in a row or column, align them and share the space</a:t>
            </a:r>
            <a:endParaRPr lang="en-US" sz="2200" dirty="0"/>
          </a:p>
        </p:txBody>
      </p:sp>
      <p:sp>
        <p:nvSpPr>
          <p:cNvPr id="7" name="a4_meta"/>
          <p:cNvSpPr txBox="1"/>
          <p:nvPr/>
        </p:nvSpPr>
        <p:spPr>
          <a:xfrm>
            <a:off x="731520" y="5074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school  |  Prior knowledge: Lessons 1-3  |  ~50 min</a:t>
            </a:r>
            <a:endParaRPr lang="en-US" sz="1600" dirty="0"/>
          </a:p>
        </p:txBody>
      </p:sp>
      <p:sp>
        <p:nvSpPr>
          <p:cNvPr id="8" name="a5_layer"/>
          <p:cNvSpPr/>
          <p:nvPr/>
        </p:nvSpPr>
        <p:spPr>
          <a:xfrm>
            <a:off x="7635240" y="1234440"/>
            <a:ext cx="4114800" cy="4480560"/>
          </a:xfrm>
          <a:prstGeom prst="roundRect">
            <a:avLst>
              <a:gd name="adj" fmla="val 2667"/>
            </a:avLst>
          </a:prstGeom>
          <a:solidFill>
            <a:schemeClr val="accent2">
              <a:alpha val="75000"/>
            </a:schemeClr>
          </a:solidFill>
          <a:ln/>
        </p:spPr>
      </p:sp>
      <p:sp>
        <p:nvSpPr>
          <p:cNvPr id="9" name="a6_layer"/>
          <p:cNvSpPr/>
          <p:nvPr/>
        </p:nvSpPr>
        <p:spPr>
          <a:xfrm>
            <a:off x="8092440" y="169164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accent3"/>
          </a:solidFill>
          <a:ln/>
        </p:spPr>
      </p:sp>
      <p:sp>
        <p:nvSpPr>
          <p:cNvPr id="10" name="a7_layer"/>
          <p:cNvSpPr/>
          <p:nvPr/>
        </p:nvSpPr>
        <p:spPr>
          <a:xfrm>
            <a:off x="8503920" y="2103120"/>
            <a:ext cx="2377440" cy="2743200"/>
          </a:xfrm>
          <a:prstGeom prst="roundRect">
            <a:avLst>
              <a:gd name="adj" fmla="val 4615"/>
            </a:avLst>
          </a:prstGeom>
          <a:solidFill>
            <a:schemeClr val="accent4"/>
          </a:solidFill>
          <a:ln/>
        </p:spPr>
      </p:sp>
      <p:sp>
        <p:nvSpPr>
          <p:cNvPr id="11" name="a8_layer"/>
          <p:cNvSpPr/>
          <p:nvPr/>
        </p:nvSpPr>
        <p:spPr>
          <a:xfrm>
            <a:off x="8869680" y="2468880"/>
            <a:ext cx="1645920" cy="192024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a9_cssword"/>
          <p:cNvSpPr txBox="1"/>
          <p:nvPr/>
        </p:nvSpPr>
        <p:spPr>
          <a:xfrm>
            <a:off x="8869680" y="2468880"/>
            <a:ext cx="1645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</a:t>
            </a:r>
            <a:endParaRPr lang="en-US" sz="3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rippl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Learning objective</a:t>
            </a:r>
            <a:endParaRPr lang="en-US" sz="3400" dirty="0"/>
          </a:p>
        </p:txBody>
      </p:sp>
      <p:sp>
        <p:nvSpPr>
          <p:cNvPr id="3" name="a2_panel"/>
          <p:cNvSpPr/>
          <p:nvPr/>
        </p:nvSpPr>
        <p:spPr>
          <a:xfrm>
            <a:off x="548640" y="1508760"/>
            <a:ext cx="548640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4" name="a2_head"/>
          <p:cNvSpPr txBox="1"/>
          <p:nvPr/>
        </p:nvSpPr>
        <p:spPr>
          <a:xfrm>
            <a:off x="868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lesson you can:</a:t>
            </a:r>
            <a:endParaRPr lang="en-US" sz="1900" dirty="0"/>
          </a:p>
        </p:txBody>
      </p:sp>
      <p:sp>
        <p:nvSpPr>
          <p:cNvPr id="5" name="a3_ico_bg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a3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813" y="2571293"/>
            <a:ext cx="252374" cy="252374"/>
          </a:xfrm>
          <a:prstGeom prst="rect">
            <a:avLst/>
          </a:prstGeom>
        </p:spPr>
      </p:pic>
      <p:sp>
        <p:nvSpPr>
          <p:cNvPr id="7" name="a3_obj"/>
          <p:cNvSpPr txBox="1"/>
          <p:nvPr/>
        </p:nvSpPr>
        <p:spPr>
          <a:xfrm>
            <a:off x="1600200" y="23317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parent into a flex container with display: flex</a:t>
            </a:r>
            <a:endParaRPr lang="en-US" sz="1800" dirty="0"/>
          </a:p>
        </p:txBody>
      </p:sp>
      <p:sp>
        <p:nvSpPr>
          <p:cNvPr id="8" name="a4_ico_bg"/>
          <p:cNvSpPr/>
          <p:nvPr/>
        </p:nvSpPr>
        <p:spPr>
          <a:xfrm>
            <a:off x="868680" y="370332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a4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813" y="3851453"/>
            <a:ext cx="252374" cy="252374"/>
          </a:xfrm>
          <a:prstGeom prst="rect">
            <a:avLst/>
          </a:prstGeom>
        </p:spPr>
      </p:pic>
      <p:sp>
        <p:nvSpPr>
          <p:cNvPr id="10" name="a4_obj"/>
          <p:cNvSpPr txBox="1"/>
          <p:nvPr/>
        </p:nvSpPr>
        <p:spPr>
          <a:xfrm>
            <a:off x="1600200" y="361188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and space items with justify-content, align-items and gap</a:t>
            </a:r>
            <a:endParaRPr lang="en-US" sz="1800" dirty="0"/>
          </a:p>
        </p:txBody>
      </p:sp>
      <p:sp>
        <p:nvSpPr>
          <p:cNvPr id="11" name="a5_ico_bg"/>
          <p:cNvSpPr/>
          <p:nvPr/>
        </p:nvSpPr>
        <p:spPr>
          <a:xfrm>
            <a:off x="868680" y="498348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a5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813" y="5131613"/>
            <a:ext cx="252374" cy="252374"/>
          </a:xfrm>
          <a:prstGeom prst="rect">
            <a:avLst/>
          </a:prstGeom>
        </p:spPr>
      </p:pic>
      <p:sp>
        <p:nvSpPr>
          <p:cNvPr id="13" name="a5_obj"/>
          <p:cNvSpPr txBox="1"/>
          <p:nvPr/>
        </p:nvSpPr>
        <p:spPr>
          <a:xfrm>
            <a:off x="1600200" y="489204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and size items with flex-wrap and flex</a:t>
            </a:r>
            <a:endParaRPr lang="en-US" sz="1800" dirty="0"/>
          </a:p>
        </p:txBody>
      </p:sp>
      <p:sp>
        <p:nvSpPr>
          <p:cNvPr id="14" name="a6_terms_head"/>
          <p:cNvSpPr txBox="1"/>
          <p:nvPr/>
        </p:nvSpPr>
        <p:spPr>
          <a:xfrm>
            <a:off x="6355080" y="15087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</a:t>
            </a:r>
            <a:endParaRPr lang="en-US" sz="1900" dirty="0"/>
          </a:p>
        </p:txBody>
      </p:sp>
      <p:sp>
        <p:nvSpPr>
          <p:cNvPr id="15" name="a6_chip"/>
          <p:cNvSpPr/>
          <p:nvPr/>
        </p:nvSpPr>
        <p:spPr>
          <a:xfrm>
            <a:off x="6355080" y="2057400"/>
            <a:ext cx="1645920" cy="45720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16" name="a6_chip_text"/>
          <p:cNvSpPr txBox="1"/>
          <p:nvPr/>
        </p:nvSpPr>
        <p:spPr>
          <a:xfrm>
            <a:off x="6355080" y="2057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 container</a:t>
            </a:r>
            <a:endParaRPr lang="en-US" sz="1300" dirty="0"/>
          </a:p>
        </p:txBody>
      </p:sp>
      <p:sp>
        <p:nvSpPr>
          <p:cNvPr id="17" name="a6_def"/>
          <p:cNvSpPr txBox="1"/>
          <p:nvPr/>
        </p:nvSpPr>
        <p:spPr>
          <a:xfrm>
            <a:off x="8183880" y="1947672"/>
            <a:ext cx="3456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element that has display: flex. It controls the layout of its children.</a:t>
            </a:r>
            <a:endParaRPr lang="en-US" sz="1400" dirty="0"/>
          </a:p>
        </p:txBody>
      </p:sp>
      <p:sp>
        <p:nvSpPr>
          <p:cNvPr id="18" name="a7_chip"/>
          <p:cNvSpPr/>
          <p:nvPr/>
        </p:nvSpPr>
        <p:spPr>
          <a:xfrm>
            <a:off x="6355080" y="3127248"/>
            <a:ext cx="164592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9" name="a7_chip_text"/>
          <p:cNvSpPr txBox="1"/>
          <p:nvPr/>
        </p:nvSpPr>
        <p:spPr>
          <a:xfrm>
            <a:off x="6355080" y="31272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 item</a:t>
            </a:r>
            <a:endParaRPr lang="en-US" sz="1300" dirty="0"/>
          </a:p>
        </p:txBody>
      </p:sp>
      <p:sp>
        <p:nvSpPr>
          <p:cNvPr id="20" name="a7_def"/>
          <p:cNvSpPr txBox="1"/>
          <p:nvPr/>
        </p:nvSpPr>
        <p:spPr>
          <a:xfrm>
            <a:off x="8183880" y="3017520"/>
            <a:ext cx="3456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child of a flex container. Items line up in a row by default.</a:t>
            </a:r>
            <a:endParaRPr lang="en-US" sz="1400" dirty="0"/>
          </a:p>
        </p:txBody>
      </p:sp>
      <p:sp>
        <p:nvSpPr>
          <p:cNvPr id="21" name="a8_chip"/>
          <p:cNvSpPr/>
          <p:nvPr/>
        </p:nvSpPr>
        <p:spPr>
          <a:xfrm>
            <a:off x="6355080" y="4197096"/>
            <a:ext cx="1645920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</p:spPr>
      </p:sp>
      <p:sp>
        <p:nvSpPr>
          <p:cNvPr id="22" name="a8_chip_text"/>
          <p:cNvSpPr txBox="1"/>
          <p:nvPr/>
        </p:nvSpPr>
        <p:spPr>
          <a:xfrm>
            <a:off x="6355080" y="419709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axis</a:t>
            </a:r>
            <a:endParaRPr lang="en-US" sz="1300" dirty="0"/>
          </a:p>
        </p:txBody>
      </p:sp>
      <p:sp>
        <p:nvSpPr>
          <p:cNvPr id="23" name="a8_def"/>
          <p:cNvSpPr txBox="1"/>
          <p:nvPr/>
        </p:nvSpPr>
        <p:spPr>
          <a:xfrm>
            <a:off x="8183880" y="4087368"/>
            <a:ext cx="3456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items flow: horizontal for a row, vertical for a column.</a:t>
            </a:r>
            <a:endParaRPr lang="en-US" sz="1400" dirty="0"/>
          </a:p>
        </p:txBody>
      </p:sp>
      <p:sp>
        <p:nvSpPr>
          <p:cNvPr id="24" name="a9_chip"/>
          <p:cNvSpPr/>
          <p:nvPr/>
        </p:nvSpPr>
        <p:spPr>
          <a:xfrm>
            <a:off x="6355080" y="5266944"/>
            <a:ext cx="1645920" cy="45720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</p:spPr>
      </p:sp>
      <p:sp>
        <p:nvSpPr>
          <p:cNvPr id="25" name="a9_chip_text"/>
          <p:cNvSpPr txBox="1"/>
          <p:nvPr/>
        </p:nvSpPr>
        <p:spPr>
          <a:xfrm>
            <a:off x="6355080" y="52669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 axis</a:t>
            </a:r>
            <a:endParaRPr lang="en-US" sz="1300" dirty="0"/>
          </a:p>
        </p:txBody>
      </p:sp>
      <p:sp>
        <p:nvSpPr>
          <p:cNvPr id="26" name="a9_def"/>
          <p:cNvSpPr txBox="1"/>
          <p:nvPr/>
        </p:nvSpPr>
        <p:spPr>
          <a:xfrm>
            <a:off x="8183880" y="5157216"/>
            <a:ext cx="3456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at right angles to the main axis.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big ideas</a:t>
            </a:r>
            <a:endParaRPr lang="en-US" sz="3400" dirty="0"/>
          </a:p>
        </p:txBody>
      </p:sp>
      <p:sp>
        <p:nvSpPr>
          <p:cNvPr id="3" name="a2_card"/>
          <p:cNvSpPr/>
          <p:nvPr/>
        </p:nvSpPr>
        <p:spPr>
          <a:xfrm>
            <a:off x="548640" y="1508760"/>
            <a:ext cx="3515258" cy="4617720"/>
          </a:xfrm>
          <a:prstGeom prst="roundRect">
            <a:avLst>
              <a:gd name="adj" fmla="val 31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4" name="a2_card_bar"/>
          <p:cNvSpPr/>
          <p:nvPr/>
        </p:nvSpPr>
        <p:spPr>
          <a:xfrm>
            <a:off x="822960" y="1508760"/>
            <a:ext cx="822960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a2_num"/>
          <p:cNvSpPr/>
          <p:nvPr/>
        </p:nvSpPr>
        <p:spPr>
          <a:xfrm>
            <a:off x="822960" y="17830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a2_numt"/>
          <p:cNvSpPr txBox="1"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a2_card_h"/>
          <p:cNvSpPr txBox="1"/>
          <p:nvPr/>
        </p:nvSpPr>
        <p:spPr>
          <a:xfrm>
            <a:off x="822960" y="242316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 is set on the PARENT</a:t>
            </a:r>
            <a:endParaRPr lang="en-US" sz="2000" dirty="0"/>
          </a:p>
        </p:txBody>
      </p:sp>
      <p:sp>
        <p:nvSpPr>
          <p:cNvPr id="8" name="a2_card_b"/>
          <p:cNvSpPr txBox="1"/>
          <p:nvPr/>
        </p:nvSpPr>
        <p:spPr>
          <a:xfrm>
            <a:off x="822960" y="3246120"/>
            <a:ext cx="29666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display: flex on the container and its direct children become flex items, lined up in a row. You almost never style the layout on the items themselves.</a:t>
            </a:r>
            <a:endParaRPr lang="en-US" sz="1500" dirty="0"/>
          </a:p>
        </p:txBody>
      </p:sp>
      <p:sp>
        <p:nvSpPr>
          <p:cNvPr id="9" name="a2_card_codebg"/>
          <p:cNvSpPr/>
          <p:nvPr/>
        </p:nvSpPr>
        <p:spPr>
          <a:xfrm>
            <a:off x="822960" y="5349240"/>
            <a:ext cx="2966618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10" name="a2_card_code"/>
          <p:cNvSpPr txBox="1"/>
          <p:nvPr/>
        </p:nvSpPr>
        <p:spPr>
          <a:xfrm>
            <a:off x="822960" y="53492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.nav { display: flex; }</a:t>
            </a:r>
            <a:endParaRPr lang="en-US" sz="1300" dirty="0"/>
          </a:p>
        </p:txBody>
      </p:sp>
      <p:sp>
        <p:nvSpPr>
          <p:cNvPr id="11" name="a3_card"/>
          <p:cNvSpPr/>
          <p:nvPr/>
        </p:nvSpPr>
        <p:spPr>
          <a:xfrm>
            <a:off x="4338218" y="1508760"/>
            <a:ext cx="3515258" cy="4617720"/>
          </a:xfrm>
          <a:prstGeom prst="roundRect">
            <a:avLst>
              <a:gd name="adj" fmla="val 31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2" name="a3_card_bar"/>
          <p:cNvSpPr/>
          <p:nvPr/>
        </p:nvSpPr>
        <p:spPr>
          <a:xfrm>
            <a:off x="4612538" y="1508760"/>
            <a:ext cx="822960" cy="8229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" name="a3_num"/>
          <p:cNvSpPr/>
          <p:nvPr/>
        </p:nvSpPr>
        <p:spPr>
          <a:xfrm>
            <a:off x="4612538" y="1783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a3_numt"/>
          <p:cNvSpPr txBox="1"/>
          <p:nvPr/>
        </p:nvSpPr>
        <p:spPr>
          <a:xfrm>
            <a:off x="46125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a3_card_h"/>
          <p:cNvSpPr txBox="1"/>
          <p:nvPr/>
        </p:nvSpPr>
        <p:spPr>
          <a:xfrm>
            <a:off x="4612538" y="242316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axes, two properties</a:t>
            </a:r>
            <a:endParaRPr lang="en-US" sz="2000" dirty="0"/>
          </a:p>
        </p:txBody>
      </p:sp>
      <p:sp>
        <p:nvSpPr>
          <p:cNvPr id="16" name="a3_card_b"/>
          <p:cNvSpPr txBox="1"/>
          <p:nvPr/>
        </p:nvSpPr>
        <p:spPr>
          <a:xfrm>
            <a:off x="4612538" y="3246120"/>
            <a:ext cx="29666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justify-content places items along the main axis. align-items places them along the cross axis. flex-direction: column swaps the two axes.</a:t>
            </a:r>
            <a:endParaRPr lang="en-US" sz="1500" dirty="0"/>
          </a:p>
        </p:txBody>
      </p:sp>
      <p:sp>
        <p:nvSpPr>
          <p:cNvPr id="17" name="a3_card_codebg"/>
          <p:cNvSpPr/>
          <p:nvPr/>
        </p:nvSpPr>
        <p:spPr>
          <a:xfrm>
            <a:off x="4612538" y="5349240"/>
            <a:ext cx="2966618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18" name="a3_card_code"/>
          <p:cNvSpPr txBox="1"/>
          <p:nvPr/>
        </p:nvSpPr>
        <p:spPr>
          <a:xfrm>
            <a:off x="4612538" y="53492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justify-content / align-items</a:t>
            </a:r>
            <a:endParaRPr lang="en-US" sz="1300" dirty="0"/>
          </a:p>
        </p:txBody>
      </p:sp>
      <p:sp>
        <p:nvSpPr>
          <p:cNvPr id="19" name="a4_card"/>
          <p:cNvSpPr/>
          <p:nvPr/>
        </p:nvSpPr>
        <p:spPr>
          <a:xfrm>
            <a:off x="8127797" y="1508760"/>
            <a:ext cx="3515258" cy="4617720"/>
          </a:xfrm>
          <a:prstGeom prst="roundRect">
            <a:avLst>
              <a:gd name="adj" fmla="val 31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20" name="a4_card_bar"/>
          <p:cNvSpPr/>
          <p:nvPr/>
        </p:nvSpPr>
        <p:spPr>
          <a:xfrm>
            <a:off x="8402117" y="1508760"/>
            <a:ext cx="822960" cy="82296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1" name="a4_num"/>
          <p:cNvSpPr/>
          <p:nvPr/>
        </p:nvSpPr>
        <p:spPr>
          <a:xfrm>
            <a:off x="8402117" y="17830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a4_numt"/>
          <p:cNvSpPr txBox="1"/>
          <p:nvPr/>
        </p:nvSpPr>
        <p:spPr>
          <a:xfrm>
            <a:off x="8402117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a4_card_h"/>
          <p:cNvSpPr txBox="1"/>
          <p:nvPr/>
        </p:nvSpPr>
        <p:spPr>
          <a:xfrm>
            <a:off x="8402117" y="242316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can grow, shrink and wrap</a:t>
            </a:r>
            <a:endParaRPr lang="en-US" sz="2000" dirty="0"/>
          </a:p>
        </p:txBody>
      </p:sp>
      <p:sp>
        <p:nvSpPr>
          <p:cNvPr id="24" name="a4_card_b"/>
          <p:cNvSpPr txBox="1"/>
          <p:nvPr/>
        </p:nvSpPr>
        <p:spPr>
          <a:xfrm>
            <a:off x="8402117" y="3246120"/>
            <a:ext cx="29666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flex: 1 1 180px means: may grow, may shrink, ideal width 180px. With flex-wrap: wrap, items that do not fit move to the next line. gap adds space between items.</a:t>
            </a:r>
            <a:endParaRPr lang="en-US" sz="1500" dirty="0"/>
          </a:p>
        </p:txBody>
      </p:sp>
      <p:sp>
        <p:nvSpPr>
          <p:cNvPr id="25" name="a4_card_codebg"/>
          <p:cNvSpPr/>
          <p:nvPr/>
        </p:nvSpPr>
        <p:spPr>
          <a:xfrm>
            <a:off x="8402117" y="5349240"/>
            <a:ext cx="2966618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26" name="a4_card_code"/>
          <p:cNvSpPr txBox="1"/>
          <p:nvPr/>
        </p:nvSpPr>
        <p:spPr>
          <a:xfrm>
            <a:off x="8402117" y="53492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flex-wrap: wrap; gap: 16px;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Main axis and cross axis</a:t>
            </a:r>
            <a:endParaRPr lang="en-US" sz="3400" dirty="0"/>
          </a:p>
        </p:txBody>
      </p:sp>
      <p:sp>
        <p:nvSpPr>
          <p:cNvPr id="3" name="a2_frame"/>
          <p:cNvSpPr/>
          <p:nvPr/>
        </p:nvSpPr>
        <p:spPr>
          <a:xfrm>
            <a:off x="475488" y="1435608"/>
            <a:ext cx="7095744" cy="4718304"/>
          </a:xfrm>
          <a:prstGeom prst="roundRect">
            <a:avLst>
              <a:gd name="adj" fmla="val 1938"/>
            </a:avLst>
          </a:prstGeom>
          <a:solidFill>
            <a:schemeClr val="bg1"/>
          </a:solidFill>
          <a:ln w="12700">
            <a:solidFill>
              <a:srgbClr val="D5DA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pic>
        <p:nvPicPr>
          <p:cNvPr id="4" name="a2_diagram" descr="/home/user/Python/CSS_Course/assets/l4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4572000"/>
          </a:xfrm>
          <a:prstGeom prst="rect">
            <a:avLst/>
          </a:prstGeom>
        </p:spPr>
      </p:pic>
      <p:sp>
        <p:nvSpPr>
          <p:cNvPr id="5" name="a3_num"/>
          <p:cNvSpPr/>
          <p:nvPr/>
        </p:nvSpPr>
        <p:spPr>
          <a:xfrm>
            <a:off x="790956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a3_numt"/>
          <p:cNvSpPr txBox="1"/>
          <p:nvPr/>
        </p:nvSpPr>
        <p:spPr>
          <a:xfrm>
            <a:off x="7909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a3_cap"/>
          <p:cNvSpPr txBox="1"/>
          <p:nvPr/>
        </p:nvSpPr>
        <p:spPr>
          <a:xfrm>
            <a:off x="8549640" y="16002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the main axis runs left to right, the cross axis top to bottom.</a:t>
            </a:r>
            <a:endParaRPr lang="en-US" sz="1600" dirty="0"/>
          </a:p>
        </p:txBody>
      </p:sp>
      <p:sp>
        <p:nvSpPr>
          <p:cNvPr id="8" name="a4_num"/>
          <p:cNvSpPr/>
          <p:nvPr/>
        </p:nvSpPr>
        <p:spPr>
          <a:xfrm>
            <a:off x="7909560" y="315468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a4_numt"/>
          <p:cNvSpPr txBox="1"/>
          <p:nvPr/>
        </p:nvSpPr>
        <p:spPr>
          <a:xfrm>
            <a:off x="790956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a4_cap"/>
          <p:cNvSpPr txBox="1"/>
          <p:nvPr/>
        </p:nvSpPr>
        <p:spPr>
          <a:xfrm>
            <a:off x="8549640" y="30632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justify-content: space-between pushes the first and last items to the edges.</a:t>
            </a:r>
            <a:endParaRPr lang="en-US" sz="1600" dirty="0"/>
          </a:p>
        </p:txBody>
      </p:sp>
      <p:sp>
        <p:nvSpPr>
          <p:cNvPr id="11" name="a5_num"/>
          <p:cNvSpPr/>
          <p:nvPr/>
        </p:nvSpPr>
        <p:spPr>
          <a:xfrm>
            <a:off x="7909560" y="46177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a5_numt"/>
          <p:cNvSpPr txBox="1"/>
          <p:nvPr/>
        </p:nvSpPr>
        <p:spPr>
          <a:xfrm>
            <a:off x="790956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a5_cap"/>
          <p:cNvSpPr txBox="1"/>
          <p:nvPr/>
        </p:nvSpPr>
        <p:spPr>
          <a:xfrm>
            <a:off x="8549640" y="45262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align-items: center centres the items on the cross axis.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window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Example 1: A navigation bar</a:t>
            </a:r>
            <a:endParaRPr lang="en-US" sz="3400" dirty="0"/>
          </a:p>
        </p:txBody>
      </p:sp>
      <p:sp>
        <p:nvSpPr>
          <p:cNvPr id="4" name="a2_intro"/>
          <p:cNvSpPr txBox="1"/>
          <p:nvPr/>
        </p:nvSpPr>
        <p:spPr>
          <a:xfrm>
            <a:off x="548640" y="12618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justify-content: space-between and align-items: center in one flex container.</a:t>
            </a:r>
            <a:endParaRPr lang="en-US" sz="1600" dirty="0"/>
          </a:p>
        </p:txBody>
      </p:sp>
      <p:sp>
        <p:nvSpPr>
          <p:cNvPr id="5" name="a3_code"/>
          <p:cNvSpPr/>
          <p:nvPr/>
        </p:nvSpPr>
        <p:spPr>
          <a:xfrm>
            <a:off x="548640" y="1783080"/>
            <a:ext cx="5623560" cy="2945384"/>
          </a:xfrm>
          <a:prstGeom prst="roundRect">
            <a:avLst>
              <a:gd name="adj" fmla="val 3725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6" name="a3_code_dot"/>
          <p:cNvSpPr/>
          <p:nvPr/>
        </p:nvSpPr>
        <p:spPr>
          <a:xfrm>
            <a:off x="768096" y="1965960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a3_code_dot"/>
          <p:cNvSpPr/>
          <p:nvPr/>
        </p:nvSpPr>
        <p:spPr>
          <a:xfrm>
            <a:off x="987552" y="1965960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a3_code_dot"/>
          <p:cNvSpPr/>
          <p:nvPr/>
        </p:nvSpPr>
        <p:spPr>
          <a:xfrm>
            <a:off x="1207008" y="1965960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9" name="a3_code_file"/>
          <p:cNvSpPr txBox="1"/>
          <p:nvPr/>
        </p:nvSpPr>
        <p:spPr>
          <a:xfrm>
            <a:off x="1554480" y="18928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E97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style.css</a:t>
            </a:r>
            <a:endParaRPr lang="en-US" sz="1200" dirty="0"/>
          </a:p>
        </p:txBody>
      </p:sp>
      <p:sp>
        <p:nvSpPr>
          <p:cNvPr id="10" name="a3_code_text"/>
          <p:cNvSpPr txBox="1"/>
          <p:nvPr/>
        </p:nvSpPr>
        <p:spPr>
          <a:xfrm>
            <a:off x="1261872" y="2350008"/>
            <a:ext cx="4754880" cy="220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margin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font-family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Arial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.nav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flex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justify-content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space-between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align-items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center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#1e2a78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padding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14px 20px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.nav a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white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text-decoration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none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.links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flex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18px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a3_num"/>
          <p:cNvSpPr/>
          <p:nvPr/>
        </p:nvSpPr>
        <p:spPr>
          <a:xfrm>
            <a:off x="822960" y="2789174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a3_numt"/>
          <p:cNvSpPr txBox="1"/>
          <p:nvPr/>
        </p:nvSpPr>
        <p:spPr>
          <a:xfrm>
            <a:off x="822960" y="27891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a3_num"/>
          <p:cNvSpPr/>
          <p:nvPr/>
        </p:nvSpPr>
        <p:spPr>
          <a:xfrm>
            <a:off x="822960" y="3005074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a3_numt"/>
          <p:cNvSpPr txBox="1"/>
          <p:nvPr/>
        </p:nvSpPr>
        <p:spPr>
          <a:xfrm>
            <a:off x="822960" y="30050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a3_num"/>
          <p:cNvSpPr/>
          <p:nvPr/>
        </p:nvSpPr>
        <p:spPr>
          <a:xfrm>
            <a:off x="822960" y="3220974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a3_numt"/>
          <p:cNvSpPr txBox="1"/>
          <p:nvPr/>
        </p:nvSpPr>
        <p:spPr>
          <a:xfrm>
            <a:off x="822960" y="32209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a3_num"/>
          <p:cNvSpPr/>
          <p:nvPr/>
        </p:nvSpPr>
        <p:spPr>
          <a:xfrm>
            <a:off x="822960" y="4300474"/>
            <a:ext cx="201168" cy="20116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a3_numt"/>
          <p:cNvSpPr txBox="1"/>
          <p:nvPr/>
        </p:nvSpPr>
        <p:spPr>
          <a:xfrm>
            <a:off x="822960" y="43004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a5_html"/>
          <p:cNvSpPr/>
          <p:nvPr/>
        </p:nvSpPr>
        <p:spPr>
          <a:xfrm>
            <a:off x="548640" y="4865624"/>
            <a:ext cx="5623560" cy="1398016"/>
          </a:xfrm>
          <a:prstGeom prst="roundRect">
            <a:avLst>
              <a:gd name="adj" fmla="val 6541"/>
            </a:avLst>
          </a:prstGeom>
          <a:solidFill>
            <a:schemeClr val="bg2"/>
          </a:solidFill>
          <a:ln/>
        </p:spPr>
      </p:sp>
      <p:sp>
        <p:nvSpPr>
          <p:cNvPr id="20" name="a5_html_h"/>
          <p:cNvSpPr txBox="1"/>
          <p:nvPr/>
        </p:nvSpPr>
        <p:spPr>
          <a:xfrm>
            <a:off x="731520" y="4938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used</a:t>
            </a:r>
            <a:endParaRPr lang="en-US" sz="1100" dirty="0"/>
          </a:p>
        </p:txBody>
      </p:sp>
      <p:sp>
        <p:nvSpPr>
          <p:cNvPr id="21" name="a5_html_text"/>
          <p:cNvSpPr txBox="1"/>
          <p:nvPr/>
        </p:nvSpPr>
        <p:spPr>
          <a:xfrm>
            <a:off x="731520" y="5213096"/>
            <a:ext cx="5257800" cy="986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&lt;nav class="nav"&gt;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 class="logo" href="#"&gt;CodeClub&lt;/a&gt;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class="links"&gt;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 href="#"&gt;Home&lt;/a&gt;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 href="#"&gt;Projects&lt;/a&gt;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2" name="a4_browser"/>
          <p:cNvSpPr/>
          <p:nvPr/>
        </p:nvSpPr>
        <p:spPr>
          <a:xfrm>
            <a:off x="6400800" y="1783080"/>
            <a:ext cx="5242255" cy="1338453"/>
          </a:xfrm>
          <a:prstGeom prst="rect">
            <a:avLst/>
          </a:prstGeom>
          <a:solidFill>
            <a:schemeClr val="bg1"/>
          </a:solidFill>
          <a:ln w="12700">
            <a:solidFill>
              <a:srgbClr val="D5DA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23" name="a4_browser_bar"/>
          <p:cNvSpPr/>
          <p:nvPr/>
        </p:nvSpPr>
        <p:spPr>
          <a:xfrm>
            <a:off x="6400800" y="1783080"/>
            <a:ext cx="5242255" cy="402336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4" name="a4_browser_dot"/>
          <p:cNvSpPr/>
          <p:nvPr/>
        </p:nvSpPr>
        <p:spPr>
          <a:xfrm>
            <a:off x="6583680" y="1920240"/>
            <a:ext cx="118872" cy="11887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5" name="a4_browser_dot"/>
          <p:cNvSpPr/>
          <p:nvPr/>
        </p:nvSpPr>
        <p:spPr>
          <a:xfrm>
            <a:off x="6784848" y="192024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a4_browser_dot"/>
          <p:cNvSpPr/>
          <p:nvPr/>
        </p:nvSpPr>
        <p:spPr>
          <a:xfrm>
            <a:off x="6986016" y="1920240"/>
            <a:ext cx="118872" cy="11887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7" name="a4_browser_url"/>
          <p:cNvSpPr/>
          <p:nvPr/>
        </p:nvSpPr>
        <p:spPr>
          <a:xfrm>
            <a:off x="7315200" y="1847088"/>
            <a:ext cx="414497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28" name="a4_browser_urltext"/>
          <p:cNvSpPr txBox="1"/>
          <p:nvPr/>
        </p:nvSpPr>
        <p:spPr>
          <a:xfrm>
            <a:off x="7424928" y="184708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lesson4/example1/index.html</a:t>
            </a:r>
            <a:endParaRPr lang="en-US" sz="1100" dirty="0"/>
          </a:p>
        </p:txBody>
      </p:sp>
      <p:pic>
        <p:nvPicPr>
          <p:cNvPr id="29" name="a4_shot" descr="/home/user/Python/CSS_Course/assets/l4_ex1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185416"/>
            <a:ext cx="5242255" cy="936117"/>
          </a:xfrm>
          <a:prstGeom prst="rect">
            <a:avLst/>
          </a:prstGeom>
        </p:spPr>
      </p:pic>
      <p:sp>
        <p:nvSpPr>
          <p:cNvPr id="30" name="a6_num"/>
          <p:cNvSpPr/>
          <p:nvPr/>
        </p:nvSpPr>
        <p:spPr>
          <a:xfrm>
            <a:off x="6400800" y="3340989"/>
            <a:ext cx="228600" cy="2286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a6_numt"/>
          <p:cNvSpPr txBox="1"/>
          <p:nvPr/>
        </p:nvSpPr>
        <p:spPr>
          <a:xfrm>
            <a:off x="6400800" y="3340989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a6_ann"/>
          <p:cNvSpPr txBox="1"/>
          <p:nvPr/>
        </p:nvSpPr>
        <p:spPr>
          <a:xfrm>
            <a:off x="6748272" y="3304413"/>
            <a:ext cx="48947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display: flex makes .nav a flex container: logo and links become items.</a:t>
            </a:r>
            <a:endParaRPr lang="en-US" sz="1250" dirty="0"/>
          </a:p>
        </p:txBody>
      </p:sp>
      <p:sp>
        <p:nvSpPr>
          <p:cNvPr id="33" name="a7_num"/>
          <p:cNvSpPr/>
          <p:nvPr/>
        </p:nvSpPr>
        <p:spPr>
          <a:xfrm>
            <a:off x="6400800" y="3907917"/>
            <a:ext cx="228600" cy="2286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4" name="a7_numt"/>
          <p:cNvSpPr txBox="1"/>
          <p:nvPr/>
        </p:nvSpPr>
        <p:spPr>
          <a:xfrm>
            <a:off x="6400800" y="390791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a7_ann"/>
          <p:cNvSpPr txBox="1"/>
          <p:nvPr/>
        </p:nvSpPr>
        <p:spPr>
          <a:xfrm>
            <a:off x="6748272" y="3871341"/>
            <a:ext cx="48947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space-between puts the first item at the left, the last at the right.</a:t>
            </a:r>
            <a:endParaRPr lang="en-US" sz="1250" dirty="0"/>
          </a:p>
        </p:txBody>
      </p:sp>
      <p:sp>
        <p:nvSpPr>
          <p:cNvPr id="36" name="a8_num"/>
          <p:cNvSpPr/>
          <p:nvPr/>
        </p:nvSpPr>
        <p:spPr>
          <a:xfrm>
            <a:off x="6400800" y="4474845"/>
            <a:ext cx="228600" cy="2286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7" name="a8_numt"/>
          <p:cNvSpPr txBox="1"/>
          <p:nvPr/>
        </p:nvSpPr>
        <p:spPr>
          <a:xfrm>
            <a:off x="6400800" y="447484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a8_ann"/>
          <p:cNvSpPr txBox="1"/>
          <p:nvPr/>
        </p:nvSpPr>
        <p:spPr>
          <a:xfrm>
            <a:off x="6748272" y="4438269"/>
            <a:ext cx="48947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align-items: center centres the items vertically.</a:t>
            </a:r>
            <a:endParaRPr lang="en-US" sz="1250" dirty="0"/>
          </a:p>
        </p:txBody>
      </p:sp>
      <p:sp>
        <p:nvSpPr>
          <p:cNvPr id="39" name="a9_num"/>
          <p:cNvSpPr/>
          <p:nvPr/>
        </p:nvSpPr>
        <p:spPr>
          <a:xfrm>
            <a:off x="6400800" y="5041773"/>
            <a:ext cx="228600" cy="2286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0" name="a9_numt"/>
          <p:cNvSpPr txBox="1"/>
          <p:nvPr/>
        </p:nvSpPr>
        <p:spPr>
          <a:xfrm>
            <a:off x="6400800" y="5041773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a9_ann"/>
          <p:cNvSpPr txBox="1"/>
          <p:nvPr/>
        </p:nvSpPr>
        <p:spPr>
          <a:xfrm>
            <a:off x="6748272" y="5005197"/>
            <a:ext cx="48947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links container is also flex; gap adds 18px between links.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6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6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Example 2: Cards that wrap and share space</a:t>
            </a:r>
            <a:endParaRPr lang="en-US" sz="3400" dirty="0"/>
          </a:p>
        </p:txBody>
      </p:sp>
      <p:sp>
        <p:nvSpPr>
          <p:cNvPr id="4" name="a2_intro"/>
          <p:cNvSpPr txBox="1"/>
          <p:nvPr/>
        </p:nvSpPr>
        <p:spPr>
          <a:xfrm>
            <a:off x="548640" y="12618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flex: 1 1 180px lets cards grow, shrink and wrap onto new rows.</a:t>
            </a:r>
            <a:endParaRPr lang="en-US" sz="1600" dirty="0"/>
          </a:p>
        </p:txBody>
      </p:sp>
      <p:sp>
        <p:nvSpPr>
          <p:cNvPr id="5" name="a3_code"/>
          <p:cNvSpPr/>
          <p:nvPr/>
        </p:nvSpPr>
        <p:spPr>
          <a:xfrm>
            <a:off x="548640" y="1783080"/>
            <a:ext cx="5623560" cy="3377184"/>
          </a:xfrm>
          <a:prstGeom prst="roundRect">
            <a:avLst>
              <a:gd name="adj" fmla="val 324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6" name="a3_code_dot"/>
          <p:cNvSpPr/>
          <p:nvPr/>
        </p:nvSpPr>
        <p:spPr>
          <a:xfrm>
            <a:off x="768096" y="1965960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a3_code_dot"/>
          <p:cNvSpPr/>
          <p:nvPr/>
        </p:nvSpPr>
        <p:spPr>
          <a:xfrm>
            <a:off x="987552" y="1965960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a3_code_dot"/>
          <p:cNvSpPr/>
          <p:nvPr/>
        </p:nvSpPr>
        <p:spPr>
          <a:xfrm>
            <a:off x="1207008" y="1965960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9" name="a3_code_file"/>
          <p:cNvSpPr txBox="1"/>
          <p:nvPr/>
        </p:nvSpPr>
        <p:spPr>
          <a:xfrm>
            <a:off x="1554480" y="18928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E97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style.css</a:t>
            </a:r>
            <a:endParaRPr lang="en-US" sz="1200" dirty="0"/>
          </a:p>
        </p:txBody>
      </p:sp>
      <p:sp>
        <p:nvSpPr>
          <p:cNvPr id="10" name="a3_code_text"/>
          <p:cNvSpPr txBox="1"/>
          <p:nvPr/>
        </p:nvSpPr>
        <p:spPr>
          <a:xfrm>
            <a:off x="1261872" y="2350008"/>
            <a:ext cx="4754880" cy="2636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.cards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flex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flex-wrap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wrap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14px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font-family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Arial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1 150px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#eef2ff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border-radius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12px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padding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22px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a3_num"/>
          <p:cNvSpPr/>
          <p:nvPr/>
        </p:nvSpPr>
        <p:spPr>
          <a:xfrm>
            <a:off x="822960" y="2789174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a3_numt"/>
          <p:cNvSpPr txBox="1"/>
          <p:nvPr/>
        </p:nvSpPr>
        <p:spPr>
          <a:xfrm>
            <a:off x="822960" y="27891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a3_num"/>
          <p:cNvSpPr/>
          <p:nvPr/>
        </p:nvSpPr>
        <p:spPr>
          <a:xfrm>
            <a:off x="822960" y="3005074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a3_numt"/>
          <p:cNvSpPr txBox="1"/>
          <p:nvPr/>
        </p:nvSpPr>
        <p:spPr>
          <a:xfrm>
            <a:off x="822960" y="30050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a3_num"/>
          <p:cNvSpPr/>
          <p:nvPr/>
        </p:nvSpPr>
        <p:spPr>
          <a:xfrm>
            <a:off x="822960" y="3868674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a3_numt"/>
          <p:cNvSpPr txBox="1"/>
          <p:nvPr/>
        </p:nvSpPr>
        <p:spPr>
          <a:xfrm>
            <a:off x="822960" y="38686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a3_num"/>
          <p:cNvSpPr/>
          <p:nvPr/>
        </p:nvSpPr>
        <p:spPr>
          <a:xfrm>
            <a:off x="822960" y="3868674"/>
            <a:ext cx="201168" cy="20116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a3_numt"/>
          <p:cNvSpPr txBox="1"/>
          <p:nvPr/>
        </p:nvSpPr>
        <p:spPr>
          <a:xfrm>
            <a:off x="822960" y="38686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a5_html"/>
          <p:cNvSpPr/>
          <p:nvPr/>
        </p:nvSpPr>
        <p:spPr>
          <a:xfrm>
            <a:off x="548640" y="5297424"/>
            <a:ext cx="5623560" cy="966216"/>
          </a:xfrm>
          <a:prstGeom prst="roundRect">
            <a:avLst>
              <a:gd name="adj" fmla="val 9464"/>
            </a:avLst>
          </a:prstGeom>
          <a:solidFill>
            <a:schemeClr val="bg2"/>
          </a:solidFill>
          <a:ln/>
        </p:spPr>
      </p:sp>
      <p:sp>
        <p:nvSpPr>
          <p:cNvPr id="20" name="a5_html_h"/>
          <p:cNvSpPr txBox="1"/>
          <p:nvPr/>
        </p:nvSpPr>
        <p:spPr>
          <a:xfrm>
            <a:off x="731520" y="53705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used</a:t>
            </a:r>
            <a:endParaRPr lang="en-US" sz="1100" dirty="0"/>
          </a:p>
        </p:txBody>
      </p:sp>
      <p:sp>
        <p:nvSpPr>
          <p:cNvPr id="21" name="a5_html_text"/>
          <p:cNvSpPr txBox="1"/>
          <p:nvPr/>
        </p:nvSpPr>
        <p:spPr>
          <a:xfrm>
            <a:off x="731520" y="5644896"/>
            <a:ext cx="525780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class="cards"&gt;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class="card"&gt;Maths&lt;/div&gt;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2" name="a4_browser"/>
          <p:cNvSpPr/>
          <p:nvPr/>
        </p:nvSpPr>
        <p:spPr>
          <a:xfrm>
            <a:off x="6400800" y="1783080"/>
            <a:ext cx="5242255" cy="2836240"/>
          </a:xfrm>
          <a:prstGeom prst="rect">
            <a:avLst/>
          </a:prstGeom>
          <a:solidFill>
            <a:schemeClr val="bg1"/>
          </a:solidFill>
          <a:ln w="12700">
            <a:solidFill>
              <a:srgbClr val="D5DA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23" name="a4_browser_bar"/>
          <p:cNvSpPr/>
          <p:nvPr/>
        </p:nvSpPr>
        <p:spPr>
          <a:xfrm>
            <a:off x="6400800" y="1783080"/>
            <a:ext cx="5242255" cy="402336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4" name="a4_browser_dot"/>
          <p:cNvSpPr/>
          <p:nvPr/>
        </p:nvSpPr>
        <p:spPr>
          <a:xfrm>
            <a:off x="6583680" y="1920240"/>
            <a:ext cx="118872" cy="11887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5" name="a4_browser_dot"/>
          <p:cNvSpPr/>
          <p:nvPr/>
        </p:nvSpPr>
        <p:spPr>
          <a:xfrm>
            <a:off x="6784848" y="192024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a4_browser_dot"/>
          <p:cNvSpPr/>
          <p:nvPr/>
        </p:nvSpPr>
        <p:spPr>
          <a:xfrm>
            <a:off x="6986016" y="1920240"/>
            <a:ext cx="118872" cy="11887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7" name="a4_browser_url"/>
          <p:cNvSpPr/>
          <p:nvPr/>
        </p:nvSpPr>
        <p:spPr>
          <a:xfrm>
            <a:off x="7315200" y="1847088"/>
            <a:ext cx="414497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28" name="a4_browser_urltext"/>
          <p:cNvSpPr txBox="1"/>
          <p:nvPr/>
        </p:nvSpPr>
        <p:spPr>
          <a:xfrm>
            <a:off x="7424928" y="184708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lesson4/example2/index.html</a:t>
            </a:r>
            <a:endParaRPr lang="en-US" sz="1100" dirty="0"/>
          </a:p>
        </p:txBody>
      </p:sp>
      <p:pic>
        <p:nvPicPr>
          <p:cNvPr id="29" name="a4_shot" descr="/home/user/Python/CSS_Course/assets/l4_ex2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185416"/>
            <a:ext cx="5242255" cy="2433904"/>
          </a:xfrm>
          <a:prstGeom prst="rect">
            <a:avLst/>
          </a:prstGeom>
        </p:spPr>
      </p:pic>
      <p:sp>
        <p:nvSpPr>
          <p:cNvPr id="30" name="a6_num"/>
          <p:cNvSpPr/>
          <p:nvPr/>
        </p:nvSpPr>
        <p:spPr>
          <a:xfrm>
            <a:off x="6400800" y="4838776"/>
            <a:ext cx="228600" cy="2286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a6_numt"/>
          <p:cNvSpPr txBox="1"/>
          <p:nvPr/>
        </p:nvSpPr>
        <p:spPr>
          <a:xfrm>
            <a:off x="6400800" y="48387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a6_ann"/>
          <p:cNvSpPr txBox="1"/>
          <p:nvPr/>
        </p:nvSpPr>
        <p:spPr>
          <a:xfrm>
            <a:off x="6748272" y="4802200"/>
            <a:ext cx="4894783" cy="358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flex-wrap: wrap lets items move to a new line instead of squashing.</a:t>
            </a:r>
            <a:endParaRPr lang="en-US" sz="1250" dirty="0"/>
          </a:p>
        </p:txBody>
      </p:sp>
      <p:sp>
        <p:nvSpPr>
          <p:cNvPr id="33" name="a7_num"/>
          <p:cNvSpPr/>
          <p:nvPr/>
        </p:nvSpPr>
        <p:spPr>
          <a:xfrm>
            <a:off x="6400800" y="5215566"/>
            <a:ext cx="228600" cy="2286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4" name="a7_numt"/>
          <p:cNvSpPr txBox="1"/>
          <p:nvPr/>
        </p:nvSpPr>
        <p:spPr>
          <a:xfrm>
            <a:off x="6400800" y="52155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a7_ann"/>
          <p:cNvSpPr txBox="1"/>
          <p:nvPr/>
        </p:nvSpPr>
        <p:spPr>
          <a:xfrm>
            <a:off x="6748272" y="5178990"/>
            <a:ext cx="4894783" cy="358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sets the space between rows and columns.</a:t>
            </a:r>
            <a:endParaRPr lang="en-US" sz="1250" dirty="0"/>
          </a:p>
        </p:txBody>
      </p:sp>
      <p:sp>
        <p:nvSpPr>
          <p:cNvPr id="36" name="a8_num"/>
          <p:cNvSpPr/>
          <p:nvPr/>
        </p:nvSpPr>
        <p:spPr>
          <a:xfrm>
            <a:off x="6400800" y="5592356"/>
            <a:ext cx="228600" cy="2286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7" name="a8_numt"/>
          <p:cNvSpPr txBox="1"/>
          <p:nvPr/>
        </p:nvSpPr>
        <p:spPr>
          <a:xfrm>
            <a:off x="6400800" y="55923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a8_ann"/>
          <p:cNvSpPr txBox="1"/>
          <p:nvPr/>
        </p:nvSpPr>
        <p:spPr>
          <a:xfrm>
            <a:off x="6748272" y="5555780"/>
            <a:ext cx="4894783" cy="358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flex: 1 1 150px = grow 1, shrink 1, ideal width 150px.</a:t>
            </a:r>
            <a:endParaRPr lang="en-US" sz="1250" dirty="0"/>
          </a:p>
        </p:txBody>
      </p:sp>
      <p:sp>
        <p:nvSpPr>
          <p:cNvPr id="39" name="a9_num"/>
          <p:cNvSpPr/>
          <p:nvPr/>
        </p:nvSpPr>
        <p:spPr>
          <a:xfrm>
            <a:off x="6400800" y="5969146"/>
            <a:ext cx="228600" cy="2286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0" name="a9_numt"/>
          <p:cNvSpPr txBox="1"/>
          <p:nvPr/>
        </p:nvSpPr>
        <p:spPr>
          <a:xfrm>
            <a:off x="6400800" y="596914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a9_ann"/>
          <p:cNvSpPr txBox="1"/>
          <p:nvPr/>
        </p:nvSpPr>
        <p:spPr>
          <a:xfrm>
            <a:off x="6748272" y="5932570"/>
            <a:ext cx="4894783" cy="358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each row fills the full width, and the last row stretches too.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6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6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Example 3: Centre anything</a:t>
            </a:r>
            <a:endParaRPr lang="en-US" sz="3400" dirty="0"/>
          </a:p>
        </p:txBody>
      </p:sp>
      <p:sp>
        <p:nvSpPr>
          <p:cNvPr id="4" name="a2_intro"/>
          <p:cNvSpPr txBox="1"/>
          <p:nvPr/>
        </p:nvSpPr>
        <p:spPr>
          <a:xfrm>
            <a:off x="548640" y="12618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classic: centre content horizontally AND vertically with flexbox.</a:t>
            </a:r>
            <a:endParaRPr lang="en-US" sz="1600" dirty="0"/>
          </a:p>
        </p:txBody>
      </p:sp>
      <p:sp>
        <p:nvSpPr>
          <p:cNvPr id="5" name="a3_code"/>
          <p:cNvSpPr/>
          <p:nvPr/>
        </p:nvSpPr>
        <p:spPr>
          <a:xfrm>
            <a:off x="548640" y="1783080"/>
            <a:ext cx="5623560" cy="3161284"/>
          </a:xfrm>
          <a:prstGeom prst="roundRect">
            <a:avLst>
              <a:gd name="adj" fmla="val 347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6" name="a3_code_dot"/>
          <p:cNvSpPr/>
          <p:nvPr/>
        </p:nvSpPr>
        <p:spPr>
          <a:xfrm>
            <a:off x="768096" y="1965960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a3_code_dot"/>
          <p:cNvSpPr/>
          <p:nvPr/>
        </p:nvSpPr>
        <p:spPr>
          <a:xfrm>
            <a:off x="987552" y="1965960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a3_code_dot"/>
          <p:cNvSpPr/>
          <p:nvPr/>
        </p:nvSpPr>
        <p:spPr>
          <a:xfrm>
            <a:off x="1207008" y="1965960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9" name="a3_code_file"/>
          <p:cNvSpPr txBox="1"/>
          <p:nvPr/>
        </p:nvSpPr>
        <p:spPr>
          <a:xfrm>
            <a:off x="1554480" y="18928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E97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style.css</a:t>
            </a:r>
            <a:endParaRPr lang="en-US" sz="1200" dirty="0"/>
          </a:p>
        </p:txBody>
      </p:sp>
      <p:sp>
        <p:nvSpPr>
          <p:cNvPr id="10" name="a3_code_text"/>
          <p:cNvSpPr txBox="1"/>
          <p:nvPr/>
        </p:nvSpPr>
        <p:spPr>
          <a:xfrm>
            <a:off x="1261872" y="2350008"/>
            <a:ext cx="4754880" cy="2420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margin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.hero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flex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flex-direction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column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justify-content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center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align-items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center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min-height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240px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linear-gradient(blue, violet)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white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font-family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Arial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a3_num"/>
          <p:cNvSpPr/>
          <p:nvPr/>
        </p:nvSpPr>
        <p:spPr>
          <a:xfrm>
            <a:off x="822960" y="3005074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a3_numt"/>
          <p:cNvSpPr txBox="1"/>
          <p:nvPr/>
        </p:nvSpPr>
        <p:spPr>
          <a:xfrm>
            <a:off x="822960" y="30050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a3_num"/>
          <p:cNvSpPr/>
          <p:nvPr/>
        </p:nvSpPr>
        <p:spPr>
          <a:xfrm>
            <a:off x="822960" y="3220974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a3_numt"/>
          <p:cNvSpPr txBox="1"/>
          <p:nvPr/>
        </p:nvSpPr>
        <p:spPr>
          <a:xfrm>
            <a:off x="822960" y="32209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a3_num"/>
          <p:cNvSpPr/>
          <p:nvPr/>
        </p:nvSpPr>
        <p:spPr>
          <a:xfrm>
            <a:off x="822960" y="3652774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a3_numt"/>
          <p:cNvSpPr txBox="1"/>
          <p:nvPr/>
        </p:nvSpPr>
        <p:spPr>
          <a:xfrm>
            <a:off x="822960" y="36527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a3_num"/>
          <p:cNvSpPr/>
          <p:nvPr/>
        </p:nvSpPr>
        <p:spPr>
          <a:xfrm>
            <a:off x="822960" y="3868674"/>
            <a:ext cx="201168" cy="20116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a3_numt"/>
          <p:cNvSpPr txBox="1"/>
          <p:nvPr/>
        </p:nvSpPr>
        <p:spPr>
          <a:xfrm>
            <a:off x="822960" y="38686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a5_html"/>
          <p:cNvSpPr/>
          <p:nvPr/>
        </p:nvSpPr>
        <p:spPr>
          <a:xfrm>
            <a:off x="548640" y="5081524"/>
            <a:ext cx="5623560" cy="1182116"/>
          </a:xfrm>
          <a:prstGeom prst="roundRect">
            <a:avLst>
              <a:gd name="adj" fmla="val 7735"/>
            </a:avLst>
          </a:prstGeom>
          <a:solidFill>
            <a:schemeClr val="bg2"/>
          </a:solidFill>
          <a:ln/>
        </p:spPr>
      </p:sp>
      <p:sp>
        <p:nvSpPr>
          <p:cNvPr id="20" name="a5_html_h"/>
          <p:cNvSpPr txBox="1"/>
          <p:nvPr/>
        </p:nvSpPr>
        <p:spPr>
          <a:xfrm>
            <a:off x="731520" y="51546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used</a:t>
            </a:r>
            <a:endParaRPr lang="en-US" sz="1100" dirty="0"/>
          </a:p>
        </p:txBody>
      </p:sp>
      <p:sp>
        <p:nvSpPr>
          <p:cNvPr id="21" name="a5_html_text"/>
          <p:cNvSpPr txBox="1"/>
          <p:nvPr/>
        </p:nvSpPr>
        <p:spPr>
          <a:xfrm>
            <a:off x="731520" y="5428996"/>
            <a:ext cx="5257800" cy="770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&lt;section class="hero"&gt;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&lt;h1&gt;Welcome&lt;/h1&gt;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&lt;p&gt;Centred with a few lines of CSS&lt;/p&gt;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&lt;/section&gt;</a:t>
            </a:r>
            <a:endParaRPr lang="en-US" sz="1050" dirty="0"/>
          </a:p>
        </p:txBody>
      </p:sp>
      <p:sp>
        <p:nvSpPr>
          <p:cNvPr id="22" name="a4_browser"/>
          <p:cNvSpPr/>
          <p:nvPr/>
        </p:nvSpPr>
        <p:spPr>
          <a:xfrm>
            <a:off x="6400800" y="1783080"/>
            <a:ext cx="5242255" cy="2742629"/>
          </a:xfrm>
          <a:prstGeom prst="rect">
            <a:avLst/>
          </a:prstGeom>
          <a:solidFill>
            <a:schemeClr val="bg1"/>
          </a:solidFill>
          <a:ln w="12700">
            <a:solidFill>
              <a:srgbClr val="D5DA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23" name="a4_browser_bar"/>
          <p:cNvSpPr/>
          <p:nvPr/>
        </p:nvSpPr>
        <p:spPr>
          <a:xfrm>
            <a:off x="6400800" y="1783080"/>
            <a:ext cx="5242255" cy="402336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4" name="a4_browser_dot"/>
          <p:cNvSpPr/>
          <p:nvPr/>
        </p:nvSpPr>
        <p:spPr>
          <a:xfrm>
            <a:off x="6583680" y="1920240"/>
            <a:ext cx="118872" cy="11887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5" name="a4_browser_dot"/>
          <p:cNvSpPr/>
          <p:nvPr/>
        </p:nvSpPr>
        <p:spPr>
          <a:xfrm>
            <a:off x="6784848" y="192024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a4_browser_dot"/>
          <p:cNvSpPr/>
          <p:nvPr/>
        </p:nvSpPr>
        <p:spPr>
          <a:xfrm>
            <a:off x="6986016" y="1920240"/>
            <a:ext cx="118872" cy="11887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7" name="a4_browser_url"/>
          <p:cNvSpPr/>
          <p:nvPr/>
        </p:nvSpPr>
        <p:spPr>
          <a:xfrm>
            <a:off x="7315200" y="1847088"/>
            <a:ext cx="414497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28" name="a4_browser_urltext"/>
          <p:cNvSpPr txBox="1"/>
          <p:nvPr/>
        </p:nvSpPr>
        <p:spPr>
          <a:xfrm>
            <a:off x="7424928" y="184708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lesson4/example3/index.html</a:t>
            </a:r>
            <a:endParaRPr lang="en-US" sz="1100" dirty="0"/>
          </a:p>
        </p:txBody>
      </p:sp>
      <p:pic>
        <p:nvPicPr>
          <p:cNvPr id="29" name="a4_shot" descr="/home/user/Python/CSS_Course/assets/l4_ex3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185416"/>
            <a:ext cx="5242255" cy="2340293"/>
          </a:xfrm>
          <a:prstGeom prst="rect">
            <a:avLst/>
          </a:prstGeom>
        </p:spPr>
      </p:pic>
      <p:sp>
        <p:nvSpPr>
          <p:cNvPr id="30" name="a6_num"/>
          <p:cNvSpPr/>
          <p:nvPr/>
        </p:nvSpPr>
        <p:spPr>
          <a:xfrm>
            <a:off x="6400800" y="4745165"/>
            <a:ext cx="228600" cy="2286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a6_numt"/>
          <p:cNvSpPr txBox="1"/>
          <p:nvPr/>
        </p:nvSpPr>
        <p:spPr>
          <a:xfrm>
            <a:off x="6400800" y="474516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a6_ann"/>
          <p:cNvSpPr txBox="1"/>
          <p:nvPr/>
        </p:nvSpPr>
        <p:spPr>
          <a:xfrm>
            <a:off x="6748272" y="4708589"/>
            <a:ext cx="4894783" cy="3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flex-direction: column stacks items; now the main axis is vertical.</a:t>
            </a:r>
            <a:endParaRPr lang="en-US" sz="1250" dirty="0"/>
          </a:p>
        </p:txBody>
      </p:sp>
      <p:sp>
        <p:nvSpPr>
          <p:cNvPr id="33" name="a7_num"/>
          <p:cNvSpPr/>
          <p:nvPr/>
        </p:nvSpPr>
        <p:spPr>
          <a:xfrm>
            <a:off x="6400800" y="5145357"/>
            <a:ext cx="228600" cy="2286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4" name="a7_numt"/>
          <p:cNvSpPr txBox="1"/>
          <p:nvPr/>
        </p:nvSpPr>
        <p:spPr>
          <a:xfrm>
            <a:off x="6400800" y="514535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a7_ann"/>
          <p:cNvSpPr txBox="1"/>
          <p:nvPr/>
        </p:nvSpPr>
        <p:spPr>
          <a:xfrm>
            <a:off x="6748272" y="5108781"/>
            <a:ext cx="4894783" cy="3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justify-content centres vertically and align-items centres horizontally.</a:t>
            </a:r>
            <a:endParaRPr lang="en-US" sz="1250" dirty="0"/>
          </a:p>
        </p:txBody>
      </p:sp>
      <p:sp>
        <p:nvSpPr>
          <p:cNvPr id="36" name="a8_num"/>
          <p:cNvSpPr/>
          <p:nvPr/>
        </p:nvSpPr>
        <p:spPr>
          <a:xfrm>
            <a:off x="6400800" y="5545550"/>
            <a:ext cx="228600" cy="2286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7" name="a8_numt"/>
          <p:cNvSpPr txBox="1"/>
          <p:nvPr/>
        </p:nvSpPr>
        <p:spPr>
          <a:xfrm>
            <a:off x="6400800" y="55455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a8_ann"/>
          <p:cNvSpPr txBox="1"/>
          <p:nvPr/>
        </p:nvSpPr>
        <p:spPr>
          <a:xfrm>
            <a:off x="6748272" y="5508974"/>
            <a:ext cx="4894783" cy="3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min-height gives the box room so there is something to centre inside.</a:t>
            </a:r>
            <a:endParaRPr lang="en-US" sz="1250" dirty="0"/>
          </a:p>
        </p:txBody>
      </p:sp>
      <p:sp>
        <p:nvSpPr>
          <p:cNvPr id="39" name="a9_num"/>
          <p:cNvSpPr/>
          <p:nvPr/>
        </p:nvSpPr>
        <p:spPr>
          <a:xfrm>
            <a:off x="6400800" y="5945743"/>
            <a:ext cx="228600" cy="2286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0" name="a9_numt"/>
          <p:cNvSpPr txBox="1"/>
          <p:nvPr/>
        </p:nvSpPr>
        <p:spPr>
          <a:xfrm>
            <a:off x="6400800" y="5945743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a9_ann"/>
          <p:cNvSpPr txBox="1"/>
          <p:nvPr/>
        </p:nvSpPr>
        <p:spPr>
          <a:xfrm>
            <a:off x="6748272" y="5909167"/>
            <a:ext cx="4894783" cy="3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linear-gradient() blends colours; it is used like a background image.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conveyor dir="l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6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6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Real-world: menus, cards and toolbars</a:t>
            </a:r>
            <a:endParaRPr lang="en-US" sz="3400" dirty="0"/>
          </a:p>
        </p:txBody>
      </p:sp>
      <p:sp>
        <p:nvSpPr>
          <p:cNvPr id="3" name="a2_card"/>
          <p:cNvSpPr/>
          <p:nvPr/>
        </p:nvSpPr>
        <p:spPr>
          <a:xfrm>
            <a:off x="548640" y="1508760"/>
            <a:ext cx="3515258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4" name="a2_ico_bg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2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80590"/>
            <a:ext cx="336499" cy="336499"/>
          </a:xfrm>
          <a:prstGeom prst="rect">
            <a:avLst/>
          </a:prstGeom>
        </p:spPr>
      </p:pic>
      <p:sp>
        <p:nvSpPr>
          <p:cNvPr id="6" name="a2_card_h"/>
          <p:cNvSpPr txBox="1"/>
          <p:nvPr/>
        </p:nvSpPr>
        <p:spPr>
          <a:xfrm>
            <a:off x="822960" y="26974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bars</a:t>
            </a:r>
            <a:endParaRPr lang="en-US" sz="1900" dirty="0"/>
          </a:p>
        </p:txBody>
      </p:sp>
      <p:sp>
        <p:nvSpPr>
          <p:cNvPr id="7" name="a2_card_b"/>
          <p:cNvSpPr txBox="1"/>
          <p:nvPr/>
        </p:nvSpPr>
        <p:spPr>
          <a:xfrm>
            <a:off x="822960" y="320040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site menu is a flex container: logo on one side, links on the other, everything centred vertically.</a:t>
            </a:r>
            <a:endParaRPr lang="en-US" sz="1500" dirty="0"/>
          </a:p>
        </p:txBody>
      </p:sp>
      <p:sp>
        <p:nvSpPr>
          <p:cNvPr id="8" name="a3_card"/>
          <p:cNvSpPr/>
          <p:nvPr/>
        </p:nvSpPr>
        <p:spPr>
          <a:xfrm>
            <a:off x="4338218" y="1508760"/>
            <a:ext cx="3515258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9" name="a3_ico_bg"/>
          <p:cNvSpPr/>
          <p:nvPr/>
        </p:nvSpPr>
        <p:spPr>
          <a:xfrm>
            <a:off x="4612538" y="178308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a3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049" y="1980590"/>
            <a:ext cx="336499" cy="336499"/>
          </a:xfrm>
          <a:prstGeom prst="rect">
            <a:avLst/>
          </a:prstGeom>
        </p:spPr>
      </p:pic>
      <p:sp>
        <p:nvSpPr>
          <p:cNvPr id="11" name="a3_card_h"/>
          <p:cNvSpPr txBox="1"/>
          <p:nvPr/>
        </p:nvSpPr>
        <p:spPr>
          <a:xfrm>
            <a:off x="4612538" y="26974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rows</a:t>
            </a:r>
            <a:endParaRPr lang="en-US" sz="1900" dirty="0"/>
          </a:p>
        </p:txBody>
      </p:sp>
      <p:sp>
        <p:nvSpPr>
          <p:cNvPr id="12" name="a3_card_b"/>
          <p:cNvSpPr txBox="1"/>
          <p:nvPr/>
        </p:nvSpPr>
        <p:spPr>
          <a:xfrm>
            <a:off x="4612538" y="320040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lists, photo galleries and team pages use wrapping flex rows that adapt to any screen width.</a:t>
            </a:r>
            <a:endParaRPr lang="en-US" sz="1500" dirty="0"/>
          </a:p>
        </p:txBody>
      </p:sp>
      <p:sp>
        <p:nvSpPr>
          <p:cNvPr id="13" name="a4_card"/>
          <p:cNvSpPr/>
          <p:nvPr/>
        </p:nvSpPr>
        <p:spPr>
          <a:xfrm>
            <a:off x="8127797" y="1508760"/>
            <a:ext cx="3515258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4" name="a4_ico_bg"/>
          <p:cNvSpPr/>
          <p:nvPr/>
        </p:nvSpPr>
        <p:spPr>
          <a:xfrm>
            <a:off x="8402117" y="178308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a4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627" y="1980590"/>
            <a:ext cx="336499" cy="336499"/>
          </a:xfrm>
          <a:prstGeom prst="rect">
            <a:avLst/>
          </a:prstGeom>
        </p:spPr>
      </p:pic>
      <p:sp>
        <p:nvSpPr>
          <p:cNvPr id="16" name="a4_card_h"/>
          <p:cNvSpPr txBox="1"/>
          <p:nvPr/>
        </p:nvSpPr>
        <p:spPr>
          <a:xfrm>
            <a:off x="8402117" y="26974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App-like screens</a:t>
            </a:r>
            <a:endParaRPr lang="en-US" sz="1900" dirty="0"/>
          </a:p>
        </p:txBody>
      </p:sp>
      <p:sp>
        <p:nvSpPr>
          <p:cNvPr id="17" name="a4_card_b"/>
          <p:cNvSpPr txBox="1"/>
          <p:nvPr/>
        </p:nvSpPr>
        <p:spPr>
          <a:xfrm>
            <a:off x="8402117" y="320040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Toolbars, chat bubbles and buttons with icons use flex to line up an icon and text perfectly.</a:t>
            </a:r>
            <a:endParaRPr lang="en-US" sz="1500" dirty="0"/>
          </a:p>
        </p:txBody>
      </p:sp>
      <p:sp>
        <p:nvSpPr>
          <p:cNvPr id="18" name="a5_try"/>
          <p:cNvSpPr/>
          <p:nvPr/>
        </p:nvSpPr>
        <p:spPr>
          <a:xfrm>
            <a:off x="548640" y="4892040"/>
            <a:ext cx="11094415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19" name="a5_ico_bg"/>
          <p:cNvSpPr/>
          <p:nvPr/>
        </p:nvSpPr>
        <p:spPr>
          <a:xfrm>
            <a:off x="868680" y="521208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a5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157" y="5372557"/>
            <a:ext cx="273406" cy="273406"/>
          </a:xfrm>
          <a:prstGeom prst="rect">
            <a:avLst/>
          </a:prstGeom>
        </p:spPr>
      </p:pic>
      <p:sp>
        <p:nvSpPr>
          <p:cNvPr id="21" name="a5_try_text"/>
          <p:cNvSpPr txBox="1"/>
          <p:nvPr/>
        </p:nvSpPr>
        <p:spPr>
          <a:xfrm>
            <a:off x="1737360" y="4983480"/>
            <a:ext cx="95399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DevTools on a site you use, find an element showing a small 'flex' badge in the Elements panel, and click it to see the flex overlay.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Common mistakes</a:t>
            </a:r>
            <a:endParaRPr lang="en-US" sz="3400" dirty="0"/>
          </a:p>
        </p:txBody>
      </p:sp>
      <p:sp>
        <p:nvSpPr>
          <p:cNvPr id="3" name="a1_hdr"/>
          <p:cNvSpPr txBox="1"/>
          <p:nvPr/>
        </p:nvSpPr>
        <p:spPr>
          <a:xfrm>
            <a:off x="54864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2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500" dirty="0"/>
          </a:p>
        </p:txBody>
      </p:sp>
      <p:sp>
        <p:nvSpPr>
          <p:cNvPr id="4" name="a1_hdr"/>
          <p:cNvSpPr txBox="1"/>
          <p:nvPr/>
        </p:nvSpPr>
        <p:spPr>
          <a:xfrm>
            <a:off x="443484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instead</a:t>
            </a:r>
            <a:endParaRPr lang="en-US" sz="1500" dirty="0"/>
          </a:p>
        </p:txBody>
      </p:sp>
      <p:sp>
        <p:nvSpPr>
          <p:cNvPr id="5" name="a1_hdr"/>
          <p:cNvSpPr txBox="1"/>
          <p:nvPr/>
        </p:nvSpPr>
        <p:spPr>
          <a:xfrm>
            <a:off x="836676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500" dirty="0"/>
          </a:p>
        </p:txBody>
      </p:sp>
      <p:sp>
        <p:nvSpPr>
          <p:cNvPr id="6" name="a2_bad"/>
          <p:cNvSpPr/>
          <p:nvPr/>
        </p:nvSpPr>
        <p:spPr>
          <a:xfrm>
            <a:off x="548640" y="1783080"/>
            <a:ext cx="3749040" cy="1325880"/>
          </a:xfrm>
          <a:prstGeom prst="roundRect">
            <a:avLst>
              <a:gd name="adj" fmla="val 6897"/>
            </a:avLst>
          </a:prstGeom>
          <a:solidFill>
            <a:srgbClr val="FDE8EE"/>
          </a:solidFill>
          <a:ln/>
        </p:spPr>
      </p:sp>
      <p:sp>
        <p:nvSpPr>
          <p:cNvPr id="7" name="a2_bad_bar"/>
          <p:cNvSpPr/>
          <p:nvPr/>
        </p:nvSpPr>
        <p:spPr>
          <a:xfrm>
            <a:off x="548640" y="1892808"/>
            <a:ext cx="73152" cy="110642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" name="a2_bad_t"/>
          <p:cNvSpPr txBox="1"/>
          <p:nvPr/>
        </p:nvSpPr>
        <p:spPr>
          <a:xfrm>
            <a:off x="777240" y="178308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display: flex; }</a:t>
            </a:r>
            <a:endParaRPr lang="en-US" sz="1300" dirty="0"/>
          </a:p>
        </p:txBody>
      </p:sp>
      <p:sp>
        <p:nvSpPr>
          <p:cNvPr id="9" name="a2_good"/>
          <p:cNvSpPr/>
          <p:nvPr/>
        </p:nvSpPr>
        <p:spPr>
          <a:xfrm>
            <a:off x="4434840" y="1783080"/>
            <a:ext cx="3749040" cy="1325880"/>
          </a:xfrm>
          <a:prstGeom prst="roundRect">
            <a:avLst>
              <a:gd name="adj" fmla="val 6897"/>
            </a:avLst>
          </a:prstGeom>
          <a:solidFill>
            <a:srgbClr val="E4F8EC"/>
          </a:solidFill>
          <a:ln/>
        </p:spPr>
      </p:sp>
      <p:sp>
        <p:nvSpPr>
          <p:cNvPr id="10" name="a2_good_bar"/>
          <p:cNvSpPr/>
          <p:nvPr/>
        </p:nvSpPr>
        <p:spPr>
          <a:xfrm>
            <a:off x="4434840" y="1892808"/>
            <a:ext cx="73152" cy="11064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1" name="a2_good_t"/>
          <p:cNvSpPr txBox="1"/>
          <p:nvPr/>
        </p:nvSpPr>
        <p:spPr>
          <a:xfrm>
            <a:off x="4663440" y="178308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display: flex; }</a:t>
            </a:r>
            <a:endParaRPr lang="en-US" sz="1300" dirty="0"/>
          </a:p>
        </p:txBody>
      </p:sp>
      <p:sp>
        <p:nvSpPr>
          <p:cNvPr id="12" name="a2_why"/>
          <p:cNvSpPr txBox="1"/>
          <p:nvPr/>
        </p:nvSpPr>
        <p:spPr>
          <a:xfrm>
            <a:off x="8366760" y="1783080"/>
            <a:ext cx="3273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display: flex goes on the PARENT. Setting it on the items does not arrange them.</a:t>
            </a:r>
            <a:endParaRPr lang="en-US" sz="1400" dirty="0"/>
          </a:p>
        </p:txBody>
      </p:sp>
      <p:sp>
        <p:nvSpPr>
          <p:cNvPr id="13" name="a3_bad"/>
          <p:cNvSpPr/>
          <p:nvPr/>
        </p:nvSpPr>
        <p:spPr>
          <a:xfrm>
            <a:off x="548640" y="3264408"/>
            <a:ext cx="3749040" cy="1325880"/>
          </a:xfrm>
          <a:prstGeom prst="roundRect">
            <a:avLst>
              <a:gd name="adj" fmla="val 6897"/>
            </a:avLst>
          </a:prstGeom>
          <a:solidFill>
            <a:srgbClr val="FDE8EE"/>
          </a:solidFill>
          <a:ln/>
        </p:spPr>
      </p:sp>
      <p:sp>
        <p:nvSpPr>
          <p:cNvPr id="14" name="a3_bad_bar"/>
          <p:cNvSpPr/>
          <p:nvPr/>
        </p:nvSpPr>
        <p:spPr>
          <a:xfrm>
            <a:off x="548640" y="3374136"/>
            <a:ext cx="73152" cy="110642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5" name="a3_bad_t"/>
          <p:cNvSpPr txBox="1"/>
          <p:nvPr/>
        </p:nvSpPr>
        <p:spPr>
          <a:xfrm>
            <a:off x="777240" y="326440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flex-direction: column;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justify-content: center;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expects horizontal */</a:t>
            </a:r>
            <a:endParaRPr lang="en-US" sz="1300" dirty="0"/>
          </a:p>
        </p:txBody>
      </p:sp>
      <p:sp>
        <p:nvSpPr>
          <p:cNvPr id="16" name="a3_good"/>
          <p:cNvSpPr/>
          <p:nvPr/>
        </p:nvSpPr>
        <p:spPr>
          <a:xfrm>
            <a:off x="4434840" y="3264408"/>
            <a:ext cx="3749040" cy="1325880"/>
          </a:xfrm>
          <a:prstGeom prst="roundRect">
            <a:avLst>
              <a:gd name="adj" fmla="val 6897"/>
            </a:avLst>
          </a:prstGeom>
          <a:solidFill>
            <a:srgbClr val="E4F8EC"/>
          </a:solidFill>
          <a:ln/>
        </p:spPr>
      </p:sp>
      <p:sp>
        <p:nvSpPr>
          <p:cNvPr id="17" name="a3_good_bar"/>
          <p:cNvSpPr/>
          <p:nvPr/>
        </p:nvSpPr>
        <p:spPr>
          <a:xfrm>
            <a:off x="4434840" y="3374136"/>
            <a:ext cx="73152" cy="11064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8" name="a3_good_t"/>
          <p:cNvSpPr txBox="1"/>
          <p:nvPr/>
        </p:nvSpPr>
        <p:spPr>
          <a:xfrm>
            <a:off x="4663440" y="326440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flex-direction: column;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align-items: center;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horizontal centring */</a:t>
            </a:r>
            <a:endParaRPr lang="en-US" sz="1300" dirty="0"/>
          </a:p>
        </p:txBody>
      </p:sp>
      <p:sp>
        <p:nvSpPr>
          <p:cNvPr id="19" name="a3_why"/>
          <p:cNvSpPr txBox="1"/>
          <p:nvPr/>
        </p:nvSpPr>
        <p:spPr>
          <a:xfrm>
            <a:off x="8366760" y="3264408"/>
            <a:ext cx="3273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column, the axes swap: align-items now works horizontally.</a:t>
            </a:r>
            <a:endParaRPr lang="en-US" sz="1400" dirty="0"/>
          </a:p>
        </p:txBody>
      </p:sp>
      <p:sp>
        <p:nvSpPr>
          <p:cNvPr id="20" name="a4_bad"/>
          <p:cNvSpPr/>
          <p:nvPr/>
        </p:nvSpPr>
        <p:spPr>
          <a:xfrm>
            <a:off x="548640" y="4745736"/>
            <a:ext cx="3749040" cy="1325880"/>
          </a:xfrm>
          <a:prstGeom prst="roundRect">
            <a:avLst>
              <a:gd name="adj" fmla="val 6897"/>
            </a:avLst>
          </a:prstGeom>
          <a:solidFill>
            <a:srgbClr val="FDE8EE"/>
          </a:solidFill>
          <a:ln/>
        </p:spPr>
      </p:sp>
      <p:sp>
        <p:nvSpPr>
          <p:cNvPr id="21" name="a4_bad_bar"/>
          <p:cNvSpPr/>
          <p:nvPr/>
        </p:nvSpPr>
        <p:spPr>
          <a:xfrm>
            <a:off x="548640" y="4855464"/>
            <a:ext cx="73152" cy="110642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2" name="a4_bad_t"/>
          <p:cNvSpPr txBox="1"/>
          <p:nvPr/>
        </p:nvSpPr>
        <p:spPr>
          <a:xfrm>
            <a:off x="777240" y="4745736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 {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3" name="a4_good"/>
          <p:cNvSpPr/>
          <p:nvPr/>
        </p:nvSpPr>
        <p:spPr>
          <a:xfrm>
            <a:off x="4434840" y="4745736"/>
            <a:ext cx="3749040" cy="1325880"/>
          </a:xfrm>
          <a:prstGeom prst="roundRect">
            <a:avLst>
              <a:gd name="adj" fmla="val 6897"/>
            </a:avLst>
          </a:prstGeom>
          <a:solidFill>
            <a:srgbClr val="E4F8EC"/>
          </a:solidFill>
          <a:ln/>
        </p:spPr>
      </p:sp>
      <p:sp>
        <p:nvSpPr>
          <p:cNvPr id="24" name="a4_good_bar"/>
          <p:cNvSpPr/>
          <p:nvPr/>
        </p:nvSpPr>
        <p:spPr>
          <a:xfrm>
            <a:off x="4434840" y="4855464"/>
            <a:ext cx="73152" cy="11064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a4_good_t"/>
          <p:cNvSpPr txBox="1"/>
          <p:nvPr/>
        </p:nvSpPr>
        <p:spPr>
          <a:xfrm>
            <a:off x="4663440" y="4745736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 {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min-height: 100vh;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6" name="a4_why"/>
          <p:cNvSpPr txBox="1"/>
          <p:nvPr/>
        </p:nvSpPr>
        <p:spPr>
          <a:xfrm>
            <a:off x="8366760" y="4745736"/>
            <a:ext cx="3273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centring needs height. 100vh means 100% of the viewport (window) height.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Tips &amp; best practices</a:t>
            </a:r>
            <a:endParaRPr lang="en-US" sz="3400" dirty="0"/>
          </a:p>
        </p:txBody>
      </p:sp>
      <p:sp>
        <p:nvSpPr>
          <p:cNvPr id="3" name="a2_card"/>
          <p:cNvSpPr/>
          <p:nvPr/>
        </p:nvSpPr>
        <p:spPr>
          <a:xfrm>
            <a:off x="548640" y="1508760"/>
            <a:ext cx="5364328" cy="2194560"/>
          </a:xfrm>
          <a:prstGeom prst="roundRect">
            <a:avLst>
              <a:gd name="adj" fmla="val 5000"/>
            </a:avLst>
          </a:prstGeom>
          <a:solidFill>
            <a:srgbClr val="1D2250"/>
          </a:solidFill>
          <a:ln/>
        </p:spPr>
      </p:sp>
      <p:sp>
        <p:nvSpPr>
          <p:cNvPr id="4" name="a2_ico_bg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a2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782" y="1955902"/>
            <a:ext cx="294437" cy="294437"/>
          </a:xfrm>
          <a:prstGeom prst="rect">
            <a:avLst/>
          </a:prstGeom>
        </p:spPr>
      </p:pic>
      <p:sp>
        <p:nvSpPr>
          <p:cNvPr id="6" name="a2_card_h"/>
          <p:cNvSpPr txBox="1"/>
          <p:nvPr/>
        </p:nvSpPr>
        <p:spPr>
          <a:xfrm>
            <a:off x="1645920" y="178308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gap, not margins</a:t>
            </a:r>
            <a:endParaRPr lang="en-US" sz="1900" dirty="0"/>
          </a:p>
        </p:txBody>
      </p:sp>
      <p:sp>
        <p:nvSpPr>
          <p:cNvPr id="7" name="a2_card_b"/>
          <p:cNvSpPr txBox="1"/>
          <p:nvPr/>
        </p:nvSpPr>
        <p:spPr>
          <a:xfrm>
            <a:off x="822960" y="251460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spaces items evenly without extra space at the ends. It also works with wrapping.</a:t>
            </a:r>
            <a:endParaRPr lang="en-US" sz="1500" dirty="0"/>
          </a:p>
        </p:txBody>
      </p:sp>
      <p:sp>
        <p:nvSpPr>
          <p:cNvPr id="8" name="a3_card"/>
          <p:cNvSpPr/>
          <p:nvPr/>
        </p:nvSpPr>
        <p:spPr>
          <a:xfrm>
            <a:off x="6278728" y="1508760"/>
            <a:ext cx="5364328" cy="2194560"/>
          </a:xfrm>
          <a:prstGeom prst="roundRect">
            <a:avLst>
              <a:gd name="adj" fmla="val 5000"/>
            </a:avLst>
          </a:prstGeom>
          <a:solidFill>
            <a:srgbClr val="1D2250"/>
          </a:solidFill>
          <a:ln/>
        </p:spPr>
      </p:sp>
      <p:sp>
        <p:nvSpPr>
          <p:cNvPr id="9" name="a3_ico_bg"/>
          <p:cNvSpPr/>
          <p:nvPr/>
        </p:nvSpPr>
        <p:spPr>
          <a:xfrm>
            <a:off x="6553048" y="17830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a3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869" y="1955902"/>
            <a:ext cx="294437" cy="294437"/>
          </a:xfrm>
          <a:prstGeom prst="rect">
            <a:avLst/>
          </a:prstGeom>
        </p:spPr>
      </p:pic>
      <p:sp>
        <p:nvSpPr>
          <p:cNvPr id="11" name="a3_card_h"/>
          <p:cNvSpPr txBox="1"/>
          <p:nvPr/>
        </p:nvSpPr>
        <p:spPr>
          <a:xfrm>
            <a:off x="7376008" y="178308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row is the default</a:t>
            </a:r>
            <a:endParaRPr lang="en-US" sz="1900" dirty="0"/>
          </a:p>
        </p:txBody>
      </p:sp>
      <p:sp>
        <p:nvSpPr>
          <p:cNvPr id="12" name="a3_card_b"/>
          <p:cNvSpPr txBox="1"/>
          <p:nvPr/>
        </p:nvSpPr>
        <p:spPr>
          <a:xfrm>
            <a:off x="6553048" y="251460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flex-direction defaults to row. Add column when you want a vertical stack.</a:t>
            </a:r>
            <a:endParaRPr lang="en-US" sz="1500" dirty="0"/>
          </a:p>
        </p:txBody>
      </p:sp>
      <p:sp>
        <p:nvSpPr>
          <p:cNvPr id="13" name="a4_card"/>
          <p:cNvSpPr/>
          <p:nvPr/>
        </p:nvSpPr>
        <p:spPr>
          <a:xfrm>
            <a:off x="548640" y="3886200"/>
            <a:ext cx="5364328" cy="2194560"/>
          </a:xfrm>
          <a:prstGeom prst="roundRect">
            <a:avLst>
              <a:gd name="adj" fmla="val 5000"/>
            </a:avLst>
          </a:prstGeom>
          <a:solidFill>
            <a:srgbClr val="1D2250"/>
          </a:solidFill>
          <a:ln/>
        </p:spPr>
      </p:sp>
      <p:sp>
        <p:nvSpPr>
          <p:cNvPr id="14" name="a4_ico_bg"/>
          <p:cNvSpPr/>
          <p:nvPr/>
        </p:nvSpPr>
        <p:spPr>
          <a:xfrm>
            <a:off x="822960" y="41605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a4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782" y="4333342"/>
            <a:ext cx="294437" cy="294437"/>
          </a:xfrm>
          <a:prstGeom prst="rect">
            <a:avLst/>
          </a:prstGeom>
        </p:spPr>
      </p:pic>
      <p:sp>
        <p:nvSpPr>
          <p:cNvPr id="16" name="a4_card_h"/>
          <p:cNvSpPr txBox="1"/>
          <p:nvPr/>
        </p:nvSpPr>
        <p:spPr>
          <a:xfrm>
            <a:off x="1645920" y="416052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with the overlay</a:t>
            </a:r>
            <a:endParaRPr lang="en-US" sz="1900" dirty="0"/>
          </a:p>
        </p:txBody>
      </p:sp>
      <p:sp>
        <p:nvSpPr>
          <p:cNvPr id="17" name="a4_card_b"/>
          <p:cNvSpPr txBox="1"/>
          <p:nvPr/>
        </p:nvSpPr>
        <p:spPr>
          <a:xfrm>
            <a:off x="822960" y="489204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shows the container, items and free space. It makes surprising layouts easy to explain.</a:t>
            </a:r>
            <a:endParaRPr lang="en-US" sz="1500" dirty="0"/>
          </a:p>
        </p:txBody>
      </p:sp>
      <p:sp>
        <p:nvSpPr>
          <p:cNvPr id="18" name="a5_card"/>
          <p:cNvSpPr/>
          <p:nvPr/>
        </p:nvSpPr>
        <p:spPr>
          <a:xfrm>
            <a:off x="6278728" y="3886200"/>
            <a:ext cx="5364328" cy="2194560"/>
          </a:xfrm>
          <a:prstGeom prst="roundRect">
            <a:avLst>
              <a:gd name="adj" fmla="val 5000"/>
            </a:avLst>
          </a:prstGeom>
          <a:solidFill>
            <a:srgbClr val="1D2250"/>
          </a:solidFill>
          <a:ln/>
        </p:spPr>
      </p:sp>
      <p:sp>
        <p:nvSpPr>
          <p:cNvPr id="19" name="a5_ico_bg"/>
          <p:cNvSpPr/>
          <p:nvPr/>
        </p:nvSpPr>
        <p:spPr>
          <a:xfrm>
            <a:off x="6553048" y="41605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a5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5869" y="4333342"/>
            <a:ext cx="294437" cy="294437"/>
          </a:xfrm>
          <a:prstGeom prst="rect">
            <a:avLst/>
          </a:prstGeom>
        </p:spPr>
      </p:pic>
      <p:sp>
        <p:nvSpPr>
          <p:cNvPr id="21" name="a5_card_h"/>
          <p:cNvSpPr txBox="1"/>
          <p:nvPr/>
        </p:nvSpPr>
        <p:spPr>
          <a:xfrm>
            <a:off x="7376008" y="416052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flex for one dimension</a:t>
            </a:r>
            <a:endParaRPr lang="en-US" sz="1900" dirty="0"/>
          </a:p>
        </p:txBody>
      </p:sp>
      <p:sp>
        <p:nvSpPr>
          <p:cNvPr id="22" name="a5_card_b"/>
          <p:cNvSpPr txBox="1"/>
          <p:nvPr/>
        </p:nvSpPr>
        <p:spPr>
          <a:xfrm>
            <a:off x="6553048" y="489204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lays out a row OR a column. For rows AND columns together, use Grid (next lesson).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Activity: a team page</a:t>
            </a:r>
            <a:endParaRPr lang="en-US" sz="3400" dirty="0"/>
          </a:p>
        </p:txBody>
      </p:sp>
      <p:sp>
        <p:nvSpPr>
          <p:cNvPr id="3" name="a2_chip"/>
          <p:cNvSpPr/>
          <p:nvPr/>
        </p:nvSpPr>
        <p:spPr>
          <a:xfrm>
            <a:off x="548640" y="1371600"/>
            <a:ext cx="137160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a2_chip_t"/>
          <p:cNvSpPr txBox="1"/>
          <p:nvPr/>
        </p:nvSpPr>
        <p:spPr>
          <a:xfrm>
            <a:off x="548640" y="1371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25 min</a:t>
            </a:r>
            <a:endParaRPr lang="en-US" sz="1200" dirty="0"/>
          </a:p>
        </p:txBody>
      </p:sp>
      <p:sp>
        <p:nvSpPr>
          <p:cNvPr id="5" name="a2_chip"/>
          <p:cNvSpPr/>
          <p:nvPr/>
        </p:nvSpPr>
        <p:spPr>
          <a:xfrm>
            <a:off x="2057400" y="1371600"/>
            <a:ext cx="173736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a2_chip_t"/>
          <p:cNvSpPr txBox="1"/>
          <p:nvPr/>
        </p:nvSpPr>
        <p:spPr>
          <a:xfrm>
            <a:off x="2057400" y="1371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7" name="a3_brief"/>
          <p:cNvSpPr txBox="1"/>
          <p:nvPr/>
        </p:nvSpPr>
        <p:spPr>
          <a:xfrm>
            <a:off x="548640" y="18288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navigation bar and a row of three profile cards with flexbox.</a:t>
            </a:r>
            <a:endParaRPr lang="en-US" sz="1500" dirty="0"/>
          </a:p>
        </p:txBody>
      </p:sp>
      <p:sp>
        <p:nvSpPr>
          <p:cNvPr id="8" name="a4_num"/>
          <p:cNvSpPr/>
          <p:nvPr/>
        </p:nvSpPr>
        <p:spPr>
          <a:xfrm>
            <a:off x="548640" y="26517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a4_numt"/>
          <p:cNvSpPr txBox="1"/>
          <p:nvPr/>
        </p:nvSpPr>
        <p:spPr>
          <a:xfrm>
            <a:off x="54864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a4_step"/>
          <p:cNvSpPr txBox="1"/>
          <p:nvPr/>
        </p:nvSpPr>
        <p:spPr>
          <a:xfrm>
            <a:off x="1005840" y="2606040"/>
            <a:ext cx="5212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.nav a flex container with the logo on the left, links on the right, centred vertically.</a:t>
            </a:r>
            <a:endParaRPr lang="en-US" sz="1400" dirty="0"/>
          </a:p>
        </p:txBody>
      </p:sp>
      <p:sp>
        <p:nvSpPr>
          <p:cNvPr id="11" name="a5_num"/>
          <p:cNvSpPr/>
          <p:nvPr/>
        </p:nvSpPr>
        <p:spPr>
          <a:xfrm>
            <a:off x="548640" y="3218688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a5_numt"/>
          <p:cNvSpPr txBox="1"/>
          <p:nvPr/>
        </p:nvSpPr>
        <p:spPr>
          <a:xfrm>
            <a:off x="548640" y="3218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a5_step"/>
          <p:cNvSpPr txBox="1"/>
          <p:nvPr/>
        </p:nvSpPr>
        <p:spPr>
          <a:xfrm>
            <a:off x="1005840" y="3172968"/>
            <a:ext cx="5212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links container display: flex and gap: 16px.</a:t>
            </a:r>
            <a:endParaRPr lang="en-US" sz="1400" dirty="0"/>
          </a:p>
        </p:txBody>
      </p:sp>
      <p:sp>
        <p:nvSpPr>
          <p:cNvPr id="14" name="a6_num"/>
          <p:cNvSpPr/>
          <p:nvPr/>
        </p:nvSpPr>
        <p:spPr>
          <a:xfrm>
            <a:off x="548640" y="3785616"/>
            <a:ext cx="310896" cy="31089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a6_numt"/>
          <p:cNvSpPr txBox="1"/>
          <p:nvPr/>
        </p:nvSpPr>
        <p:spPr>
          <a:xfrm>
            <a:off x="548640" y="3785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a6_step"/>
          <p:cNvSpPr txBox="1"/>
          <p:nvPr/>
        </p:nvSpPr>
        <p:spPr>
          <a:xfrm>
            <a:off x="1005840" y="3739896"/>
            <a:ext cx="5212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.team a flex container with gap: 16px and flex-wrap: wrap.</a:t>
            </a:r>
            <a:endParaRPr lang="en-US" sz="1400" dirty="0"/>
          </a:p>
        </p:txBody>
      </p:sp>
      <p:sp>
        <p:nvSpPr>
          <p:cNvPr id="17" name="a7_num"/>
          <p:cNvSpPr/>
          <p:nvPr/>
        </p:nvSpPr>
        <p:spPr>
          <a:xfrm>
            <a:off x="548640" y="4352544"/>
            <a:ext cx="310896" cy="31089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a7_numt"/>
          <p:cNvSpPr txBox="1"/>
          <p:nvPr/>
        </p:nvSpPr>
        <p:spPr>
          <a:xfrm>
            <a:off x="548640" y="4352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a7_step"/>
          <p:cNvSpPr txBox="1"/>
          <p:nvPr/>
        </p:nvSpPr>
        <p:spPr>
          <a:xfrm>
            <a:off x="1005840" y="4306824"/>
            <a:ext cx="5212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each .member flex: 1 1 180px, padding 20px, a light background and rounded corners.</a:t>
            </a:r>
            <a:endParaRPr lang="en-US" sz="1400" dirty="0"/>
          </a:p>
        </p:txBody>
      </p:sp>
      <p:sp>
        <p:nvSpPr>
          <p:cNvPr id="20" name="a8_num"/>
          <p:cNvSpPr/>
          <p:nvPr/>
        </p:nvSpPr>
        <p:spPr>
          <a:xfrm>
            <a:off x="548640" y="4919472"/>
            <a:ext cx="310896" cy="31089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1" name="a8_numt"/>
          <p:cNvSpPr txBox="1"/>
          <p:nvPr/>
        </p:nvSpPr>
        <p:spPr>
          <a:xfrm>
            <a:off x="548640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a8_step"/>
          <p:cNvSpPr txBox="1"/>
          <p:nvPr/>
        </p:nvSpPr>
        <p:spPr>
          <a:xfrm>
            <a:off x="1005840" y="4873752"/>
            <a:ext cx="5212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the text inside each member by using flex-direction: column with align-items: center.</a:t>
            </a:r>
            <a:endParaRPr lang="en-US" sz="1400" dirty="0"/>
          </a:p>
        </p:txBody>
      </p:sp>
      <p:sp>
        <p:nvSpPr>
          <p:cNvPr id="23" name="a9_bonus"/>
          <p:cNvSpPr/>
          <p:nvPr/>
        </p:nvSpPr>
        <p:spPr>
          <a:xfrm>
            <a:off x="548640" y="548640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FFF4D1"/>
          </a:solidFill>
          <a:ln/>
        </p:spPr>
      </p:sp>
      <p:sp>
        <p:nvSpPr>
          <p:cNvPr id="24" name="a9_bonus_t"/>
          <p:cNvSpPr txBox="1"/>
          <p:nvPr/>
        </p:nvSpPr>
        <p:spPr>
          <a:xfrm>
            <a:off x="731520" y="54864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.avatar: a 60px circle (border-radius: 50%) in colour above each name.</a:t>
            </a:r>
            <a:endParaRPr lang="en-US" sz="1350" dirty="0"/>
          </a:p>
        </p:txBody>
      </p:sp>
      <p:sp>
        <p:nvSpPr>
          <p:cNvPr id="25" name="a2_goal_l"/>
          <p:cNvSpPr txBox="1"/>
          <p:nvPr/>
        </p:nvSpPr>
        <p:spPr>
          <a:xfrm>
            <a:off x="6583680" y="1371600"/>
            <a:ext cx="50593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your page should look like this</a:t>
            </a:r>
            <a:endParaRPr lang="en-US" sz="1400" dirty="0"/>
          </a:p>
        </p:txBody>
      </p:sp>
      <p:sp>
        <p:nvSpPr>
          <p:cNvPr id="26" name="a3_browser"/>
          <p:cNvSpPr/>
          <p:nvPr/>
        </p:nvSpPr>
        <p:spPr>
          <a:xfrm>
            <a:off x="6583680" y="1828800"/>
            <a:ext cx="5059375" cy="2353809"/>
          </a:xfrm>
          <a:prstGeom prst="rect">
            <a:avLst/>
          </a:prstGeom>
          <a:solidFill>
            <a:schemeClr val="bg1"/>
          </a:solidFill>
          <a:ln w="12700">
            <a:solidFill>
              <a:srgbClr val="D5DA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27" name="a3_browser_bar"/>
          <p:cNvSpPr/>
          <p:nvPr/>
        </p:nvSpPr>
        <p:spPr>
          <a:xfrm>
            <a:off x="6583680" y="1828800"/>
            <a:ext cx="5059375" cy="402336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8" name="a3_browser_dot"/>
          <p:cNvSpPr/>
          <p:nvPr/>
        </p:nvSpPr>
        <p:spPr>
          <a:xfrm>
            <a:off x="6766560" y="1965960"/>
            <a:ext cx="118872" cy="11887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9" name="a3_browser_dot"/>
          <p:cNvSpPr/>
          <p:nvPr/>
        </p:nvSpPr>
        <p:spPr>
          <a:xfrm>
            <a:off x="6967728" y="196596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a3_browser_dot"/>
          <p:cNvSpPr/>
          <p:nvPr/>
        </p:nvSpPr>
        <p:spPr>
          <a:xfrm>
            <a:off x="7168896" y="1965960"/>
            <a:ext cx="118872" cy="11887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1" name="a3_browser_url"/>
          <p:cNvSpPr/>
          <p:nvPr/>
        </p:nvSpPr>
        <p:spPr>
          <a:xfrm>
            <a:off x="7498080" y="1892808"/>
            <a:ext cx="396209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32" name="a3_browser_urltext"/>
          <p:cNvSpPr txBox="1"/>
          <p:nvPr/>
        </p:nvSpPr>
        <p:spPr>
          <a:xfrm>
            <a:off x="7607808" y="1892808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lesson4/activity/solution/index.html</a:t>
            </a:r>
            <a:endParaRPr lang="en-US" sz="1100" dirty="0"/>
          </a:p>
        </p:txBody>
      </p:sp>
      <p:pic>
        <p:nvPicPr>
          <p:cNvPr id="33" name="a3_shot" descr="/home/user/Python/CSS_Course/assets/l4_act_sol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231136"/>
            <a:ext cx="5059375" cy="1951473"/>
          </a:xfrm>
          <a:prstGeom prst="rect">
            <a:avLst/>
          </a:prstGeom>
        </p:spPr>
      </p:pic>
      <p:sp>
        <p:nvSpPr>
          <p:cNvPr id="34" name="a10_files"/>
          <p:cNvSpPr/>
          <p:nvPr/>
        </p:nvSpPr>
        <p:spPr>
          <a:xfrm>
            <a:off x="6583680" y="4411209"/>
            <a:ext cx="5059375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35" name="a10_files_t"/>
          <p:cNvSpPr txBox="1"/>
          <p:nvPr/>
        </p:nvSpPr>
        <p:spPr>
          <a:xfrm>
            <a:off x="6766560" y="4411209"/>
            <a:ext cx="46936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from: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code/lesson4/activity/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with: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code/lesson4/activity/solution/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Challenge: header, sidebar, footer</a:t>
            </a:r>
            <a:endParaRPr lang="en-US" sz="3400" dirty="0"/>
          </a:p>
        </p:txBody>
      </p:sp>
      <p:sp>
        <p:nvSpPr>
          <p:cNvPr id="3" name="a2_chip"/>
          <p:cNvSpPr/>
          <p:nvPr/>
        </p:nvSpPr>
        <p:spPr>
          <a:xfrm>
            <a:off x="548640" y="1371600"/>
            <a:ext cx="137160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a2_chip_t"/>
          <p:cNvSpPr txBox="1"/>
          <p:nvPr/>
        </p:nvSpPr>
        <p:spPr>
          <a:xfrm>
            <a:off x="548640" y="1371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30 min</a:t>
            </a:r>
            <a:endParaRPr lang="en-US" sz="1200" dirty="0"/>
          </a:p>
        </p:txBody>
      </p:sp>
      <p:sp>
        <p:nvSpPr>
          <p:cNvPr id="5" name="a2_chip"/>
          <p:cNvSpPr/>
          <p:nvPr/>
        </p:nvSpPr>
        <p:spPr>
          <a:xfrm>
            <a:off x="2057400" y="1371600"/>
            <a:ext cx="173736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6" name="a2_chip_t"/>
          <p:cNvSpPr txBox="1"/>
          <p:nvPr/>
        </p:nvSpPr>
        <p:spPr>
          <a:xfrm>
            <a:off x="2057400" y="1371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7" name="a3_brief"/>
          <p:cNvSpPr txBox="1"/>
          <p:nvPr/>
        </p:nvSpPr>
        <p:spPr>
          <a:xfrm>
            <a:off x="548640" y="18288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full-page layout where the footer sticks to the bottom even with little content.</a:t>
            </a:r>
            <a:endParaRPr lang="en-US" sz="1500" dirty="0"/>
          </a:p>
        </p:txBody>
      </p:sp>
      <p:sp>
        <p:nvSpPr>
          <p:cNvPr id="8" name="a4_num"/>
          <p:cNvSpPr/>
          <p:nvPr/>
        </p:nvSpPr>
        <p:spPr>
          <a:xfrm>
            <a:off x="548640" y="265176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a4_numt"/>
          <p:cNvSpPr txBox="1"/>
          <p:nvPr/>
        </p:nvSpPr>
        <p:spPr>
          <a:xfrm>
            <a:off x="54864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a4_step"/>
          <p:cNvSpPr txBox="1"/>
          <p:nvPr/>
        </p:nvSpPr>
        <p:spPr>
          <a:xfrm>
            <a:off x="1005840" y="2606040"/>
            <a:ext cx="5212080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body a flex column with min-height: 100vh.</a:t>
            </a:r>
            <a:endParaRPr lang="en-US" sz="1400" dirty="0"/>
          </a:p>
        </p:txBody>
      </p:sp>
      <p:sp>
        <p:nvSpPr>
          <p:cNvPr id="11" name="a5_num"/>
          <p:cNvSpPr/>
          <p:nvPr/>
        </p:nvSpPr>
        <p:spPr>
          <a:xfrm>
            <a:off x="548640" y="3360420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a5_numt"/>
          <p:cNvSpPr txBox="1"/>
          <p:nvPr/>
        </p:nvSpPr>
        <p:spPr>
          <a:xfrm>
            <a:off x="548640" y="33604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a5_step"/>
          <p:cNvSpPr txBox="1"/>
          <p:nvPr/>
        </p:nvSpPr>
        <p:spPr>
          <a:xfrm>
            <a:off x="1005840" y="3314700"/>
            <a:ext cx="5212080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.layout a flex row; the sidebar is 160px wide and the main area takes the rest with flex: 1.</a:t>
            </a:r>
            <a:endParaRPr lang="en-US" sz="1400" dirty="0"/>
          </a:p>
        </p:txBody>
      </p:sp>
      <p:sp>
        <p:nvSpPr>
          <p:cNvPr id="14" name="a6_num"/>
          <p:cNvSpPr/>
          <p:nvPr/>
        </p:nvSpPr>
        <p:spPr>
          <a:xfrm>
            <a:off x="548640" y="4069080"/>
            <a:ext cx="310896" cy="31089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a6_numt"/>
          <p:cNvSpPr txBox="1"/>
          <p:nvPr/>
        </p:nvSpPr>
        <p:spPr>
          <a:xfrm>
            <a:off x="54864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a6_step"/>
          <p:cNvSpPr txBox="1"/>
          <p:nvPr/>
        </p:nvSpPr>
        <p:spPr>
          <a:xfrm>
            <a:off x="1005840" y="4023360"/>
            <a:ext cx="5212080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.layout grow to fill the free space (flex: 1) so the footer is pushed to the bottom.</a:t>
            </a:r>
            <a:endParaRPr lang="en-US" sz="1400" dirty="0"/>
          </a:p>
        </p:txBody>
      </p:sp>
      <p:sp>
        <p:nvSpPr>
          <p:cNvPr id="17" name="a7_num"/>
          <p:cNvSpPr/>
          <p:nvPr/>
        </p:nvSpPr>
        <p:spPr>
          <a:xfrm>
            <a:off x="548640" y="4777740"/>
            <a:ext cx="310896" cy="31089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a7_numt"/>
          <p:cNvSpPr txBox="1"/>
          <p:nvPr/>
        </p:nvSpPr>
        <p:spPr>
          <a:xfrm>
            <a:off x="548640" y="47777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a7_step"/>
          <p:cNvSpPr txBox="1"/>
          <p:nvPr/>
        </p:nvSpPr>
        <p:spPr>
          <a:xfrm>
            <a:off x="1005840" y="4732020"/>
            <a:ext cx="5212080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header, aside, main and footer distinct background colours and padding.</a:t>
            </a:r>
            <a:endParaRPr lang="en-US" sz="1400" dirty="0"/>
          </a:p>
        </p:txBody>
      </p:sp>
      <p:sp>
        <p:nvSpPr>
          <p:cNvPr id="20" name="a9_bonus"/>
          <p:cNvSpPr/>
          <p:nvPr/>
        </p:nvSpPr>
        <p:spPr>
          <a:xfrm>
            <a:off x="548640" y="548640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1D2250"/>
          </a:solidFill>
          <a:ln/>
        </p:spPr>
      </p:sp>
      <p:sp>
        <p:nvSpPr>
          <p:cNvPr id="21" name="a9_bonus_t"/>
          <p:cNvSpPr txBox="1"/>
          <p:nvPr/>
        </p:nvSpPr>
        <p:spPr>
          <a:xfrm>
            <a:off x="731520" y="54864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layout stack in a column on narrow screens by using flex-wrap.</a:t>
            </a:r>
            <a:endParaRPr lang="en-US" sz="1350" dirty="0"/>
          </a:p>
        </p:txBody>
      </p:sp>
      <p:sp>
        <p:nvSpPr>
          <p:cNvPr id="22" name="a2_goal_l"/>
          <p:cNvSpPr txBox="1"/>
          <p:nvPr/>
        </p:nvSpPr>
        <p:spPr>
          <a:xfrm>
            <a:off x="6583680" y="1371600"/>
            <a:ext cx="50593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match this result</a:t>
            </a:r>
            <a:endParaRPr lang="en-US" sz="1400" dirty="0"/>
          </a:p>
        </p:txBody>
      </p:sp>
      <p:sp>
        <p:nvSpPr>
          <p:cNvPr id="23" name="a3_browser"/>
          <p:cNvSpPr/>
          <p:nvPr/>
        </p:nvSpPr>
        <p:spPr>
          <a:xfrm>
            <a:off x="6583680" y="1828800"/>
            <a:ext cx="4800600" cy="3145536"/>
          </a:xfrm>
          <a:prstGeom prst="rect">
            <a:avLst/>
          </a:prstGeom>
          <a:solidFill>
            <a:schemeClr val="bg1"/>
          </a:solidFill>
          <a:ln w="12700">
            <a:solidFill>
              <a:srgbClr val="D5DA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24" name="a3_browser_bar"/>
          <p:cNvSpPr/>
          <p:nvPr/>
        </p:nvSpPr>
        <p:spPr>
          <a:xfrm>
            <a:off x="6583680" y="1828800"/>
            <a:ext cx="4800600" cy="402336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a3_browser_dot"/>
          <p:cNvSpPr/>
          <p:nvPr/>
        </p:nvSpPr>
        <p:spPr>
          <a:xfrm>
            <a:off x="6766560" y="1965960"/>
            <a:ext cx="118872" cy="11887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a3_browser_dot"/>
          <p:cNvSpPr/>
          <p:nvPr/>
        </p:nvSpPr>
        <p:spPr>
          <a:xfrm>
            <a:off x="6967728" y="196596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a3_browser_dot"/>
          <p:cNvSpPr/>
          <p:nvPr/>
        </p:nvSpPr>
        <p:spPr>
          <a:xfrm>
            <a:off x="7168896" y="1965960"/>
            <a:ext cx="118872" cy="11887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8" name="a3_browser_url"/>
          <p:cNvSpPr/>
          <p:nvPr/>
        </p:nvSpPr>
        <p:spPr>
          <a:xfrm>
            <a:off x="7498080" y="1892808"/>
            <a:ext cx="3703320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29" name="a3_browser_urltext"/>
          <p:cNvSpPr txBox="1"/>
          <p:nvPr/>
        </p:nvSpPr>
        <p:spPr>
          <a:xfrm>
            <a:off x="7607808" y="18928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lesson4/challenge/solution/index.html</a:t>
            </a:r>
            <a:endParaRPr lang="en-US" sz="1100" dirty="0"/>
          </a:p>
        </p:txBody>
      </p:sp>
      <p:pic>
        <p:nvPicPr>
          <p:cNvPr id="30" name="a3_shot" descr="/home/user/Python/CSS_Course/assets/l4_chal_sol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231136"/>
            <a:ext cx="4800600" cy="2743200"/>
          </a:xfrm>
          <a:prstGeom prst="rect">
            <a:avLst/>
          </a:prstGeom>
        </p:spPr>
      </p:pic>
      <p:sp>
        <p:nvSpPr>
          <p:cNvPr id="31" name="a10_files"/>
          <p:cNvSpPr/>
          <p:nvPr/>
        </p:nvSpPr>
        <p:spPr>
          <a:xfrm>
            <a:off x="6583680" y="5202936"/>
            <a:ext cx="5059375" cy="914400"/>
          </a:xfrm>
          <a:prstGeom prst="roundRect">
            <a:avLst>
              <a:gd name="adj" fmla="val 10000"/>
            </a:avLst>
          </a:prstGeom>
          <a:solidFill>
            <a:srgbClr val="1D2250"/>
          </a:solidFill>
          <a:ln/>
        </p:spPr>
      </p:sp>
      <p:sp>
        <p:nvSpPr>
          <p:cNvPr id="32" name="a10_files_t"/>
          <p:cNvSpPr txBox="1"/>
          <p:nvPr/>
        </p:nvSpPr>
        <p:spPr>
          <a:xfrm>
            <a:off x="6766560" y="5202936"/>
            <a:ext cx="46936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from:  </a:t>
            </a:r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code/lesson4/challenge/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with:  </a:t>
            </a:r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code/lesson4/challenge/solution/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Quick check</a:t>
            </a:r>
            <a:endParaRPr lang="en-US" sz="3400" dirty="0"/>
          </a:p>
        </p:txBody>
      </p:sp>
      <p:sp>
        <p:nvSpPr>
          <p:cNvPr id="3" name="a2_hint"/>
          <p:cNvSpPr txBox="1"/>
          <p:nvPr/>
        </p:nvSpPr>
        <p:spPr>
          <a:xfrm>
            <a:off x="548640" y="126187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first, then click to reveal each answer.</a:t>
            </a:r>
            <a:endParaRPr lang="en-US" sz="1500" dirty="0"/>
          </a:p>
        </p:txBody>
      </p:sp>
      <p:sp>
        <p:nvSpPr>
          <p:cNvPr id="4" name="a3_row"/>
          <p:cNvSpPr/>
          <p:nvPr/>
        </p:nvSpPr>
        <p:spPr>
          <a:xfrm>
            <a:off x="548640" y="1737360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5" name="a3_num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a3_numt"/>
          <p:cNvSpPr txBox="1"/>
          <p:nvPr/>
        </p:nvSpPr>
        <p:spPr>
          <a:xfrm>
            <a:off x="82296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a3_q"/>
          <p:cNvSpPr txBox="1"/>
          <p:nvPr/>
        </p:nvSpPr>
        <p:spPr>
          <a:xfrm>
            <a:off x="1600200" y="1737360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which element do you write display: flex: the parent or the children?</a:t>
            </a:r>
            <a:endParaRPr lang="en-US" sz="1650" dirty="0"/>
          </a:p>
        </p:txBody>
      </p:sp>
      <p:sp>
        <p:nvSpPr>
          <p:cNvPr id="8" name="k3_ans_bg"/>
          <p:cNvSpPr/>
          <p:nvPr/>
        </p:nvSpPr>
        <p:spPr>
          <a:xfrm>
            <a:off x="7269480" y="1892808"/>
            <a:ext cx="4206240" cy="1014984"/>
          </a:xfrm>
          <a:prstGeom prst="roundRect">
            <a:avLst>
              <a:gd name="adj" fmla="val 9009"/>
            </a:avLst>
          </a:prstGeom>
          <a:solidFill>
            <a:srgbClr val="DDF7E7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9" name="k3_ans"/>
          <p:cNvSpPr txBox="1"/>
          <p:nvPr/>
        </p:nvSpPr>
        <p:spPr>
          <a:xfrm>
            <a:off x="7452360" y="1892808"/>
            <a:ext cx="38404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(container). Its direct children become flex items.</a:t>
            </a:r>
            <a:endParaRPr lang="en-US" sz="1450" dirty="0"/>
          </a:p>
        </p:txBody>
      </p:sp>
      <p:sp>
        <p:nvSpPr>
          <p:cNvPr id="10" name="a4_row"/>
          <p:cNvSpPr/>
          <p:nvPr/>
        </p:nvSpPr>
        <p:spPr>
          <a:xfrm>
            <a:off x="548640" y="3218688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a4_num"/>
          <p:cNvSpPr/>
          <p:nvPr/>
        </p:nvSpPr>
        <p:spPr>
          <a:xfrm>
            <a:off x="822960" y="3630168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a4_numt"/>
          <p:cNvSpPr txBox="1"/>
          <p:nvPr/>
        </p:nvSpPr>
        <p:spPr>
          <a:xfrm>
            <a:off x="82296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a4_q"/>
          <p:cNvSpPr txBox="1"/>
          <p:nvPr/>
        </p:nvSpPr>
        <p:spPr>
          <a:xfrm>
            <a:off x="1600200" y="3218688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row, which property centres items vertically?</a:t>
            </a:r>
            <a:endParaRPr lang="en-US" sz="1650" dirty="0"/>
          </a:p>
        </p:txBody>
      </p:sp>
      <p:sp>
        <p:nvSpPr>
          <p:cNvPr id="14" name="k4_ans_bg"/>
          <p:cNvSpPr/>
          <p:nvPr/>
        </p:nvSpPr>
        <p:spPr>
          <a:xfrm>
            <a:off x="7269480" y="3374136"/>
            <a:ext cx="4206240" cy="1014984"/>
          </a:xfrm>
          <a:prstGeom prst="roundRect">
            <a:avLst>
              <a:gd name="adj" fmla="val 9009"/>
            </a:avLst>
          </a:prstGeom>
          <a:solidFill>
            <a:srgbClr val="DDF7E7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5" name="k4_ans"/>
          <p:cNvSpPr txBox="1"/>
          <p:nvPr/>
        </p:nvSpPr>
        <p:spPr>
          <a:xfrm>
            <a:off x="7452360" y="3374136"/>
            <a:ext cx="38404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align-items: center (it works on the cross axis).</a:t>
            </a:r>
            <a:endParaRPr lang="en-US" sz="1450" dirty="0"/>
          </a:p>
        </p:txBody>
      </p:sp>
      <p:sp>
        <p:nvSpPr>
          <p:cNvPr id="16" name="a5_row"/>
          <p:cNvSpPr/>
          <p:nvPr/>
        </p:nvSpPr>
        <p:spPr>
          <a:xfrm>
            <a:off x="548640" y="4700016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7" name="a5_num"/>
          <p:cNvSpPr/>
          <p:nvPr/>
        </p:nvSpPr>
        <p:spPr>
          <a:xfrm>
            <a:off x="822960" y="5111496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a5_numt"/>
          <p:cNvSpPr txBox="1"/>
          <p:nvPr/>
        </p:nvSpPr>
        <p:spPr>
          <a:xfrm>
            <a:off x="822960" y="51114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a5_q"/>
          <p:cNvSpPr txBox="1"/>
          <p:nvPr/>
        </p:nvSpPr>
        <p:spPr>
          <a:xfrm>
            <a:off x="1600200" y="4700016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 flex: 1 1 200px mean?</a:t>
            </a:r>
            <a:endParaRPr lang="en-US" sz="1650" dirty="0"/>
          </a:p>
        </p:txBody>
      </p:sp>
      <p:sp>
        <p:nvSpPr>
          <p:cNvPr id="20" name="k5_ans_bg"/>
          <p:cNvSpPr/>
          <p:nvPr/>
        </p:nvSpPr>
        <p:spPr>
          <a:xfrm>
            <a:off x="7269480" y="4855464"/>
            <a:ext cx="4206240" cy="1014984"/>
          </a:xfrm>
          <a:prstGeom prst="roundRect">
            <a:avLst>
              <a:gd name="adj" fmla="val 9009"/>
            </a:avLst>
          </a:prstGeom>
          <a:solidFill>
            <a:srgbClr val="DDF7E7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21" name="k5_ans"/>
          <p:cNvSpPr txBox="1"/>
          <p:nvPr/>
        </p:nvSpPr>
        <p:spPr>
          <a:xfrm>
            <a:off x="7452360" y="4855464"/>
            <a:ext cx="38404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= 1, shrink = 1, starting width (basis) = 200px.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Summary</a:t>
            </a:r>
            <a:endParaRPr lang="en-US" sz="3400" dirty="0"/>
          </a:p>
        </p:txBody>
      </p:sp>
      <p:sp>
        <p:nvSpPr>
          <p:cNvPr id="3" name="a2_ico_bg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" name="a2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428" y="1717700"/>
            <a:ext cx="231343" cy="231343"/>
          </a:xfrm>
          <a:prstGeom prst="rect">
            <a:avLst/>
          </a:prstGeom>
        </p:spPr>
      </p:pic>
      <p:sp>
        <p:nvSpPr>
          <p:cNvPr id="5" name="a2_pt"/>
          <p:cNvSpPr txBox="1"/>
          <p:nvPr/>
        </p:nvSpPr>
        <p:spPr>
          <a:xfrm>
            <a:off x="1280160" y="150876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display: flex on the parent turns children into flex items.</a:t>
            </a:r>
            <a:endParaRPr lang="en-US" sz="1650" dirty="0"/>
          </a:p>
        </p:txBody>
      </p:sp>
      <p:sp>
        <p:nvSpPr>
          <p:cNvPr id="6" name="a3_ico_bg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7" name="a3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28" y="2650388"/>
            <a:ext cx="231343" cy="231343"/>
          </a:xfrm>
          <a:prstGeom prst="rect">
            <a:avLst/>
          </a:prstGeom>
        </p:spPr>
      </p:pic>
      <p:sp>
        <p:nvSpPr>
          <p:cNvPr id="8" name="a3_pt"/>
          <p:cNvSpPr txBox="1"/>
          <p:nvPr/>
        </p:nvSpPr>
        <p:spPr>
          <a:xfrm>
            <a:off x="1280160" y="2441448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justify-content uses the main axis; align-items uses the cross axis.</a:t>
            </a:r>
            <a:endParaRPr lang="en-US" sz="1650" dirty="0"/>
          </a:p>
        </p:txBody>
      </p:sp>
      <p:sp>
        <p:nvSpPr>
          <p:cNvPr id="9" name="a4_ico_bg"/>
          <p:cNvSpPr/>
          <p:nvPr/>
        </p:nvSpPr>
        <p:spPr>
          <a:xfrm>
            <a:off x="548640" y="3447288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0" name="a4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8" y="3583076"/>
            <a:ext cx="231343" cy="231343"/>
          </a:xfrm>
          <a:prstGeom prst="rect">
            <a:avLst/>
          </a:prstGeom>
        </p:spPr>
      </p:pic>
      <p:sp>
        <p:nvSpPr>
          <p:cNvPr id="11" name="a4_pt"/>
          <p:cNvSpPr txBox="1"/>
          <p:nvPr/>
        </p:nvSpPr>
        <p:spPr>
          <a:xfrm>
            <a:off x="1280160" y="3374136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flex-direction: column swaps the axes.</a:t>
            </a:r>
            <a:endParaRPr lang="en-US" sz="1650" dirty="0"/>
          </a:p>
        </p:txBody>
      </p:sp>
      <p:sp>
        <p:nvSpPr>
          <p:cNvPr id="12" name="a5_ico_bg"/>
          <p:cNvSpPr/>
          <p:nvPr/>
        </p:nvSpPr>
        <p:spPr>
          <a:xfrm>
            <a:off x="548640" y="4379976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a5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28" y="4515764"/>
            <a:ext cx="231343" cy="231343"/>
          </a:xfrm>
          <a:prstGeom prst="rect">
            <a:avLst/>
          </a:prstGeom>
        </p:spPr>
      </p:pic>
      <p:sp>
        <p:nvSpPr>
          <p:cNvPr id="14" name="a5_pt"/>
          <p:cNvSpPr txBox="1"/>
          <p:nvPr/>
        </p:nvSpPr>
        <p:spPr>
          <a:xfrm>
            <a:off x="1280160" y="4306824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gap, flex-wrap and flex give spacing, wrapping and flexible sizes.</a:t>
            </a:r>
            <a:endParaRPr lang="en-US" sz="1650" dirty="0"/>
          </a:p>
        </p:txBody>
      </p:sp>
      <p:sp>
        <p:nvSpPr>
          <p:cNvPr id="15" name="a6_ico_bg"/>
          <p:cNvSpPr/>
          <p:nvPr/>
        </p:nvSpPr>
        <p:spPr>
          <a:xfrm>
            <a:off x="548640" y="531266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6" name="a6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28" y="5448452"/>
            <a:ext cx="231343" cy="231343"/>
          </a:xfrm>
          <a:prstGeom prst="rect">
            <a:avLst/>
          </a:prstGeom>
        </p:spPr>
      </p:pic>
      <p:sp>
        <p:nvSpPr>
          <p:cNvPr id="17" name="a6_pt"/>
          <p:cNvSpPr txBox="1"/>
          <p:nvPr/>
        </p:nvSpPr>
        <p:spPr>
          <a:xfrm>
            <a:off x="1280160" y="5239512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is for one dimension; Grid is for rows and columns together.</a:t>
            </a:r>
            <a:endParaRPr lang="en-US" sz="1650" dirty="0"/>
          </a:p>
        </p:txBody>
      </p:sp>
      <p:sp>
        <p:nvSpPr>
          <p:cNvPr id="18" name="a8_panel"/>
          <p:cNvSpPr/>
          <p:nvPr/>
        </p:nvSpPr>
        <p:spPr>
          <a:xfrm>
            <a:off x="7315200" y="1508760"/>
            <a:ext cx="4325112" cy="4617720"/>
          </a:xfrm>
          <a:prstGeom prst="roundRect">
            <a:avLst>
              <a:gd name="adj" fmla="val 2960"/>
            </a:avLst>
          </a:prstGeom>
          <a:solidFill>
            <a:schemeClr val="tx1"/>
          </a:solidFill>
          <a:ln/>
        </p:spPr>
      </p:sp>
      <p:sp>
        <p:nvSpPr>
          <p:cNvPr id="19" name="a8_panel_h"/>
          <p:cNvSpPr txBox="1"/>
          <p:nvPr/>
        </p:nvSpPr>
        <p:spPr>
          <a:xfrm>
            <a:off x="7635240" y="1691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going</a:t>
            </a:r>
            <a:endParaRPr lang="en-US" sz="2100" dirty="0"/>
          </a:p>
        </p:txBody>
      </p:sp>
      <p:sp>
        <p:nvSpPr>
          <p:cNvPr id="20" name="a9_panel_b"/>
          <p:cNvSpPr txBox="1"/>
          <p:nvPr/>
        </p:nvSpPr>
        <p:spPr>
          <a:xfrm>
            <a:off x="7635240" y="2286000"/>
            <a:ext cx="3703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code/lesson4/  (examples, activity, challenge)</a:t>
            </a:r>
            <a:endParaRPr lang="en-US" sz="145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Practise online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playground.html (works offline) or the CodePen links in codepen.html</a:t>
            </a:r>
            <a:endParaRPr lang="en-US" sz="145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5: CSS Grid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rippl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Stylesheet">
  <a:themeElements>
    <a:clrScheme name="Stylesheet">
      <a:dk1>
        <a:srgbClr val="10132B"/>
      </a:dk1>
      <a:lt1>
        <a:srgbClr val="FFFFFF"/>
      </a:lt1>
      <a:dk2>
        <a:srgbClr val="2B3A8F"/>
      </a:dk2>
      <a:lt2>
        <a:srgbClr val="EEF2FF"/>
      </a:lt2>
      <a:accent1>
        <a:srgbClr val="2965F1"/>
      </a:accent1>
      <a:accent2>
        <a:srgbClr val="FFC83D"/>
      </a:accent2>
      <a:accent3>
        <a:srgbClr val="FF4F8B"/>
      </a:accent3>
      <a:accent4>
        <a:srgbClr val="8B5CF6"/>
      </a:accent4>
      <a:accent5>
        <a:srgbClr val="22C55E"/>
      </a:accent5>
      <a:accent6>
        <a:srgbClr val="22D3EE"/>
      </a:accent6>
      <a:hlink>
        <a:srgbClr val="2965F1"/>
      </a:hlink>
      <a:folHlink>
        <a:srgbClr val="8B5CF6"/>
      </a:folHlink>
    </a:clrScheme>
    <a:fontScheme name="Styleshee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for High School - Lesson 4: Flexbox</dc:title>
  <dc:subject>CSS for high-school students</dc:subject>
  <dc:creator>CSS for High School</dc:creator>
  <cp:lastModifiedBy>CSS for High School</cp:lastModifiedBy>
  <cp:revision>1</cp:revision>
  <dcterms:created xsi:type="dcterms:W3CDTF">2026-10-08T23:28:05Z</dcterms:created>
  <dcterms:modified xsi:type="dcterms:W3CDTF">2026-10-08T23:28:05Z</dcterms:modified>
</cp:coreProperties>
</file>