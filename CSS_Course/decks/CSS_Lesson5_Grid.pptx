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display: grid makes .gallery a grid container.
2. repeat(3, 1fr) = three equal columns.
3. gap: 12px spaces rows and columns.
4. Items fill the cells left to right, row by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Four equal columns.
2. grid-column: span 2 makes .wide cover two columns.
3. grid-row: span 2 makes .tall cover two rows. The grid packs the rest around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A 130px sidebar column and a flexible main column.
2. Each quoted string is a row; the same name side by side means that area spans.
3. .page &gt; * selects every direct child of .page.
4. grid-area: head puts the header in the area named 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5836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6400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Shape 0"/>
          <p:cNvSpPr/>
          <p:nvPr/>
        </p:nvSpPr>
        <p:spPr>
          <a:xfrm>
            <a:off x="548640" y="1143000"/>
            <a:ext cx="822960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for High School  |  Lesson 5: CSS Grid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Shape 0"/>
          <p:cNvSpPr/>
          <p:nvPr/>
        </p:nvSpPr>
        <p:spPr>
          <a:xfrm>
            <a:off x="548640" y="114300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for High School  |  Lesson 5: CSS Grid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5_braces"/>
          <p:cNvSpPr txBox="1"/>
          <p:nvPr/>
        </p:nvSpPr>
        <p:spPr>
          <a:xfrm>
            <a:off x="731520" y="502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6000" dirty="0"/>
          </a:p>
        </p:txBody>
      </p:sp>
      <p:sp>
        <p:nvSpPr>
          <p:cNvPr id="3" name="a1_pill"/>
          <p:cNvSpPr/>
          <p:nvPr/>
        </p:nvSpPr>
        <p:spPr>
          <a:xfrm>
            <a:off x="731520" y="1463040"/>
            <a:ext cx="2651760" cy="42062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" name="a1_pill_text"/>
          <p:cNvSpPr txBox="1"/>
          <p:nvPr/>
        </p:nvSpPr>
        <p:spPr>
          <a:xfrm>
            <a:off x="731520" y="14630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5 OF 7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2011680"/>
            <a:ext cx="6583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CSS Grid</a:t>
            </a:r>
            <a:endParaRPr lang="en-US" sz="4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4069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Design whole page layouts with rows and columns</a:t>
            </a:r>
            <a:endParaRPr lang="en-US" sz="2200" dirty="0"/>
          </a:p>
        </p:txBody>
      </p:sp>
      <p:sp>
        <p:nvSpPr>
          <p:cNvPr id="7" name="a4_meta"/>
          <p:cNvSpPr txBox="1"/>
          <p:nvPr/>
        </p:nvSpPr>
        <p:spPr>
          <a:xfrm>
            <a:off x="731520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 |  Prior knowledge: Lessons 1-4  |  ~50 min</a:t>
            </a:r>
            <a:endParaRPr lang="en-US" sz="1600" dirty="0"/>
          </a:p>
        </p:txBody>
      </p:sp>
      <p:sp>
        <p:nvSpPr>
          <p:cNvPr id="8" name="a5_layer"/>
          <p:cNvSpPr/>
          <p:nvPr/>
        </p:nvSpPr>
        <p:spPr>
          <a:xfrm>
            <a:off x="7635240" y="1234440"/>
            <a:ext cx="4114800" cy="4480560"/>
          </a:xfrm>
          <a:prstGeom prst="roundRect">
            <a:avLst>
              <a:gd name="adj" fmla="val 2667"/>
            </a:avLst>
          </a:prstGeom>
          <a:solidFill>
            <a:schemeClr val="accent2">
              <a:alpha val="75000"/>
            </a:schemeClr>
          </a:solidFill>
          <a:ln/>
        </p:spPr>
      </p:sp>
      <p:sp>
        <p:nvSpPr>
          <p:cNvPr id="9" name="a6_layer"/>
          <p:cNvSpPr/>
          <p:nvPr/>
        </p:nvSpPr>
        <p:spPr>
          <a:xfrm>
            <a:off x="8092440" y="1691640"/>
            <a:ext cx="3200400" cy="3566160"/>
          </a:xfrm>
          <a:prstGeom prst="roundRect">
            <a:avLst>
              <a:gd name="adj" fmla="val 3429"/>
            </a:avLst>
          </a:prstGeom>
          <a:solidFill>
            <a:schemeClr val="accent3"/>
          </a:solidFill>
          <a:ln/>
        </p:spPr>
      </p:sp>
      <p:sp>
        <p:nvSpPr>
          <p:cNvPr id="10" name="a7_layer"/>
          <p:cNvSpPr/>
          <p:nvPr/>
        </p:nvSpPr>
        <p:spPr>
          <a:xfrm>
            <a:off x="8503920" y="2103120"/>
            <a:ext cx="2377440" cy="2743200"/>
          </a:xfrm>
          <a:prstGeom prst="roundRect">
            <a:avLst>
              <a:gd name="adj" fmla="val 4615"/>
            </a:avLst>
          </a:prstGeom>
          <a:solidFill>
            <a:schemeClr val="accent4"/>
          </a:solidFill>
          <a:ln/>
        </p:spPr>
      </p:sp>
      <p:sp>
        <p:nvSpPr>
          <p:cNvPr id="11" name="a8_layer"/>
          <p:cNvSpPr/>
          <p:nvPr/>
        </p:nvSpPr>
        <p:spPr>
          <a:xfrm>
            <a:off x="8869680" y="2468880"/>
            <a:ext cx="1645920" cy="192024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a9_cssword"/>
          <p:cNvSpPr txBox="1"/>
          <p:nvPr/>
        </p:nvSpPr>
        <p:spPr>
          <a:xfrm>
            <a:off x="8869680" y="246888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3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Learning objective</a:t>
            </a:r>
            <a:endParaRPr lang="en-US" sz="3400" dirty="0"/>
          </a:p>
        </p:txBody>
      </p:sp>
      <p:sp>
        <p:nvSpPr>
          <p:cNvPr id="3" name="a2_panel"/>
          <p:cNvSpPr/>
          <p:nvPr/>
        </p:nvSpPr>
        <p:spPr>
          <a:xfrm>
            <a:off x="548640" y="1508760"/>
            <a:ext cx="548640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a2_head"/>
          <p:cNvSpPr txBox="1"/>
          <p:nvPr/>
        </p:nvSpPr>
        <p:spPr>
          <a:xfrm>
            <a:off x="86868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 you can:</a:t>
            </a:r>
            <a:endParaRPr lang="en-US" sz="1900" dirty="0"/>
          </a:p>
        </p:txBody>
      </p:sp>
      <p:sp>
        <p:nvSpPr>
          <p:cNvPr id="5" name="a3_ico_bg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a3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2571293"/>
            <a:ext cx="252374" cy="252374"/>
          </a:xfrm>
          <a:prstGeom prst="rect">
            <a:avLst/>
          </a:prstGeom>
        </p:spPr>
      </p:pic>
      <p:sp>
        <p:nvSpPr>
          <p:cNvPr id="7" name="a3_obj"/>
          <p:cNvSpPr txBox="1"/>
          <p:nvPr/>
        </p:nvSpPr>
        <p:spPr>
          <a:xfrm>
            <a:off x="1600200" y="233172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grid with display: grid and grid-template-columns</a:t>
            </a:r>
            <a:endParaRPr lang="en-US" sz="1800" dirty="0"/>
          </a:p>
        </p:txBody>
      </p:sp>
      <p:sp>
        <p:nvSpPr>
          <p:cNvPr id="8" name="a4_ico_bg"/>
          <p:cNvSpPr/>
          <p:nvPr/>
        </p:nvSpPr>
        <p:spPr>
          <a:xfrm>
            <a:off x="868680" y="370332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a4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13" y="3851453"/>
            <a:ext cx="252374" cy="252374"/>
          </a:xfrm>
          <a:prstGeom prst="rect">
            <a:avLst/>
          </a:prstGeom>
        </p:spPr>
      </p:pic>
      <p:sp>
        <p:nvSpPr>
          <p:cNvPr id="10" name="a4_obj"/>
          <p:cNvSpPr txBox="1"/>
          <p:nvPr/>
        </p:nvSpPr>
        <p:spPr>
          <a:xfrm>
            <a:off x="1600200" y="361188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tracks with fr units, repeat() and gap</a:t>
            </a:r>
            <a:endParaRPr lang="en-US" sz="1800" dirty="0"/>
          </a:p>
        </p:txBody>
      </p:sp>
      <p:sp>
        <p:nvSpPr>
          <p:cNvPr id="11" name="a5_ico_bg"/>
          <p:cNvSpPr/>
          <p:nvPr/>
        </p:nvSpPr>
        <p:spPr>
          <a:xfrm>
            <a:off x="868680" y="49834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a5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3" y="5131613"/>
            <a:ext cx="252374" cy="252374"/>
          </a:xfrm>
          <a:prstGeom prst="rect">
            <a:avLst/>
          </a:prstGeom>
        </p:spPr>
      </p:pic>
      <p:sp>
        <p:nvSpPr>
          <p:cNvPr id="13" name="a5_obj"/>
          <p:cNvSpPr txBox="1"/>
          <p:nvPr/>
        </p:nvSpPr>
        <p:spPr>
          <a:xfrm>
            <a:off x="1600200" y="489204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and span items, and name areas with grid-template-areas</a:t>
            </a:r>
            <a:endParaRPr lang="en-US" sz="1800" dirty="0"/>
          </a:p>
        </p:txBody>
      </p:sp>
      <p:sp>
        <p:nvSpPr>
          <p:cNvPr id="14" name="a6_terms_head"/>
          <p:cNvSpPr txBox="1"/>
          <p:nvPr/>
        </p:nvSpPr>
        <p:spPr>
          <a:xfrm>
            <a:off x="6355080" y="15087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</a:t>
            </a:r>
            <a:endParaRPr lang="en-US" sz="1900" dirty="0"/>
          </a:p>
        </p:txBody>
      </p:sp>
      <p:sp>
        <p:nvSpPr>
          <p:cNvPr id="15" name="a6_chip"/>
          <p:cNvSpPr/>
          <p:nvPr/>
        </p:nvSpPr>
        <p:spPr>
          <a:xfrm>
            <a:off x="6355080" y="2057400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16" name="a6_chip_text"/>
          <p:cNvSpPr txBox="1"/>
          <p:nvPr/>
        </p:nvSpPr>
        <p:spPr>
          <a:xfrm>
            <a:off x="635508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container</a:t>
            </a:r>
            <a:endParaRPr lang="en-US" sz="1300" dirty="0"/>
          </a:p>
        </p:txBody>
      </p:sp>
      <p:sp>
        <p:nvSpPr>
          <p:cNvPr id="17" name="a6_def"/>
          <p:cNvSpPr txBox="1"/>
          <p:nvPr/>
        </p:nvSpPr>
        <p:spPr>
          <a:xfrm>
            <a:off x="8183880" y="1947672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element with display: grid. Its children are placed on the grid.</a:t>
            </a:r>
            <a:endParaRPr lang="en-US" sz="1400" dirty="0"/>
          </a:p>
        </p:txBody>
      </p:sp>
      <p:sp>
        <p:nvSpPr>
          <p:cNvPr id="18" name="a7_chip"/>
          <p:cNvSpPr/>
          <p:nvPr/>
        </p:nvSpPr>
        <p:spPr>
          <a:xfrm>
            <a:off x="6355080" y="3127248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19" name="a7_chip_text"/>
          <p:cNvSpPr txBox="1"/>
          <p:nvPr/>
        </p:nvSpPr>
        <p:spPr>
          <a:xfrm>
            <a:off x="6355080" y="31272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</a:t>
            </a:r>
            <a:endParaRPr lang="en-US" sz="1300" dirty="0"/>
          </a:p>
        </p:txBody>
      </p:sp>
      <p:sp>
        <p:nvSpPr>
          <p:cNvPr id="20" name="a7_def"/>
          <p:cNvSpPr txBox="1"/>
          <p:nvPr/>
        </p:nvSpPr>
        <p:spPr>
          <a:xfrm>
            <a:off x="8183880" y="3017520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row or column of the grid.</a:t>
            </a:r>
            <a:endParaRPr lang="en-US" sz="1400" dirty="0"/>
          </a:p>
        </p:txBody>
      </p:sp>
      <p:sp>
        <p:nvSpPr>
          <p:cNvPr id="21" name="a8_chip"/>
          <p:cNvSpPr/>
          <p:nvPr/>
        </p:nvSpPr>
        <p:spPr>
          <a:xfrm>
            <a:off x="6355080" y="4197096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22" name="a8_chip_text"/>
          <p:cNvSpPr txBox="1"/>
          <p:nvPr/>
        </p:nvSpPr>
        <p:spPr>
          <a:xfrm>
            <a:off x="6355080" y="41970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 unit</a:t>
            </a:r>
            <a:endParaRPr lang="en-US" sz="1300" dirty="0"/>
          </a:p>
        </p:txBody>
      </p:sp>
      <p:sp>
        <p:nvSpPr>
          <p:cNvPr id="23" name="a8_def"/>
          <p:cNvSpPr txBox="1"/>
          <p:nvPr/>
        </p:nvSpPr>
        <p:spPr>
          <a:xfrm>
            <a:off x="8183880" y="4087368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fraction of the free space: 1fr 2fr gives the second column twice the width of the first.</a:t>
            </a:r>
            <a:endParaRPr lang="en-US" sz="1400" dirty="0"/>
          </a:p>
        </p:txBody>
      </p:sp>
      <p:sp>
        <p:nvSpPr>
          <p:cNvPr id="24" name="a9_chip"/>
          <p:cNvSpPr/>
          <p:nvPr/>
        </p:nvSpPr>
        <p:spPr>
          <a:xfrm>
            <a:off x="6355080" y="5266944"/>
            <a:ext cx="164592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25" name="a9_chip_text"/>
          <p:cNvSpPr txBox="1"/>
          <p:nvPr/>
        </p:nvSpPr>
        <p:spPr>
          <a:xfrm>
            <a:off x="6355080" y="52669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line</a:t>
            </a:r>
            <a:endParaRPr lang="en-US" sz="1300" dirty="0"/>
          </a:p>
        </p:txBody>
      </p:sp>
      <p:sp>
        <p:nvSpPr>
          <p:cNvPr id="26" name="a9_def"/>
          <p:cNvSpPr txBox="1"/>
          <p:nvPr/>
        </p:nvSpPr>
        <p:spPr>
          <a:xfrm>
            <a:off x="8183880" y="5157216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numbered lines between tracks. A 3-column grid has 4 vertical lines (1 to 4).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big ideas</a:t>
            </a:r>
            <a:endParaRPr lang="en-US" sz="34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a2_card_bar"/>
          <p:cNvSpPr/>
          <p:nvPr/>
        </p:nvSpPr>
        <p:spPr>
          <a:xfrm>
            <a:off x="822960" y="1508760"/>
            <a:ext cx="822960" cy="822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a2_num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2_numt"/>
          <p:cNvSpPr txBox="1"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a2_card_h"/>
          <p:cNvSpPr txBox="1"/>
          <p:nvPr/>
        </p:nvSpPr>
        <p:spPr>
          <a:xfrm>
            <a:off x="822960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is two-dimensional</a:t>
            </a:r>
            <a:endParaRPr lang="en-US" sz="2000" dirty="0"/>
          </a:p>
        </p:txBody>
      </p:sp>
      <p:sp>
        <p:nvSpPr>
          <p:cNvPr id="8" name="a2_card_b"/>
          <p:cNvSpPr txBox="1"/>
          <p:nvPr/>
        </p:nvSpPr>
        <p:spPr>
          <a:xfrm>
            <a:off x="822960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arranges items in one line at a time. Grid arranges rows AND columns together, so it suits whole page layouts and galleries.</a:t>
            </a:r>
            <a:endParaRPr lang="en-US" sz="1500" dirty="0"/>
          </a:p>
        </p:txBody>
      </p:sp>
      <p:sp>
        <p:nvSpPr>
          <p:cNvPr id="9" name="a2_card_codebg"/>
          <p:cNvSpPr/>
          <p:nvPr/>
        </p:nvSpPr>
        <p:spPr>
          <a:xfrm>
            <a:off x="822960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0" name="a2_card_code"/>
          <p:cNvSpPr txBox="1"/>
          <p:nvPr/>
        </p:nvSpPr>
        <p:spPr>
          <a:xfrm>
            <a:off x="822960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grid;</a:t>
            </a:r>
            <a:endParaRPr lang="en-US" sz="1300" dirty="0"/>
          </a:p>
        </p:txBody>
      </p:sp>
      <p:sp>
        <p:nvSpPr>
          <p:cNvPr id="11" name="a3_card"/>
          <p:cNvSpPr/>
          <p:nvPr/>
        </p:nvSpPr>
        <p:spPr>
          <a:xfrm>
            <a:off x="4338218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2" name="a3_card_bar"/>
          <p:cNvSpPr/>
          <p:nvPr/>
        </p:nvSpPr>
        <p:spPr>
          <a:xfrm>
            <a:off x="4612538" y="1508760"/>
            <a:ext cx="822960" cy="822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a3_num"/>
          <p:cNvSpPr/>
          <p:nvPr/>
        </p:nvSpPr>
        <p:spPr>
          <a:xfrm>
            <a:off x="4612538" y="17830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461253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a3_card_h"/>
          <p:cNvSpPr txBox="1"/>
          <p:nvPr/>
        </p:nvSpPr>
        <p:spPr>
          <a:xfrm>
            <a:off x="4612538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tracks</a:t>
            </a:r>
            <a:endParaRPr lang="en-US" sz="2000" dirty="0"/>
          </a:p>
        </p:txBody>
      </p:sp>
      <p:sp>
        <p:nvSpPr>
          <p:cNvPr id="16" name="a3_card_b"/>
          <p:cNvSpPr txBox="1"/>
          <p:nvPr/>
        </p:nvSpPr>
        <p:spPr>
          <a:xfrm>
            <a:off x="4612538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grid-template-columns lists the width of each column. repeat(3, 1fr) means three equal columns that share the free space. gap adds space between tracks.</a:t>
            </a:r>
            <a:endParaRPr lang="en-US" sz="1500" dirty="0"/>
          </a:p>
        </p:txBody>
      </p:sp>
      <p:sp>
        <p:nvSpPr>
          <p:cNvPr id="17" name="a3_card_codebg"/>
          <p:cNvSpPr/>
          <p:nvPr/>
        </p:nvSpPr>
        <p:spPr>
          <a:xfrm>
            <a:off x="4612538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18" name="a3_card_code"/>
          <p:cNvSpPr txBox="1"/>
          <p:nvPr/>
        </p:nvSpPr>
        <p:spPr>
          <a:xfrm>
            <a:off x="4612538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repeat(3, 1fr)</a:t>
            </a:r>
            <a:endParaRPr lang="en-US" sz="1300" dirty="0"/>
          </a:p>
        </p:txBody>
      </p:sp>
      <p:sp>
        <p:nvSpPr>
          <p:cNvPr id="19" name="a4_card"/>
          <p:cNvSpPr/>
          <p:nvPr/>
        </p:nvSpPr>
        <p:spPr>
          <a:xfrm>
            <a:off x="8127797" y="1508760"/>
            <a:ext cx="3515258" cy="4617720"/>
          </a:xfrm>
          <a:prstGeom prst="roundRect">
            <a:avLst>
              <a:gd name="adj" fmla="val 31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a4_card_bar"/>
          <p:cNvSpPr/>
          <p:nvPr/>
        </p:nvSpPr>
        <p:spPr>
          <a:xfrm>
            <a:off x="8402117" y="1508760"/>
            <a:ext cx="822960" cy="8229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1" name="a4_num"/>
          <p:cNvSpPr/>
          <p:nvPr/>
        </p:nvSpPr>
        <p:spPr>
          <a:xfrm>
            <a:off x="8402117" y="17830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2" name="a4_numt"/>
          <p:cNvSpPr txBox="1"/>
          <p:nvPr/>
        </p:nvSpPr>
        <p:spPr>
          <a:xfrm>
            <a:off x="8402117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a4_card_h"/>
          <p:cNvSpPr txBox="1"/>
          <p:nvPr/>
        </p:nvSpPr>
        <p:spPr>
          <a:xfrm>
            <a:off x="8402117" y="242316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items by line or name</a:t>
            </a:r>
            <a:endParaRPr lang="en-US" sz="2000" dirty="0"/>
          </a:p>
        </p:txBody>
      </p:sp>
      <p:sp>
        <p:nvSpPr>
          <p:cNvPr id="24" name="a4_card_b"/>
          <p:cNvSpPr txBox="1"/>
          <p:nvPr/>
        </p:nvSpPr>
        <p:spPr>
          <a:xfrm>
            <a:off x="8402117" y="324612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fill the grid automatically. To move or stretch one, use grid-column and grid-row with span, or name areas and place items with grid-area.</a:t>
            </a:r>
            <a:endParaRPr lang="en-US" sz="1500" dirty="0"/>
          </a:p>
        </p:txBody>
      </p:sp>
      <p:sp>
        <p:nvSpPr>
          <p:cNvPr id="25" name="a4_card_codebg"/>
          <p:cNvSpPr/>
          <p:nvPr/>
        </p:nvSpPr>
        <p:spPr>
          <a:xfrm>
            <a:off x="8402117" y="5349240"/>
            <a:ext cx="2966618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26" name="a4_card_code"/>
          <p:cNvSpPr txBox="1"/>
          <p:nvPr/>
        </p:nvSpPr>
        <p:spPr>
          <a:xfrm>
            <a:off x="8402117" y="534924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grid-column: span 2;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Tracks and grid lines</a:t>
            </a:r>
            <a:endParaRPr lang="en-US" sz="3400" dirty="0"/>
          </a:p>
        </p:txBody>
      </p:sp>
      <p:sp>
        <p:nvSpPr>
          <p:cNvPr id="3" name="a2_frame"/>
          <p:cNvSpPr/>
          <p:nvPr/>
        </p:nvSpPr>
        <p:spPr>
          <a:xfrm>
            <a:off x="475488" y="1435608"/>
            <a:ext cx="7095744" cy="4718304"/>
          </a:xfrm>
          <a:prstGeom prst="roundRect">
            <a:avLst>
              <a:gd name="adj" fmla="val 1938"/>
            </a:avLst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a2_diagram" descr="/home/user/Python/CSS_Course/assets/l5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949440" cy="4572000"/>
          </a:xfrm>
          <a:prstGeom prst="rect">
            <a:avLst/>
          </a:prstGeom>
        </p:spPr>
      </p:pic>
      <p:sp>
        <p:nvSpPr>
          <p:cNvPr id="5" name="a3_num"/>
          <p:cNvSpPr/>
          <p:nvPr/>
        </p:nvSpPr>
        <p:spPr>
          <a:xfrm>
            <a:off x="790956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79095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a3_cap"/>
          <p:cNvSpPr txBox="1"/>
          <p:nvPr/>
        </p:nvSpPr>
        <p:spPr>
          <a:xfrm>
            <a:off x="8549640" y="1600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grid with 3 columns and 2 rows has 4 column lines and 3 row lines.</a:t>
            </a:r>
            <a:endParaRPr lang="en-US" sz="1600" dirty="0"/>
          </a:p>
        </p:txBody>
      </p:sp>
      <p:sp>
        <p:nvSpPr>
          <p:cNvPr id="8" name="a4_num"/>
          <p:cNvSpPr/>
          <p:nvPr/>
        </p:nvSpPr>
        <p:spPr>
          <a:xfrm>
            <a:off x="7909560" y="31546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79095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a4_cap"/>
          <p:cNvSpPr txBox="1"/>
          <p:nvPr/>
        </p:nvSpPr>
        <p:spPr>
          <a:xfrm>
            <a:off x="8549640" y="3063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grid-column: 1 / 3 starts at line 1 and ends at line 3: it covers TWO columns.</a:t>
            </a:r>
            <a:endParaRPr lang="en-US" sz="1600" dirty="0"/>
          </a:p>
        </p:txBody>
      </p:sp>
      <p:sp>
        <p:nvSpPr>
          <p:cNvPr id="11" name="a5_num"/>
          <p:cNvSpPr/>
          <p:nvPr/>
        </p:nvSpPr>
        <p:spPr>
          <a:xfrm>
            <a:off x="7909560" y="46177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790956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a5_cap"/>
          <p:cNvSpPr txBox="1"/>
          <p:nvPr/>
        </p:nvSpPr>
        <p:spPr>
          <a:xfrm>
            <a:off x="8549640" y="4526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leaves space between tracks without extra margins.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window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Example 1: A simple grid</a:t>
            </a:r>
            <a:endParaRPr lang="en-US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equal columns with repeat() and a gap between the tracks.</a:t>
            </a:r>
            <a:endParaRPr lang="en-US" sz="1600" dirty="0"/>
          </a:p>
        </p:txBody>
      </p:sp>
      <p:sp>
        <p:nvSpPr>
          <p:cNvPr id="5" name="a3_code"/>
          <p:cNvSpPr/>
          <p:nvPr/>
        </p:nvSpPr>
        <p:spPr>
          <a:xfrm>
            <a:off x="548640" y="1783080"/>
            <a:ext cx="5623560" cy="3377184"/>
          </a:xfrm>
          <a:prstGeom prst="roundRect">
            <a:avLst>
              <a:gd name="adj" fmla="val 324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768096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987552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1207008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1554480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1261872" y="2350008"/>
            <a:ext cx="4754880" cy="2636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.gallery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grid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repeat(3, 1fr)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12px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.gallery div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#2965f1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white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24px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text-align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center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a3_num"/>
          <p:cNvSpPr/>
          <p:nvPr/>
        </p:nvSpPr>
        <p:spPr>
          <a:xfrm>
            <a:off x="822960" y="257327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822960" y="25732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a3_num"/>
          <p:cNvSpPr/>
          <p:nvPr/>
        </p:nvSpPr>
        <p:spPr>
          <a:xfrm>
            <a:off x="822960" y="278917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822960" y="27891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a3_num"/>
          <p:cNvSpPr/>
          <p:nvPr/>
        </p:nvSpPr>
        <p:spPr>
          <a:xfrm>
            <a:off x="822960" y="300507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822960" y="30050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a3_num"/>
          <p:cNvSpPr/>
          <p:nvPr/>
        </p:nvSpPr>
        <p:spPr>
          <a:xfrm>
            <a:off x="822960" y="343687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3_numt"/>
          <p:cNvSpPr txBox="1"/>
          <p:nvPr/>
        </p:nvSpPr>
        <p:spPr>
          <a:xfrm>
            <a:off x="822960" y="343687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a5_html"/>
          <p:cNvSpPr/>
          <p:nvPr/>
        </p:nvSpPr>
        <p:spPr>
          <a:xfrm>
            <a:off x="548640" y="5297424"/>
            <a:ext cx="5623560" cy="966216"/>
          </a:xfrm>
          <a:prstGeom prst="roundRect">
            <a:avLst>
              <a:gd name="adj" fmla="val 9464"/>
            </a:avLst>
          </a:prstGeom>
          <a:solidFill>
            <a:schemeClr val="bg2"/>
          </a:solidFill>
          <a:ln/>
        </p:spPr>
      </p:sp>
      <p:sp>
        <p:nvSpPr>
          <p:cNvPr id="20" name="a5_html_h"/>
          <p:cNvSpPr txBox="1"/>
          <p:nvPr/>
        </p:nvSpPr>
        <p:spPr>
          <a:xfrm>
            <a:off x="731520" y="5370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used</a:t>
            </a:r>
            <a:endParaRPr lang="en-US" sz="1100" dirty="0"/>
          </a:p>
        </p:txBody>
      </p:sp>
      <p:sp>
        <p:nvSpPr>
          <p:cNvPr id="21" name="a5_html_text"/>
          <p:cNvSpPr txBox="1"/>
          <p:nvPr/>
        </p:nvSpPr>
        <p:spPr>
          <a:xfrm>
            <a:off x="731520" y="5644896"/>
            <a:ext cx="525780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class="gallery"&gt;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&lt;div&gt;1&lt;/div&gt;&lt;div&gt;2&lt;/div&gt;&lt;div&gt;3&lt;/div&gt;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50" dirty="0"/>
          </a:p>
        </p:txBody>
      </p:sp>
      <p:sp>
        <p:nvSpPr>
          <p:cNvPr id="22" name="a4_browser"/>
          <p:cNvSpPr/>
          <p:nvPr/>
        </p:nvSpPr>
        <p:spPr>
          <a:xfrm>
            <a:off x="6400800" y="1783080"/>
            <a:ext cx="5242255" cy="2836240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3" name="a4_browser_bar"/>
          <p:cNvSpPr/>
          <p:nvPr/>
        </p:nvSpPr>
        <p:spPr>
          <a:xfrm>
            <a:off x="6400800" y="1783080"/>
            <a:ext cx="524225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658368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5" name="a4_browser_dot"/>
          <p:cNvSpPr/>
          <p:nvPr/>
        </p:nvSpPr>
        <p:spPr>
          <a:xfrm>
            <a:off x="678484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a4_browser_dot"/>
          <p:cNvSpPr/>
          <p:nvPr/>
        </p:nvSpPr>
        <p:spPr>
          <a:xfrm>
            <a:off x="698601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7" name="a4_browser_url"/>
          <p:cNvSpPr/>
          <p:nvPr/>
        </p:nvSpPr>
        <p:spPr>
          <a:xfrm>
            <a:off x="7315200" y="1847088"/>
            <a:ext cx="414497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8" name="a4_browser_urltext"/>
          <p:cNvSpPr txBox="1"/>
          <p:nvPr/>
        </p:nvSpPr>
        <p:spPr>
          <a:xfrm>
            <a:off x="7424928" y="1847088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lesson5/example1/index.html</a:t>
            </a:r>
            <a:endParaRPr lang="en-US" sz="1100" dirty="0"/>
          </a:p>
        </p:txBody>
      </p:sp>
      <p:pic>
        <p:nvPicPr>
          <p:cNvPr id="29" name="a4_shot" descr="/home/user/Python/CSS_Course/assets/l5_ex1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85416"/>
            <a:ext cx="5242255" cy="2433904"/>
          </a:xfrm>
          <a:prstGeom prst="rect">
            <a:avLst/>
          </a:prstGeom>
        </p:spPr>
      </p:pic>
      <p:sp>
        <p:nvSpPr>
          <p:cNvPr id="30" name="a6_num"/>
          <p:cNvSpPr/>
          <p:nvPr/>
        </p:nvSpPr>
        <p:spPr>
          <a:xfrm>
            <a:off x="6400800" y="4838776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a6_numt"/>
          <p:cNvSpPr txBox="1"/>
          <p:nvPr/>
        </p:nvSpPr>
        <p:spPr>
          <a:xfrm>
            <a:off x="6400800" y="483877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a6_ann"/>
          <p:cNvSpPr txBox="1"/>
          <p:nvPr/>
        </p:nvSpPr>
        <p:spPr>
          <a:xfrm>
            <a:off x="6748272" y="4802200"/>
            <a:ext cx="4894783" cy="358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grid makes .gallery a grid container.</a:t>
            </a:r>
            <a:endParaRPr lang="en-US" sz="1250" dirty="0"/>
          </a:p>
        </p:txBody>
      </p:sp>
      <p:sp>
        <p:nvSpPr>
          <p:cNvPr id="33" name="a7_num"/>
          <p:cNvSpPr/>
          <p:nvPr/>
        </p:nvSpPr>
        <p:spPr>
          <a:xfrm>
            <a:off x="6400800" y="5215566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4" name="a7_numt"/>
          <p:cNvSpPr txBox="1"/>
          <p:nvPr/>
        </p:nvSpPr>
        <p:spPr>
          <a:xfrm>
            <a:off x="6400800" y="521556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a7_ann"/>
          <p:cNvSpPr txBox="1"/>
          <p:nvPr/>
        </p:nvSpPr>
        <p:spPr>
          <a:xfrm>
            <a:off x="6748272" y="5178990"/>
            <a:ext cx="4894783" cy="358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repeat(3, 1fr) = three equal columns.</a:t>
            </a:r>
            <a:endParaRPr lang="en-US" sz="1250" dirty="0"/>
          </a:p>
        </p:txBody>
      </p:sp>
      <p:sp>
        <p:nvSpPr>
          <p:cNvPr id="36" name="a8_num"/>
          <p:cNvSpPr/>
          <p:nvPr/>
        </p:nvSpPr>
        <p:spPr>
          <a:xfrm>
            <a:off x="6400800" y="5592356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7" name="a8_numt"/>
          <p:cNvSpPr txBox="1"/>
          <p:nvPr/>
        </p:nvSpPr>
        <p:spPr>
          <a:xfrm>
            <a:off x="6400800" y="55923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a8_ann"/>
          <p:cNvSpPr txBox="1"/>
          <p:nvPr/>
        </p:nvSpPr>
        <p:spPr>
          <a:xfrm>
            <a:off x="6748272" y="5555780"/>
            <a:ext cx="4894783" cy="358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12px spaces rows and columns.</a:t>
            </a:r>
            <a:endParaRPr lang="en-US" sz="1250" dirty="0"/>
          </a:p>
        </p:txBody>
      </p:sp>
      <p:sp>
        <p:nvSpPr>
          <p:cNvPr id="39" name="a9_num"/>
          <p:cNvSpPr/>
          <p:nvPr/>
        </p:nvSpPr>
        <p:spPr>
          <a:xfrm>
            <a:off x="6400800" y="5969146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0" name="a9_numt"/>
          <p:cNvSpPr txBox="1"/>
          <p:nvPr/>
        </p:nvSpPr>
        <p:spPr>
          <a:xfrm>
            <a:off x="6400800" y="596914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a9_ann"/>
          <p:cNvSpPr txBox="1"/>
          <p:nvPr/>
        </p:nvSpPr>
        <p:spPr>
          <a:xfrm>
            <a:off x="6748272" y="5932570"/>
            <a:ext cx="4894783" cy="358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fill the cells left to right, row by row.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6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7" dur="6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1" dur="6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6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5" dur="6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Example 2: Spanning rows and columns</a:t>
            </a:r>
            <a:endParaRPr lang="en-US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item can cover more than one cell with span.</a:t>
            </a:r>
            <a:endParaRPr lang="en-US" sz="1600" dirty="0"/>
          </a:p>
        </p:txBody>
      </p:sp>
      <p:sp>
        <p:nvSpPr>
          <p:cNvPr id="5" name="a3_code"/>
          <p:cNvSpPr/>
          <p:nvPr/>
        </p:nvSpPr>
        <p:spPr>
          <a:xfrm>
            <a:off x="548640" y="1783080"/>
            <a:ext cx="5623560" cy="3631184"/>
          </a:xfrm>
          <a:prstGeom prst="roundRect">
            <a:avLst>
              <a:gd name="adj" fmla="val 302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768096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987552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1207008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1554480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1261872" y="2350008"/>
            <a:ext cx="4754880" cy="289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.grid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grid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repeat(4, 1fr)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10px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.grid div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#8b5cf6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white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20px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10px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.wide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grid-column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span 2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.tall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grid-row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span 2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a3_num"/>
          <p:cNvSpPr/>
          <p:nvPr/>
        </p:nvSpPr>
        <p:spPr>
          <a:xfrm>
            <a:off x="822960" y="275742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822960" y="27574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a3_num"/>
          <p:cNvSpPr/>
          <p:nvPr/>
        </p:nvSpPr>
        <p:spPr>
          <a:xfrm>
            <a:off x="822960" y="458622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822960" y="4586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a3_num"/>
          <p:cNvSpPr/>
          <p:nvPr/>
        </p:nvSpPr>
        <p:spPr>
          <a:xfrm>
            <a:off x="822960" y="478942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822960" y="47894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a5_html"/>
          <p:cNvSpPr/>
          <p:nvPr/>
        </p:nvSpPr>
        <p:spPr>
          <a:xfrm>
            <a:off x="548640" y="5551424"/>
            <a:ext cx="5623560" cy="712216"/>
          </a:xfrm>
          <a:prstGeom prst="roundRect">
            <a:avLst>
              <a:gd name="adj" fmla="val 12839"/>
            </a:avLst>
          </a:prstGeom>
          <a:solidFill>
            <a:schemeClr val="bg2"/>
          </a:solidFill>
          <a:ln/>
        </p:spPr>
      </p:sp>
      <p:sp>
        <p:nvSpPr>
          <p:cNvPr id="18" name="a5_html_h"/>
          <p:cNvSpPr txBox="1"/>
          <p:nvPr/>
        </p:nvSpPr>
        <p:spPr>
          <a:xfrm>
            <a:off x="731520" y="5624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used</a:t>
            </a:r>
            <a:endParaRPr lang="en-US" sz="1100" dirty="0"/>
          </a:p>
        </p:txBody>
      </p:sp>
      <p:sp>
        <p:nvSpPr>
          <p:cNvPr id="19" name="a5_html_text"/>
          <p:cNvSpPr txBox="1"/>
          <p:nvPr/>
        </p:nvSpPr>
        <p:spPr>
          <a:xfrm>
            <a:off x="731520" y="5898896"/>
            <a:ext cx="5257800" cy="300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class="grid"&gt;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50" dirty="0"/>
          </a:p>
        </p:txBody>
      </p:sp>
      <p:sp>
        <p:nvSpPr>
          <p:cNvPr id="20" name="a4_browser"/>
          <p:cNvSpPr/>
          <p:nvPr/>
        </p:nvSpPr>
        <p:spPr>
          <a:xfrm>
            <a:off x="6400800" y="1783080"/>
            <a:ext cx="4855779" cy="291693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a4_browser_bar"/>
          <p:cNvSpPr/>
          <p:nvPr/>
        </p:nvSpPr>
        <p:spPr>
          <a:xfrm>
            <a:off x="6400800" y="1783080"/>
            <a:ext cx="4855779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a4_browser_dot"/>
          <p:cNvSpPr/>
          <p:nvPr/>
        </p:nvSpPr>
        <p:spPr>
          <a:xfrm>
            <a:off x="658368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3" name="a4_browser_dot"/>
          <p:cNvSpPr/>
          <p:nvPr/>
        </p:nvSpPr>
        <p:spPr>
          <a:xfrm>
            <a:off x="678484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a4_browser_dot"/>
          <p:cNvSpPr/>
          <p:nvPr/>
        </p:nvSpPr>
        <p:spPr>
          <a:xfrm>
            <a:off x="698601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5" name="a4_browser_url"/>
          <p:cNvSpPr/>
          <p:nvPr/>
        </p:nvSpPr>
        <p:spPr>
          <a:xfrm>
            <a:off x="7315200" y="1847088"/>
            <a:ext cx="3758499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6" name="a4_browser_urltext"/>
          <p:cNvSpPr txBox="1"/>
          <p:nvPr/>
        </p:nvSpPr>
        <p:spPr>
          <a:xfrm>
            <a:off x="7424928" y="1847088"/>
            <a:ext cx="3575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lesson5/example2/index.html</a:t>
            </a:r>
            <a:endParaRPr lang="en-US" sz="1100" dirty="0"/>
          </a:p>
        </p:txBody>
      </p:sp>
      <p:pic>
        <p:nvPicPr>
          <p:cNvPr id="27" name="a4_shot" descr="/home/user/Python/CSS_Course/assets/l5_ex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85416"/>
            <a:ext cx="4855779" cy="2514600"/>
          </a:xfrm>
          <a:prstGeom prst="rect">
            <a:avLst/>
          </a:prstGeom>
        </p:spPr>
      </p:pic>
      <p:sp>
        <p:nvSpPr>
          <p:cNvPr id="28" name="a6_num"/>
          <p:cNvSpPr/>
          <p:nvPr/>
        </p:nvSpPr>
        <p:spPr>
          <a:xfrm>
            <a:off x="6400800" y="4919472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a6_numt"/>
          <p:cNvSpPr txBox="1"/>
          <p:nvPr/>
        </p:nvSpPr>
        <p:spPr>
          <a:xfrm>
            <a:off x="6400800" y="49194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a6_ann"/>
          <p:cNvSpPr txBox="1"/>
          <p:nvPr/>
        </p:nvSpPr>
        <p:spPr>
          <a:xfrm>
            <a:off x="6748272" y="4882896"/>
            <a:ext cx="4894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equal columns.</a:t>
            </a:r>
            <a:endParaRPr lang="en-US" sz="1250" dirty="0"/>
          </a:p>
        </p:txBody>
      </p:sp>
      <p:sp>
        <p:nvSpPr>
          <p:cNvPr id="31" name="a7_num"/>
          <p:cNvSpPr/>
          <p:nvPr/>
        </p:nvSpPr>
        <p:spPr>
          <a:xfrm>
            <a:off x="6400800" y="5394960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2" name="a7_numt"/>
          <p:cNvSpPr txBox="1"/>
          <p:nvPr/>
        </p:nvSpPr>
        <p:spPr>
          <a:xfrm>
            <a:off x="6400800" y="5394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a7_ann"/>
          <p:cNvSpPr txBox="1"/>
          <p:nvPr/>
        </p:nvSpPr>
        <p:spPr>
          <a:xfrm>
            <a:off x="6748272" y="5358384"/>
            <a:ext cx="4894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grid-column: span 2 makes .wide cover two columns.</a:t>
            </a:r>
            <a:endParaRPr lang="en-US" sz="1250" dirty="0"/>
          </a:p>
        </p:txBody>
      </p:sp>
      <p:sp>
        <p:nvSpPr>
          <p:cNvPr id="34" name="a8_num"/>
          <p:cNvSpPr/>
          <p:nvPr/>
        </p:nvSpPr>
        <p:spPr>
          <a:xfrm>
            <a:off x="6400800" y="5870448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5" name="a8_numt"/>
          <p:cNvSpPr txBox="1"/>
          <p:nvPr/>
        </p:nvSpPr>
        <p:spPr>
          <a:xfrm>
            <a:off x="6400800" y="58704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a8_ann"/>
          <p:cNvSpPr txBox="1"/>
          <p:nvPr/>
        </p:nvSpPr>
        <p:spPr>
          <a:xfrm>
            <a:off x="6748272" y="5833872"/>
            <a:ext cx="48947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grid-row: span 2 makes .tall cover two rows. The grid packs the rest around it.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Example 3: Page layout with named areas</a:t>
            </a:r>
            <a:endParaRPr lang="en-US" sz="3400" dirty="0"/>
          </a:p>
        </p:txBody>
      </p:sp>
      <p:sp>
        <p:nvSpPr>
          <p:cNvPr id="4" name="a2_intro"/>
          <p:cNvSpPr txBox="1"/>
          <p:nvPr/>
        </p:nvSpPr>
        <p:spPr>
          <a:xfrm>
            <a:off x="548640" y="12618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layout in your CSS with grid-template-areas.</a:t>
            </a:r>
            <a:endParaRPr lang="en-US" sz="1600" dirty="0"/>
          </a:p>
        </p:txBody>
      </p:sp>
      <p:sp>
        <p:nvSpPr>
          <p:cNvPr id="5" name="a3_code"/>
          <p:cNvSpPr/>
          <p:nvPr/>
        </p:nvSpPr>
        <p:spPr>
          <a:xfrm>
            <a:off x="548640" y="1783080"/>
            <a:ext cx="5623560" cy="3834384"/>
          </a:xfrm>
          <a:prstGeom prst="roundRect">
            <a:avLst>
              <a:gd name="adj" fmla="val 286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6" name="a3_code_dot"/>
          <p:cNvSpPr/>
          <p:nvPr/>
        </p:nvSpPr>
        <p:spPr>
          <a:xfrm>
            <a:off x="768096" y="1965960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3_code_dot"/>
          <p:cNvSpPr/>
          <p:nvPr/>
        </p:nvSpPr>
        <p:spPr>
          <a:xfrm>
            <a:off x="987552" y="196596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a3_code_dot"/>
          <p:cNvSpPr/>
          <p:nvPr/>
        </p:nvSpPr>
        <p:spPr>
          <a:xfrm>
            <a:off x="1207008" y="1965960"/>
            <a:ext cx="128016" cy="12801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a3_code_file"/>
          <p:cNvSpPr txBox="1"/>
          <p:nvPr/>
        </p:nvSpPr>
        <p:spPr>
          <a:xfrm>
            <a:off x="1554480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E9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200" dirty="0"/>
          </a:p>
        </p:txBody>
      </p:sp>
      <p:sp>
        <p:nvSpPr>
          <p:cNvPr id="10" name="a3_code_text"/>
          <p:cNvSpPr txBox="1"/>
          <p:nvPr/>
        </p:nvSpPr>
        <p:spPr>
          <a:xfrm>
            <a:off x="1261872" y="2350008"/>
            <a:ext cx="4754880" cy="3093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.page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grid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130px 1fr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grid-template-areas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"head head"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"side main"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"foot foot"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8px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Arial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.page &gt; *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#dbe4ff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16px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grid-area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head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aside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grid-area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side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grid-area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footer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grid-area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foot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a3_num"/>
          <p:cNvSpPr/>
          <p:nvPr/>
        </p:nvSpPr>
        <p:spPr>
          <a:xfrm>
            <a:off x="822960" y="275742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822960" y="27574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a3_num"/>
          <p:cNvSpPr/>
          <p:nvPr/>
        </p:nvSpPr>
        <p:spPr>
          <a:xfrm>
            <a:off x="822960" y="3163824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a3_numt"/>
          <p:cNvSpPr txBox="1"/>
          <p:nvPr/>
        </p:nvSpPr>
        <p:spPr>
          <a:xfrm>
            <a:off x="822960" y="3163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a3_num"/>
          <p:cNvSpPr/>
          <p:nvPr/>
        </p:nvSpPr>
        <p:spPr>
          <a:xfrm>
            <a:off x="822960" y="4383024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a3_numt"/>
          <p:cNvSpPr txBox="1"/>
          <p:nvPr/>
        </p:nvSpPr>
        <p:spPr>
          <a:xfrm>
            <a:off x="822960" y="4383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a3_num"/>
          <p:cNvSpPr/>
          <p:nvPr/>
        </p:nvSpPr>
        <p:spPr>
          <a:xfrm>
            <a:off x="822960" y="458622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3_numt"/>
          <p:cNvSpPr txBox="1"/>
          <p:nvPr/>
        </p:nvSpPr>
        <p:spPr>
          <a:xfrm>
            <a:off x="822960" y="4586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a4_browser"/>
          <p:cNvSpPr/>
          <p:nvPr/>
        </p:nvSpPr>
        <p:spPr>
          <a:xfrm>
            <a:off x="6400800" y="1783080"/>
            <a:ext cx="4693920" cy="291693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0" name="a4_browser_bar"/>
          <p:cNvSpPr/>
          <p:nvPr/>
        </p:nvSpPr>
        <p:spPr>
          <a:xfrm>
            <a:off x="6400800" y="1783080"/>
            <a:ext cx="4693920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a4_browser_dot"/>
          <p:cNvSpPr/>
          <p:nvPr/>
        </p:nvSpPr>
        <p:spPr>
          <a:xfrm>
            <a:off x="6583680" y="192024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2" name="a4_browser_dot"/>
          <p:cNvSpPr/>
          <p:nvPr/>
        </p:nvSpPr>
        <p:spPr>
          <a:xfrm>
            <a:off x="6784848" y="192024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a4_browser_dot"/>
          <p:cNvSpPr/>
          <p:nvPr/>
        </p:nvSpPr>
        <p:spPr>
          <a:xfrm>
            <a:off x="6986016" y="192024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4" name="a4_browser_url"/>
          <p:cNvSpPr/>
          <p:nvPr/>
        </p:nvSpPr>
        <p:spPr>
          <a:xfrm>
            <a:off x="7315200" y="1847088"/>
            <a:ext cx="3596640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5" name="a4_browser_urltext"/>
          <p:cNvSpPr txBox="1"/>
          <p:nvPr/>
        </p:nvSpPr>
        <p:spPr>
          <a:xfrm>
            <a:off x="7424928" y="1847088"/>
            <a:ext cx="341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lesson5/example3/index.html</a:t>
            </a:r>
            <a:endParaRPr lang="en-US" sz="1100" dirty="0"/>
          </a:p>
        </p:txBody>
      </p:sp>
      <p:pic>
        <p:nvPicPr>
          <p:cNvPr id="26" name="a4_shot" descr="/home/user/Python/CSS_Course/assets/l5_ex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85416"/>
            <a:ext cx="4693920" cy="2514600"/>
          </a:xfrm>
          <a:prstGeom prst="rect">
            <a:avLst/>
          </a:prstGeom>
        </p:spPr>
      </p:pic>
      <p:sp>
        <p:nvSpPr>
          <p:cNvPr id="27" name="a6_num"/>
          <p:cNvSpPr/>
          <p:nvPr/>
        </p:nvSpPr>
        <p:spPr>
          <a:xfrm>
            <a:off x="6400800" y="4919472"/>
            <a:ext cx="228600" cy="2286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a6_numt"/>
          <p:cNvSpPr txBox="1"/>
          <p:nvPr/>
        </p:nvSpPr>
        <p:spPr>
          <a:xfrm>
            <a:off x="6400800" y="49194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a6_ann"/>
          <p:cNvSpPr txBox="1"/>
          <p:nvPr/>
        </p:nvSpPr>
        <p:spPr>
          <a:xfrm>
            <a:off x="6748272" y="4882896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130px sidebar column and a flexible main column.</a:t>
            </a:r>
            <a:endParaRPr lang="en-US" sz="1250" dirty="0"/>
          </a:p>
        </p:txBody>
      </p:sp>
      <p:sp>
        <p:nvSpPr>
          <p:cNvPr id="30" name="a7_num"/>
          <p:cNvSpPr/>
          <p:nvPr/>
        </p:nvSpPr>
        <p:spPr>
          <a:xfrm>
            <a:off x="6400800" y="5276088"/>
            <a:ext cx="228600" cy="2286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1" name="a7_numt"/>
          <p:cNvSpPr txBox="1"/>
          <p:nvPr/>
        </p:nvSpPr>
        <p:spPr>
          <a:xfrm>
            <a:off x="6400800" y="52760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a7_ann"/>
          <p:cNvSpPr txBox="1"/>
          <p:nvPr/>
        </p:nvSpPr>
        <p:spPr>
          <a:xfrm>
            <a:off x="6748272" y="5239512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quoted string is a row; the same name side by side means that area spans.</a:t>
            </a:r>
            <a:endParaRPr lang="en-US" sz="1250" dirty="0"/>
          </a:p>
        </p:txBody>
      </p:sp>
      <p:sp>
        <p:nvSpPr>
          <p:cNvPr id="33" name="a8_num"/>
          <p:cNvSpPr/>
          <p:nvPr/>
        </p:nvSpPr>
        <p:spPr>
          <a:xfrm>
            <a:off x="6400800" y="5632704"/>
            <a:ext cx="228600" cy="2286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4" name="a8_numt"/>
          <p:cNvSpPr txBox="1"/>
          <p:nvPr/>
        </p:nvSpPr>
        <p:spPr>
          <a:xfrm>
            <a:off x="6400800" y="56327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a8_ann"/>
          <p:cNvSpPr txBox="1"/>
          <p:nvPr/>
        </p:nvSpPr>
        <p:spPr>
          <a:xfrm>
            <a:off x="6748272" y="5596128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.page &gt; * selects every direct child of .page.</a:t>
            </a:r>
            <a:endParaRPr lang="en-US" sz="1250" dirty="0"/>
          </a:p>
        </p:txBody>
      </p:sp>
      <p:sp>
        <p:nvSpPr>
          <p:cNvPr id="36" name="a9_num"/>
          <p:cNvSpPr/>
          <p:nvPr/>
        </p:nvSpPr>
        <p:spPr>
          <a:xfrm>
            <a:off x="6400800" y="5989320"/>
            <a:ext cx="228600" cy="22860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7" name="a9_numt"/>
          <p:cNvSpPr txBox="1"/>
          <p:nvPr/>
        </p:nvSpPr>
        <p:spPr>
          <a:xfrm>
            <a:off x="6400800" y="59893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a9_ann"/>
          <p:cNvSpPr txBox="1"/>
          <p:nvPr/>
        </p:nvSpPr>
        <p:spPr>
          <a:xfrm>
            <a:off x="6748272" y="5952744"/>
            <a:ext cx="489478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grid-area: head puts the header in the area named head.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conveyor dir="l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6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6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3" dur="6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Real-world: galleries, dashboards and magazines</a:t>
            </a:r>
            <a:endParaRPr lang="en-US" sz="34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4" name="a2_ico_bg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980590"/>
            <a:ext cx="336499" cy="336499"/>
          </a:xfrm>
          <a:prstGeom prst="rect">
            <a:avLst/>
          </a:prstGeom>
        </p:spPr>
      </p:pic>
      <p:sp>
        <p:nvSpPr>
          <p:cNvPr id="6" name="a2_card_h"/>
          <p:cNvSpPr txBox="1"/>
          <p:nvPr/>
        </p:nvSpPr>
        <p:spPr>
          <a:xfrm>
            <a:off x="822960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galleries</a:t>
            </a:r>
            <a:endParaRPr lang="en-US" sz="1900" dirty="0"/>
          </a:p>
        </p:txBody>
      </p:sp>
      <p:sp>
        <p:nvSpPr>
          <p:cNvPr id="7" name="a2_card_b"/>
          <p:cNvSpPr txBox="1"/>
          <p:nvPr/>
        </p:nvSpPr>
        <p:spPr>
          <a:xfrm>
            <a:off x="822960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keeps images in tidy rows and columns, and span lets one feature photo be bigger than the others.</a:t>
            </a:r>
            <a:endParaRPr lang="en-US" sz="1500" dirty="0"/>
          </a:p>
        </p:txBody>
      </p:sp>
      <p:sp>
        <p:nvSpPr>
          <p:cNvPr id="8" name="a3_card"/>
          <p:cNvSpPr/>
          <p:nvPr/>
        </p:nvSpPr>
        <p:spPr>
          <a:xfrm>
            <a:off x="4338218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a3_ico_bg"/>
          <p:cNvSpPr/>
          <p:nvPr/>
        </p:nvSpPr>
        <p:spPr>
          <a:xfrm>
            <a:off x="4612538" y="17830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049" y="1980590"/>
            <a:ext cx="336499" cy="336499"/>
          </a:xfrm>
          <a:prstGeom prst="rect">
            <a:avLst/>
          </a:prstGeom>
        </p:spPr>
      </p:pic>
      <p:sp>
        <p:nvSpPr>
          <p:cNvPr id="11" name="a3_card_h"/>
          <p:cNvSpPr txBox="1"/>
          <p:nvPr/>
        </p:nvSpPr>
        <p:spPr>
          <a:xfrm>
            <a:off x="4612538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900" dirty="0"/>
          </a:p>
        </p:txBody>
      </p:sp>
      <p:sp>
        <p:nvSpPr>
          <p:cNvPr id="12" name="a3_card_b"/>
          <p:cNvSpPr txBox="1"/>
          <p:nvPr/>
        </p:nvSpPr>
        <p:spPr>
          <a:xfrm>
            <a:off x="4612538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tables and stat cards sit on a grid so every panel lines up in both directions.</a:t>
            </a:r>
            <a:endParaRPr lang="en-US" sz="1500" dirty="0"/>
          </a:p>
        </p:txBody>
      </p:sp>
      <p:sp>
        <p:nvSpPr>
          <p:cNvPr id="13" name="a4_card"/>
          <p:cNvSpPr/>
          <p:nvPr/>
        </p:nvSpPr>
        <p:spPr>
          <a:xfrm>
            <a:off x="8127797" y="1508760"/>
            <a:ext cx="3515258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14" name="a4_ico_bg"/>
          <p:cNvSpPr/>
          <p:nvPr/>
        </p:nvSpPr>
        <p:spPr>
          <a:xfrm>
            <a:off x="8402117" y="178308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627" y="1980590"/>
            <a:ext cx="336499" cy="336499"/>
          </a:xfrm>
          <a:prstGeom prst="rect">
            <a:avLst/>
          </a:prstGeom>
        </p:spPr>
      </p:pic>
      <p:sp>
        <p:nvSpPr>
          <p:cNvPr id="16" name="a4_card_h"/>
          <p:cNvSpPr txBox="1"/>
          <p:nvPr/>
        </p:nvSpPr>
        <p:spPr>
          <a:xfrm>
            <a:off x="8402117" y="269748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Magazine and news layouts</a:t>
            </a:r>
            <a:endParaRPr lang="en-US" sz="1900" dirty="0"/>
          </a:p>
        </p:txBody>
      </p:sp>
      <p:sp>
        <p:nvSpPr>
          <p:cNvPr id="17" name="a4_card_b"/>
          <p:cNvSpPr txBox="1"/>
          <p:nvPr/>
        </p:nvSpPr>
        <p:spPr>
          <a:xfrm>
            <a:off x="8402117" y="320040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featured stories next to small ones use named areas and spans, like a printed front page.</a:t>
            </a:r>
            <a:endParaRPr lang="en-US" sz="1500" dirty="0"/>
          </a:p>
        </p:txBody>
      </p:sp>
      <p:sp>
        <p:nvSpPr>
          <p:cNvPr id="18" name="a5_try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19" name="a5_ico_bg"/>
          <p:cNvSpPr/>
          <p:nvPr/>
        </p:nvSpPr>
        <p:spPr>
          <a:xfrm>
            <a:off x="868680" y="52120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157" y="5372557"/>
            <a:ext cx="273406" cy="273406"/>
          </a:xfrm>
          <a:prstGeom prst="rect">
            <a:avLst/>
          </a:prstGeom>
        </p:spPr>
      </p:pic>
      <p:sp>
        <p:nvSpPr>
          <p:cNvPr id="21" name="a5_try_text"/>
          <p:cNvSpPr txBox="1"/>
          <p:nvPr/>
        </p:nvSpPr>
        <p:spPr>
          <a:xfrm>
            <a:off x="1737360" y="4983480"/>
            <a:ext cx="95399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DevTools on a gallery or dashboard site and look for a 'grid' badge in Elements. Click it to show numbered grid lines on the page.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rism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Common mistakes</a:t>
            </a:r>
            <a:endParaRPr lang="en-US" sz="3400" dirty="0"/>
          </a:p>
        </p:txBody>
      </p:sp>
      <p:sp>
        <p:nvSpPr>
          <p:cNvPr id="3" name="a1_hdr"/>
          <p:cNvSpPr txBox="1"/>
          <p:nvPr/>
        </p:nvSpPr>
        <p:spPr>
          <a:xfrm>
            <a:off x="5486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2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500" dirty="0"/>
          </a:p>
        </p:txBody>
      </p:sp>
      <p:sp>
        <p:nvSpPr>
          <p:cNvPr id="4" name="a1_hdr"/>
          <p:cNvSpPr txBox="1"/>
          <p:nvPr/>
        </p:nvSpPr>
        <p:spPr>
          <a:xfrm>
            <a:off x="44348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instead</a:t>
            </a:r>
            <a:endParaRPr lang="en-US" sz="1500" dirty="0"/>
          </a:p>
        </p:txBody>
      </p:sp>
      <p:sp>
        <p:nvSpPr>
          <p:cNvPr id="5" name="a1_hdr"/>
          <p:cNvSpPr txBox="1"/>
          <p:nvPr/>
        </p:nvSpPr>
        <p:spPr>
          <a:xfrm>
            <a:off x="836676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500" dirty="0"/>
          </a:p>
        </p:txBody>
      </p:sp>
      <p:sp>
        <p:nvSpPr>
          <p:cNvPr id="6" name="a2_bad"/>
          <p:cNvSpPr/>
          <p:nvPr/>
        </p:nvSpPr>
        <p:spPr>
          <a:xfrm>
            <a:off x="548640" y="178308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7" name="a2_bad_bar"/>
          <p:cNvSpPr/>
          <p:nvPr/>
        </p:nvSpPr>
        <p:spPr>
          <a:xfrm>
            <a:off x="548640" y="1892808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" name="a2_bad_t"/>
          <p:cNvSpPr txBox="1"/>
          <p:nvPr/>
        </p:nvSpPr>
        <p:spPr>
          <a:xfrm>
            <a:off x="777240" y="178308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.gallery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1fr 1fr;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a2_good"/>
          <p:cNvSpPr/>
          <p:nvPr/>
        </p:nvSpPr>
        <p:spPr>
          <a:xfrm>
            <a:off x="4434840" y="1783080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10" name="a2_good_bar"/>
          <p:cNvSpPr/>
          <p:nvPr/>
        </p:nvSpPr>
        <p:spPr>
          <a:xfrm>
            <a:off x="4434840" y="1892808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1" name="a2_good_t"/>
          <p:cNvSpPr txBox="1"/>
          <p:nvPr/>
        </p:nvSpPr>
        <p:spPr>
          <a:xfrm>
            <a:off x="4663440" y="178308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.gallery {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1fr 1fr;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a2_why"/>
          <p:cNvSpPr txBox="1"/>
          <p:nvPr/>
        </p:nvSpPr>
        <p:spPr>
          <a:xfrm>
            <a:off x="8366760" y="1783080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display: grid, the grid properties do nothing.</a:t>
            </a:r>
            <a:endParaRPr lang="en-US" sz="1400" dirty="0"/>
          </a:p>
        </p:txBody>
      </p:sp>
      <p:sp>
        <p:nvSpPr>
          <p:cNvPr id="13" name="a3_bad"/>
          <p:cNvSpPr/>
          <p:nvPr/>
        </p:nvSpPr>
        <p:spPr>
          <a:xfrm>
            <a:off x="548640" y="3264408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14" name="a3_bad_bar"/>
          <p:cNvSpPr/>
          <p:nvPr/>
        </p:nvSpPr>
        <p:spPr>
          <a:xfrm>
            <a:off x="548640" y="3374136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" name="a3_bad_t"/>
          <p:cNvSpPr txBox="1"/>
          <p:nvPr/>
        </p:nvSpPr>
        <p:spPr>
          <a:xfrm>
            <a:off x="777240" y="326440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grid-column: 1 / 3;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meant columns 1 to 3 */</a:t>
            </a:r>
            <a:endParaRPr lang="en-US" sz="1300" dirty="0"/>
          </a:p>
        </p:txBody>
      </p:sp>
      <p:sp>
        <p:nvSpPr>
          <p:cNvPr id="16" name="a3_good"/>
          <p:cNvSpPr/>
          <p:nvPr/>
        </p:nvSpPr>
        <p:spPr>
          <a:xfrm>
            <a:off x="4434840" y="3264408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17" name="a3_good_bar"/>
          <p:cNvSpPr/>
          <p:nvPr/>
        </p:nvSpPr>
        <p:spPr>
          <a:xfrm>
            <a:off x="4434840" y="3374136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8" name="a3_good_t"/>
          <p:cNvSpPr txBox="1"/>
          <p:nvPr/>
        </p:nvSpPr>
        <p:spPr>
          <a:xfrm>
            <a:off x="4663440" y="3264408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grid-column: 1 / 4;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or span 3 */</a:t>
            </a:r>
            <a:endParaRPr lang="en-US" sz="1300" dirty="0"/>
          </a:p>
        </p:txBody>
      </p:sp>
      <p:sp>
        <p:nvSpPr>
          <p:cNvPr id="19" name="a3_why"/>
          <p:cNvSpPr txBox="1"/>
          <p:nvPr/>
        </p:nvSpPr>
        <p:spPr>
          <a:xfrm>
            <a:off x="8366760" y="3264408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are LINES, not columns. 1 / 3 covers only two columns.</a:t>
            </a:r>
            <a:endParaRPr lang="en-US" sz="1400" dirty="0"/>
          </a:p>
        </p:txBody>
      </p:sp>
      <p:sp>
        <p:nvSpPr>
          <p:cNvPr id="20" name="a4_bad"/>
          <p:cNvSpPr/>
          <p:nvPr/>
        </p:nvSpPr>
        <p:spPr>
          <a:xfrm>
            <a:off x="548640" y="4745736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FDE8EE"/>
          </a:solidFill>
          <a:ln/>
        </p:spPr>
      </p:sp>
      <p:sp>
        <p:nvSpPr>
          <p:cNvPr id="21" name="a4_bad_bar"/>
          <p:cNvSpPr/>
          <p:nvPr/>
        </p:nvSpPr>
        <p:spPr>
          <a:xfrm>
            <a:off x="548640" y="4855464"/>
            <a:ext cx="73152" cy="110642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2" name="a4_bad_t"/>
          <p:cNvSpPr txBox="1"/>
          <p:nvPr/>
        </p:nvSpPr>
        <p:spPr>
          <a:xfrm>
            <a:off x="777240" y="4745736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grid-template-columns: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300px 300px 300px;</a:t>
            </a:r>
            <a:endParaRPr lang="en-US" sz="1300" dirty="0"/>
          </a:p>
        </p:txBody>
      </p:sp>
      <p:sp>
        <p:nvSpPr>
          <p:cNvPr id="23" name="a4_good"/>
          <p:cNvSpPr/>
          <p:nvPr/>
        </p:nvSpPr>
        <p:spPr>
          <a:xfrm>
            <a:off x="4434840" y="4745736"/>
            <a:ext cx="3749040" cy="1325880"/>
          </a:xfrm>
          <a:prstGeom prst="roundRect">
            <a:avLst>
              <a:gd name="adj" fmla="val 6897"/>
            </a:avLst>
          </a:prstGeom>
          <a:solidFill>
            <a:srgbClr val="E4F8EC"/>
          </a:solidFill>
          <a:ln/>
        </p:spPr>
      </p:sp>
      <p:sp>
        <p:nvSpPr>
          <p:cNvPr id="24" name="a4_good_bar"/>
          <p:cNvSpPr/>
          <p:nvPr/>
        </p:nvSpPr>
        <p:spPr>
          <a:xfrm>
            <a:off x="4434840" y="4855464"/>
            <a:ext cx="73152" cy="110642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5" name="a4_good_t"/>
          <p:cNvSpPr txBox="1"/>
          <p:nvPr/>
        </p:nvSpPr>
        <p:spPr>
          <a:xfrm>
            <a:off x="4663440" y="4745736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grid-template-columns: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repeat(3, 1fr);</a:t>
            </a:r>
            <a:endParaRPr lang="en-US" sz="1300" dirty="0"/>
          </a:p>
        </p:txBody>
      </p:sp>
      <p:sp>
        <p:nvSpPr>
          <p:cNvPr id="26" name="a4_why"/>
          <p:cNvSpPr txBox="1"/>
          <p:nvPr/>
        </p:nvSpPr>
        <p:spPr>
          <a:xfrm>
            <a:off x="8366760" y="4745736"/>
            <a:ext cx="3273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pixel tracks overflow small screens. Use fr (or minmax) so tracks adapt.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Tips &amp; best practices</a:t>
            </a:r>
            <a:endParaRPr lang="en-US" sz="34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4" name="a2_ico_bg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1955902"/>
            <a:ext cx="294437" cy="294437"/>
          </a:xfrm>
          <a:prstGeom prst="rect">
            <a:avLst/>
          </a:prstGeom>
        </p:spPr>
      </p:pic>
      <p:sp>
        <p:nvSpPr>
          <p:cNvPr id="6" name="a2_card_h"/>
          <p:cNvSpPr txBox="1"/>
          <p:nvPr/>
        </p:nvSpPr>
        <p:spPr>
          <a:xfrm>
            <a:off x="1645920" y="178308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tool</a:t>
            </a:r>
            <a:endParaRPr lang="en-US" sz="1900" dirty="0"/>
          </a:p>
        </p:txBody>
      </p:sp>
      <p:sp>
        <p:nvSpPr>
          <p:cNvPr id="7" name="a2_card_b"/>
          <p:cNvSpPr txBox="1"/>
          <p:nvPr/>
        </p:nvSpPr>
        <p:spPr>
          <a:xfrm>
            <a:off x="822960" y="251460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or column of items: Flexbox. A full layout with rows and columns: Grid. Use both together.</a:t>
            </a:r>
            <a:endParaRPr lang="en-US" sz="1500" dirty="0"/>
          </a:p>
        </p:txBody>
      </p:sp>
      <p:sp>
        <p:nvSpPr>
          <p:cNvPr id="8" name="a3_card"/>
          <p:cNvSpPr/>
          <p:nvPr/>
        </p:nvSpPr>
        <p:spPr>
          <a:xfrm>
            <a:off x="6278728" y="150876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9" name="a3_ico_bg"/>
          <p:cNvSpPr/>
          <p:nvPr/>
        </p:nvSpPr>
        <p:spPr>
          <a:xfrm>
            <a:off x="6553048" y="17830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869" y="1955902"/>
            <a:ext cx="294437" cy="294437"/>
          </a:xfrm>
          <a:prstGeom prst="rect">
            <a:avLst/>
          </a:prstGeom>
        </p:spPr>
      </p:pic>
      <p:sp>
        <p:nvSpPr>
          <p:cNvPr id="11" name="a3_card_h"/>
          <p:cNvSpPr txBox="1"/>
          <p:nvPr/>
        </p:nvSpPr>
        <p:spPr>
          <a:xfrm>
            <a:off x="7376008" y="178308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auto-fit does the maths</a:t>
            </a:r>
            <a:endParaRPr lang="en-US" sz="1900" dirty="0"/>
          </a:p>
        </p:txBody>
      </p:sp>
      <p:sp>
        <p:nvSpPr>
          <p:cNvPr id="12" name="a3_card_b"/>
          <p:cNvSpPr txBox="1"/>
          <p:nvPr/>
        </p:nvSpPr>
        <p:spPr>
          <a:xfrm>
            <a:off x="6553048" y="251460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repeat(auto-fit, minmax(160px, 1fr)) makes as many columns as fit, no media queries needed.</a:t>
            </a:r>
            <a:endParaRPr lang="en-US" sz="1500" dirty="0"/>
          </a:p>
        </p:txBody>
      </p:sp>
      <p:sp>
        <p:nvSpPr>
          <p:cNvPr id="13" name="a4_card"/>
          <p:cNvSpPr/>
          <p:nvPr/>
        </p:nvSpPr>
        <p:spPr>
          <a:xfrm>
            <a:off x="548640" y="388620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14" name="a4_ico_bg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2" y="4333342"/>
            <a:ext cx="294437" cy="294437"/>
          </a:xfrm>
          <a:prstGeom prst="rect">
            <a:avLst/>
          </a:prstGeom>
        </p:spPr>
      </p:pic>
      <p:sp>
        <p:nvSpPr>
          <p:cNvPr id="16" name="a4_card_h"/>
          <p:cNvSpPr txBox="1"/>
          <p:nvPr/>
        </p:nvSpPr>
        <p:spPr>
          <a:xfrm>
            <a:off x="1645920" y="4160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grid lines</a:t>
            </a:r>
            <a:endParaRPr lang="en-US" sz="1900" dirty="0"/>
          </a:p>
        </p:txBody>
      </p:sp>
      <p:sp>
        <p:nvSpPr>
          <p:cNvPr id="17" name="a4_card_b"/>
          <p:cNvSpPr txBox="1"/>
          <p:nvPr/>
        </p:nvSpPr>
        <p:spPr>
          <a:xfrm>
            <a:off x="822960" y="489204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the grid overlay in DevTools to see line numbers and track sizes while you work.</a:t>
            </a:r>
            <a:endParaRPr lang="en-US" sz="1500" dirty="0"/>
          </a:p>
        </p:txBody>
      </p:sp>
      <p:sp>
        <p:nvSpPr>
          <p:cNvPr id="18" name="a5_card"/>
          <p:cNvSpPr/>
          <p:nvPr/>
        </p:nvSpPr>
        <p:spPr>
          <a:xfrm>
            <a:off x="6278728" y="3886200"/>
            <a:ext cx="5364328" cy="2194560"/>
          </a:xfrm>
          <a:prstGeom prst="roundRect">
            <a:avLst>
              <a:gd name="adj" fmla="val 5000"/>
            </a:avLst>
          </a:prstGeom>
          <a:solidFill>
            <a:srgbClr val="1D2250"/>
          </a:solidFill>
          <a:ln/>
        </p:spPr>
      </p:sp>
      <p:sp>
        <p:nvSpPr>
          <p:cNvPr id="19" name="a5_ico_bg"/>
          <p:cNvSpPr/>
          <p:nvPr/>
        </p:nvSpPr>
        <p:spPr>
          <a:xfrm>
            <a:off x="6553048" y="41605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869" y="4333342"/>
            <a:ext cx="294437" cy="294437"/>
          </a:xfrm>
          <a:prstGeom prst="rect">
            <a:avLst/>
          </a:prstGeom>
        </p:spPr>
      </p:pic>
      <p:sp>
        <p:nvSpPr>
          <p:cNvPr id="21" name="a5_card_h"/>
          <p:cNvSpPr txBox="1"/>
          <p:nvPr/>
        </p:nvSpPr>
        <p:spPr>
          <a:xfrm>
            <a:off x="7376008" y="4160520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names for page layouts</a:t>
            </a:r>
            <a:endParaRPr lang="en-US" sz="1900" dirty="0"/>
          </a:p>
        </p:txBody>
      </p:sp>
      <p:sp>
        <p:nvSpPr>
          <p:cNvPr id="22" name="a5_card_b"/>
          <p:cNvSpPr txBox="1"/>
          <p:nvPr/>
        </p:nvSpPr>
        <p:spPr>
          <a:xfrm>
            <a:off x="6553048" y="4892040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grid-template-areas reads like a drawing of the page, so teammates understand it at a glance.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Activity: a stats dashboard</a:t>
            </a:r>
            <a:endParaRPr lang="en-US" sz="3400" dirty="0"/>
          </a:p>
        </p:txBody>
      </p:sp>
      <p:sp>
        <p:nvSpPr>
          <p:cNvPr id="3" name="a2_chip"/>
          <p:cNvSpPr/>
          <p:nvPr/>
        </p:nvSpPr>
        <p:spPr>
          <a:xfrm>
            <a:off x="548640" y="137160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a2_chip_t"/>
          <p:cNvSpPr txBox="1"/>
          <p:nvPr/>
        </p:nvSpPr>
        <p:spPr>
          <a:xfrm>
            <a:off x="548640" y="1371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25 min</a:t>
            </a:r>
            <a:endParaRPr lang="en-US" sz="1200" dirty="0"/>
          </a:p>
        </p:txBody>
      </p:sp>
      <p:sp>
        <p:nvSpPr>
          <p:cNvPr id="5" name="a2_chip"/>
          <p:cNvSpPr/>
          <p:nvPr/>
        </p:nvSpPr>
        <p:spPr>
          <a:xfrm>
            <a:off x="2057400" y="13716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a2_chip_t"/>
          <p:cNvSpPr txBox="1"/>
          <p:nvPr/>
        </p:nvSpPr>
        <p:spPr>
          <a:xfrm>
            <a:off x="2057400" y="1371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7" name="a3_brief"/>
          <p:cNvSpPr txBox="1"/>
          <p:nvPr/>
        </p:nvSpPr>
        <p:spPr>
          <a:xfrm>
            <a:off x="548640" y="1828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responsive grid of stat cards without writing a single media query.</a:t>
            </a:r>
            <a:endParaRPr lang="en-US" sz="1500" dirty="0"/>
          </a:p>
        </p:txBody>
      </p:sp>
      <p:sp>
        <p:nvSpPr>
          <p:cNvPr id="8" name="a4_num"/>
          <p:cNvSpPr/>
          <p:nvPr/>
        </p:nvSpPr>
        <p:spPr>
          <a:xfrm>
            <a:off x="548640" y="2651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54864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a4_step"/>
          <p:cNvSpPr txBox="1"/>
          <p:nvPr/>
        </p:nvSpPr>
        <p:spPr>
          <a:xfrm>
            <a:off x="1005840" y="2606040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.stats a grid with gap: 16px and padding: 20px.</a:t>
            </a:r>
            <a:endParaRPr lang="en-US" sz="1400" dirty="0"/>
          </a:p>
        </p:txBody>
      </p:sp>
      <p:sp>
        <p:nvSpPr>
          <p:cNvPr id="11" name="a5_num"/>
          <p:cNvSpPr/>
          <p:nvPr/>
        </p:nvSpPr>
        <p:spPr>
          <a:xfrm>
            <a:off x="548640" y="3218688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548640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a5_step"/>
          <p:cNvSpPr txBox="1"/>
          <p:nvPr/>
        </p:nvSpPr>
        <p:spPr>
          <a:xfrm>
            <a:off x="1005840" y="3172968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grid-template-columns: repeat(auto-fit, minmax(150px, 1fr)).</a:t>
            </a:r>
            <a:endParaRPr lang="en-US" sz="1400" dirty="0"/>
          </a:p>
        </p:txBody>
      </p:sp>
      <p:sp>
        <p:nvSpPr>
          <p:cNvPr id="14" name="a6_num"/>
          <p:cNvSpPr/>
          <p:nvPr/>
        </p:nvSpPr>
        <p:spPr>
          <a:xfrm>
            <a:off x="548640" y="3785616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a6_numt"/>
          <p:cNvSpPr txBox="1"/>
          <p:nvPr/>
        </p:nvSpPr>
        <p:spPr>
          <a:xfrm>
            <a:off x="548640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a6_step"/>
          <p:cNvSpPr txBox="1"/>
          <p:nvPr/>
        </p:nvSpPr>
        <p:spPr>
          <a:xfrm>
            <a:off x="1005840" y="3739896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.stat with a white background, rounded corners, padding and a soft border.</a:t>
            </a:r>
            <a:endParaRPr lang="en-US" sz="1400" dirty="0"/>
          </a:p>
        </p:txBody>
      </p:sp>
      <p:sp>
        <p:nvSpPr>
          <p:cNvPr id="17" name="a7_num"/>
          <p:cNvSpPr/>
          <p:nvPr/>
        </p:nvSpPr>
        <p:spPr>
          <a:xfrm>
            <a:off x="548640" y="4352544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7_numt"/>
          <p:cNvSpPr txBox="1"/>
          <p:nvPr/>
        </p:nvSpPr>
        <p:spPr>
          <a:xfrm>
            <a:off x="548640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a7_step"/>
          <p:cNvSpPr txBox="1"/>
          <p:nvPr/>
        </p:nvSpPr>
        <p:spPr>
          <a:xfrm>
            <a:off x="1005840" y="4306824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.big (the first stat) span two columns with grid-column: span 2.</a:t>
            </a:r>
            <a:endParaRPr lang="en-US" sz="1400" dirty="0"/>
          </a:p>
        </p:txBody>
      </p:sp>
      <p:sp>
        <p:nvSpPr>
          <p:cNvPr id="20" name="a8_num"/>
          <p:cNvSpPr/>
          <p:nvPr/>
        </p:nvSpPr>
        <p:spPr>
          <a:xfrm>
            <a:off x="548640" y="4919472"/>
            <a:ext cx="310896" cy="31089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1" name="a8_numt"/>
          <p:cNvSpPr txBox="1"/>
          <p:nvPr/>
        </p:nvSpPr>
        <p:spPr>
          <a:xfrm>
            <a:off x="548640" y="4919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a8_step"/>
          <p:cNvSpPr txBox="1"/>
          <p:nvPr/>
        </p:nvSpPr>
        <p:spPr>
          <a:xfrm>
            <a:off x="1005840" y="4873752"/>
            <a:ext cx="5212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the numbers (strong) large and bold, and the labels (span) grey.</a:t>
            </a:r>
            <a:endParaRPr lang="en-US" sz="1400" dirty="0"/>
          </a:p>
        </p:txBody>
      </p:sp>
      <p:sp>
        <p:nvSpPr>
          <p:cNvPr id="23" name="a9_bonus"/>
          <p:cNvSpPr/>
          <p:nvPr/>
        </p:nvSpPr>
        <p:spPr>
          <a:xfrm>
            <a:off x="548640" y="548640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F4D1"/>
          </a:solidFill>
          <a:ln/>
        </p:spPr>
      </p:sp>
      <p:sp>
        <p:nvSpPr>
          <p:cNvPr id="24" name="a9_bonus_t"/>
          <p:cNvSpPr txBox="1"/>
          <p:nvPr/>
        </p:nvSpPr>
        <p:spPr>
          <a:xfrm>
            <a:off x="731520" y="5486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the browser window and watch the columns appear and disappear.</a:t>
            </a:r>
            <a:endParaRPr lang="en-US" sz="1350" dirty="0"/>
          </a:p>
        </p:txBody>
      </p:sp>
      <p:sp>
        <p:nvSpPr>
          <p:cNvPr id="25" name="a2_goal_l"/>
          <p:cNvSpPr txBox="1"/>
          <p:nvPr/>
        </p:nvSpPr>
        <p:spPr>
          <a:xfrm>
            <a:off x="6583680" y="1371600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your page should look like this</a:t>
            </a:r>
            <a:endParaRPr lang="en-US" sz="1400" dirty="0"/>
          </a:p>
        </p:txBody>
      </p:sp>
      <p:sp>
        <p:nvSpPr>
          <p:cNvPr id="26" name="a3_browser"/>
          <p:cNvSpPr/>
          <p:nvPr/>
        </p:nvSpPr>
        <p:spPr>
          <a:xfrm>
            <a:off x="6583680" y="1828800"/>
            <a:ext cx="5059375" cy="311271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a3_browser_bar"/>
          <p:cNvSpPr/>
          <p:nvPr/>
        </p:nvSpPr>
        <p:spPr>
          <a:xfrm>
            <a:off x="6583680" y="1828800"/>
            <a:ext cx="5059375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a3_browser_dot"/>
          <p:cNvSpPr/>
          <p:nvPr/>
        </p:nvSpPr>
        <p:spPr>
          <a:xfrm>
            <a:off x="6766560" y="196596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9" name="a3_browser_dot"/>
          <p:cNvSpPr/>
          <p:nvPr/>
        </p:nvSpPr>
        <p:spPr>
          <a:xfrm>
            <a:off x="6967728" y="196596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a3_browser_dot"/>
          <p:cNvSpPr/>
          <p:nvPr/>
        </p:nvSpPr>
        <p:spPr>
          <a:xfrm>
            <a:off x="7168896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1" name="a3_browser_url"/>
          <p:cNvSpPr/>
          <p:nvPr/>
        </p:nvSpPr>
        <p:spPr>
          <a:xfrm>
            <a:off x="7498080" y="1892808"/>
            <a:ext cx="3962095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32" name="a3_browser_urltext"/>
          <p:cNvSpPr txBox="1"/>
          <p:nvPr/>
        </p:nvSpPr>
        <p:spPr>
          <a:xfrm>
            <a:off x="7607808" y="189280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lesson5/activity/solution/index.html</a:t>
            </a:r>
            <a:endParaRPr lang="en-US" sz="1100" dirty="0"/>
          </a:p>
        </p:txBody>
      </p:sp>
      <p:pic>
        <p:nvPicPr>
          <p:cNvPr id="33" name="a3_shot" descr="/home/user/Python/CSS_Course/assets/l5_act_s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231136"/>
            <a:ext cx="5059375" cy="2710380"/>
          </a:xfrm>
          <a:prstGeom prst="rect">
            <a:avLst/>
          </a:prstGeom>
        </p:spPr>
      </p:pic>
      <p:sp>
        <p:nvSpPr>
          <p:cNvPr id="34" name="a10_files"/>
          <p:cNvSpPr/>
          <p:nvPr/>
        </p:nvSpPr>
        <p:spPr>
          <a:xfrm>
            <a:off x="6583680" y="5170116"/>
            <a:ext cx="5059375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5" name="a10_files_t"/>
          <p:cNvSpPr txBox="1"/>
          <p:nvPr/>
        </p:nvSpPr>
        <p:spPr>
          <a:xfrm>
            <a:off x="6766560" y="5170116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from: 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code/lesson5/activity/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with: 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code/lesson5/activity/solution/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Challenge: the news front page</a:t>
            </a:r>
            <a:endParaRPr lang="en-US" sz="3400" dirty="0"/>
          </a:p>
        </p:txBody>
      </p:sp>
      <p:sp>
        <p:nvSpPr>
          <p:cNvPr id="3" name="a2_chip"/>
          <p:cNvSpPr/>
          <p:nvPr/>
        </p:nvSpPr>
        <p:spPr>
          <a:xfrm>
            <a:off x="548640" y="1371600"/>
            <a:ext cx="137160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a2_chip_t"/>
          <p:cNvSpPr txBox="1"/>
          <p:nvPr/>
        </p:nvSpPr>
        <p:spPr>
          <a:xfrm>
            <a:off x="548640" y="1371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30 min</a:t>
            </a:r>
            <a:endParaRPr lang="en-US" sz="1200" dirty="0"/>
          </a:p>
        </p:txBody>
      </p:sp>
      <p:sp>
        <p:nvSpPr>
          <p:cNvPr id="5" name="a2_chip"/>
          <p:cNvSpPr/>
          <p:nvPr/>
        </p:nvSpPr>
        <p:spPr>
          <a:xfrm>
            <a:off x="2057400" y="13716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6" name="a2_chip_t"/>
          <p:cNvSpPr txBox="1"/>
          <p:nvPr/>
        </p:nvSpPr>
        <p:spPr>
          <a:xfrm>
            <a:off x="2057400" y="13716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7" name="a3_brief"/>
          <p:cNvSpPr txBox="1"/>
          <p:nvPr/>
        </p:nvSpPr>
        <p:spPr>
          <a:xfrm>
            <a:off x="548640" y="1828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 out a newspaper-style page using grid-template-areas. Do not edit the HTML.</a:t>
            </a:r>
            <a:endParaRPr lang="en-US" sz="1500" dirty="0"/>
          </a:p>
        </p:txBody>
      </p:sp>
      <p:sp>
        <p:nvSpPr>
          <p:cNvPr id="8" name="a4_num"/>
          <p:cNvSpPr/>
          <p:nvPr/>
        </p:nvSpPr>
        <p:spPr>
          <a:xfrm>
            <a:off x="548640" y="265176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4_numt"/>
          <p:cNvSpPr txBox="1"/>
          <p:nvPr/>
        </p:nvSpPr>
        <p:spPr>
          <a:xfrm>
            <a:off x="54864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a4_step"/>
          <p:cNvSpPr txBox="1"/>
          <p:nvPr/>
        </p:nvSpPr>
        <p:spPr>
          <a:xfrm>
            <a:off x="1005840" y="260604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3-column grid with gap 12px.</a:t>
            </a:r>
            <a:endParaRPr lang="en-US" sz="1400" dirty="0"/>
          </a:p>
        </p:txBody>
      </p:sp>
      <p:sp>
        <p:nvSpPr>
          <p:cNvPr id="11" name="a5_num"/>
          <p:cNvSpPr/>
          <p:nvPr/>
        </p:nvSpPr>
        <p:spPr>
          <a:xfrm>
            <a:off x="548640" y="3360420"/>
            <a:ext cx="310896" cy="31089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5_numt"/>
          <p:cNvSpPr txBox="1"/>
          <p:nvPr/>
        </p:nvSpPr>
        <p:spPr>
          <a:xfrm>
            <a:off x="548640" y="33604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a5_step"/>
          <p:cNvSpPr txBox="1"/>
          <p:nvPr/>
        </p:nvSpPr>
        <p:spPr>
          <a:xfrm>
            <a:off x="1005840" y="331470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 headline story across the top two columns and two rows (area: lead).</a:t>
            </a:r>
            <a:endParaRPr lang="en-US" sz="1400" dirty="0"/>
          </a:p>
        </p:txBody>
      </p:sp>
      <p:sp>
        <p:nvSpPr>
          <p:cNvPr id="14" name="a6_num"/>
          <p:cNvSpPr/>
          <p:nvPr/>
        </p:nvSpPr>
        <p:spPr>
          <a:xfrm>
            <a:off x="548640" y="4069080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a6_numt"/>
          <p:cNvSpPr txBox="1"/>
          <p:nvPr/>
        </p:nvSpPr>
        <p:spPr>
          <a:xfrm>
            <a:off x="548640" y="4069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a6_step"/>
          <p:cNvSpPr txBox="1"/>
          <p:nvPr/>
        </p:nvSpPr>
        <p:spPr>
          <a:xfrm>
            <a:off x="1005840" y="402336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sidebar in the third column spanning both rows (area: side).</a:t>
            </a:r>
            <a:endParaRPr lang="en-US" sz="1400" dirty="0"/>
          </a:p>
        </p:txBody>
      </p:sp>
      <p:sp>
        <p:nvSpPr>
          <p:cNvPr id="17" name="a7_num"/>
          <p:cNvSpPr/>
          <p:nvPr/>
        </p:nvSpPr>
        <p:spPr>
          <a:xfrm>
            <a:off x="548640" y="4777740"/>
            <a:ext cx="310896" cy="310896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a7_numt"/>
          <p:cNvSpPr txBox="1"/>
          <p:nvPr/>
        </p:nvSpPr>
        <p:spPr>
          <a:xfrm>
            <a:off x="548640" y="47777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a7_step"/>
          <p:cNvSpPr txBox="1"/>
          <p:nvPr/>
        </p:nvSpPr>
        <p:spPr>
          <a:xfrm>
            <a:off x="1005840" y="4732020"/>
            <a:ext cx="521208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two smaller stories under the lead (areas: a and b) and a footer across the page.</a:t>
            </a:r>
            <a:endParaRPr lang="en-US" sz="1400" dirty="0"/>
          </a:p>
        </p:txBody>
      </p:sp>
      <p:sp>
        <p:nvSpPr>
          <p:cNvPr id="20" name="a9_bonus"/>
          <p:cNvSpPr/>
          <p:nvPr/>
        </p:nvSpPr>
        <p:spPr>
          <a:xfrm>
            <a:off x="548640" y="548640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1D2250"/>
          </a:solidFill>
          <a:ln/>
        </p:spPr>
      </p:sp>
      <p:sp>
        <p:nvSpPr>
          <p:cNvPr id="21" name="a9_bonus_t"/>
          <p:cNvSpPr txBox="1"/>
          <p:nvPr/>
        </p:nvSpPr>
        <p:spPr>
          <a:xfrm>
            <a:off x="731520" y="54864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</a:t>
            </a:r>
            <a:pPr indent="0" marL="0"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lead story a larger font and a coloured top border.</a:t>
            </a:r>
            <a:endParaRPr lang="en-US" sz="1350" dirty="0"/>
          </a:p>
        </p:txBody>
      </p:sp>
      <p:sp>
        <p:nvSpPr>
          <p:cNvPr id="22" name="a2_goal_l"/>
          <p:cNvSpPr txBox="1"/>
          <p:nvPr/>
        </p:nvSpPr>
        <p:spPr>
          <a:xfrm>
            <a:off x="6583680" y="1371600"/>
            <a:ext cx="505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match this result</a:t>
            </a:r>
            <a:endParaRPr lang="en-US" sz="1400" dirty="0"/>
          </a:p>
        </p:txBody>
      </p:sp>
      <p:sp>
        <p:nvSpPr>
          <p:cNvPr id="23" name="a3_browser"/>
          <p:cNvSpPr/>
          <p:nvPr/>
        </p:nvSpPr>
        <p:spPr>
          <a:xfrm>
            <a:off x="6583680" y="1828800"/>
            <a:ext cx="4800600" cy="3145536"/>
          </a:xfrm>
          <a:prstGeom prst="rect">
            <a:avLst/>
          </a:prstGeom>
          <a:solidFill>
            <a:schemeClr val="bg1"/>
          </a:solidFill>
          <a:ln w="12700">
            <a:solidFill>
              <a:srgbClr val="D5DA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4000"/>
              </a:srgbClr>
            </a:outerShdw>
          </a:effectLst>
        </p:spPr>
      </p:sp>
      <p:sp>
        <p:nvSpPr>
          <p:cNvPr id="24" name="a3_browser_bar"/>
          <p:cNvSpPr/>
          <p:nvPr/>
        </p:nvSpPr>
        <p:spPr>
          <a:xfrm>
            <a:off x="6583680" y="1828800"/>
            <a:ext cx="4800600" cy="40233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a3_browser_dot"/>
          <p:cNvSpPr/>
          <p:nvPr/>
        </p:nvSpPr>
        <p:spPr>
          <a:xfrm>
            <a:off x="6766560" y="1965960"/>
            <a:ext cx="118872" cy="11887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6" name="a3_browser_dot"/>
          <p:cNvSpPr/>
          <p:nvPr/>
        </p:nvSpPr>
        <p:spPr>
          <a:xfrm>
            <a:off x="6967728" y="1965960"/>
            <a:ext cx="118872" cy="1188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a3_browser_dot"/>
          <p:cNvSpPr/>
          <p:nvPr/>
        </p:nvSpPr>
        <p:spPr>
          <a:xfrm>
            <a:off x="7168896" y="196596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8" name="a3_browser_url"/>
          <p:cNvSpPr/>
          <p:nvPr/>
        </p:nvSpPr>
        <p:spPr>
          <a:xfrm>
            <a:off x="7498080" y="1892808"/>
            <a:ext cx="3703320" cy="274320"/>
          </a:xfrm>
          <a:prstGeom prst="roundRect">
            <a:avLst>
              <a:gd name="adj" fmla="val 33333"/>
            </a:avLst>
          </a:prstGeom>
          <a:solidFill>
            <a:schemeClr val="bg1"/>
          </a:solidFill>
          <a:ln/>
        </p:spPr>
      </p:sp>
      <p:sp>
        <p:nvSpPr>
          <p:cNvPr id="29" name="a3_browser_urltext"/>
          <p:cNvSpPr txBox="1"/>
          <p:nvPr/>
        </p:nvSpPr>
        <p:spPr>
          <a:xfrm>
            <a:off x="7607808" y="18928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lesson5/challenge/solution/index.html</a:t>
            </a:r>
            <a:endParaRPr lang="en-US" sz="1100" dirty="0"/>
          </a:p>
        </p:txBody>
      </p:sp>
      <p:pic>
        <p:nvPicPr>
          <p:cNvPr id="30" name="a3_shot" descr="/home/user/Python/CSS_Course/assets/l5_chal_s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231136"/>
            <a:ext cx="4800600" cy="2743200"/>
          </a:xfrm>
          <a:prstGeom prst="rect">
            <a:avLst/>
          </a:prstGeom>
        </p:spPr>
      </p:pic>
      <p:sp>
        <p:nvSpPr>
          <p:cNvPr id="31" name="a10_files"/>
          <p:cNvSpPr/>
          <p:nvPr/>
        </p:nvSpPr>
        <p:spPr>
          <a:xfrm>
            <a:off x="6583680" y="5202936"/>
            <a:ext cx="5059375" cy="914400"/>
          </a:xfrm>
          <a:prstGeom prst="roundRect">
            <a:avLst>
              <a:gd name="adj" fmla="val 10000"/>
            </a:avLst>
          </a:prstGeom>
          <a:solidFill>
            <a:srgbClr val="1D2250"/>
          </a:solidFill>
          <a:ln/>
        </p:spPr>
      </p:sp>
      <p:sp>
        <p:nvSpPr>
          <p:cNvPr id="32" name="a10_files_t"/>
          <p:cNvSpPr txBox="1"/>
          <p:nvPr/>
        </p:nvSpPr>
        <p:spPr>
          <a:xfrm>
            <a:off x="6766560" y="5202936"/>
            <a:ext cx="4693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from: 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code/lesson5/challenge/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with:  </a:t>
            </a:r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code/lesson5/challenge/solution/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Quick check</a:t>
            </a:r>
            <a:endParaRPr lang="en-US" sz="3400" dirty="0"/>
          </a:p>
        </p:txBody>
      </p:sp>
      <p:sp>
        <p:nvSpPr>
          <p:cNvPr id="3" name="a2_hint"/>
          <p:cNvSpPr txBox="1"/>
          <p:nvPr/>
        </p:nvSpPr>
        <p:spPr>
          <a:xfrm>
            <a:off x="548640" y="12618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first, then click to reveal each answer.</a:t>
            </a:r>
            <a:endParaRPr lang="en-US" sz="1500" dirty="0"/>
          </a:p>
        </p:txBody>
      </p:sp>
      <p:sp>
        <p:nvSpPr>
          <p:cNvPr id="4" name="a3_row"/>
          <p:cNvSpPr/>
          <p:nvPr/>
        </p:nvSpPr>
        <p:spPr>
          <a:xfrm>
            <a:off x="548640" y="1737360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5" name="a3_num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a3_q"/>
          <p:cNvSpPr txBox="1"/>
          <p:nvPr/>
        </p:nvSpPr>
        <p:spPr>
          <a:xfrm>
            <a:off x="1600200" y="1737360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does grid-template-columns: 1fr 2fr 1fr create?</a:t>
            </a:r>
            <a:endParaRPr lang="en-US" sz="1650" dirty="0"/>
          </a:p>
        </p:txBody>
      </p:sp>
      <p:sp>
        <p:nvSpPr>
          <p:cNvPr id="8" name="k3_ans_bg"/>
          <p:cNvSpPr/>
          <p:nvPr/>
        </p:nvSpPr>
        <p:spPr>
          <a:xfrm>
            <a:off x="7269480" y="1892808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9" name="k3_ans"/>
          <p:cNvSpPr txBox="1"/>
          <p:nvPr/>
        </p:nvSpPr>
        <p:spPr>
          <a:xfrm>
            <a:off x="7452360" y="1892808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columns; the middle one is twice as wide as each of the others.</a:t>
            </a:r>
            <a:endParaRPr lang="en-US" sz="1450" dirty="0"/>
          </a:p>
        </p:txBody>
      </p:sp>
      <p:sp>
        <p:nvSpPr>
          <p:cNvPr id="10" name="a4_row"/>
          <p:cNvSpPr/>
          <p:nvPr/>
        </p:nvSpPr>
        <p:spPr>
          <a:xfrm>
            <a:off x="548640" y="3218688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1" name="a4_num"/>
          <p:cNvSpPr/>
          <p:nvPr/>
        </p:nvSpPr>
        <p:spPr>
          <a:xfrm>
            <a:off x="822960" y="363016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4_numt"/>
          <p:cNvSpPr txBox="1"/>
          <p:nvPr/>
        </p:nvSpPr>
        <p:spPr>
          <a:xfrm>
            <a:off x="822960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a4_q"/>
          <p:cNvSpPr txBox="1"/>
          <p:nvPr/>
        </p:nvSpPr>
        <p:spPr>
          <a:xfrm>
            <a:off x="1600200" y="3218688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grid-column: 2 / 4 covers how many columns?</a:t>
            </a:r>
            <a:endParaRPr lang="en-US" sz="1650" dirty="0"/>
          </a:p>
        </p:txBody>
      </p:sp>
      <p:sp>
        <p:nvSpPr>
          <p:cNvPr id="14" name="k4_ans_bg"/>
          <p:cNvSpPr/>
          <p:nvPr/>
        </p:nvSpPr>
        <p:spPr>
          <a:xfrm>
            <a:off x="7269480" y="3374136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15" name="k4_ans"/>
          <p:cNvSpPr txBox="1"/>
          <p:nvPr/>
        </p:nvSpPr>
        <p:spPr>
          <a:xfrm>
            <a:off x="7452360" y="3374136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(column 2 and column 3). The numbers are grid lines.</a:t>
            </a:r>
            <a:endParaRPr lang="en-US" sz="1450" dirty="0"/>
          </a:p>
        </p:txBody>
      </p:sp>
      <p:sp>
        <p:nvSpPr>
          <p:cNvPr id="16" name="a5_row"/>
          <p:cNvSpPr/>
          <p:nvPr/>
        </p:nvSpPr>
        <p:spPr>
          <a:xfrm>
            <a:off x="548640" y="4700016"/>
            <a:ext cx="11094415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7" name="a5_num"/>
          <p:cNvSpPr/>
          <p:nvPr/>
        </p:nvSpPr>
        <p:spPr>
          <a:xfrm>
            <a:off x="822960" y="5111496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a5_numt"/>
          <p:cNvSpPr txBox="1"/>
          <p:nvPr/>
        </p:nvSpPr>
        <p:spPr>
          <a:xfrm>
            <a:off x="822960" y="5111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a5_q"/>
          <p:cNvSpPr txBox="1"/>
          <p:nvPr/>
        </p:nvSpPr>
        <p:spPr>
          <a:xfrm>
            <a:off x="1600200" y="4700016"/>
            <a:ext cx="5394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you choose Flexbox instead of Grid?</a:t>
            </a:r>
            <a:endParaRPr lang="en-US" sz="1650" dirty="0"/>
          </a:p>
        </p:txBody>
      </p:sp>
      <p:sp>
        <p:nvSpPr>
          <p:cNvPr id="20" name="k5_ans_bg"/>
          <p:cNvSpPr/>
          <p:nvPr/>
        </p:nvSpPr>
        <p:spPr>
          <a:xfrm>
            <a:off x="7269480" y="4855464"/>
            <a:ext cx="4206240" cy="1014984"/>
          </a:xfrm>
          <a:prstGeom prst="roundRect">
            <a:avLst>
              <a:gd name="adj" fmla="val 9009"/>
            </a:avLst>
          </a:prstGeom>
          <a:solidFill>
            <a:srgbClr val="DDF7E7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21" name="k5_ans"/>
          <p:cNvSpPr txBox="1"/>
          <p:nvPr/>
        </p:nvSpPr>
        <p:spPr>
          <a:xfrm>
            <a:off x="7452360" y="4855464"/>
            <a:ext cx="3840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single row or column of items, such as a navigation bar or button group.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Summary</a:t>
            </a:r>
            <a:endParaRPr lang="en-US" sz="3400" dirty="0"/>
          </a:p>
        </p:txBody>
      </p:sp>
      <p:sp>
        <p:nvSpPr>
          <p:cNvPr id="3" name="a2_ico_bg"/>
          <p:cNvSpPr/>
          <p:nvPr/>
        </p:nvSpPr>
        <p:spPr>
          <a:xfrm>
            <a:off x="548640" y="1581912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" name="a2_ico_im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428" y="1717700"/>
            <a:ext cx="231343" cy="231343"/>
          </a:xfrm>
          <a:prstGeom prst="rect">
            <a:avLst/>
          </a:prstGeom>
        </p:spPr>
      </p:pic>
      <p:sp>
        <p:nvSpPr>
          <p:cNvPr id="5" name="a2_pt"/>
          <p:cNvSpPr txBox="1"/>
          <p:nvPr/>
        </p:nvSpPr>
        <p:spPr>
          <a:xfrm>
            <a:off x="1280160" y="150876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grid on the parent; children are placed in cells.</a:t>
            </a:r>
            <a:endParaRPr lang="en-US" sz="1650" dirty="0"/>
          </a:p>
        </p:txBody>
      </p:sp>
      <p:sp>
        <p:nvSpPr>
          <p:cNvPr id="6" name="a3_ico_bg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a3_ico_im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28" y="2650388"/>
            <a:ext cx="231343" cy="231343"/>
          </a:xfrm>
          <a:prstGeom prst="rect">
            <a:avLst/>
          </a:prstGeom>
        </p:spPr>
      </p:pic>
      <p:sp>
        <p:nvSpPr>
          <p:cNvPr id="8" name="a3_pt"/>
          <p:cNvSpPr txBox="1"/>
          <p:nvPr/>
        </p:nvSpPr>
        <p:spPr>
          <a:xfrm>
            <a:off x="1280160" y="2441448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grid-template-columns, repeat() and fr define flexible tracks.</a:t>
            </a:r>
            <a:endParaRPr lang="en-US" sz="1650" dirty="0"/>
          </a:p>
        </p:txBody>
      </p:sp>
      <p:sp>
        <p:nvSpPr>
          <p:cNvPr id="9" name="a4_ico_bg"/>
          <p:cNvSpPr/>
          <p:nvPr/>
        </p:nvSpPr>
        <p:spPr>
          <a:xfrm>
            <a:off x="548640" y="3447288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a4_ico_im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" y="3583076"/>
            <a:ext cx="231343" cy="231343"/>
          </a:xfrm>
          <a:prstGeom prst="rect">
            <a:avLst/>
          </a:prstGeom>
        </p:spPr>
      </p:pic>
      <p:sp>
        <p:nvSpPr>
          <p:cNvPr id="11" name="a4_pt"/>
          <p:cNvSpPr txBox="1"/>
          <p:nvPr/>
        </p:nvSpPr>
        <p:spPr>
          <a:xfrm>
            <a:off x="1280160" y="3374136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spaces tracks; span stretches an item across several.</a:t>
            </a:r>
            <a:endParaRPr lang="en-US" sz="1650" dirty="0"/>
          </a:p>
        </p:txBody>
      </p:sp>
      <p:sp>
        <p:nvSpPr>
          <p:cNvPr id="12" name="a5_ico_bg"/>
          <p:cNvSpPr/>
          <p:nvPr/>
        </p:nvSpPr>
        <p:spPr>
          <a:xfrm>
            <a:off x="548640" y="4379976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a5_ico_im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28" y="4515764"/>
            <a:ext cx="231343" cy="231343"/>
          </a:xfrm>
          <a:prstGeom prst="rect">
            <a:avLst/>
          </a:prstGeom>
        </p:spPr>
      </p:pic>
      <p:sp>
        <p:nvSpPr>
          <p:cNvPr id="14" name="a5_pt"/>
          <p:cNvSpPr txBox="1"/>
          <p:nvPr/>
        </p:nvSpPr>
        <p:spPr>
          <a:xfrm>
            <a:off x="1280160" y="4306824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grid-template-areas lets you draw the layout with names.</a:t>
            </a:r>
            <a:endParaRPr lang="en-US" sz="1650" dirty="0"/>
          </a:p>
        </p:txBody>
      </p:sp>
      <p:sp>
        <p:nvSpPr>
          <p:cNvPr id="15" name="a6_ico_bg"/>
          <p:cNvSpPr/>
          <p:nvPr/>
        </p:nvSpPr>
        <p:spPr>
          <a:xfrm>
            <a:off x="548640" y="5312664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a6_ico_im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428" y="5448452"/>
            <a:ext cx="231343" cy="231343"/>
          </a:xfrm>
          <a:prstGeom prst="rect">
            <a:avLst/>
          </a:prstGeom>
        </p:spPr>
      </p:pic>
      <p:sp>
        <p:nvSpPr>
          <p:cNvPr id="17" name="a6_pt"/>
          <p:cNvSpPr txBox="1"/>
          <p:nvPr/>
        </p:nvSpPr>
        <p:spPr>
          <a:xfrm>
            <a:off x="1280160" y="5239512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auto-fit with minmax() gives responsive grids without media queries.</a:t>
            </a:r>
            <a:endParaRPr lang="en-US" sz="1650" dirty="0"/>
          </a:p>
        </p:txBody>
      </p:sp>
      <p:sp>
        <p:nvSpPr>
          <p:cNvPr id="18" name="a8_panel"/>
          <p:cNvSpPr/>
          <p:nvPr/>
        </p:nvSpPr>
        <p:spPr>
          <a:xfrm>
            <a:off x="7315200" y="1508760"/>
            <a:ext cx="4325112" cy="4617720"/>
          </a:xfrm>
          <a:prstGeom prst="roundRect">
            <a:avLst>
              <a:gd name="adj" fmla="val 2960"/>
            </a:avLst>
          </a:prstGeom>
          <a:solidFill>
            <a:schemeClr val="tx1"/>
          </a:solidFill>
          <a:ln/>
        </p:spPr>
      </p:sp>
      <p:sp>
        <p:nvSpPr>
          <p:cNvPr id="19" name="a8_panel_h"/>
          <p:cNvSpPr txBox="1"/>
          <p:nvPr/>
        </p:nvSpPr>
        <p:spPr>
          <a:xfrm>
            <a:off x="763524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</a:t>
            </a:r>
            <a:endParaRPr lang="en-US" sz="2100" dirty="0"/>
          </a:p>
        </p:txBody>
      </p:sp>
      <p:sp>
        <p:nvSpPr>
          <p:cNvPr id="20" name="a9_panel_b"/>
          <p:cNvSpPr txBox="1"/>
          <p:nvPr/>
        </p:nvSpPr>
        <p:spPr>
          <a:xfrm>
            <a:off x="7635240" y="2286000"/>
            <a:ext cx="3703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code/lesson5/  (examples, activity, challenge)</a:t>
            </a:r>
            <a:endParaRPr lang="en-US" sz="145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online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playground.html (works offline) or the CodePen links in codepen.html</a:t>
            </a:r>
            <a:endParaRPr lang="en-US" sz="145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6: Responsive Design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Stylesheet">
  <a:themeElements>
    <a:clrScheme name="Stylesheet">
      <a:dk1>
        <a:srgbClr val="10132B"/>
      </a:dk1>
      <a:lt1>
        <a:srgbClr val="FFFFFF"/>
      </a:lt1>
      <a:dk2>
        <a:srgbClr val="2B3A8F"/>
      </a:dk2>
      <a:lt2>
        <a:srgbClr val="EEF2FF"/>
      </a:lt2>
      <a:accent1>
        <a:srgbClr val="2965F1"/>
      </a:accent1>
      <a:accent2>
        <a:srgbClr val="FFC83D"/>
      </a:accent2>
      <a:accent3>
        <a:srgbClr val="FF4F8B"/>
      </a:accent3>
      <a:accent4>
        <a:srgbClr val="8B5CF6"/>
      </a:accent4>
      <a:accent5>
        <a:srgbClr val="22C55E"/>
      </a:accent5>
      <a:accent6>
        <a:srgbClr val="22D3EE"/>
      </a:accent6>
      <a:hlink>
        <a:srgbClr val="2965F1"/>
      </a:hlink>
      <a:folHlink>
        <a:srgbClr val="8B5CF6"/>
      </a:folHlink>
    </a:clrScheme>
    <a:fontScheme name="Styleshee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for High School - Lesson 5: CSS Grid</dc:title>
  <dc:subject>CSS for high-school students</dc:subject>
  <dc:creator>CSS for High School</dc:creator>
  <cp:lastModifiedBy>CSS for High School</cp:lastModifiedBy>
  <cp:revision>1</cp:revision>
  <dcterms:created xsi:type="dcterms:W3CDTF">2026-10-08T23:28:05Z</dcterms:created>
  <dcterms:modified xsi:type="dcterms:W3CDTF">2026-10-08T23:28:05Z</dcterms:modified>
</cp:coreProperties>
</file>