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90% of the screen width: it shrinks with the screen.
2. max-width stops it growing too wide on large screens.
3. aspect-ratio keeps the 16:9 shape at any width.
4. Rule for real images: never wider than their container, keep proportions.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No columns defined: a single column (the phone layout).
2. @media (min-width: 600px): rules inside apply only on screens 600px or wider.
3. Two equal columns appear when there is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clamp(min, preferred, max): grows with the screen but stays between 1.4rem and 3rem.
2. On phones the links are stacked in a column.
3. From 600px the menu becomes a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6: Responsive Design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6: Responsive Design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73152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731520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731520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OF 7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Responsive Design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One website that looks right on phones, tablets and computers</a:t>
            </a:r>
            <a:endParaRPr lang="en-US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 |  Prior knowledge: Lessons 1-5  |  ~50 min</a:t>
            </a:r>
            <a:endParaRPr lang="en-US" sz="1600" dirty="0"/>
          </a:p>
        </p:txBody>
      </p:sp>
      <p:sp>
        <p:nvSpPr>
          <p:cNvPr id="8" name="a5_layer"/>
          <p:cNvSpPr/>
          <p:nvPr/>
        </p:nvSpPr>
        <p:spPr>
          <a:xfrm>
            <a:off x="7635240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09244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8503920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8869680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88696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</a:t>
            </a:r>
            <a:endParaRPr lang="en-US" sz="3400" dirty="0"/>
          </a:p>
        </p:txBody>
      </p:sp>
      <p:sp>
        <p:nvSpPr>
          <p:cNvPr id="3" name="a2_panel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</a:t>
            </a:r>
            <a:endParaRPr lang="en-US" sz="1900" dirty="0"/>
          </a:p>
        </p:txBody>
      </p:sp>
      <p:sp>
        <p:nvSpPr>
          <p:cNvPr id="5" name="a3_ico_bg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160020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pages need the viewport meta tag and flexible units</a:t>
            </a:r>
            <a:endParaRPr lang="en-US" sz="1800" dirty="0"/>
          </a:p>
        </p:txBody>
      </p:sp>
      <p:sp>
        <p:nvSpPr>
          <p:cNvPr id="8" name="a4_ico_bg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1600200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media queries with a mobile-first approach</a:t>
            </a:r>
            <a:endParaRPr lang="en-US" sz="1800" dirty="0"/>
          </a:p>
        </p:txBody>
      </p:sp>
      <p:sp>
        <p:nvSpPr>
          <p:cNvPr id="11" name="a5_ico_bg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1600200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fluid layouts with max-width, grid, clamp() and relative units</a:t>
            </a:r>
            <a:endParaRPr lang="en-US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900" dirty="0"/>
          </a:p>
        </p:txBody>
      </p:sp>
      <p:sp>
        <p:nvSpPr>
          <p:cNvPr id="15" name="a6_chip"/>
          <p:cNvSpPr/>
          <p:nvPr/>
        </p:nvSpPr>
        <p:spPr>
          <a:xfrm>
            <a:off x="6355080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6355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Viewport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8183880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area of the page in the browser window or on the phone screen.</a:t>
            </a:r>
            <a:endParaRPr lang="en-US" sz="1400" dirty="0"/>
          </a:p>
        </p:txBody>
      </p:sp>
      <p:sp>
        <p:nvSpPr>
          <p:cNvPr id="18" name="a7_chip"/>
          <p:cNvSpPr/>
          <p:nvPr/>
        </p:nvSpPr>
        <p:spPr>
          <a:xfrm>
            <a:off x="6355080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63550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query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8183880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@media rule that applies CSS only when a condition, such as screen width, is true.</a:t>
            </a:r>
            <a:endParaRPr lang="en-US" sz="1400" dirty="0"/>
          </a:p>
        </p:txBody>
      </p:sp>
      <p:sp>
        <p:nvSpPr>
          <p:cNvPr id="21" name="a8_chip"/>
          <p:cNvSpPr/>
          <p:nvPr/>
        </p:nvSpPr>
        <p:spPr>
          <a:xfrm>
            <a:off x="6355080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6355080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8183880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width where the layout changes, for example 600px.</a:t>
            </a:r>
            <a:endParaRPr lang="en-US" sz="1400" dirty="0"/>
          </a:p>
        </p:txBody>
      </p:sp>
      <p:sp>
        <p:nvSpPr>
          <p:cNvPr id="24" name="a9_chip"/>
          <p:cNvSpPr/>
          <p:nvPr/>
        </p:nvSpPr>
        <p:spPr>
          <a:xfrm>
            <a:off x="6355080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6355080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8183880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phone layout first, then add min-width media queries for larger screens.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ideas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822960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phones the truth</a:t>
            </a:r>
            <a:endParaRPr lang="en-US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viewport meta tag, phones pretend to be about 980px wide and shrink your page. This one line in &lt;head&gt; turns on real, responsive behaviour.</a:t>
            </a:r>
            <a:endParaRPr lang="en-US" sz="1500" dirty="0"/>
          </a:p>
        </p:txBody>
      </p:sp>
      <p:sp>
        <p:nvSpPr>
          <p:cNvPr id="9" name="a2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name="viewport" content="width=device-width, initial-scale=1"&gt;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4612538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4612538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46125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fluid by default</a:t>
            </a:r>
            <a:endParaRPr lang="en-US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percentages, fr units, max-width and rem instead of fixed pixel widths. Let images shrink with max-width: 100%. The layout then bends instead of breaking.</a:t>
            </a:r>
            <a:endParaRPr lang="en-US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 max-width: 100%; }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8402117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8402117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840211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rules at breakpoints</a:t>
            </a:r>
            <a:endParaRPr lang="en-US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single-column phone layout. Then use @media (min-width: ...) to add columns when there is room. Choose breakpoints where YOUR design starts to look bad.</a:t>
            </a:r>
            <a:endParaRPr lang="en-US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page, three screens</a:t>
            </a:r>
            <a:endParaRPr lang="en-US" sz="3400" dirty="0"/>
          </a:p>
        </p:txBody>
      </p:sp>
      <p:sp>
        <p:nvSpPr>
          <p:cNvPr id="3" name="a2_frame"/>
          <p:cNvSpPr/>
          <p:nvPr/>
        </p:nvSpPr>
        <p:spPr>
          <a:xfrm>
            <a:off x="475488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l6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79095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7909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8549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(under 600px): one column. Everything is stacked.</a:t>
            </a:r>
            <a:endParaRPr lang="en-US" sz="1600" dirty="0"/>
          </a:p>
        </p:txBody>
      </p:sp>
      <p:sp>
        <p:nvSpPr>
          <p:cNvPr id="8" name="a4_num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85496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(600px and up): two columns for the cards.</a:t>
            </a:r>
            <a:endParaRPr lang="en-US" sz="1600" dirty="0"/>
          </a:p>
        </p:txBody>
      </p:sp>
      <p:sp>
        <p:nvSpPr>
          <p:cNvPr id="11" name="a5_num"/>
          <p:cNvSpPr/>
          <p:nvPr/>
        </p:nvSpPr>
        <p:spPr>
          <a:xfrm>
            <a:off x="7909560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7909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854964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(900px and up): three columns and more space.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Fluid containers and images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percentages and max-width so content adapts instead of overflowing.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90%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700px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auto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.photo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aspect-ratio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 / 9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linear-gradient(cyan, blue)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100%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6527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5163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516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class="photo"&gt;&lt;/div&gt;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2241451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lesson6/example1/index.html</a:t>
            </a:r>
            <a:endParaRPr lang="en-US" sz="1100" dirty="0"/>
          </a:p>
        </p:txBody>
      </p:sp>
      <p:pic>
        <p:nvPicPr>
          <p:cNvPr id="29" name="a4_shot" descr="/home/user/Python/CSS_Course/assets/l6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3505141" cy="1564795"/>
          </a:xfrm>
          <a:prstGeom prst="rect">
            <a:avLst/>
          </a:prstGeom>
        </p:spPr>
      </p:pic>
      <p:sp>
        <p:nvSpPr>
          <p:cNvPr id="30" name="a4_shot_label"/>
          <p:cNvSpPr txBox="1"/>
          <p:nvPr/>
        </p:nvSpPr>
        <p:spPr>
          <a:xfrm>
            <a:off x="6400800" y="3786787"/>
            <a:ext cx="35051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(560px)</a:t>
            </a:r>
            <a:endParaRPr lang="en-US" sz="1100" dirty="0"/>
          </a:p>
        </p:txBody>
      </p:sp>
      <p:pic>
        <p:nvPicPr>
          <p:cNvPr id="31" name="a4_shot" descr="/home/user/Python/CSS_Course/assets/l6_ex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669" y="2185416"/>
            <a:ext cx="1627387" cy="1564795"/>
          </a:xfrm>
          <a:prstGeom prst="rect">
            <a:avLst/>
          </a:prstGeom>
        </p:spPr>
      </p:pic>
      <p:sp>
        <p:nvSpPr>
          <p:cNvPr id="32" name="a4_shot_label"/>
          <p:cNvSpPr txBox="1"/>
          <p:nvPr/>
        </p:nvSpPr>
        <p:spPr>
          <a:xfrm>
            <a:off x="10015669" y="3786787"/>
            <a:ext cx="1627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(260px)</a:t>
            </a:r>
            <a:endParaRPr lang="en-US" sz="1100" dirty="0"/>
          </a:p>
        </p:txBody>
      </p:sp>
      <p:sp>
        <p:nvSpPr>
          <p:cNvPr id="33" name="a6_num"/>
          <p:cNvSpPr/>
          <p:nvPr/>
        </p:nvSpPr>
        <p:spPr>
          <a:xfrm>
            <a:off x="6400800" y="4243987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a6_numt"/>
          <p:cNvSpPr txBox="1"/>
          <p:nvPr/>
        </p:nvSpPr>
        <p:spPr>
          <a:xfrm>
            <a:off x="6400800" y="424398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a6_ann"/>
          <p:cNvSpPr txBox="1"/>
          <p:nvPr/>
        </p:nvSpPr>
        <p:spPr>
          <a:xfrm>
            <a:off x="6748272" y="4207411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the screen width: it shrinks with the screen.</a:t>
            </a:r>
            <a:endParaRPr lang="en-US" sz="1250" dirty="0"/>
          </a:p>
        </p:txBody>
      </p:sp>
      <p:sp>
        <p:nvSpPr>
          <p:cNvPr id="36" name="a7_num"/>
          <p:cNvSpPr/>
          <p:nvPr/>
        </p:nvSpPr>
        <p:spPr>
          <a:xfrm>
            <a:off x="6400800" y="4769474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7" name="a7_numt"/>
          <p:cNvSpPr txBox="1"/>
          <p:nvPr/>
        </p:nvSpPr>
        <p:spPr>
          <a:xfrm>
            <a:off x="6400800" y="476947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a7_ann"/>
          <p:cNvSpPr txBox="1"/>
          <p:nvPr/>
        </p:nvSpPr>
        <p:spPr>
          <a:xfrm>
            <a:off x="6748272" y="4732898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 stops it growing too wide on large screens.</a:t>
            </a:r>
            <a:endParaRPr lang="en-US" sz="1250" dirty="0"/>
          </a:p>
        </p:txBody>
      </p:sp>
      <p:sp>
        <p:nvSpPr>
          <p:cNvPr id="39" name="a8_num"/>
          <p:cNvSpPr/>
          <p:nvPr/>
        </p:nvSpPr>
        <p:spPr>
          <a:xfrm>
            <a:off x="6400800" y="5294961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0" name="a8_numt"/>
          <p:cNvSpPr txBox="1"/>
          <p:nvPr/>
        </p:nvSpPr>
        <p:spPr>
          <a:xfrm>
            <a:off x="6400800" y="529496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a8_ann"/>
          <p:cNvSpPr txBox="1"/>
          <p:nvPr/>
        </p:nvSpPr>
        <p:spPr>
          <a:xfrm>
            <a:off x="6748272" y="5258385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 keeps the 16:9 shape at any width.</a:t>
            </a:r>
            <a:endParaRPr lang="en-US" sz="1250" dirty="0"/>
          </a:p>
        </p:txBody>
      </p:sp>
      <p:sp>
        <p:nvSpPr>
          <p:cNvPr id="42" name="a9_num"/>
          <p:cNvSpPr/>
          <p:nvPr/>
        </p:nvSpPr>
        <p:spPr>
          <a:xfrm>
            <a:off x="6400800" y="5820449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3" name="a9_numt"/>
          <p:cNvSpPr txBox="1"/>
          <p:nvPr/>
        </p:nvSpPr>
        <p:spPr>
          <a:xfrm>
            <a:off x="6400800" y="582044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a9_ann"/>
          <p:cNvSpPr txBox="1"/>
          <p:nvPr/>
        </p:nvSpPr>
        <p:spPr>
          <a:xfrm>
            <a:off x="6748272" y="5783873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real images: never wider than their container, keep proportions.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Mobile-first media queries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by default, two columns once the screen is at least 600px wide.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834384"/>
          </a:xfrm>
          <a:prstGeom prst="roundRect">
            <a:avLst>
              <a:gd name="adj" fmla="val 28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309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1fr 1fr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822960" y="25542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54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41798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417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5862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4_browser"/>
          <p:cNvSpPr/>
          <p:nvPr/>
        </p:nvSpPr>
        <p:spPr>
          <a:xfrm>
            <a:off x="6400800" y="1783080"/>
            <a:ext cx="5242255" cy="238749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2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3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lesson6/example2/index.html</a:t>
            </a:r>
            <a:endParaRPr lang="en-US" sz="1100" dirty="0"/>
          </a:p>
        </p:txBody>
      </p:sp>
      <p:pic>
        <p:nvPicPr>
          <p:cNvPr id="24" name="a4_shot" descr="/home/user/Python/CSS_Course/assets/l6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3649797" cy="1710842"/>
          </a:xfrm>
          <a:prstGeom prst="rect">
            <a:avLst/>
          </a:prstGeom>
        </p:spPr>
      </p:pic>
      <p:sp>
        <p:nvSpPr>
          <p:cNvPr id="25" name="a4_shot_label"/>
          <p:cNvSpPr txBox="1"/>
          <p:nvPr/>
        </p:nvSpPr>
        <p:spPr>
          <a:xfrm>
            <a:off x="6400800" y="3932834"/>
            <a:ext cx="36497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(640px)</a:t>
            </a:r>
            <a:endParaRPr lang="en-US" sz="1100" dirty="0"/>
          </a:p>
        </p:txBody>
      </p:sp>
      <p:pic>
        <p:nvPicPr>
          <p:cNvPr id="26" name="a4_shot" descr="/home/user/Python/CSS_Course/assets/l6_ex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325" y="2185416"/>
            <a:ext cx="1482730" cy="1710842"/>
          </a:xfrm>
          <a:prstGeom prst="rect">
            <a:avLst/>
          </a:prstGeom>
        </p:spPr>
      </p:pic>
      <p:sp>
        <p:nvSpPr>
          <p:cNvPr id="27" name="a4_shot_label"/>
          <p:cNvSpPr txBox="1"/>
          <p:nvPr/>
        </p:nvSpPr>
        <p:spPr>
          <a:xfrm>
            <a:off x="10160325" y="3932834"/>
            <a:ext cx="1482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(260px)</a:t>
            </a:r>
            <a:endParaRPr lang="en-US" sz="1100" dirty="0"/>
          </a:p>
        </p:txBody>
      </p:sp>
      <p:sp>
        <p:nvSpPr>
          <p:cNvPr id="28" name="a6_num"/>
          <p:cNvSpPr/>
          <p:nvPr/>
        </p:nvSpPr>
        <p:spPr>
          <a:xfrm>
            <a:off x="6400800" y="439003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6400800" y="439003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6748272" y="435345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columns defined: a single column (the phone layout).</a:t>
            </a:r>
            <a:endParaRPr lang="en-US" sz="1250" dirty="0"/>
          </a:p>
        </p:txBody>
      </p:sp>
      <p:sp>
        <p:nvSpPr>
          <p:cNvPr id="31" name="a7_num"/>
          <p:cNvSpPr/>
          <p:nvPr/>
        </p:nvSpPr>
        <p:spPr>
          <a:xfrm>
            <a:off x="6400800" y="4956962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6400800" y="495696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6748272" y="492038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(min-width: 600px): rules inside apply only on screens 600px or wider.</a:t>
            </a:r>
            <a:endParaRPr lang="en-US" sz="1250" dirty="0"/>
          </a:p>
        </p:txBody>
      </p:sp>
      <p:sp>
        <p:nvSpPr>
          <p:cNvPr id="34" name="a8_num"/>
          <p:cNvSpPr/>
          <p:nvPr/>
        </p:nvSpPr>
        <p:spPr>
          <a:xfrm>
            <a:off x="6400800" y="552389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6400800" y="552389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6748272" y="5487314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equal columns appear when there is room.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Fluid type and a responsive menu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sets a flexible font size; a media query switches the menu to a row.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clamp(1.4rem, 5vw, 3rem)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7891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4368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5_html"/>
          <p:cNvSpPr/>
          <p:nvPr/>
        </p:nvSpPr>
        <p:spPr>
          <a:xfrm>
            <a:off x="548640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731520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731520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&lt;h1&gt;Class 3B&lt;/h1&gt;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6400800" y="1783080"/>
            <a:ext cx="5242255" cy="176019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lesson6/example3/index.html</a:t>
            </a:r>
            <a:endParaRPr lang="en-US" sz="1100" dirty="0"/>
          </a:p>
        </p:txBody>
      </p:sp>
      <p:pic>
        <p:nvPicPr>
          <p:cNvPr id="27" name="a4_shot" descr="/home/user/Python/CSS_Course/assets/l6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3649797" cy="1083534"/>
          </a:xfrm>
          <a:prstGeom prst="rect">
            <a:avLst/>
          </a:prstGeom>
        </p:spPr>
      </p:pic>
      <p:sp>
        <p:nvSpPr>
          <p:cNvPr id="28" name="a4_shot_label"/>
          <p:cNvSpPr txBox="1"/>
          <p:nvPr/>
        </p:nvSpPr>
        <p:spPr>
          <a:xfrm>
            <a:off x="6400800" y="3305526"/>
            <a:ext cx="36497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(640px)</a:t>
            </a:r>
            <a:endParaRPr lang="en-US" sz="1100" dirty="0"/>
          </a:p>
        </p:txBody>
      </p:sp>
      <p:pic>
        <p:nvPicPr>
          <p:cNvPr id="29" name="a4_shot" descr="/home/user/Python/CSS_Course/assets/l6_ex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325" y="2185416"/>
            <a:ext cx="1482730" cy="1083534"/>
          </a:xfrm>
          <a:prstGeom prst="rect">
            <a:avLst/>
          </a:prstGeom>
        </p:spPr>
      </p:pic>
      <p:sp>
        <p:nvSpPr>
          <p:cNvPr id="30" name="a4_shot_label"/>
          <p:cNvSpPr txBox="1"/>
          <p:nvPr/>
        </p:nvSpPr>
        <p:spPr>
          <a:xfrm>
            <a:off x="10160325" y="3305526"/>
            <a:ext cx="1482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(260px)</a:t>
            </a:r>
            <a:endParaRPr lang="en-US" sz="1100" dirty="0"/>
          </a:p>
        </p:txBody>
      </p:sp>
      <p:sp>
        <p:nvSpPr>
          <p:cNvPr id="31" name="a6_num"/>
          <p:cNvSpPr/>
          <p:nvPr/>
        </p:nvSpPr>
        <p:spPr>
          <a:xfrm>
            <a:off x="6400800" y="376272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a6_numt"/>
          <p:cNvSpPr txBox="1"/>
          <p:nvPr/>
        </p:nvSpPr>
        <p:spPr>
          <a:xfrm>
            <a:off x="6400800" y="37627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a6_ann"/>
          <p:cNvSpPr txBox="1"/>
          <p:nvPr/>
        </p:nvSpPr>
        <p:spPr>
          <a:xfrm>
            <a:off x="6748272" y="3726150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clamp(min, preferred, max): grows with the screen but stays between 1.4rem and 3rem.</a:t>
            </a:r>
            <a:endParaRPr lang="en-US" sz="1250" dirty="0"/>
          </a:p>
        </p:txBody>
      </p:sp>
      <p:sp>
        <p:nvSpPr>
          <p:cNvPr id="34" name="a7_num"/>
          <p:cNvSpPr/>
          <p:nvPr/>
        </p:nvSpPr>
        <p:spPr>
          <a:xfrm>
            <a:off x="6400800" y="4329654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a7_numt"/>
          <p:cNvSpPr txBox="1"/>
          <p:nvPr/>
        </p:nvSpPr>
        <p:spPr>
          <a:xfrm>
            <a:off x="6400800" y="432965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a7_ann"/>
          <p:cNvSpPr txBox="1"/>
          <p:nvPr/>
        </p:nvSpPr>
        <p:spPr>
          <a:xfrm>
            <a:off x="6748272" y="429307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phones the links are stacked in a column.</a:t>
            </a:r>
            <a:endParaRPr lang="en-US" sz="1250" dirty="0"/>
          </a:p>
        </p:txBody>
      </p:sp>
      <p:sp>
        <p:nvSpPr>
          <p:cNvPr id="37" name="a8_num"/>
          <p:cNvSpPr/>
          <p:nvPr/>
        </p:nvSpPr>
        <p:spPr>
          <a:xfrm>
            <a:off x="6400800" y="4896582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8" name="a8_numt"/>
          <p:cNvSpPr txBox="1"/>
          <p:nvPr/>
        </p:nvSpPr>
        <p:spPr>
          <a:xfrm>
            <a:off x="6400800" y="48965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a8_ann"/>
          <p:cNvSpPr txBox="1"/>
          <p:nvPr/>
        </p:nvSpPr>
        <p:spPr>
          <a:xfrm>
            <a:off x="6748272" y="486000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600px the menu becomes a row.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Real-world: one site, every device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visitors are on phones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browse mainly on a phone. A page that needs zooming and sideways scrolling loses visitors fast.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49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and services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shops show one product per row on phones and a full grid on desktops, using exactly these techniques.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27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and exam portals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open the same portal on a computer in class and on a phone at home. Responsive CSS serves both.</a:t>
            </a:r>
            <a:endParaRPr lang="en-US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173736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(F12) and press Ctrl+Shift+M (Cmd+Shift+M on Mac) for the device toolbar. Pick a phone, then drag the width to see your breakpoints trigger.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mistakes</a:t>
            </a:r>
            <a:endParaRPr lang="en-US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8366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a2_bad"/>
          <p:cNvSpPr/>
          <p:nvPr/>
        </p:nvSpPr>
        <p:spPr>
          <a:xfrm>
            <a:off x="5486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548640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772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page&lt;/title&gt;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4348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4434840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6634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name="viewport"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content="width=device-width,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initial-scale=1"&gt;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8366760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viewport meta tag phones show a zoomed-out desktop page and media queries behave oddly.</a:t>
            </a:r>
            <a:endParaRPr lang="en-US" sz="1400" dirty="0"/>
          </a:p>
        </p:txBody>
      </p:sp>
      <p:sp>
        <p:nvSpPr>
          <p:cNvPr id="13" name="a3_bad"/>
          <p:cNvSpPr/>
          <p:nvPr/>
        </p:nvSpPr>
        <p:spPr>
          <a:xfrm>
            <a:off x="5486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548640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772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 width: 960px; }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4348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4434840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6634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960px;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8366760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width forces sideways scrolling on small screens. max-width lets it shrink.</a:t>
            </a:r>
            <a:endParaRPr lang="en-US" sz="1400" dirty="0"/>
          </a:p>
        </p:txBody>
      </p:sp>
      <p:sp>
        <p:nvSpPr>
          <p:cNvPr id="20" name="a4_bad"/>
          <p:cNvSpPr/>
          <p:nvPr/>
        </p:nvSpPr>
        <p:spPr>
          <a:xfrm>
            <a:off x="5486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548640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772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min-width: 600px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4348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4434840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6634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8366760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must be in parentheses. Without them the query is invalid and ignored.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Tips &amp; best practices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164592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phone first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small-screen layout as your base, then add min-width queries. The CSS stays shorter and faster.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6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737600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the device toolbar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viewport width slowly and add a breakpoint wherever the layout starts to look cramped.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text readable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disable zoom. Use rem for text, keep lines under about 75 characters, and make tap targets at least 44px.</a:t>
            </a:r>
            <a:endParaRPr lang="en-US" sz="1500" dirty="0"/>
          </a:p>
        </p:txBody>
      </p:sp>
      <p:sp>
        <p:nvSpPr>
          <p:cNvPr id="18" name="a5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655304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737600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layout tools do the work</a:t>
            </a:r>
            <a:endParaRPr lang="en-US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flex-wrap and grid with auto-fit and minmax() often need no media queries at 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Activity: a responsive profile page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includes the viewport tag. Write the CSS phone-first, then add the wider layouts.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styles: centre .wrap with max-width 900px and padding 16px, and make images and the avatar fluid.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.skills a grid with gap 12px; on phones it is one column.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min-width 600px set .skills to two columns.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min-width 900px set .skills to three columns.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clamp() for the h1 size.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900px+ also put the intro text and avatar side by side with flexbox.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your page should look like this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5059375" cy="2615813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6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213477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4673213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4673213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code/lesson6/activity/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code/lesson6/activity/solution/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Challenge: a layout that rearranges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page whose sidebar sits BELOW the article on phones and BESIDE it on larger screens.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layout: .layout is a flex column with gap 16px, article first, sidebar second.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min-width 700px switch .layout to a row.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article flex: 1 and the sidebar a fixed 220px width at that size.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viewport meta tag to the HTML head (already provided) and test in DevTools.</a:t>
            </a:r>
            <a:endParaRPr lang="en-US" sz="1400" dirty="0"/>
          </a:p>
        </p:txBody>
      </p:sp>
      <p:sp>
        <p:nvSpPr>
          <p:cNvPr id="20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order property so the sidebar appears FIRST on wide screens.</a:t>
            </a:r>
            <a:endParaRPr lang="en-US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this result</a:t>
            </a:r>
            <a:endParaRPr lang="en-US" sz="1400" dirty="0"/>
          </a:p>
        </p:txBody>
      </p:sp>
      <p:sp>
        <p:nvSpPr>
          <p:cNvPr id="23" name="a3_browser"/>
          <p:cNvSpPr/>
          <p:nvPr/>
        </p:nvSpPr>
        <p:spPr>
          <a:xfrm>
            <a:off x="6583680" y="1828800"/>
            <a:ext cx="5059375" cy="133432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6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93199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6583680" y="339172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6766560" y="339172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code/lesson6/challenge/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code/lesson6/challenge/solution/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then click to reveal each answer.</a:t>
            </a:r>
            <a:endParaRPr lang="en-US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q"/>
          <p:cNvSpPr txBox="1"/>
          <p:nvPr/>
        </p:nvSpPr>
        <p:spPr>
          <a:xfrm>
            <a:off x="1600200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makes media queries work properly on phones?</a:t>
            </a:r>
            <a:endParaRPr lang="en-US" sz="1650" dirty="0"/>
          </a:p>
        </p:txBody>
      </p:sp>
      <p:sp>
        <p:nvSpPr>
          <p:cNvPr id="8" name="k3_ans_bg"/>
          <p:cNvSpPr/>
          <p:nvPr/>
        </p:nvSpPr>
        <p:spPr>
          <a:xfrm>
            <a:off x="7269480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7452360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 meta tag: &lt;meta name="viewport" content="width=device-width, initial-scale=1"&gt;.</a:t>
            </a:r>
            <a:endParaRPr lang="en-US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4_q"/>
          <p:cNvSpPr txBox="1"/>
          <p:nvPr/>
        </p:nvSpPr>
        <p:spPr>
          <a:xfrm>
            <a:off x="1600200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mobile-first mean in CSS?</a:t>
            </a:r>
            <a:endParaRPr lang="en-US" sz="1650" dirty="0"/>
          </a:p>
        </p:txBody>
      </p:sp>
      <p:sp>
        <p:nvSpPr>
          <p:cNvPr id="14" name="k4_ans_bg"/>
          <p:cNvSpPr/>
          <p:nvPr/>
        </p:nvSpPr>
        <p:spPr>
          <a:xfrm>
            <a:off x="7269480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7452360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phone layout as the base styles and add min-width media queries for bigger screens.</a:t>
            </a:r>
            <a:endParaRPr lang="en-US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5_q"/>
          <p:cNvSpPr txBox="1"/>
          <p:nvPr/>
        </p:nvSpPr>
        <p:spPr>
          <a:xfrm>
            <a:off x="1600200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use max-width: 960px instead of width: 960px?</a:t>
            </a:r>
            <a:endParaRPr lang="en-US" sz="1650" dirty="0"/>
          </a:p>
        </p:txBody>
      </p:sp>
      <p:sp>
        <p:nvSpPr>
          <p:cNvPr id="20" name="k5_ans_bg"/>
          <p:cNvSpPr/>
          <p:nvPr/>
        </p:nvSpPr>
        <p:spPr>
          <a:xfrm>
            <a:off x="7269480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7452360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 lets the element shrink on small screens; a fixed width causes sideways scrolling.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a2_ico_bg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1280160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viewport meta tag to every page.</a:t>
            </a:r>
            <a:endParaRPr lang="en-US" sz="1650" dirty="0"/>
          </a:p>
        </p:txBody>
      </p:sp>
      <p:sp>
        <p:nvSpPr>
          <p:cNvPr id="6" name="a3_ico_bg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1280160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%, fr, rem and max-width over fixed pixel sizes.</a:t>
            </a:r>
            <a:endParaRPr lang="en-US" sz="1650" dirty="0"/>
          </a:p>
        </p:txBody>
      </p:sp>
      <p:sp>
        <p:nvSpPr>
          <p:cNvPr id="9" name="a4_ico_bg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1280160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Mobile-first: base styles for phones, @media (min-width: ...) for more room.</a:t>
            </a:r>
            <a:endParaRPr lang="en-US" sz="1650" dirty="0"/>
          </a:p>
        </p:txBody>
      </p:sp>
      <p:sp>
        <p:nvSpPr>
          <p:cNvPr id="12" name="a5_ico_bg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1280160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clamp(), auto-fit and flex-wrap reduce the need for breakpoints.</a:t>
            </a:r>
            <a:endParaRPr lang="en-US" sz="1650" dirty="0"/>
          </a:p>
        </p:txBody>
      </p:sp>
      <p:sp>
        <p:nvSpPr>
          <p:cNvPr id="15" name="a6_ico_bg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1280160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the DevTools device toolbar at many widths.</a:t>
            </a:r>
            <a:endParaRPr lang="en-US" sz="1650" dirty="0"/>
          </a:p>
        </p:txBody>
      </p:sp>
      <p:sp>
        <p:nvSpPr>
          <p:cNvPr id="18" name="a8_panel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7635240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  (examples, activity, challenge)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online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(works offline) or the CodePen links in codepen.html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7: Transitions, Transforms &amp; Animations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6: Responsive Design</dc:title>
  <dc:subject>CSS for high-school students</dc:subject>
  <dc:creator>CSS for High School</dc:creator>
  <cp:lastModifiedBy>CSS for High School</cp:lastModifiedBy>
  <cp:revision>1</cp:revision>
  <dcterms:created xsi:type="dcterms:W3CDTF">2026-10-08T23:28:06Z</dcterms:created>
  <dcterms:modified xsi:type="dcterms:W3CDTF">2026-10-08T23:28:06Z</dcterms:modified>
</cp:coreProperties>
</file>