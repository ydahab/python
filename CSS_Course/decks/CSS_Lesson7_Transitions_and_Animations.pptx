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Two transitions, 0.3 seconds each (default easing is ease).
2. Hover colour. Because of the transition it fades instead of snapping.
3. translateY(-4px) lifts the button 4px; scale(1.05) makes it 5% bigger.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animation shorthand: name, duration, repeat, direction.
2. infinite = forever; alternate = forwards, then back.
3. The @keyframes name must match the animation name.
4. Start at 0, end 120px lower; the browser fills in between.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A circle with a light border, and only the top border coloured.
2. linear keeps the speed constant, which suits a spinner.
3. With only a 'to' step, the animation starts from the element's normal state.
4. prefers-reduced-motion: users can ask their system for less motion. Respect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658368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069080"/>
            <a:ext cx="64008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Shape 0"/>
          <p:cNvSpPr/>
          <p:nvPr/>
        </p:nvSpPr>
        <p:spPr>
          <a:xfrm>
            <a:off x="548640" y="1143000"/>
            <a:ext cx="822960" cy="6400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for High School  |  Lesson 7: Transitions &amp; Animations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Shape 0"/>
          <p:cNvSpPr/>
          <p:nvPr/>
        </p:nvSpPr>
        <p:spPr>
          <a:xfrm>
            <a:off x="548640" y="1143000"/>
            <a:ext cx="822960" cy="6400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for High School  |  Lesson 7: Transitions &amp; Animations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5_braces"/>
          <p:cNvSpPr txBox="1"/>
          <p:nvPr/>
        </p:nvSpPr>
        <p:spPr>
          <a:xfrm>
            <a:off x="731520" y="5029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}</a:t>
            </a:r>
            <a:endParaRPr lang="en-US" sz="6000" dirty="0"/>
          </a:p>
        </p:txBody>
      </p:sp>
      <p:sp>
        <p:nvSpPr>
          <p:cNvPr id="3" name="a1_pill"/>
          <p:cNvSpPr/>
          <p:nvPr/>
        </p:nvSpPr>
        <p:spPr>
          <a:xfrm>
            <a:off x="731520" y="1463040"/>
            <a:ext cx="2651760" cy="42062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4" name="a1_pill_text"/>
          <p:cNvSpPr txBox="1"/>
          <p:nvPr/>
        </p:nvSpPr>
        <p:spPr>
          <a:xfrm>
            <a:off x="731520" y="146304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7 OF 7</a:t>
            </a:r>
            <a:endParaRPr lang="en-US" sz="14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731520" y="2011680"/>
            <a:ext cx="6583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Transitions, Transforms &amp; Animations</a:t>
            </a:r>
            <a:endParaRPr lang="en-US" sz="48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731520" y="40690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Bring your pages to life, and keep the motion accessible</a:t>
            </a:r>
            <a:endParaRPr lang="en-US" sz="2200" dirty="0"/>
          </a:p>
        </p:txBody>
      </p:sp>
      <p:sp>
        <p:nvSpPr>
          <p:cNvPr id="7" name="a4_meta"/>
          <p:cNvSpPr txBox="1"/>
          <p:nvPr/>
        </p:nvSpPr>
        <p:spPr>
          <a:xfrm>
            <a:off x="731520" y="5074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school  |  Prior knowledge: Lessons 1-6  |  ~50 min</a:t>
            </a:r>
            <a:endParaRPr lang="en-US" sz="1600" dirty="0"/>
          </a:p>
        </p:txBody>
      </p:sp>
      <p:sp>
        <p:nvSpPr>
          <p:cNvPr id="8" name="a5_layer"/>
          <p:cNvSpPr/>
          <p:nvPr/>
        </p:nvSpPr>
        <p:spPr>
          <a:xfrm>
            <a:off x="7635240" y="1234440"/>
            <a:ext cx="4114800" cy="4480560"/>
          </a:xfrm>
          <a:prstGeom prst="roundRect">
            <a:avLst>
              <a:gd name="adj" fmla="val 2667"/>
            </a:avLst>
          </a:prstGeom>
          <a:solidFill>
            <a:schemeClr val="accent2">
              <a:alpha val="75000"/>
            </a:schemeClr>
          </a:solidFill>
          <a:ln/>
        </p:spPr>
      </p:sp>
      <p:sp>
        <p:nvSpPr>
          <p:cNvPr id="9" name="a6_layer"/>
          <p:cNvSpPr/>
          <p:nvPr/>
        </p:nvSpPr>
        <p:spPr>
          <a:xfrm>
            <a:off x="8092440" y="1691640"/>
            <a:ext cx="3200400" cy="3566160"/>
          </a:xfrm>
          <a:prstGeom prst="roundRect">
            <a:avLst>
              <a:gd name="adj" fmla="val 3429"/>
            </a:avLst>
          </a:prstGeom>
          <a:solidFill>
            <a:schemeClr val="accent3"/>
          </a:solidFill>
          <a:ln/>
        </p:spPr>
      </p:sp>
      <p:sp>
        <p:nvSpPr>
          <p:cNvPr id="10" name="a7_layer"/>
          <p:cNvSpPr/>
          <p:nvPr/>
        </p:nvSpPr>
        <p:spPr>
          <a:xfrm>
            <a:off x="8503920" y="2103120"/>
            <a:ext cx="2377440" cy="2743200"/>
          </a:xfrm>
          <a:prstGeom prst="roundRect">
            <a:avLst>
              <a:gd name="adj" fmla="val 4615"/>
            </a:avLst>
          </a:prstGeom>
          <a:solidFill>
            <a:schemeClr val="accent4"/>
          </a:solidFill>
          <a:ln/>
        </p:spPr>
      </p:sp>
      <p:sp>
        <p:nvSpPr>
          <p:cNvPr id="11" name="a8_layer"/>
          <p:cNvSpPr/>
          <p:nvPr/>
        </p:nvSpPr>
        <p:spPr>
          <a:xfrm>
            <a:off x="8869680" y="2468880"/>
            <a:ext cx="1645920" cy="192024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/>
        </p:spPr>
      </p:sp>
      <p:sp>
        <p:nvSpPr>
          <p:cNvPr id="12" name="a9_cssword"/>
          <p:cNvSpPr txBox="1"/>
          <p:nvPr/>
        </p:nvSpPr>
        <p:spPr>
          <a:xfrm>
            <a:off x="8869680" y="2468880"/>
            <a:ext cx="1645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3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rippl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Learning objective</a:t>
            </a:r>
            <a:endParaRPr lang="en-US" sz="3400" dirty="0"/>
          </a:p>
        </p:txBody>
      </p:sp>
      <p:sp>
        <p:nvSpPr>
          <p:cNvPr id="3" name="a2_panel"/>
          <p:cNvSpPr/>
          <p:nvPr/>
        </p:nvSpPr>
        <p:spPr>
          <a:xfrm>
            <a:off x="548640" y="1508760"/>
            <a:ext cx="5486400" cy="466344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4" name="a2_head"/>
          <p:cNvSpPr txBox="1"/>
          <p:nvPr/>
        </p:nvSpPr>
        <p:spPr>
          <a:xfrm>
            <a:off x="868680" y="16916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lesson you can:</a:t>
            </a:r>
            <a:endParaRPr lang="en-US" sz="1900" dirty="0"/>
          </a:p>
        </p:txBody>
      </p:sp>
      <p:sp>
        <p:nvSpPr>
          <p:cNvPr id="5" name="a3_ico_bg"/>
          <p:cNvSpPr/>
          <p:nvPr/>
        </p:nvSpPr>
        <p:spPr>
          <a:xfrm>
            <a:off x="868680" y="242316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6" name="a3_ico_im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813" y="2571293"/>
            <a:ext cx="252374" cy="252374"/>
          </a:xfrm>
          <a:prstGeom prst="rect">
            <a:avLst/>
          </a:prstGeom>
        </p:spPr>
      </p:pic>
      <p:sp>
        <p:nvSpPr>
          <p:cNvPr id="7" name="a3_obj"/>
          <p:cNvSpPr txBox="1"/>
          <p:nvPr/>
        </p:nvSpPr>
        <p:spPr>
          <a:xfrm>
            <a:off x="1600200" y="2331720"/>
            <a:ext cx="4160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 changes between two states with transition</a:t>
            </a:r>
            <a:endParaRPr lang="en-US" sz="1800" dirty="0"/>
          </a:p>
        </p:txBody>
      </p:sp>
      <p:sp>
        <p:nvSpPr>
          <p:cNvPr id="8" name="a4_ico_bg"/>
          <p:cNvSpPr/>
          <p:nvPr/>
        </p:nvSpPr>
        <p:spPr>
          <a:xfrm>
            <a:off x="868680" y="370332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9" name="a4_ico_im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813" y="3851453"/>
            <a:ext cx="252374" cy="252374"/>
          </a:xfrm>
          <a:prstGeom prst="rect">
            <a:avLst/>
          </a:prstGeom>
        </p:spPr>
      </p:pic>
      <p:sp>
        <p:nvSpPr>
          <p:cNvPr id="10" name="a4_obj"/>
          <p:cNvSpPr txBox="1"/>
          <p:nvPr/>
        </p:nvSpPr>
        <p:spPr>
          <a:xfrm>
            <a:off x="1600200" y="3611880"/>
            <a:ext cx="4160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Move, scale and rotate elements with transform</a:t>
            </a:r>
            <a:endParaRPr lang="en-US" sz="1800" dirty="0"/>
          </a:p>
        </p:txBody>
      </p:sp>
      <p:sp>
        <p:nvSpPr>
          <p:cNvPr id="11" name="a5_ico_bg"/>
          <p:cNvSpPr/>
          <p:nvPr/>
        </p:nvSpPr>
        <p:spPr>
          <a:xfrm>
            <a:off x="868680" y="498348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2" name="a5_ico_img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813" y="5131613"/>
            <a:ext cx="252374" cy="252374"/>
          </a:xfrm>
          <a:prstGeom prst="rect">
            <a:avLst/>
          </a:prstGeom>
        </p:spPr>
      </p:pic>
      <p:sp>
        <p:nvSpPr>
          <p:cNvPr id="13" name="a5_obj"/>
          <p:cNvSpPr txBox="1"/>
          <p:nvPr/>
        </p:nvSpPr>
        <p:spPr>
          <a:xfrm>
            <a:off x="1600200" y="4892040"/>
            <a:ext cx="4160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multi-step animations with @keyframes, and respect reduced-motion settings</a:t>
            </a:r>
            <a:endParaRPr lang="en-US" sz="1800" dirty="0"/>
          </a:p>
        </p:txBody>
      </p:sp>
      <p:sp>
        <p:nvSpPr>
          <p:cNvPr id="14" name="a6_terms_head"/>
          <p:cNvSpPr txBox="1"/>
          <p:nvPr/>
        </p:nvSpPr>
        <p:spPr>
          <a:xfrm>
            <a:off x="6355080" y="15087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terms</a:t>
            </a:r>
            <a:endParaRPr lang="en-US" sz="1900" dirty="0"/>
          </a:p>
        </p:txBody>
      </p:sp>
      <p:sp>
        <p:nvSpPr>
          <p:cNvPr id="15" name="a6_chip"/>
          <p:cNvSpPr/>
          <p:nvPr/>
        </p:nvSpPr>
        <p:spPr>
          <a:xfrm>
            <a:off x="6355080" y="2057400"/>
            <a:ext cx="164592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sp>
        <p:nvSpPr>
          <p:cNvPr id="16" name="a6_chip_text"/>
          <p:cNvSpPr txBox="1"/>
          <p:nvPr/>
        </p:nvSpPr>
        <p:spPr>
          <a:xfrm>
            <a:off x="6355080" y="20574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Transition</a:t>
            </a:r>
            <a:endParaRPr lang="en-US" sz="1300" dirty="0"/>
          </a:p>
        </p:txBody>
      </p:sp>
      <p:sp>
        <p:nvSpPr>
          <p:cNvPr id="17" name="a6_def"/>
          <p:cNvSpPr txBox="1"/>
          <p:nvPr/>
        </p:nvSpPr>
        <p:spPr>
          <a:xfrm>
            <a:off x="8183880" y="1947672"/>
            <a:ext cx="34564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smooth change from one set of styles to another, for example on hover.</a:t>
            </a:r>
            <a:endParaRPr lang="en-US" sz="1400" dirty="0"/>
          </a:p>
        </p:txBody>
      </p:sp>
      <p:sp>
        <p:nvSpPr>
          <p:cNvPr id="18" name="a7_chip"/>
          <p:cNvSpPr/>
          <p:nvPr/>
        </p:nvSpPr>
        <p:spPr>
          <a:xfrm>
            <a:off x="6355080" y="3127248"/>
            <a:ext cx="1645920" cy="45720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/>
        </p:spPr>
      </p:sp>
      <p:sp>
        <p:nvSpPr>
          <p:cNvPr id="19" name="a7_chip_text"/>
          <p:cNvSpPr txBox="1"/>
          <p:nvPr/>
        </p:nvSpPr>
        <p:spPr>
          <a:xfrm>
            <a:off x="6355080" y="312724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Transform</a:t>
            </a:r>
            <a:endParaRPr lang="en-US" sz="1300" dirty="0"/>
          </a:p>
        </p:txBody>
      </p:sp>
      <p:sp>
        <p:nvSpPr>
          <p:cNvPr id="20" name="a7_def"/>
          <p:cNvSpPr txBox="1"/>
          <p:nvPr/>
        </p:nvSpPr>
        <p:spPr>
          <a:xfrm>
            <a:off x="8183880" y="3017520"/>
            <a:ext cx="34564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visual change to an element: translate (move), scale, rotate or skew.</a:t>
            </a:r>
            <a:endParaRPr lang="en-US" sz="1400" dirty="0"/>
          </a:p>
        </p:txBody>
      </p:sp>
      <p:sp>
        <p:nvSpPr>
          <p:cNvPr id="21" name="a8_chip"/>
          <p:cNvSpPr/>
          <p:nvPr/>
        </p:nvSpPr>
        <p:spPr>
          <a:xfrm>
            <a:off x="6355080" y="4197096"/>
            <a:ext cx="1645920" cy="457200"/>
          </a:xfrm>
          <a:prstGeom prst="roundRect">
            <a:avLst>
              <a:gd name="adj" fmla="val 20000"/>
            </a:avLst>
          </a:prstGeom>
          <a:solidFill>
            <a:schemeClr val="accent4"/>
          </a:solidFill>
          <a:ln/>
        </p:spPr>
      </p:sp>
      <p:sp>
        <p:nvSpPr>
          <p:cNvPr id="22" name="a8_chip_text"/>
          <p:cNvSpPr txBox="1"/>
          <p:nvPr/>
        </p:nvSpPr>
        <p:spPr>
          <a:xfrm>
            <a:off x="6355080" y="419709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Keyframes</a:t>
            </a:r>
            <a:endParaRPr lang="en-US" sz="1300" dirty="0"/>
          </a:p>
        </p:txBody>
      </p:sp>
      <p:sp>
        <p:nvSpPr>
          <p:cNvPr id="23" name="a8_def"/>
          <p:cNvSpPr txBox="1"/>
          <p:nvPr/>
        </p:nvSpPr>
        <p:spPr>
          <a:xfrm>
            <a:off x="8183880" y="4087368"/>
            <a:ext cx="34564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named steps of an animation, written with @keyframes (from/to or percentages).</a:t>
            </a:r>
            <a:endParaRPr lang="en-US" sz="1400" dirty="0"/>
          </a:p>
        </p:txBody>
      </p:sp>
      <p:sp>
        <p:nvSpPr>
          <p:cNvPr id="24" name="a9_chip"/>
          <p:cNvSpPr/>
          <p:nvPr/>
        </p:nvSpPr>
        <p:spPr>
          <a:xfrm>
            <a:off x="6355080" y="5266944"/>
            <a:ext cx="1645920" cy="457200"/>
          </a:xfrm>
          <a:prstGeom prst="roundRect">
            <a:avLst>
              <a:gd name="adj" fmla="val 20000"/>
            </a:avLst>
          </a:prstGeom>
          <a:solidFill>
            <a:schemeClr val="accent5"/>
          </a:solidFill>
          <a:ln/>
        </p:spPr>
      </p:sp>
      <p:sp>
        <p:nvSpPr>
          <p:cNvPr id="25" name="a9_chip_text"/>
          <p:cNvSpPr txBox="1"/>
          <p:nvPr/>
        </p:nvSpPr>
        <p:spPr>
          <a:xfrm>
            <a:off x="6355080" y="526694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Easing</a:t>
            </a:r>
            <a:endParaRPr lang="en-US" sz="1300" dirty="0"/>
          </a:p>
        </p:txBody>
      </p:sp>
      <p:sp>
        <p:nvSpPr>
          <p:cNvPr id="26" name="a9_def"/>
          <p:cNvSpPr txBox="1"/>
          <p:nvPr/>
        </p:nvSpPr>
        <p:spPr>
          <a:xfrm>
            <a:off x="8183880" y="5157216"/>
            <a:ext cx="34564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speed curve of motion: ease, linear, ease-in-out and others.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53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53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53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9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3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7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1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5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7" grpId="0" animBg="1"/>
      <p:bldP spid="8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The big ideas</a:t>
            </a:r>
            <a:endParaRPr lang="en-US" sz="3400" dirty="0"/>
          </a:p>
        </p:txBody>
      </p:sp>
      <p:sp>
        <p:nvSpPr>
          <p:cNvPr id="3" name="a2_card"/>
          <p:cNvSpPr/>
          <p:nvPr/>
        </p:nvSpPr>
        <p:spPr>
          <a:xfrm>
            <a:off x="548640" y="1508760"/>
            <a:ext cx="3515258" cy="4617720"/>
          </a:xfrm>
          <a:prstGeom prst="roundRect">
            <a:avLst>
              <a:gd name="adj" fmla="val 312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4" name="a2_card_bar"/>
          <p:cNvSpPr/>
          <p:nvPr/>
        </p:nvSpPr>
        <p:spPr>
          <a:xfrm>
            <a:off x="822960" y="1508760"/>
            <a:ext cx="822960" cy="822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a2_num"/>
          <p:cNvSpPr/>
          <p:nvPr/>
        </p:nvSpPr>
        <p:spPr>
          <a:xfrm>
            <a:off x="822960" y="17830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a2_numt"/>
          <p:cNvSpPr txBox="1"/>
          <p:nvPr/>
        </p:nvSpPr>
        <p:spPr>
          <a:xfrm>
            <a:off x="82296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a2_card_h"/>
          <p:cNvSpPr txBox="1"/>
          <p:nvPr/>
        </p:nvSpPr>
        <p:spPr>
          <a:xfrm>
            <a:off x="822960" y="2423160"/>
            <a:ext cx="29666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Transitions: two states, smooth change</a:t>
            </a:r>
            <a:endParaRPr lang="en-US" sz="2000" dirty="0"/>
          </a:p>
        </p:txBody>
      </p:sp>
      <p:sp>
        <p:nvSpPr>
          <p:cNvPr id="8" name="a2_card_b"/>
          <p:cNvSpPr txBox="1"/>
          <p:nvPr/>
        </p:nvSpPr>
        <p:spPr>
          <a:xfrm>
            <a:off x="822960" y="3246120"/>
            <a:ext cx="296661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transition on the NORMAL state: which property, how long, which easing. When the style changes (for example on :hover) the browser animates the difference.</a:t>
            </a:r>
            <a:endParaRPr lang="en-US" sz="1500" dirty="0"/>
          </a:p>
        </p:txBody>
      </p:sp>
      <p:sp>
        <p:nvSpPr>
          <p:cNvPr id="9" name="a2_card_codebg"/>
          <p:cNvSpPr/>
          <p:nvPr/>
        </p:nvSpPr>
        <p:spPr>
          <a:xfrm>
            <a:off x="822960" y="5349240"/>
            <a:ext cx="2966618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/>
        </p:spPr>
      </p:sp>
      <p:sp>
        <p:nvSpPr>
          <p:cNvPr id="10" name="a2_card_code"/>
          <p:cNvSpPr txBox="1"/>
          <p:nvPr/>
        </p:nvSpPr>
        <p:spPr>
          <a:xfrm>
            <a:off x="822960" y="534924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transition: background 0.3s ease;</a:t>
            </a:r>
            <a:endParaRPr lang="en-US" sz="1300" dirty="0"/>
          </a:p>
        </p:txBody>
      </p:sp>
      <p:sp>
        <p:nvSpPr>
          <p:cNvPr id="11" name="a3_card"/>
          <p:cNvSpPr/>
          <p:nvPr/>
        </p:nvSpPr>
        <p:spPr>
          <a:xfrm>
            <a:off x="4338218" y="1508760"/>
            <a:ext cx="3515258" cy="4617720"/>
          </a:xfrm>
          <a:prstGeom prst="roundRect">
            <a:avLst>
              <a:gd name="adj" fmla="val 312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12" name="a3_card_bar"/>
          <p:cNvSpPr/>
          <p:nvPr/>
        </p:nvSpPr>
        <p:spPr>
          <a:xfrm>
            <a:off x="4612538" y="1508760"/>
            <a:ext cx="822960" cy="82296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3" name="a3_num"/>
          <p:cNvSpPr/>
          <p:nvPr/>
        </p:nvSpPr>
        <p:spPr>
          <a:xfrm>
            <a:off x="4612538" y="178308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4" name="a3_numt"/>
          <p:cNvSpPr txBox="1"/>
          <p:nvPr/>
        </p:nvSpPr>
        <p:spPr>
          <a:xfrm>
            <a:off x="4612538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a3_card_h"/>
          <p:cNvSpPr txBox="1"/>
          <p:nvPr/>
        </p:nvSpPr>
        <p:spPr>
          <a:xfrm>
            <a:off x="4612538" y="2423160"/>
            <a:ext cx="29666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 move things visually</a:t>
            </a:r>
            <a:endParaRPr lang="en-US" sz="2000" dirty="0"/>
          </a:p>
        </p:txBody>
      </p:sp>
      <p:sp>
        <p:nvSpPr>
          <p:cNvPr id="16" name="a3_card_b"/>
          <p:cNvSpPr txBox="1"/>
          <p:nvPr/>
        </p:nvSpPr>
        <p:spPr>
          <a:xfrm>
            <a:off x="4612538" y="3246120"/>
            <a:ext cx="296661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translate, scale and rotate change how an element is drawn without moving its neighbours. They are smooth and fast, so they are the best choice for animation.</a:t>
            </a:r>
            <a:endParaRPr lang="en-US" sz="1500" dirty="0"/>
          </a:p>
        </p:txBody>
      </p:sp>
      <p:sp>
        <p:nvSpPr>
          <p:cNvPr id="17" name="a3_card_codebg"/>
          <p:cNvSpPr/>
          <p:nvPr/>
        </p:nvSpPr>
        <p:spPr>
          <a:xfrm>
            <a:off x="4612538" y="5349240"/>
            <a:ext cx="2966618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/>
        </p:spPr>
      </p:sp>
      <p:sp>
        <p:nvSpPr>
          <p:cNvPr id="18" name="a3_card_code"/>
          <p:cNvSpPr txBox="1"/>
          <p:nvPr/>
        </p:nvSpPr>
        <p:spPr>
          <a:xfrm>
            <a:off x="4612538" y="534924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transform: scale(1.1);</a:t>
            </a:r>
            <a:endParaRPr lang="en-US" sz="1300" dirty="0"/>
          </a:p>
        </p:txBody>
      </p:sp>
      <p:sp>
        <p:nvSpPr>
          <p:cNvPr id="19" name="a4_card"/>
          <p:cNvSpPr/>
          <p:nvPr/>
        </p:nvSpPr>
        <p:spPr>
          <a:xfrm>
            <a:off x="8127797" y="1508760"/>
            <a:ext cx="3515258" cy="4617720"/>
          </a:xfrm>
          <a:prstGeom prst="roundRect">
            <a:avLst>
              <a:gd name="adj" fmla="val 312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20" name="a4_card_bar"/>
          <p:cNvSpPr/>
          <p:nvPr/>
        </p:nvSpPr>
        <p:spPr>
          <a:xfrm>
            <a:off x="8402117" y="1508760"/>
            <a:ext cx="822960" cy="82296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21" name="a4_num"/>
          <p:cNvSpPr/>
          <p:nvPr/>
        </p:nvSpPr>
        <p:spPr>
          <a:xfrm>
            <a:off x="8402117" y="178308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2" name="a4_numt"/>
          <p:cNvSpPr txBox="1"/>
          <p:nvPr/>
        </p:nvSpPr>
        <p:spPr>
          <a:xfrm>
            <a:off x="8402117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a4_card_h"/>
          <p:cNvSpPr txBox="1"/>
          <p:nvPr/>
        </p:nvSpPr>
        <p:spPr>
          <a:xfrm>
            <a:off x="8402117" y="2423160"/>
            <a:ext cx="29666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Animations run on their own</a:t>
            </a:r>
            <a:endParaRPr lang="en-US" sz="2000" dirty="0"/>
          </a:p>
        </p:txBody>
      </p:sp>
      <p:sp>
        <p:nvSpPr>
          <p:cNvPr id="24" name="a4_card_b"/>
          <p:cNvSpPr txBox="1"/>
          <p:nvPr/>
        </p:nvSpPr>
        <p:spPr>
          <a:xfrm>
            <a:off x="8402117" y="3246120"/>
            <a:ext cx="296661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steps with @keyframes, then attach them with animation: name, duration, easing, repeat. Always respect users who ask for less motion.</a:t>
            </a:r>
            <a:endParaRPr lang="en-US" sz="1500" dirty="0"/>
          </a:p>
        </p:txBody>
      </p:sp>
      <p:sp>
        <p:nvSpPr>
          <p:cNvPr id="25" name="a4_card_codebg"/>
          <p:cNvSpPr/>
          <p:nvPr/>
        </p:nvSpPr>
        <p:spPr>
          <a:xfrm>
            <a:off x="8402117" y="5349240"/>
            <a:ext cx="2966618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/>
        </p:spPr>
      </p:sp>
      <p:sp>
        <p:nvSpPr>
          <p:cNvPr id="26" name="a4_card_code"/>
          <p:cNvSpPr txBox="1"/>
          <p:nvPr/>
        </p:nvSpPr>
        <p:spPr>
          <a:xfrm>
            <a:off x="8402117" y="534924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animation: spin 1s infinite;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Easing: the speed curve</a:t>
            </a:r>
            <a:endParaRPr lang="en-US" sz="3400" dirty="0"/>
          </a:p>
        </p:txBody>
      </p:sp>
      <p:sp>
        <p:nvSpPr>
          <p:cNvPr id="3" name="a2_frame"/>
          <p:cNvSpPr/>
          <p:nvPr/>
        </p:nvSpPr>
        <p:spPr>
          <a:xfrm>
            <a:off x="475488" y="1435608"/>
            <a:ext cx="7095744" cy="4718304"/>
          </a:xfrm>
          <a:prstGeom prst="roundRect">
            <a:avLst>
              <a:gd name="adj" fmla="val 1938"/>
            </a:avLst>
          </a:prstGeom>
          <a:solidFill>
            <a:schemeClr val="bg1"/>
          </a:solidFill>
          <a:ln w="12700">
            <a:solidFill>
              <a:srgbClr val="D5DA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a2_diagram" descr="/home/user/Python/CSS_Course/assets/l7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6949440" cy="4572000"/>
          </a:xfrm>
          <a:prstGeom prst="rect">
            <a:avLst/>
          </a:prstGeom>
        </p:spPr>
      </p:pic>
      <p:sp>
        <p:nvSpPr>
          <p:cNvPr id="5" name="a3_num"/>
          <p:cNvSpPr/>
          <p:nvPr/>
        </p:nvSpPr>
        <p:spPr>
          <a:xfrm>
            <a:off x="7909560" y="16916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a3_numt"/>
          <p:cNvSpPr txBox="1"/>
          <p:nvPr/>
        </p:nvSpPr>
        <p:spPr>
          <a:xfrm>
            <a:off x="790956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a3_cap"/>
          <p:cNvSpPr txBox="1"/>
          <p:nvPr/>
        </p:nvSpPr>
        <p:spPr>
          <a:xfrm>
            <a:off x="8549640" y="16002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linear: constant speed. Good for spinners.</a:t>
            </a:r>
            <a:endParaRPr lang="en-US" sz="1600" dirty="0"/>
          </a:p>
        </p:txBody>
      </p:sp>
      <p:sp>
        <p:nvSpPr>
          <p:cNvPr id="8" name="a4_num"/>
          <p:cNvSpPr/>
          <p:nvPr/>
        </p:nvSpPr>
        <p:spPr>
          <a:xfrm>
            <a:off x="7909560" y="315468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9" name="a4_numt"/>
          <p:cNvSpPr txBox="1"/>
          <p:nvPr/>
        </p:nvSpPr>
        <p:spPr>
          <a:xfrm>
            <a:off x="790956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a4_cap"/>
          <p:cNvSpPr txBox="1"/>
          <p:nvPr/>
        </p:nvSpPr>
        <p:spPr>
          <a:xfrm>
            <a:off x="8549640" y="30632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ease (default) and ease-in-out: start and end gently, which feels natural.</a:t>
            </a:r>
            <a:endParaRPr lang="en-US" sz="1600" dirty="0"/>
          </a:p>
        </p:txBody>
      </p:sp>
      <p:sp>
        <p:nvSpPr>
          <p:cNvPr id="11" name="a5_num"/>
          <p:cNvSpPr/>
          <p:nvPr/>
        </p:nvSpPr>
        <p:spPr>
          <a:xfrm>
            <a:off x="7909560" y="461772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2" name="a5_numt"/>
          <p:cNvSpPr txBox="1"/>
          <p:nvPr/>
        </p:nvSpPr>
        <p:spPr>
          <a:xfrm>
            <a:off x="790956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a5_cap"/>
          <p:cNvSpPr txBox="1"/>
          <p:nvPr/>
        </p:nvSpPr>
        <p:spPr>
          <a:xfrm>
            <a:off x="8549640" y="452628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goes left to right, progress bottom to top. A steeper line means faster movement.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window dir="ver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Example 1: A hover transition</a:t>
            </a:r>
            <a:endParaRPr lang="en-US" sz="3400" dirty="0"/>
          </a:p>
        </p:txBody>
      </p:sp>
      <p:sp>
        <p:nvSpPr>
          <p:cNvPr id="4" name="a2_intro"/>
          <p:cNvSpPr txBox="1"/>
          <p:nvPr/>
        </p:nvSpPr>
        <p:spPr>
          <a:xfrm>
            <a:off x="548640" y="126187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transition lives on the normal state, the change lives on :hover.</a:t>
            </a:r>
            <a:endParaRPr lang="en-US" sz="1600" dirty="0"/>
          </a:p>
        </p:txBody>
      </p:sp>
      <p:sp>
        <p:nvSpPr>
          <p:cNvPr id="5" name="a3_code"/>
          <p:cNvSpPr/>
          <p:nvPr/>
        </p:nvSpPr>
        <p:spPr>
          <a:xfrm>
            <a:off x="548640" y="1783080"/>
            <a:ext cx="5623560" cy="3377184"/>
          </a:xfrm>
          <a:prstGeom prst="roundRect">
            <a:avLst>
              <a:gd name="adj" fmla="val 3249"/>
            </a:avLst>
          </a:prstGeom>
          <a:solidFill>
            <a:schemeClr val="tx1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6" name="a3_code_dot"/>
          <p:cNvSpPr/>
          <p:nvPr/>
        </p:nvSpPr>
        <p:spPr>
          <a:xfrm>
            <a:off x="768096" y="1965960"/>
            <a:ext cx="128016" cy="12801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7" name="a3_code_dot"/>
          <p:cNvSpPr/>
          <p:nvPr/>
        </p:nvSpPr>
        <p:spPr>
          <a:xfrm>
            <a:off x="987552" y="196596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a3_code_dot"/>
          <p:cNvSpPr/>
          <p:nvPr/>
        </p:nvSpPr>
        <p:spPr>
          <a:xfrm>
            <a:off x="1207008" y="1965960"/>
            <a:ext cx="128016" cy="128016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9" name="a3_code_file"/>
          <p:cNvSpPr txBox="1"/>
          <p:nvPr/>
        </p:nvSpPr>
        <p:spPr>
          <a:xfrm>
            <a:off x="1554480" y="189280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E97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1200" dirty="0"/>
          </a:p>
        </p:txBody>
      </p:sp>
      <p:sp>
        <p:nvSpPr>
          <p:cNvPr id="10" name="a3_code_text"/>
          <p:cNvSpPr txBox="1"/>
          <p:nvPr/>
        </p:nvSpPr>
        <p:spPr>
          <a:xfrm>
            <a:off x="1261872" y="2350008"/>
            <a:ext cx="4754880" cy="2636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.btn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#2965f1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white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none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padding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12px 24px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border-radius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10px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transition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background 0.3s, transform 0.3s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.btn:hover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#ff4f8b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transform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translateY(-4px) scale(1.05)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1" name="a3_num"/>
          <p:cNvSpPr/>
          <p:nvPr/>
        </p:nvSpPr>
        <p:spPr>
          <a:xfrm>
            <a:off x="822960" y="3652774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a3_numt"/>
          <p:cNvSpPr txBox="1"/>
          <p:nvPr/>
        </p:nvSpPr>
        <p:spPr>
          <a:xfrm>
            <a:off x="822960" y="36527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a3_num"/>
          <p:cNvSpPr/>
          <p:nvPr/>
        </p:nvSpPr>
        <p:spPr>
          <a:xfrm>
            <a:off x="822960" y="4300474"/>
            <a:ext cx="201168" cy="20116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4" name="a3_numt"/>
          <p:cNvSpPr txBox="1"/>
          <p:nvPr/>
        </p:nvSpPr>
        <p:spPr>
          <a:xfrm>
            <a:off x="822960" y="43004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a3_num"/>
          <p:cNvSpPr/>
          <p:nvPr/>
        </p:nvSpPr>
        <p:spPr>
          <a:xfrm>
            <a:off x="822960" y="4516374"/>
            <a:ext cx="201168" cy="20116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6" name="a3_numt"/>
          <p:cNvSpPr txBox="1"/>
          <p:nvPr/>
        </p:nvSpPr>
        <p:spPr>
          <a:xfrm>
            <a:off x="822960" y="45163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a5_html"/>
          <p:cNvSpPr/>
          <p:nvPr/>
        </p:nvSpPr>
        <p:spPr>
          <a:xfrm>
            <a:off x="548640" y="5297424"/>
            <a:ext cx="5623560" cy="966216"/>
          </a:xfrm>
          <a:prstGeom prst="roundRect">
            <a:avLst>
              <a:gd name="adj" fmla="val 9464"/>
            </a:avLst>
          </a:prstGeom>
          <a:solidFill>
            <a:schemeClr val="bg2"/>
          </a:solidFill>
          <a:ln/>
        </p:spPr>
      </p:sp>
      <p:sp>
        <p:nvSpPr>
          <p:cNvPr id="18" name="a5_html_h"/>
          <p:cNvSpPr txBox="1"/>
          <p:nvPr/>
        </p:nvSpPr>
        <p:spPr>
          <a:xfrm>
            <a:off x="731520" y="53705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used</a:t>
            </a:r>
            <a:endParaRPr lang="en-US" sz="1100" dirty="0"/>
          </a:p>
        </p:txBody>
      </p:sp>
      <p:sp>
        <p:nvSpPr>
          <p:cNvPr id="19" name="a5_html_text"/>
          <p:cNvSpPr txBox="1"/>
          <p:nvPr/>
        </p:nvSpPr>
        <p:spPr>
          <a:xfrm>
            <a:off x="731520" y="5644896"/>
            <a:ext cx="5257800" cy="55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 class="btn"&gt;Hover me&lt;/button&gt;</a:t>
            </a:r>
            <a:endParaRPr lang="en-US" sz="1050" dirty="0"/>
          </a:p>
        </p:txBody>
      </p:sp>
      <p:sp>
        <p:nvSpPr>
          <p:cNvPr id="20" name="a4_browser"/>
          <p:cNvSpPr/>
          <p:nvPr/>
        </p:nvSpPr>
        <p:spPr>
          <a:xfrm>
            <a:off x="6400800" y="1783080"/>
            <a:ext cx="5242255" cy="1619288"/>
          </a:xfrm>
          <a:prstGeom prst="rect">
            <a:avLst/>
          </a:prstGeom>
          <a:solidFill>
            <a:schemeClr val="bg1"/>
          </a:solidFill>
          <a:ln w="12700">
            <a:solidFill>
              <a:srgbClr val="D5DA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21" name="a4_browser_bar"/>
          <p:cNvSpPr/>
          <p:nvPr/>
        </p:nvSpPr>
        <p:spPr>
          <a:xfrm>
            <a:off x="6400800" y="1783080"/>
            <a:ext cx="5242255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2" name="a4_browser_dot"/>
          <p:cNvSpPr/>
          <p:nvPr/>
        </p:nvSpPr>
        <p:spPr>
          <a:xfrm>
            <a:off x="6583680" y="1920240"/>
            <a:ext cx="118872" cy="11887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3" name="a4_browser_dot"/>
          <p:cNvSpPr/>
          <p:nvPr/>
        </p:nvSpPr>
        <p:spPr>
          <a:xfrm>
            <a:off x="6784848" y="192024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4" name="a4_browser_dot"/>
          <p:cNvSpPr/>
          <p:nvPr/>
        </p:nvSpPr>
        <p:spPr>
          <a:xfrm>
            <a:off x="6986016" y="1920240"/>
            <a:ext cx="118872" cy="118872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5" name="a4_browser_url"/>
          <p:cNvSpPr/>
          <p:nvPr/>
        </p:nvSpPr>
        <p:spPr>
          <a:xfrm>
            <a:off x="7315200" y="1847088"/>
            <a:ext cx="4144975" cy="274320"/>
          </a:xfrm>
          <a:prstGeom prst="roundRect">
            <a:avLst>
              <a:gd name="adj" fmla="val 33333"/>
            </a:avLst>
          </a:prstGeom>
          <a:solidFill>
            <a:schemeClr val="bg1"/>
          </a:solidFill>
          <a:ln/>
        </p:spPr>
      </p:sp>
      <p:sp>
        <p:nvSpPr>
          <p:cNvPr id="26" name="a4_browser_urltext"/>
          <p:cNvSpPr txBox="1"/>
          <p:nvPr/>
        </p:nvSpPr>
        <p:spPr>
          <a:xfrm>
            <a:off x="7424928" y="1847088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lesson7/example1/index.html</a:t>
            </a:r>
            <a:endParaRPr lang="en-US" sz="1100" dirty="0"/>
          </a:p>
        </p:txBody>
      </p:sp>
      <p:pic>
        <p:nvPicPr>
          <p:cNvPr id="27" name="a4_shot" descr="/home/user/Python/CSS_Course/assets/l7_ex1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2185416"/>
            <a:ext cx="5242255" cy="1216952"/>
          </a:xfrm>
          <a:prstGeom prst="rect">
            <a:avLst/>
          </a:prstGeom>
        </p:spPr>
      </p:pic>
      <p:sp>
        <p:nvSpPr>
          <p:cNvPr id="28" name="a6_num"/>
          <p:cNvSpPr/>
          <p:nvPr/>
        </p:nvSpPr>
        <p:spPr>
          <a:xfrm>
            <a:off x="6400800" y="3621824"/>
            <a:ext cx="228600" cy="2286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9" name="a6_numt"/>
          <p:cNvSpPr txBox="1"/>
          <p:nvPr/>
        </p:nvSpPr>
        <p:spPr>
          <a:xfrm>
            <a:off x="6400800" y="362182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30" name="a6_ann"/>
          <p:cNvSpPr txBox="1"/>
          <p:nvPr/>
        </p:nvSpPr>
        <p:spPr>
          <a:xfrm>
            <a:off x="6748272" y="3585248"/>
            <a:ext cx="489478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transitions, 0.3 seconds each (default easing is ease).</a:t>
            </a:r>
            <a:endParaRPr lang="en-US" sz="1250" dirty="0"/>
          </a:p>
        </p:txBody>
      </p:sp>
      <p:sp>
        <p:nvSpPr>
          <p:cNvPr id="31" name="a7_num"/>
          <p:cNvSpPr/>
          <p:nvPr/>
        </p:nvSpPr>
        <p:spPr>
          <a:xfrm>
            <a:off x="6400800" y="4188752"/>
            <a:ext cx="228600" cy="2286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2" name="a7_numt"/>
          <p:cNvSpPr txBox="1"/>
          <p:nvPr/>
        </p:nvSpPr>
        <p:spPr>
          <a:xfrm>
            <a:off x="6400800" y="418875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33" name="a7_ann"/>
          <p:cNvSpPr txBox="1"/>
          <p:nvPr/>
        </p:nvSpPr>
        <p:spPr>
          <a:xfrm>
            <a:off x="6748272" y="4152176"/>
            <a:ext cx="489478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colour. Because of the transition it fades instead of snapping.</a:t>
            </a:r>
            <a:endParaRPr lang="en-US" sz="1250" dirty="0"/>
          </a:p>
        </p:txBody>
      </p:sp>
      <p:sp>
        <p:nvSpPr>
          <p:cNvPr id="34" name="a8_num"/>
          <p:cNvSpPr/>
          <p:nvPr/>
        </p:nvSpPr>
        <p:spPr>
          <a:xfrm>
            <a:off x="6400800" y="4755680"/>
            <a:ext cx="228600" cy="2286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35" name="a8_numt"/>
          <p:cNvSpPr txBox="1"/>
          <p:nvPr/>
        </p:nvSpPr>
        <p:spPr>
          <a:xfrm>
            <a:off x="6400800" y="47556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6" name="a8_ann"/>
          <p:cNvSpPr txBox="1"/>
          <p:nvPr/>
        </p:nvSpPr>
        <p:spPr>
          <a:xfrm>
            <a:off x="6748272" y="4719104"/>
            <a:ext cx="489478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translateY(-4px) lifts the button 4px; scale(1.05) makes it 5% bigger.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6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6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3" dur="6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6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7" dur="6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6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1" dur="6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6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5" dur="6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Example 2: Keyframe animation: a bouncing ball</a:t>
            </a:r>
            <a:endParaRPr lang="en-US" sz="3400" dirty="0"/>
          </a:p>
        </p:txBody>
      </p:sp>
      <p:sp>
        <p:nvSpPr>
          <p:cNvPr id="4" name="a2_intro"/>
          <p:cNvSpPr txBox="1"/>
          <p:nvPr/>
        </p:nvSpPr>
        <p:spPr>
          <a:xfrm>
            <a:off x="548640" y="126187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@keyframes defines the steps; animation attaches them to an element.</a:t>
            </a:r>
            <a:endParaRPr lang="en-US" sz="1600" dirty="0"/>
          </a:p>
        </p:txBody>
      </p:sp>
      <p:sp>
        <p:nvSpPr>
          <p:cNvPr id="5" name="a3_code"/>
          <p:cNvSpPr/>
          <p:nvPr/>
        </p:nvSpPr>
        <p:spPr>
          <a:xfrm>
            <a:off x="548640" y="1783080"/>
            <a:ext cx="5623560" cy="3161284"/>
          </a:xfrm>
          <a:prstGeom prst="roundRect">
            <a:avLst>
              <a:gd name="adj" fmla="val 3471"/>
            </a:avLst>
          </a:prstGeom>
          <a:solidFill>
            <a:schemeClr val="tx1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6" name="a3_code_dot"/>
          <p:cNvSpPr/>
          <p:nvPr/>
        </p:nvSpPr>
        <p:spPr>
          <a:xfrm>
            <a:off x="768096" y="1965960"/>
            <a:ext cx="128016" cy="12801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7" name="a3_code_dot"/>
          <p:cNvSpPr/>
          <p:nvPr/>
        </p:nvSpPr>
        <p:spPr>
          <a:xfrm>
            <a:off x="987552" y="196596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a3_code_dot"/>
          <p:cNvSpPr/>
          <p:nvPr/>
        </p:nvSpPr>
        <p:spPr>
          <a:xfrm>
            <a:off x="1207008" y="1965960"/>
            <a:ext cx="128016" cy="128016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9" name="a3_code_file"/>
          <p:cNvSpPr txBox="1"/>
          <p:nvPr/>
        </p:nvSpPr>
        <p:spPr>
          <a:xfrm>
            <a:off x="1554480" y="189280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E97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1200" dirty="0"/>
          </a:p>
        </p:txBody>
      </p:sp>
      <p:sp>
        <p:nvSpPr>
          <p:cNvPr id="10" name="a3_code_text"/>
          <p:cNvSpPr txBox="1"/>
          <p:nvPr/>
        </p:nvSpPr>
        <p:spPr>
          <a:xfrm>
            <a:off x="1261872" y="2350008"/>
            <a:ext cx="4754880" cy="2420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.ball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width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60px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height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60px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border-radius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50%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#ff4f8b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animation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bounce 1s infinite alternate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@keyframes bounce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transform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translateY(0)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transform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translateY(120px)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1" name="a3_num"/>
          <p:cNvSpPr/>
          <p:nvPr/>
        </p:nvSpPr>
        <p:spPr>
          <a:xfrm>
            <a:off x="822960" y="3436874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a3_numt"/>
          <p:cNvSpPr txBox="1"/>
          <p:nvPr/>
        </p:nvSpPr>
        <p:spPr>
          <a:xfrm>
            <a:off x="822960" y="34368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a3_num"/>
          <p:cNvSpPr/>
          <p:nvPr/>
        </p:nvSpPr>
        <p:spPr>
          <a:xfrm>
            <a:off x="822960" y="3436874"/>
            <a:ext cx="201168" cy="20116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4" name="a3_numt"/>
          <p:cNvSpPr txBox="1"/>
          <p:nvPr/>
        </p:nvSpPr>
        <p:spPr>
          <a:xfrm>
            <a:off x="822960" y="34368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a3_num"/>
          <p:cNvSpPr/>
          <p:nvPr/>
        </p:nvSpPr>
        <p:spPr>
          <a:xfrm>
            <a:off x="822960" y="3868674"/>
            <a:ext cx="201168" cy="20116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6" name="a3_numt"/>
          <p:cNvSpPr txBox="1"/>
          <p:nvPr/>
        </p:nvSpPr>
        <p:spPr>
          <a:xfrm>
            <a:off x="822960" y="38686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a3_num"/>
          <p:cNvSpPr/>
          <p:nvPr/>
        </p:nvSpPr>
        <p:spPr>
          <a:xfrm>
            <a:off x="822960" y="4300474"/>
            <a:ext cx="201168" cy="20116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8" name="a3_numt"/>
          <p:cNvSpPr txBox="1"/>
          <p:nvPr/>
        </p:nvSpPr>
        <p:spPr>
          <a:xfrm>
            <a:off x="822960" y="43004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a5_html"/>
          <p:cNvSpPr/>
          <p:nvPr/>
        </p:nvSpPr>
        <p:spPr>
          <a:xfrm>
            <a:off x="548640" y="5081524"/>
            <a:ext cx="5623560" cy="1182116"/>
          </a:xfrm>
          <a:prstGeom prst="roundRect">
            <a:avLst>
              <a:gd name="adj" fmla="val 7735"/>
            </a:avLst>
          </a:prstGeom>
          <a:solidFill>
            <a:schemeClr val="bg2"/>
          </a:solidFill>
          <a:ln/>
        </p:spPr>
      </p:sp>
      <p:sp>
        <p:nvSpPr>
          <p:cNvPr id="20" name="a5_html_h"/>
          <p:cNvSpPr txBox="1"/>
          <p:nvPr/>
        </p:nvSpPr>
        <p:spPr>
          <a:xfrm>
            <a:off x="731520" y="51546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used</a:t>
            </a:r>
            <a:endParaRPr lang="en-US" sz="1100" dirty="0"/>
          </a:p>
        </p:txBody>
      </p:sp>
      <p:sp>
        <p:nvSpPr>
          <p:cNvPr id="21" name="a5_html_text"/>
          <p:cNvSpPr txBox="1"/>
          <p:nvPr/>
        </p:nvSpPr>
        <p:spPr>
          <a:xfrm>
            <a:off x="731520" y="5428996"/>
            <a:ext cx="5257800" cy="770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class="ball"&gt;&lt;/div&gt;</a:t>
            </a:r>
            <a:endParaRPr lang="en-US" sz="1050" dirty="0"/>
          </a:p>
        </p:txBody>
      </p:sp>
      <p:sp>
        <p:nvSpPr>
          <p:cNvPr id="22" name="a4_browser"/>
          <p:cNvSpPr/>
          <p:nvPr/>
        </p:nvSpPr>
        <p:spPr>
          <a:xfrm>
            <a:off x="6400800" y="1783080"/>
            <a:ext cx="5242255" cy="2836240"/>
          </a:xfrm>
          <a:prstGeom prst="rect">
            <a:avLst/>
          </a:prstGeom>
          <a:solidFill>
            <a:schemeClr val="bg1"/>
          </a:solidFill>
          <a:ln w="12700">
            <a:solidFill>
              <a:srgbClr val="D5DA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23" name="a4_browser_bar"/>
          <p:cNvSpPr/>
          <p:nvPr/>
        </p:nvSpPr>
        <p:spPr>
          <a:xfrm>
            <a:off x="6400800" y="1783080"/>
            <a:ext cx="5242255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4" name="a4_browser_dot"/>
          <p:cNvSpPr/>
          <p:nvPr/>
        </p:nvSpPr>
        <p:spPr>
          <a:xfrm>
            <a:off x="6583680" y="1920240"/>
            <a:ext cx="118872" cy="11887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5" name="a4_browser_dot"/>
          <p:cNvSpPr/>
          <p:nvPr/>
        </p:nvSpPr>
        <p:spPr>
          <a:xfrm>
            <a:off x="6784848" y="192024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6" name="a4_browser_dot"/>
          <p:cNvSpPr/>
          <p:nvPr/>
        </p:nvSpPr>
        <p:spPr>
          <a:xfrm>
            <a:off x="6986016" y="1920240"/>
            <a:ext cx="118872" cy="118872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7" name="a4_browser_url"/>
          <p:cNvSpPr/>
          <p:nvPr/>
        </p:nvSpPr>
        <p:spPr>
          <a:xfrm>
            <a:off x="7315200" y="1847088"/>
            <a:ext cx="4144975" cy="274320"/>
          </a:xfrm>
          <a:prstGeom prst="roundRect">
            <a:avLst>
              <a:gd name="adj" fmla="val 33333"/>
            </a:avLst>
          </a:prstGeom>
          <a:solidFill>
            <a:schemeClr val="bg1"/>
          </a:solidFill>
          <a:ln/>
        </p:spPr>
      </p:sp>
      <p:sp>
        <p:nvSpPr>
          <p:cNvPr id="28" name="a4_browser_urltext"/>
          <p:cNvSpPr txBox="1"/>
          <p:nvPr/>
        </p:nvSpPr>
        <p:spPr>
          <a:xfrm>
            <a:off x="7424928" y="1847088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lesson7/example2/index.html</a:t>
            </a:r>
            <a:endParaRPr lang="en-US" sz="1100" dirty="0"/>
          </a:p>
        </p:txBody>
      </p:sp>
      <p:pic>
        <p:nvPicPr>
          <p:cNvPr id="29" name="a4_shot" descr="/home/user/Python/CSS_Course/assets/l7_ex2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2185416"/>
            <a:ext cx="5242255" cy="2433904"/>
          </a:xfrm>
          <a:prstGeom prst="rect">
            <a:avLst/>
          </a:prstGeom>
        </p:spPr>
      </p:pic>
      <p:sp>
        <p:nvSpPr>
          <p:cNvPr id="30" name="a6_num"/>
          <p:cNvSpPr/>
          <p:nvPr/>
        </p:nvSpPr>
        <p:spPr>
          <a:xfrm>
            <a:off x="6400800" y="4838776"/>
            <a:ext cx="228600" cy="2286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1" name="a6_numt"/>
          <p:cNvSpPr txBox="1"/>
          <p:nvPr/>
        </p:nvSpPr>
        <p:spPr>
          <a:xfrm>
            <a:off x="6400800" y="483877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32" name="a6_ann"/>
          <p:cNvSpPr txBox="1"/>
          <p:nvPr/>
        </p:nvSpPr>
        <p:spPr>
          <a:xfrm>
            <a:off x="6748272" y="4802200"/>
            <a:ext cx="4894783" cy="358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 shorthand: name, duration, repeat, direction.</a:t>
            </a:r>
            <a:endParaRPr lang="en-US" sz="1250" dirty="0"/>
          </a:p>
        </p:txBody>
      </p:sp>
      <p:sp>
        <p:nvSpPr>
          <p:cNvPr id="33" name="a7_num"/>
          <p:cNvSpPr/>
          <p:nvPr/>
        </p:nvSpPr>
        <p:spPr>
          <a:xfrm>
            <a:off x="6400800" y="5215566"/>
            <a:ext cx="228600" cy="2286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4" name="a7_numt"/>
          <p:cNvSpPr txBox="1"/>
          <p:nvPr/>
        </p:nvSpPr>
        <p:spPr>
          <a:xfrm>
            <a:off x="6400800" y="521556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35" name="a7_ann"/>
          <p:cNvSpPr txBox="1"/>
          <p:nvPr/>
        </p:nvSpPr>
        <p:spPr>
          <a:xfrm>
            <a:off x="6748272" y="5178990"/>
            <a:ext cx="4894783" cy="358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infinite = forever; alternate = forwards, then back.</a:t>
            </a:r>
            <a:endParaRPr lang="en-US" sz="1250" dirty="0"/>
          </a:p>
        </p:txBody>
      </p:sp>
      <p:sp>
        <p:nvSpPr>
          <p:cNvPr id="36" name="a8_num"/>
          <p:cNvSpPr/>
          <p:nvPr/>
        </p:nvSpPr>
        <p:spPr>
          <a:xfrm>
            <a:off x="6400800" y="5592356"/>
            <a:ext cx="228600" cy="2286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37" name="a8_numt"/>
          <p:cNvSpPr txBox="1"/>
          <p:nvPr/>
        </p:nvSpPr>
        <p:spPr>
          <a:xfrm>
            <a:off x="6400800" y="559235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8" name="a8_ann"/>
          <p:cNvSpPr txBox="1"/>
          <p:nvPr/>
        </p:nvSpPr>
        <p:spPr>
          <a:xfrm>
            <a:off x="6748272" y="5555780"/>
            <a:ext cx="4894783" cy="358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@keyframes name must match the animation name.</a:t>
            </a:r>
            <a:endParaRPr lang="en-US" sz="1250" dirty="0"/>
          </a:p>
        </p:txBody>
      </p:sp>
      <p:sp>
        <p:nvSpPr>
          <p:cNvPr id="39" name="a9_num"/>
          <p:cNvSpPr/>
          <p:nvPr/>
        </p:nvSpPr>
        <p:spPr>
          <a:xfrm>
            <a:off x="6400800" y="5969146"/>
            <a:ext cx="228600" cy="22860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40" name="a9_numt"/>
          <p:cNvSpPr txBox="1"/>
          <p:nvPr/>
        </p:nvSpPr>
        <p:spPr>
          <a:xfrm>
            <a:off x="6400800" y="596914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41" name="a9_ann"/>
          <p:cNvSpPr txBox="1"/>
          <p:nvPr/>
        </p:nvSpPr>
        <p:spPr>
          <a:xfrm>
            <a:off x="6748272" y="5932570"/>
            <a:ext cx="4894783" cy="358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at 0, end 120px lower; the browser fills in between.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doors dir="ver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6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3" dur="6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6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7" dur="6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6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1" dur="6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6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5" dur="6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6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9" dur="6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6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3" dur="6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6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7" dur="6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6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1" dur="6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6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5" dur="6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Example 3: A loading spinner (and reduced motion)</a:t>
            </a:r>
            <a:endParaRPr lang="en-US" sz="3400" dirty="0"/>
          </a:p>
        </p:txBody>
      </p:sp>
      <p:sp>
        <p:nvSpPr>
          <p:cNvPr id="4" name="a2_intro"/>
          <p:cNvSpPr txBox="1"/>
          <p:nvPr/>
        </p:nvSpPr>
        <p:spPr>
          <a:xfrm>
            <a:off x="548640" y="126187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linear, endless rotation. Slow it down for people who prefer less motion.</a:t>
            </a:r>
            <a:endParaRPr lang="en-US" sz="1600" dirty="0"/>
          </a:p>
        </p:txBody>
      </p:sp>
      <p:sp>
        <p:nvSpPr>
          <p:cNvPr id="5" name="a3_code"/>
          <p:cNvSpPr/>
          <p:nvPr/>
        </p:nvSpPr>
        <p:spPr>
          <a:xfrm>
            <a:off x="548640" y="1783080"/>
            <a:ext cx="5623560" cy="3631184"/>
          </a:xfrm>
          <a:prstGeom prst="roundRect">
            <a:avLst>
              <a:gd name="adj" fmla="val 3022"/>
            </a:avLst>
          </a:prstGeom>
          <a:solidFill>
            <a:schemeClr val="tx1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6" name="a3_code_dot"/>
          <p:cNvSpPr/>
          <p:nvPr/>
        </p:nvSpPr>
        <p:spPr>
          <a:xfrm>
            <a:off x="768096" y="1965960"/>
            <a:ext cx="128016" cy="12801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7" name="a3_code_dot"/>
          <p:cNvSpPr/>
          <p:nvPr/>
        </p:nvSpPr>
        <p:spPr>
          <a:xfrm>
            <a:off x="987552" y="196596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a3_code_dot"/>
          <p:cNvSpPr/>
          <p:nvPr/>
        </p:nvSpPr>
        <p:spPr>
          <a:xfrm>
            <a:off x="1207008" y="1965960"/>
            <a:ext cx="128016" cy="128016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9" name="a3_code_file"/>
          <p:cNvSpPr txBox="1"/>
          <p:nvPr/>
        </p:nvSpPr>
        <p:spPr>
          <a:xfrm>
            <a:off x="1554480" y="189280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E97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1200" dirty="0"/>
          </a:p>
        </p:txBody>
      </p:sp>
      <p:sp>
        <p:nvSpPr>
          <p:cNvPr id="10" name="a3_code_text"/>
          <p:cNvSpPr txBox="1"/>
          <p:nvPr/>
        </p:nvSpPr>
        <p:spPr>
          <a:xfrm>
            <a:off x="1261872" y="2350008"/>
            <a:ext cx="4754880" cy="289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.spinner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width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48px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height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48px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6px solid #e0e7ff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border-top-color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#2965f1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border-radius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50%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animation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spin 0.9s linear infinite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@keyframes spin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transform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rotate(360deg)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@media (prefers-reduced-motion: reduce)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.spinner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animation-duration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3s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1" name="a3_num"/>
          <p:cNvSpPr/>
          <p:nvPr/>
        </p:nvSpPr>
        <p:spPr>
          <a:xfrm>
            <a:off x="822960" y="2960624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a3_numt"/>
          <p:cNvSpPr txBox="1"/>
          <p:nvPr/>
        </p:nvSpPr>
        <p:spPr>
          <a:xfrm>
            <a:off x="822960" y="29606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a3_num"/>
          <p:cNvSpPr/>
          <p:nvPr/>
        </p:nvSpPr>
        <p:spPr>
          <a:xfrm>
            <a:off x="822960" y="3570224"/>
            <a:ext cx="201168" cy="20116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4" name="a3_numt"/>
          <p:cNvSpPr txBox="1"/>
          <p:nvPr/>
        </p:nvSpPr>
        <p:spPr>
          <a:xfrm>
            <a:off x="822960" y="35702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a3_num"/>
          <p:cNvSpPr/>
          <p:nvPr/>
        </p:nvSpPr>
        <p:spPr>
          <a:xfrm>
            <a:off x="822960" y="3976624"/>
            <a:ext cx="201168" cy="20116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6" name="a3_numt"/>
          <p:cNvSpPr txBox="1"/>
          <p:nvPr/>
        </p:nvSpPr>
        <p:spPr>
          <a:xfrm>
            <a:off x="822960" y="39766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a3_num"/>
          <p:cNvSpPr/>
          <p:nvPr/>
        </p:nvSpPr>
        <p:spPr>
          <a:xfrm>
            <a:off x="822960" y="4586224"/>
            <a:ext cx="201168" cy="20116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8" name="a3_numt"/>
          <p:cNvSpPr txBox="1"/>
          <p:nvPr/>
        </p:nvSpPr>
        <p:spPr>
          <a:xfrm>
            <a:off x="822960" y="45862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a5_html"/>
          <p:cNvSpPr/>
          <p:nvPr/>
        </p:nvSpPr>
        <p:spPr>
          <a:xfrm>
            <a:off x="548640" y="5551424"/>
            <a:ext cx="5623560" cy="712216"/>
          </a:xfrm>
          <a:prstGeom prst="roundRect">
            <a:avLst>
              <a:gd name="adj" fmla="val 12839"/>
            </a:avLst>
          </a:prstGeom>
          <a:solidFill>
            <a:schemeClr val="bg2"/>
          </a:solidFill>
          <a:ln/>
        </p:spPr>
      </p:sp>
      <p:sp>
        <p:nvSpPr>
          <p:cNvPr id="20" name="a5_html_h"/>
          <p:cNvSpPr txBox="1"/>
          <p:nvPr/>
        </p:nvSpPr>
        <p:spPr>
          <a:xfrm>
            <a:off x="731520" y="56245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used</a:t>
            </a:r>
            <a:endParaRPr lang="en-US" sz="1100" dirty="0"/>
          </a:p>
        </p:txBody>
      </p:sp>
      <p:sp>
        <p:nvSpPr>
          <p:cNvPr id="21" name="a5_html_text"/>
          <p:cNvSpPr txBox="1"/>
          <p:nvPr/>
        </p:nvSpPr>
        <p:spPr>
          <a:xfrm>
            <a:off x="731520" y="5898896"/>
            <a:ext cx="5257800" cy="300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class="spinner"&gt;&lt;/div&gt;</a:t>
            </a:r>
            <a:endParaRPr lang="en-US" sz="1050" dirty="0"/>
          </a:p>
        </p:txBody>
      </p:sp>
      <p:sp>
        <p:nvSpPr>
          <p:cNvPr id="22" name="a4_browser"/>
          <p:cNvSpPr/>
          <p:nvPr/>
        </p:nvSpPr>
        <p:spPr>
          <a:xfrm>
            <a:off x="6400800" y="1783080"/>
            <a:ext cx="5242255" cy="1619288"/>
          </a:xfrm>
          <a:prstGeom prst="rect">
            <a:avLst/>
          </a:prstGeom>
          <a:solidFill>
            <a:schemeClr val="bg1"/>
          </a:solidFill>
          <a:ln w="12700">
            <a:solidFill>
              <a:srgbClr val="D5DA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23" name="a4_browser_bar"/>
          <p:cNvSpPr/>
          <p:nvPr/>
        </p:nvSpPr>
        <p:spPr>
          <a:xfrm>
            <a:off x="6400800" y="1783080"/>
            <a:ext cx="5242255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4" name="a4_browser_dot"/>
          <p:cNvSpPr/>
          <p:nvPr/>
        </p:nvSpPr>
        <p:spPr>
          <a:xfrm>
            <a:off x="6583680" y="1920240"/>
            <a:ext cx="118872" cy="11887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5" name="a4_browser_dot"/>
          <p:cNvSpPr/>
          <p:nvPr/>
        </p:nvSpPr>
        <p:spPr>
          <a:xfrm>
            <a:off x="6784848" y="192024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6" name="a4_browser_dot"/>
          <p:cNvSpPr/>
          <p:nvPr/>
        </p:nvSpPr>
        <p:spPr>
          <a:xfrm>
            <a:off x="6986016" y="1920240"/>
            <a:ext cx="118872" cy="118872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7" name="a4_browser_url"/>
          <p:cNvSpPr/>
          <p:nvPr/>
        </p:nvSpPr>
        <p:spPr>
          <a:xfrm>
            <a:off x="7315200" y="1847088"/>
            <a:ext cx="4144975" cy="274320"/>
          </a:xfrm>
          <a:prstGeom prst="roundRect">
            <a:avLst>
              <a:gd name="adj" fmla="val 33333"/>
            </a:avLst>
          </a:prstGeom>
          <a:solidFill>
            <a:schemeClr val="bg1"/>
          </a:solidFill>
          <a:ln/>
        </p:spPr>
      </p:sp>
      <p:sp>
        <p:nvSpPr>
          <p:cNvPr id="28" name="a4_browser_urltext"/>
          <p:cNvSpPr txBox="1"/>
          <p:nvPr/>
        </p:nvSpPr>
        <p:spPr>
          <a:xfrm>
            <a:off x="7424928" y="1847088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lesson7/example3/index.html</a:t>
            </a:r>
            <a:endParaRPr lang="en-US" sz="1100" dirty="0"/>
          </a:p>
        </p:txBody>
      </p:sp>
      <p:pic>
        <p:nvPicPr>
          <p:cNvPr id="29" name="a4_shot" descr="/home/user/Python/CSS_Course/assets/l7_ex3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2185416"/>
            <a:ext cx="5242255" cy="1216952"/>
          </a:xfrm>
          <a:prstGeom prst="rect">
            <a:avLst/>
          </a:prstGeom>
        </p:spPr>
      </p:pic>
      <p:sp>
        <p:nvSpPr>
          <p:cNvPr id="30" name="a6_num"/>
          <p:cNvSpPr/>
          <p:nvPr/>
        </p:nvSpPr>
        <p:spPr>
          <a:xfrm>
            <a:off x="6400800" y="3621824"/>
            <a:ext cx="228600" cy="2286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1" name="a6_numt"/>
          <p:cNvSpPr txBox="1"/>
          <p:nvPr/>
        </p:nvSpPr>
        <p:spPr>
          <a:xfrm>
            <a:off x="6400800" y="362182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32" name="a6_ann"/>
          <p:cNvSpPr txBox="1"/>
          <p:nvPr/>
        </p:nvSpPr>
        <p:spPr>
          <a:xfrm>
            <a:off x="6748272" y="3585248"/>
            <a:ext cx="489478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circle with a light border, and only the top border coloured.</a:t>
            </a:r>
            <a:endParaRPr lang="en-US" sz="1250" dirty="0"/>
          </a:p>
        </p:txBody>
      </p:sp>
      <p:sp>
        <p:nvSpPr>
          <p:cNvPr id="33" name="a7_num"/>
          <p:cNvSpPr/>
          <p:nvPr/>
        </p:nvSpPr>
        <p:spPr>
          <a:xfrm>
            <a:off x="6400800" y="4188752"/>
            <a:ext cx="228600" cy="2286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4" name="a7_numt"/>
          <p:cNvSpPr txBox="1"/>
          <p:nvPr/>
        </p:nvSpPr>
        <p:spPr>
          <a:xfrm>
            <a:off x="6400800" y="418875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35" name="a7_ann"/>
          <p:cNvSpPr txBox="1"/>
          <p:nvPr/>
        </p:nvSpPr>
        <p:spPr>
          <a:xfrm>
            <a:off x="6748272" y="4152176"/>
            <a:ext cx="489478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keeps the speed constant, which suits a spinner.</a:t>
            </a:r>
            <a:endParaRPr lang="en-US" sz="1250" dirty="0"/>
          </a:p>
        </p:txBody>
      </p:sp>
      <p:sp>
        <p:nvSpPr>
          <p:cNvPr id="36" name="a8_num"/>
          <p:cNvSpPr/>
          <p:nvPr/>
        </p:nvSpPr>
        <p:spPr>
          <a:xfrm>
            <a:off x="6400800" y="4755680"/>
            <a:ext cx="228600" cy="2286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37" name="a8_numt"/>
          <p:cNvSpPr txBox="1"/>
          <p:nvPr/>
        </p:nvSpPr>
        <p:spPr>
          <a:xfrm>
            <a:off x="6400800" y="47556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8" name="a8_ann"/>
          <p:cNvSpPr txBox="1"/>
          <p:nvPr/>
        </p:nvSpPr>
        <p:spPr>
          <a:xfrm>
            <a:off x="6748272" y="4719104"/>
            <a:ext cx="489478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only a 'to' step, the animation starts from the element's normal state.</a:t>
            </a:r>
            <a:endParaRPr lang="en-US" sz="1250" dirty="0"/>
          </a:p>
        </p:txBody>
      </p:sp>
      <p:sp>
        <p:nvSpPr>
          <p:cNvPr id="39" name="a9_num"/>
          <p:cNvSpPr/>
          <p:nvPr/>
        </p:nvSpPr>
        <p:spPr>
          <a:xfrm>
            <a:off x="6400800" y="5322608"/>
            <a:ext cx="228600" cy="22860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40" name="a9_numt"/>
          <p:cNvSpPr txBox="1"/>
          <p:nvPr/>
        </p:nvSpPr>
        <p:spPr>
          <a:xfrm>
            <a:off x="6400800" y="532260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41" name="a9_ann"/>
          <p:cNvSpPr txBox="1"/>
          <p:nvPr/>
        </p:nvSpPr>
        <p:spPr>
          <a:xfrm>
            <a:off x="6748272" y="5286032"/>
            <a:ext cx="489478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prefers-reduced-motion: users can ask their system for less motion. Respect it.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conveyor dir="l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6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3" dur="6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6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7" dur="6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6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1" dur="6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6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5" dur="6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6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9" dur="6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6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3" dur="6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6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7" dur="6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6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1" dur="6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6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5" dur="6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Real-world: feedback, focus and flow</a:t>
            </a:r>
            <a:endParaRPr lang="en-US" sz="3400" dirty="0"/>
          </a:p>
        </p:txBody>
      </p:sp>
      <p:sp>
        <p:nvSpPr>
          <p:cNvPr id="3" name="a2_card"/>
          <p:cNvSpPr/>
          <p:nvPr/>
        </p:nvSpPr>
        <p:spPr>
          <a:xfrm>
            <a:off x="548640" y="1508760"/>
            <a:ext cx="3515258" cy="315468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4" name="a2_ico_bg"/>
          <p:cNvSpPr/>
          <p:nvPr/>
        </p:nvSpPr>
        <p:spPr>
          <a:xfrm>
            <a:off x="822960" y="17830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a2_ico_im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470" y="1980590"/>
            <a:ext cx="336499" cy="336499"/>
          </a:xfrm>
          <a:prstGeom prst="rect">
            <a:avLst/>
          </a:prstGeom>
        </p:spPr>
      </p:pic>
      <p:sp>
        <p:nvSpPr>
          <p:cNvPr id="6" name="a2_card_h"/>
          <p:cNvSpPr txBox="1"/>
          <p:nvPr/>
        </p:nvSpPr>
        <p:spPr>
          <a:xfrm>
            <a:off x="822960" y="269748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feedback</a:t>
            </a:r>
            <a:endParaRPr lang="en-US" sz="1900" dirty="0"/>
          </a:p>
        </p:txBody>
      </p:sp>
      <p:sp>
        <p:nvSpPr>
          <p:cNvPr id="7" name="a2_card_b"/>
          <p:cNvSpPr txBox="1"/>
          <p:nvPr/>
        </p:nvSpPr>
        <p:spPr>
          <a:xfrm>
            <a:off x="822960" y="3200400"/>
            <a:ext cx="29666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Buttons that lift or change colour, menus that slide in: small transitions tell users the page noticed their action.</a:t>
            </a:r>
            <a:endParaRPr lang="en-US" sz="1500" dirty="0"/>
          </a:p>
        </p:txBody>
      </p:sp>
      <p:sp>
        <p:nvSpPr>
          <p:cNvPr id="8" name="a3_card"/>
          <p:cNvSpPr/>
          <p:nvPr/>
        </p:nvSpPr>
        <p:spPr>
          <a:xfrm>
            <a:off x="4338218" y="1508760"/>
            <a:ext cx="3515258" cy="315468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a3_ico_bg"/>
          <p:cNvSpPr/>
          <p:nvPr/>
        </p:nvSpPr>
        <p:spPr>
          <a:xfrm>
            <a:off x="4612538" y="178308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0" name="a3_ico_im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0049" y="1980590"/>
            <a:ext cx="336499" cy="336499"/>
          </a:xfrm>
          <a:prstGeom prst="rect">
            <a:avLst/>
          </a:prstGeom>
        </p:spPr>
      </p:pic>
      <p:sp>
        <p:nvSpPr>
          <p:cNvPr id="11" name="a3_card_h"/>
          <p:cNvSpPr txBox="1"/>
          <p:nvPr/>
        </p:nvSpPr>
        <p:spPr>
          <a:xfrm>
            <a:off x="4612538" y="269748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states</a:t>
            </a:r>
            <a:endParaRPr lang="en-US" sz="1900" dirty="0"/>
          </a:p>
        </p:txBody>
      </p:sp>
      <p:sp>
        <p:nvSpPr>
          <p:cNvPr id="12" name="a3_card_b"/>
          <p:cNvSpPr txBox="1"/>
          <p:nvPr/>
        </p:nvSpPr>
        <p:spPr>
          <a:xfrm>
            <a:off x="4612538" y="3200400"/>
            <a:ext cx="29666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Spinners and progress bars show that something is happening, which keeps people from clicking again and again.</a:t>
            </a:r>
            <a:endParaRPr lang="en-US" sz="1500" dirty="0"/>
          </a:p>
        </p:txBody>
      </p:sp>
      <p:sp>
        <p:nvSpPr>
          <p:cNvPr id="13" name="a4_card"/>
          <p:cNvSpPr/>
          <p:nvPr/>
        </p:nvSpPr>
        <p:spPr>
          <a:xfrm>
            <a:off x="8127797" y="1508760"/>
            <a:ext cx="3515258" cy="315468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14" name="a4_ico_bg"/>
          <p:cNvSpPr/>
          <p:nvPr/>
        </p:nvSpPr>
        <p:spPr>
          <a:xfrm>
            <a:off x="8402117" y="1783080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5" name="a4_ico_img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9627" y="1980590"/>
            <a:ext cx="336499" cy="336499"/>
          </a:xfrm>
          <a:prstGeom prst="rect">
            <a:avLst/>
          </a:prstGeom>
        </p:spPr>
      </p:pic>
      <p:sp>
        <p:nvSpPr>
          <p:cNvPr id="16" name="a4_card_h"/>
          <p:cNvSpPr txBox="1"/>
          <p:nvPr/>
        </p:nvSpPr>
        <p:spPr>
          <a:xfrm>
            <a:off x="8402117" y="269748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Storytelling</a:t>
            </a:r>
            <a:endParaRPr lang="en-US" sz="1900" dirty="0"/>
          </a:p>
        </p:txBody>
      </p:sp>
      <p:sp>
        <p:nvSpPr>
          <p:cNvPr id="17" name="a4_card_b"/>
          <p:cNvSpPr txBox="1"/>
          <p:nvPr/>
        </p:nvSpPr>
        <p:spPr>
          <a:xfrm>
            <a:off x="8402117" y="3200400"/>
            <a:ext cx="29666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pages fade and slide content into view as you scroll, guiding attention. Used well, motion explains; used badly, it distracts.</a:t>
            </a:r>
            <a:endParaRPr lang="en-US" sz="1500" dirty="0"/>
          </a:p>
        </p:txBody>
      </p:sp>
      <p:sp>
        <p:nvSpPr>
          <p:cNvPr id="18" name="a5_try"/>
          <p:cNvSpPr/>
          <p:nvPr/>
        </p:nvSpPr>
        <p:spPr>
          <a:xfrm>
            <a:off x="548640" y="4892040"/>
            <a:ext cx="11094415" cy="1234440"/>
          </a:xfrm>
          <a:prstGeom prst="roundRect">
            <a:avLst>
              <a:gd name="adj" fmla="val 8889"/>
            </a:avLst>
          </a:prstGeom>
          <a:solidFill>
            <a:schemeClr val="tx1"/>
          </a:solidFill>
          <a:ln/>
        </p:spPr>
      </p:sp>
      <p:sp>
        <p:nvSpPr>
          <p:cNvPr id="19" name="a5_ico_bg"/>
          <p:cNvSpPr/>
          <p:nvPr/>
        </p:nvSpPr>
        <p:spPr>
          <a:xfrm>
            <a:off x="868680" y="521208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0" name="a5_ico_img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157" y="5372557"/>
            <a:ext cx="273406" cy="273406"/>
          </a:xfrm>
          <a:prstGeom prst="rect">
            <a:avLst/>
          </a:prstGeom>
        </p:spPr>
      </p:pic>
      <p:sp>
        <p:nvSpPr>
          <p:cNvPr id="21" name="a5_try_text"/>
          <p:cNvSpPr txBox="1"/>
          <p:nvPr/>
        </p:nvSpPr>
        <p:spPr>
          <a:xfrm>
            <a:off x="1737360" y="4983480"/>
            <a:ext cx="95399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yourself: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DevTools, choose the Animations panel (in the More tools menu), then hover or reload. You can slow animations down to 10% to see exactly what happens.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rism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53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53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53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Common mistakes</a:t>
            </a:r>
            <a:endParaRPr lang="en-US" sz="3400" dirty="0"/>
          </a:p>
        </p:txBody>
      </p:sp>
      <p:sp>
        <p:nvSpPr>
          <p:cNvPr id="3" name="a1_hdr"/>
          <p:cNvSpPr txBox="1"/>
          <p:nvPr/>
        </p:nvSpPr>
        <p:spPr>
          <a:xfrm>
            <a:off x="54864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2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</a:t>
            </a:r>
            <a:endParaRPr lang="en-US" sz="1500" dirty="0"/>
          </a:p>
        </p:txBody>
      </p:sp>
      <p:sp>
        <p:nvSpPr>
          <p:cNvPr id="4" name="a1_hdr"/>
          <p:cNvSpPr txBox="1"/>
          <p:nvPr/>
        </p:nvSpPr>
        <p:spPr>
          <a:xfrm>
            <a:off x="443484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this instead</a:t>
            </a:r>
            <a:endParaRPr lang="en-US" sz="1500" dirty="0"/>
          </a:p>
        </p:txBody>
      </p:sp>
      <p:sp>
        <p:nvSpPr>
          <p:cNvPr id="5" name="a1_hdr"/>
          <p:cNvSpPr txBox="1"/>
          <p:nvPr/>
        </p:nvSpPr>
        <p:spPr>
          <a:xfrm>
            <a:off x="836676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3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500" dirty="0"/>
          </a:p>
        </p:txBody>
      </p:sp>
      <p:sp>
        <p:nvSpPr>
          <p:cNvPr id="6" name="a2_bad"/>
          <p:cNvSpPr/>
          <p:nvPr/>
        </p:nvSpPr>
        <p:spPr>
          <a:xfrm>
            <a:off x="548640" y="1783080"/>
            <a:ext cx="3749040" cy="1325880"/>
          </a:xfrm>
          <a:prstGeom prst="roundRect">
            <a:avLst>
              <a:gd name="adj" fmla="val 6897"/>
            </a:avLst>
          </a:prstGeom>
          <a:solidFill>
            <a:srgbClr val="FDE8EE"/>
          </a:solidFill>
          <a:ln/>
        </p:spPr>
      </p:sp>
      <p:sp>
        <p:nvSpPr>
          <p:cNvPr id="7" name="a2_bad_bar"/>
          <p:cNvSpPr/>
          <p:nvPr/>
        </p:nvSpPr>
        <p:spPr>
          <a:xfrm>
            <a:off x="548640" y="1892808"/>
            <a:ext cx="73152" cy="1106424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8" name="a2_bad_t"/>
          <p:cNvSpPr txBox="1"/>
          <p:nvPr/>
        </p:nvSpPr>
        <p:spPr>
          <a:xfrm>
            <a:off x="777240" y="1783080"/>
            <a:ext cx="3429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.btn:hover {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transition: 0.3s;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background: pink;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9" name="a2_good"/>
          <p:cNvSpPr/>
          <p:nvPr/>
        </p:nvSpPr>
        <p:spPr>
          <a:xfrm>
            <a:off x="4434840" y="1783080"/>
            <a:ext cx="3749040" cy="1325880"/>
          </a:xfrm>
          <a:prstGeom prst="roundRect">
            <a:avLst>
              <a:gd name="adj" fmla="val 6897"/>
            </a:avLst>
          </a:prstGeom>
          <a:solidFill>
            <a:srgbClr val="E4F8EC"/>
          </a:solidFill>
          <a:ln/>
        </p:spPr>
      </p:sp>
      <p:sp>
        <p:nvSpPr>
          <p:cNvPr id="10" name="a2_good_bar"/>
          <p:cNvSpPr/>
          <p:nvPr/>
        </p:nvSpPr>
        <p:spPr>
          <a:xfrm>
            <a:off x="4434840" y="1892808"/>
            <a:ext cx="73152" cy="1106424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11" name="a2_good_t"/>
          <p:cNvSpPr txBox="1"/>
          <p:nvPr/>
        </p:nvSpPr>
        <p:spPr>
          <a:xfrm>
            <a:off x="4663440" y="1783080"/>
            <a:ext cx="3429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.btn {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transition: 0.3s;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.btn:hover {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background: pink;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2" name="a2_why"/>
          <p:cNvSpPr txBox="1"/>
          <p:nvPr/>
        </p:nvSpPr>
        <p:spPr>
          <a:xfrm>
            <a:off x="8366760" y="1783080"/>
            <a:ext cx="327355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transition only on :hover animates in but snaps back. Put it on the normal state to animate both ways.</a:t>
            </a:r>
            <a:endParaRPr lang="en-US" sz="1400" dirty="0"/>
          </a:p>
        </p:txBody>
      </p:sp>
      <p:sp>
        <p:nvSpPr>
          <p:cNvPr id="13" name="a3_bad"/>
          <p:cNvSpPr/>
          <p:nvPr/>
        </p:nvSpPr>
        <p:spPr>
          <a:xfrm>
            <a:off x="548640" y="3264408"/>
            <a:ext cx="3749040" cy="1325880"/>
          </a:xfrm>
          <a:prstGeom prst="roundRect">
            <a:avLst>
              <a:gd name="adj" fmla="val 6897"/>
            </a:avLst>
          </a:prstGeom>
          <a:solidFill>
            <a:srgbClr val="FDE8EE"/>
          </a:solidFill>
          <a:ln/>
        </p:spPr>
      </p:sp>
      <p:sp>
        <p:nvSpPr>
          <p:cNvPr id="14" name="a3_bad_bar"/>
          <p:cNvSpPr/>
          <p:nvPr/>
        </p:nvSpPr>
        <p:spPr>
          <a:xfrm>
            <a:off x="548640" y="3374136"/>
            <a:ext cx="73152" cy="1106424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5" name="a3_bad_t"/>
          <p:cNvSpPr txBox="1"/>
          <p:nvPr/>
        </p:nvSpPr>
        <p:spPr>
          <a:xfrm>
            <a:off x="777240" y="3264408"/>
            <a:ext cx="3429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transition: all 1s;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animates width, top... */</a:t>
            </a:r>
            <a:endParaRPr lang="en-US" sz="1300" dirty="0"/>
          </a:p>
        </p:txBody>
      </p:sp>
      <p:sp>
        <p:nvSpPr>
          <p:cNvPr id="16" name="a3_good"/>
          <p:cNvSpPr/>
          <p:nvPr/>
        </p:nvSpPr>
        <p:spPr>
          <a:xfrm>
            <a:off x="4434840" y="3264408"/>
            <a:ext cx="3749040" cy="1325880"/>
          </a:xfrm>
          <a:prstGeom prst="roundRect">
            <a:avLst>
              <a:gd name="adj" fmla="val 6897"/>
            </a:avLst>
          </a:prstGeom>
          <a:solidFill>
            <a:srgbClr val="E4F8EC"/>
          </a:solidFill>
          <a:ln/>
        </p:spPr>
      </p:sp>
      <p:sp>
        <p:nvSpPr>
          <p:cNvPr id="17" name="a3_good_bar"/>
          <p:cNvSpPr/>
          <p:nvPr/>
        </p:nvSpPr>
        <p:spPr>
          <a:xfrm>
            <a:off x="4434840" y="3374136"/>
            <a:ext cx="73152" cy="1106424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18" name="a3_good_t"/>
          <p:cNvSpPr txBox="1"/>
          <p:nvPr/>
        </p:nvSpPr>
        <p:spPr>
          <a:xfrm>
            <a:off x="4663440" y="3264408"/>
            <a:ext cx="3429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transition: transform 0.3s,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opacity 0.3s;</a:t>
            </a:r>
            <a:endParaRPr lang="en-US" sz="1300" dirty="0"/>
          </a:p>
        </p:txBody>
      </p:sp>
      <p:sp>
        <p:nvSpPr>
          <p:cNvPr id="19" name="a3_why"/>
          <p:cNvSpPr txBox="1"/>
          <p:nvPr/>
        </p:nvSpPr>
        <p:spPr>
          <a:xfrm>
            <a:off x="8366760" y="3264408"/>
            <a:ext cx="327355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 transform and opacity: they are smooth. Animating width, height or top forces slow re-layout.</a:t>
            </a:r>
            <a:endParaRPr lang="en-US" sz="1400" dirty="0"/>
          </a:p>
        </p:txBody>
      </p:sp>
      <p:sp>
        <p:nvSpPr>
          <p:cNvPr id="20" name="a4_bad"/>
          <p:cNvSpPr/>
          <p:nvPr/>
        </p:nvSpPr>
        <p:spPr>
          <a:xfrm>
            <a:off x="548640" y="4745736"/>
            <a:ext cx="3749040" cy="1325880"/>
          </a:xfrm>
          <a:prstGeom prst="roundRect">
            <a:avLst>
              <a:gd name="adj" fmla="val 6897"/>
            </a:avLst>
          </a:prstGeom>
          <a:solidFill>
            <a:srgbClr val="FDE8EE"/>
          </a:solidFill>
          <a:ln/>
        </p:spPr>
      </p:sp>
      <p:sp>
        <p:nvSpPr>
          <p:cNvPr id="21" name="a4_bad_bar"/>
          <p:cNvSpPr/>
          <p:nvPr/>
        </p:nvSpPr>
        <p:spPr>
          <a:xfrm>
            <a:off x="548640" y="4855464"/>
            <a:ext cx="73152" cy="1106424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2" name="a4_bad_t"/>
          <p:cNvSpPr txBox="1"/>
          <p:nvPr/>
        </p:nvSpPr>
        <p:spPr>
          <a:xfrm>
            <a:off x="777240" y="4745736"/>
            <a:ext cx="3429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animation: spinn 1s infinite;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@keyframes spin { ... }</a:t>
            </a:r>
            <a:endParaRPr lang="en-US" sz="1300" dirty="0"/>
          </a:p>
        </p:txBody>
      </p:sp>
      <p:sp>
        <p:nvSpPr>
          <p:cNvPr id="23" name="a4_good"/>
          <p:cNvSpPr/>
          <p:nvPr/>
        </p:nvSpPr>
        <p:spPr>
          <a:xfrm>
            <a:off x="4434840" y="4745736"/>
            <a:ext cx="3749040" cy="1325880"/>
          </a:xfrm>
          <a:prstGeom prst="roundRect">
            <a:avLst>
              <a:gd name="adj" fmla="val 6897"/>
            </a:avLst>
          </a:prstGeom>
          <a:solidFill>
            <a:srgbClr val="E4F8EC"/>
          </a:solidFill>
          <a:ln/>
        </p:spPr>
      </p:sp>
      <p:sp>
        <p:nvSpPr>
          <p:cNvPr id="24" name="a4_good_bar"/>
          <p:cNvSpPr/>
          <p:nvPr/>
        </p:nvSpPr>
        <p:spPr>
          <a:xfrm>
            <a:off x="4434840" y="4855464"/>
            <a:ext cx="73152" cy="1106424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25" name="a4_good_t"/>
          <p:cNvSpPr txBox="1"/>
          <p:nvPr/>
        </p:nvSpPr>
        <p:spPr>
          <a:xfrm>
            <a:off x="4663440" y="4745736"/>
            <a:ext cx="3429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animation: spin 1s infinite;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@keyframes spin { ... }</a:t>
            </a:r>
            <a:endParaRPr lang="en-US" sz="1300" dirty="0"/>
          </a:p>
        </p:txBody>
      </p:sp>
      <p:sp>
        <p:nvSpPr>
          <p:cNvPr id="26" name="a4_why"/>
          <p:cNvSpPr txBox="1"/>
          <p:nvPr/>
        </p:nvSpPr>
        <p:spPr>
          <a:xfrm>
            <a:off x="8366760" y="4745736"/>
            <a:ext cx="327355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names must match exactly, otherwise nothing animates and there is no error message.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Tips &amp; best practices</a:t>
            </a:r>
            <a:endParaRPr lang="en-US" sz="3400" dirty="0"/>
          </a:p>
        </p:txBody>
      </p:sp>
      <p:sp>
        <p:nvSpPr>
          <p:cNvPr id="3" name="a2_card"/>
          <p:cNvSpPr/>
          <p:nvPr/>
        </p:nvSpPr>
        <p:spPr>
          <a:xfrm>
            <a:off x="548640" y="1508760"/>
            <a:ext cx="5364328" cy="2194560"/>
          </a:xfrm>
          <a:prstGeom prst="roundRect">
            <a:avLst>
              <a:gd name="adj" fmla="val 5000"/>
            </a:avLst>
          </a:prstGeom>
          <a:solidFill>
            <a:srgbClr val="1D2250"/>
          </a:solidFill>
          <a:ln/>
        </p:spPr>
      </p:sp>
      <p:sp>
        <p:nvSpPr>
          <p:cNvPr id="4" name="a2_ico_bg"/>
          <p:cNvSpPr/>
          <p:nvPr/>
        </p:nvSpPr>
        <p:spPr>
          <a:xfrm>
            <a:off x="822960" y="178308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a2_ico_im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782" y="1955902"/>
            <a:ext cx="294437" cy="294437"/>
          </a:xfrm>
          <a:prstGeom prst="rect">
            <a:avLst/>
          </a:prstGeom>
        </p:spPr>
      </p:pic>
      <p:sp>
        <p:nvSpPr>
          <p:cNvPr id="6" name="a2_card_h"/>
          <p:cNvSpPr txBox="1"/>
          <p:nvPr/>
        </p:nvSpPr>
        <p:spPr>
          <a:xfrm>
            <a:off x="1645920" y="1783080"/>
            <a:ext cx="3992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 quick</a:t>
            </a:r>
            <a:endParaRPr lang="en-US" sz="1900" dirty="0"/>
          </a:p>
        </p:txBody>
      </p:sp>
      <p:sp>
        <p:nvSpPr>
          <p:cNvPr id="7" name="a2_card_b"/>
          <p:cNvSpPr txBox="1"/>
          <p:nvPr/>
        </p:nvSpPr>
        <p:spPr>
          <a:xfrm>
            <a:off x="822960" y="2514600"/>
            <a:ext cx="4815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transitions feel best between 150ms and 400ms. Long animations make an interface feel slow.</a:t>
            </a:r>
            <a:endParaRPr lang="en-US" sz="1500" dirty="0"/>
          </a:p>
        </p:txBody>
      </p:sp>
      <p:sp>
        <p:nvSpPr>
          <p:cNvPr id="8" name="a3_card"/>
          <p:cNvSpPr/>
          <p:nvPr/>
        </p:nvSpPr>
        <p:spPr>
          <a:xfrm>
            <a:off x="6278728" y="1508760"/>
            <a:ext cx="5364328" cy="2194560"/>
          </a:xfrm>
          <a:prstGeom prst="roundRect">
            <a:avLst>
              <a:gd name="adj" fmla="val 5000"/>
            </a:avLst>
          </a:prstGeom>
          <a:solidFill>
            <a:srgbClr val="1D2250"/>
          </a:solidFill>
          <a:ln/>
        </p:spPr>
      </p:sp>
      <p:sp>
        <p:nvSpPr>
          <p:cNvPr id="9" name="a3_ico_bg"/>
          <p:cNvSpPr/>
          <p:nvPr/>
        </p:nvSpPr>
        <p:spPr>
          <a:xfrm>
            <a:off x="6553048" y="1783080"/>
            <a:ext cx="640080" cy="64008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0" name="a3_ico_im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5869" y="1955902"/>
            <a:ext cx="294437" cy="294437"/>
          </a:xfrm>
          <a:prstGeom prst="rect">
            <a:avLst/>
          </a:prstGeom>
        </p:spPr>
      </p:pic>
      <p:sp>
        <p:nvSpPr>
          <p:cNvPr id="11" name="a3_card_h"/>
          <p:cNvSpPr txBox="1"/>
          <p:nvPr/>
        </p:nvSpPr>
        <p:spPr>
          <a:xfrm>
            <a:off x="7376008" y="1783080"/>
            <a:ext cx="3992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 reduced motion</a:t>
            </a:r>
            <a:endParaRPr lang="en-US" sz="1900" dirty="0"/>
          </a:p>
        </p:txBody>
      </p:sp>
      <p:sp>
        <p:nvSpPr>
          <p:cNvPr id="12" name="a3_card_b"/>
          <p:cNvSpPr txBox="1"/>
          <p:nvPr/>
        </p:nvSpPr>
        <p:spPr>
          <a:xfrm>
            <a:off x="6553048" y="2514600"/>
            <a:ext cx="4815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strong movement in @media (prefers-reduced-motion: no-preference) or tone it down for users who ask.</a:t>
            </a:r>
            <a:endParaRPr lang="en-US" sz="1500" dirty="0"/>
          </a:p>
        </p:txBody>
      </p:sp>
      <p:sp>
        <p:nvSpPr>
          <p:cNvPr id="13" name="a4_card"/>
          <p:cNvSpPr/>
          <p:nvPr/>
        </p:nvSpPr>
        <p:spPr>
          <a:xfrm>
            <a:off x="548640" y="3886200"/>
            <a:ext cx="5364328" cy="2194560"/>
          </a:xfrm>
          <a:prstGeom prst="roundRect">
            <a:avLst>
              <a:gd name="adj" fmla="val 5000"/>
            </a:avLst>
          </a:prstGeom>
          <a:solidFill>
            <a:srgbClr val="1D2250"/>
          </a:solidFill>
          <a:ln/>
        </p:spPr>
      </p:sp>
      <p:sp>
        <p:nvSpPr>
          <p:cNvPr id="14" name="a4_ico_bg"/>
          <p:cNvSpPr/>
          <p:nvPr/>
        </p:nvSpPr>
        <p:spPr>
          <a:xfrm>
            <a:off x="822960" y="416052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5" name="a4_ico_img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782" y="4333342"/>
            <a:ext cx="294437" cy="294437"/>
          </a:xfrm>
          <a:prstGeom prst="rect">
            <a:avLst/>
          </a:prstGeom>
        </p:spPr>
      </p:pic>
      <p:sp>
        <p:nvSpPr>
          <p:cNvPr id="16" name="a4_card_h"/>
          <p:cNvSpPr txBox="1"/>
          <p:nvPr/>
        </p:nvSpPr>
        <p:spPr>
          <a:xfrm>
            <a:off x="1645920" y="4160520"/>
            <a:ext cx="3992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 transform and opacity</a:t>
            </a:r>
            <a:endParaRPr lang="en-US" sz="1900" dirty="0"/>
          </a:p>
        </p:txBody>
      </p:sp>
      <p:sp>
        <p:nvSpPr>
          <p:cNvPr id="17" name="a4_card_b"/>
          <p:cNvSpPr txBox="1"/>
          <p:nvPr/>
        </p:nvSpPr>
        <p:spPr>
          <a:xfrm>
            <a:off x="822960" y="4892040"/>
            <a:ext cx="4815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two properties are handled by the graphics hardware and stay smooth even on a phone.</a:t>
            </a:r>
            <a:endParaRPr lang="en-US" sz="1500" dirty="0"/>
          </a:p>
        </p:txBody>
      </p:sp>
      <p:sp>
        <p:nvSpPr>
          <p:cNvPr id="18" name="a5_card"/>
          <p:cNvSpPr/>
          <p:nvPr/>
        </p:nvSpPr>
        <p:spPr>
          <a:xfrm>
            <a:off x="6278728" y="3886200"/>
            <a:ext cx="5364328" cy="2194560"/>
          </a:xfrm>
          <a:prstGeom prst="roundRect">
            <a:avLst>
              <a:gd name="adj" fmla="val 5000"/>
            </a:avLst>
          </a:prstGeom>
          <a:solidFill>
            <a:srgbClr val="1D2250"/>
          </a:solidFill>
          <a:ln/>
        </p:spPr>
      </p:sp>
      <p:sp>
        <p:nvSpPr>
          <p:cNvPr id="19" name="a5_ico_bg"/>
          <p:cNvSpPr/>
          <p:nvPr/>
        </p:nvSpPr>
        <p:spPr>
          <a:xfrm>
            <a:off x="6553048" y="416052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0" name="a5_ico_img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5869" y="4333342"/>
            <a:ext cx="294437" cy="294437"/>
          </a:xfrm>
          <a:prstGeom prst="rect">
            <a:avLst/>
          </a:prstGeom>
        </p:spPr>
      </p:pic>
      <p:sp>
        <p:nvSpPr>
          <p:cNvPr id="21" name="a5_card_h"/>
          <p:cNvSpPr txBox="1"/>
          <p:nvPr/>
        </p:nvSpPr>
        <p:spPr>
          <a:xfrm>
            <a:off x="7376008" y="4160520"/>
            <a:ext cx="3992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 with purpose</a:t>
            </a:r>
            <a:endParaRPr lang="en-US" sz="1900" dirty="0"/>
          </a:p>
        </p:txBody>
      </p:sp>
      <p:sp>
        <p:nvSpPr>
          <p:cNvPr id="22" name="a5_card_b"/>
          <p:cNvSpPr txBox="1"/>
          <p:nvPr/>
        </p:nvSpPr>
        <p:spPr>
          <a:xfrm>
            <a:off x="6553048" y="4892040"/>
            <a:ext cx="4815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does this motion help the user understand something? If not, leave it out.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vortex dir="r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53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53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53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Activity: animated landing hero</a:t>
            </a:r>
            <a:endParaRPr lang="en-US" sz="3400" dirty="0"/>
          </a:p>
        </p:txBody>
      </p:sp>
      <p:sp>
        <p:nvSpPr>
          <p:cNvPr id="3" name="a2_chip"/>
          <p:cNvSpPr/>
          <p:nvPr/>
        </p:nvSpPr>
        <p:spPr>
          <a:xfrm>
            <a:off x="548640" y="1371600"/>
            <a:ext cx="1371600" cy="32918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" name="a2_chip_t"/>
          <p:cNvSpPr txBox="1"/>
          <p:nvPr/>
        </p:nvSpPr>
        <p:spPr>
          <a:xfrm>
            <a:off x="548640" y="137160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25 min</a:t>
            </a:r>
            <a:endParaRPr lang="en-US" sz="1200" dirty="0"/>
          </a:p>
        </p:txBody>
      </p:sp>
      <p:sp>
        <p:nvSpPr>
          <p:cNvPr id="5" name="a2_chip"/>
          <p:cNvSpPr/>
          <p:nvPr/>
        </p:nvSpPr>
        <p:spPr>
          <a:xfrm>
            <a:off x="2057400" y="1371600"/>
            <a:ext cx="173736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6" name="a2_chip_t"/>
          <p:cNvSpPr txBox="1"/>
          <p:nvPr/>
        </p:nvSpPr>
        <p:spPr>
          <a:xfrm>
            <a:off x="2057400" y="137160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200" dirty="0"/>
          </a:p>
        </p:txBody>
      </p:sp>
      <p:sp>
        <p:nvSpPr>
          <p:cNvPr id="7" name="a3_brief"/>
          <p:cNvSpPr txBox="1"/>
          <p:nvPr/>
        </p:nvSpPr>
        <p:spPr>
          <a:xfrm>
            <a:off x="548640" y="182880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hero text slide up and fade in one after another, and add a hover effect to the button.</a:t>
            </a:r>
            <a:endParaRPr lang="en-US" sz="1500" dirty="0"/>
          </a:p>
        </p:txBody>
      </p:sp>
      <p:sp>
        <p:nvSpPr>
          <p:cNvPr id="8" name="a4_num"/>
          <p:cNvSpPr/>
          <p:nvPr/>
        </p:nvSpPr>
        <p:spPr>
          <a:xfrm>
            <a:off x="548640" y="2651760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a4_numt"/>
          <p:cNvSpPr txBox="1"/>
          <p:nvPr/>
        </p:nvSpPr>
        <p:spPr>
          <a:xfrm>
            <a:off x="548640" y="2651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a4_step"/>
          <p:cNvSpPr txBox="1"/>
          <p:nvPr/>
        </p:nvSpPr>
        <p:spPr>
          <a:xfrm>
            <a:off x="1005840" y="2606040"/>
            <a:ext cx="5212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@keyframes rise: from opacity 0 and translateY(20px) to opacity 1 and translateY(0).</a:t>
            </a:r>
            <a:endParaRPr lang="en-US" sz="1400" dirty="0"/>
          </a:p>
        </p:txBody>
      </p:sp>
      <p:sp>
        <p:nvSpPr>
          <p:cNvPr id="11" name="a5_num"/>
          <p:cNvSpPr/>
          <p:nvPr/>
        </p:nvSpPr>
        <p:spPr>
          <a:xfrm>
            <a:off x="548640" y="3218688"/>
            <a:ext cx="310896" cy="31089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2" name="a5_numt"/>
          <p:cNvSpPr txBox="1"/>
          <p:nvPr/>
        </p:nvSpPr>
        <p:spPr>
          <a:xfrm>
            <a:off x="548640" y="32186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a5_step"/>
          <p:cNvSpPr txBox="1"/>
          <p:nvPr/>
        </p:nvSpPr>
        <p:spPr>
          <a:xfrm>
            <a:off x="1005840" y="3172968"/>
            <a:ext cx="5212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h1, p and the button animation: rise 0.8s ease both. (both keeps the final state.)</a:t>
            </a:r>
            <a:endParaRPr lang="en-US" sz="1400" dirty="0"/>
          </a:p>
        </p:txBody>
      </p:sp>
      <p:sp>
        <p:nvSpPr>
          <p:cNvPr id="14" name="a6_num"/>
          <p:cNvSpPr/>
          <p:nvPr/>
        </p:nvSpPr>
        <p:spPr>
          <a:xfrm>
            <a:off x="548640" y="3785616"/>
            <a:ext cx="310896" cy="310896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5" name="a6_numt"/>
          <p:cNvSpPr txBox="1"/>
          <p:nvPr/>
        </p:nvSpPr>
        <p:spPr>
          <a:xfrm>
            <a:off x="548640" y="3785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a6_step"/>
          <p:cNvSpPr txBox="1"/>
          <p:nvPr/>
        </p:nvSpPr>
        <p:spPr>
          <a:xfrm>
            <a:off x="1005840" y="3739896"/>
            <a:ext cx="5212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Stagger them with animation-delay: 0s, 0.2s and 0.4s.</a:t>
            </a:r>
            <a:endParaRPr lang="en-US" sz="1400" dirty="0"/>
          </a:p>
        </p:txBody>
      </p:sp>
      <p:sp>
        <p:nvSpPr>
          <p:cNvPr id="17" name="a7_num"/>
          <p:cNvSpPr/>
          <p:nvPr/>
        </p:nvSpPr>
        <p:spPr>
          <a:xfrm>
            <a:off x="548640" y="4352544"/>
            <a:ext cx="310896" cy="310896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8" name="a7_numt"/>
          <p:cNvSpPr txBox="1"/>
          <p:nvPr/>
        </p:nvSpPr>
        <p:spPr>
          <a:xfrm>
            <a:off x="548640" y="4352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a7_step"/>
          <p:cNvSpPr txBox="1"/>
          <p:nvPr/>
        </p:nvSpPr>
        <p:spPr>
          <a:xfrm>
            <a:off x="1005840" y="4306824"/>
            <a:ext cx="5212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transition and a :hover transform: scale(1.06) on the button.</a:t>
            </a:r>
            <a:endParaRPr lang="en-US" sz="1400" dirty="0"/>
          </a:p>
        </p:txBody>
      </p:sp>
      <p:sp>
        <p:nvSpPr>
          <p:cNvPr id="20" name="a8_num"/>
          <p:cNvSpPr/>
          <p:nvPr/>
        </p:nvSpPr>
        <p:spPr>
          <a:xfrm>
            <a:off x="548640" y="4919472"/>
            <a:ext cx="310896" cy="310896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21" name="a8_numt"/>
          <p:cNvSpPr txBox="1"/>
          <p:nvPr/>
        </p:nvSpPr>
        <p:spPr>
          <a:xfrm>
            <a:off x="548640" y="49194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a8_step"/>
          <p:cNvSpPr txBox="1"/>
          <p:nvPr/>
        </p:nvSpPr>
        <p:spPr>
          <a:xfrm>
            <a:off x="1005840" y="4873752"/>
            <a:ext cx="5212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the animation in prefers-reduced-motion: no-preference.</a:t>
            </a:r>
            <a:endParaRPr lang="en-US" sz="1400" dirty="0"/>
          </a:p>
        </p:txBody>
      </p:sp>
      <p:sp>
        <p:nvSpPr>
          <p:cNvPr id="23" name="a9_bonus"/>
          <p:cNvSpPr/>
          <p:nvPr/>
        </p:nvSpPr>
        <p:spPr>
          <a:xfrm>
            <a:off x="548640" y="5486400"/>
            <a:ext cx="5669280" cy="731520"/>
          </a:xfrm>
          <a:prstGeom prst="roundRect">
            <a:avLst>
              <a:gd name="adj" fmla="val 12500"/>
            </a:avLst>
          </a:prstGeom>
          <a:solidFill>
            <a:srgbClr val="FFF4D1"/>
          </a:solidFill>
          <a:ln/>
        </p:spPr>
      </p:sp>
      <p:sp>
        <p:nvSpPr>
          <p:cNvPr id="24" name="a9_bonus_t"/>
          <p:cNvSpPr txBox="1"/>
          <p:nvPr/>
        </p:nvSpPr>
        <p:spPr>
          <a:xfrm>
            <a:off x="731520" y="548640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</a:t>
            </a:r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pulsing glow with a second @keyframes using box-shadow.</a:t>
            </a:r>
            <a:endParaRPr lang="en-US" sz="1350" dirty="0"/>
          </a:p>
        </p:txBody>
      </p:sp>
      <p:sp>
        <p:nvSpPr>
          <p:cNvPr id="25" name="a2_goal_l"/>
          <p:cNvSpPr txBox="1"/>
          <p:nvPr/>
        </p:nvSpPr>
        <p:spPr>
          <a:xfrm>
            <a:off x="6583680" y="1371600"/>
            <a:ext cx="50593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your page should look like this</a:t>
            </a:r>
            <a:endParaRPr lang="en-US" sz="1400" dirty="0"/>
          </a:p>
        </p:txBody>
      </p:sp>
      <p:sp>
        <p:nvSpPr>
          <p:cNvPr id="26" name="a3_browser"/>
          <p:cNvSpPr/>
          <p:nvPr/>
        </p:nvSpPr>
        <p:spPr>
          <a:xfrm>
            <a:off x="6583680" y="1828800"/>
            <a:ext cx="5059375" cy="2841678"/>
          </a:xfrm>
          <a:prstGeom prst="rect">
            <a:avLst/>
          </a:prstGeom>
          <a:solidFill>
            <a:schemeClr val="bg1"/>
          </a:solidFill>
          <a:ln w="12700">
            <a:solidFill>
              <a:srgbClr val="D5DA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27" name="a3_browser_bar"/>
          <p:cNvSpPr/>
          <p:nvPr/>
        </p:nvSpPr>
        <p:spPr>
          <a:xfrm>
            <a:off x="6583680" y="1828800"/>
            <a:ext cx="5059375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8" name="a3_browser_dot"/>
          <p:cNvSpPr/>
          <p:nvPr/>
        </p:nvSpPr>
        <p:spPr>
          <a:xfrm>
            <a:off x="6766560" y="1965960"/>
            <a:ext cx="118872" cy="11887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9" name="a3_browser_dot"/>
          <p:cNvSpPr/>
          <p:nvPr/>
        </p:nvSpPr>
        <p:spPr>
          <a:xfrm>
            <a:off x="6967728" y="196596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0" name="a3_browser_dot"/>
          <p:cNvSpPr/>
          <p:nvPr/>
        </p:nvSpPr>
        <p:spPr>
          <a:xfrm>
            <a:off x="7168896" y="1965960"/>
            <a:ext cx="118872" cy="118872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31" name="a3_browser_url"/>
          <p:cNvSpPr/>
          <p:nvPr/>
        </p:nvSpPr>
        <p:spPr>
          <a:xfrm>
            <a:off x="7498080" y="1892808"/>
            <a:ext cx="3962095" cy="274320"/>
          </a:xfrm>
          <a:prstGeom prst="roundRect">
            <a:avLst>
              <a:gd name="adj" fmla="val 33333"/>
            </a:avLst>
          </a:prstGeom>
          <a:solidFill>
            <a:schemeClr val="bg1"/>
          </a:solidFill>
          <a:ln/>
        </p:spPr>
      </p:sp>
      <p:sp>
        <p:nvSpPr>
          <p:cNvPr id="32" name="a3_browser_urltext"/>
          <p:cNvSpPr txBox="1"/>
          <p:nvPr/>
        </p:nvSpPr>
        <p:spPr>
          <a:xfrm>
            <a:off x="7607808" y="1892808"/>
            <a:ext cx="3779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lesson7/activity/solution/index.html</a:t>
            </a:r>
            <a:endParaRPr lang="en-US" sz="1100" dirty="0"/>
          </a:p>
        </p:txBody>
      </p:sp>
      <p:pic>
        <p:nvPicPr>
          <p:cNvPr id="33" name="a3_shot" descr="/home/user/Python/CSS_Course/assets/l7_act_sol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2231136"/>
            <a:ext cx="5059375" cy="2439342"/>
          </a:xfrm>
          <a:prstGeom prst="rect">
            <a:avLst/>
          </a:prstGeom>
        </p:spPr>
      </p:pic>
      <p:sp>
        <p:nvSpPr>
          <p:cNvPr id="34" name="a10_files"/>
          <p:cNvSpPr/>
          <p:nvPr/>
        </p:nvSpPr>
        <p:spPr>
          <a:xfrm>
            <a:off x="6583680" y="4899078"/>
            <a:ext cx="5059375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35" name="a10_files_t"/>
          <p:cNvSpPr txBox="1"/>
          <p:nvPr/>
        </p:nvSpPr>
        <p:spPr>
          <a:xfrm>
            <a:off x="6766560" y="4899078"/>
            <a:ext cx="46936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from: 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code/lesson7/activity/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with: 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code/lesson7/activity/solution/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3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7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224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6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1" dur="6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2" presetClass="entr" presetSubtype="0" fill="hold" grpId="0" nodeType="withEffect">
                                  <p:stCondLst>
                                    <p:cond delay="224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6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5" dur="6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4" grpId="0" animBg="1"/>
      <p:bldP spid="3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Challenge: the flip card</a:t>
            </a:r>
            <a:endParaRPr lang="en-US" sz="3400" dirty="0"/>
          </a:p>
        </p:txBody>
      </p:sp>
      <p:sp>
        <p:nvSpPr>
          <p:cNvPr id="3" name="a2_chip"/>
          <p:cNvSpPr/>
          <p:nvPr/>
        </p:nvSpPr>
        <p:spPr>
          <a:xfrm>
            <a:off x="548640" y="1371600"/>
            <a:ext cx="1371600" cy="32918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" name="a2_chip_t"/>
          <p:cNvSpPr txBox="1"/>
          <p:nvPr/>
        </p:nvSpPr>
        <p:spPr>
          <a:xfrm>
            <a:off x="548640" y="137160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35 min</a:t>
            </a:r>
            <a:endParaRPr lang="en-US" sz="1200" dirty="0"/>
          </a:p>
        </p:txBody>
      </p:sp>
      <p:sp>
        <p:nvSpPr>
          <p:cNvPr id="5" name="a2_chip"/>
          <p:cNvSpPr/>
          <p:nvPr/>
        </p:nvSpPr>
        <p:spPr>
          <a:xfrm>
            <a:off x="2057400" y="1371600"/>
            <a:ext cx="1737360" cy="32918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6" name="a2_chip_t"/>
          <p:cNvSpPr txBox="1"/>
          <p:nvPr/>
        </p:nvSpPr>
        <p:spPr>
          <a:xfrm>
            <a:off x="2057400" y="137160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7" name="a3_brief"/>
          <p:cNvSpPr txBox="1"/>
          <p:nvPr/>
        </p:nvSpPr>
        <p:spPr>
          <a:xfrm>
            <a:off x="548640" y="182880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card that flips to show its back when you hover. You will use 3D transforms.</a:t>
            </a:r>
            <a:endParaRPr lang="en-US" sz="1500" dirty="0"/>
          </a:p>
        </p:txBody>
      </p:sp>
      <p:sp>
        <p:nvSpPr>
          <p:cNvPr id="8" name="a4_num"/>
          <p:cNvSpPr/>
          <p:nvPr/>
        </p:nvSpPr>
        <p:spPr>
          <a:xfrm>
            <a:off x="548640" y="2651760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a4_numt"/>
          <p:cNvSpPr txBox="1"/>
          <p:nvPr/>
        </p:nvSpPr>
        <p:spPr>
          <a:xfrm>
            <a:off x="548640" y="2651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a4_step"/>
          <p:cNvSpPr txBox="1"/>
          <p:nvPr/>
        </p:nvSpPr>
        <p:spPr>
          <a:xfrm>
            <a:off x="1005840" y="2606040"/>
            <a:ext cx="5212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perspective: 800px on .scene (it gives the 3D depth). Size it 220 x 280px.</a:t>
            </a:r>
            <a:endParaRPr lang="en-US" sz="1400" dirty="0"/>
          </a:p>
        </p:txBody>
      </p:sp>
      <p:sp>
        <p:nvSpPr>
          <p:cNvPr id="11" name="a5_num"/>
          <p:cNvSpPr/>
          <p:nvPr/>
        </p:nvSpPr>
        <p:spPr>
          <a:xfrm>
            <a:off x="548640" y="3218688"/>
            <a:ext cx="310896" cy="31089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2" name="a5_numt"/>
          <p:cNvSpPr txBox="1"/>
          <p:nvPr/>
        </p:nvSpPr>
        <p:spPr>
          <a:xfrm>
            <a:off x="548640" y="32186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a5_step"/>
          <p:cNvSpPr txBox="1"/>
          <p:nvPr/>
        </p:nvSpPr>
        <p:spPr>
          <a:xfrm>
            <a:off x="1005840" y="3172968"/>
            <a:ext cx="5212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.card fill the scene, set transform-style: preserve-3d and a 0.8s transition on transform.</a:t>
            </a:r>
            <a:endParaRPr lang="en-US" sz="1400" dirty="0"/>
          </a:p>
        </p:txBody>
      </p:sp>
      <p:sp>
        <p:nvSpPr>
          <p:cNvPr id="14" name="a6_num"/>
          <p:cNvSpPr/>
          <p:nvPr/>
        </p:nvSpPr>
        <p:spPr>
          <a:xfrm>
            <a:off x="548640" y="3785616"/>
            <a:ext cx="310896" cy="310896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5" name="a6_numt"/>
          <p:cNvSpPr txBox="1"/>
          <p:nvPr/>
        </p:nvSpPr>
        <p:spPr>
          <a:xfrm>
            <a:off x="548640" y="3785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a6_step"/>
          <p:cNvSpPr txBox="1"/>
          <p:nvPr/>
        </p:nvSpPr>
        <p:spPr>
          <a:xfrm>
            <a:off x="1005840" y="3739896"/>
            <a:ext cx="5212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.scene:hover .card use transform: rotateY(180deg).</a:t>
            </a:r>
            <a:endParaRPr lang="en-US" sz="1400" dirty="0"/>
          </a:p>
        </p:txBody>
      </p:sp>
      <p:sp>
        <p:nvSpPr>
          <p:cNvPr id="17" name="a7_num"/>
          <p:cNvSpPr/>
          <p:nvPr/>
        </p:nvSpPr>
        <p:spPr>
          <a:xfrm>
            <a:off x="548640" y="4352544"/>
            <a:ext cx="310896" cy="310896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8" name="a7_numt"/>
          <p:cNvSpPr txBox="1"/>
          <p:nvPr/>
        </p:nvSpPr>
        <p:spPr>
          <a:xfrm>
            <a:off x="548640" y="4352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a7_step"/>
          <p:cNvSpPr txBox="1"/>
          <p:nvPr/>
        </p:nvSpPr>
        <p:spPr>
          <a:xfrm>
            <a:off x="1005840" y="4306824"/>
            <a:ext cx="5212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the faces with position: absolute; inset: 0 and hide their backs with backface-visibility: hidden.</a:t>
            </a:r>
            <a:endParaRPr lang="en-US" sz="1400" dirty="0"/>
          </a:p>
        </p:txBody>
      </p:sp>
      <p:sp>
        <p:nvSpPr>
          <p:cNvPr id="20" name="a8_num"/>
          <p:cNvSpPr/>
          <p:nvPr/>
        </p:nvSpPr>
        <p:spPr>
          <a:xfrm>
            <a:off x="548640" y="4919472"/>
            <a:ext cx="310896" cy="310896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21" name="a8_numt"/>
          <p:cNvSpPr txBox="1"/>
          <p:nvPr/>
        </p:nvSpPr>
        <p:spPr>
          <a:xfrm>
            <a:off x="548640" y="49194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a8_step"/>
          <p:cNvSpPr txBox="1"/>
          <p:nvPr/>
        </p:nvSpPr>
        <p:spPr>
          <a:xfrm>
            <a:off x="1005840" y="4873752"/>
            <a:ext cx="5212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.back by 180deg so its text reads correctly after the flip.</a:t>
            </a:r>
            <a:endParaRPr lang="en-US" sz="1400" dirty="0"/>
          </a:p>
        </p:txBody>
      </p:sp>
      <p:sp>
        <p:nvSpPr>
          <p:cNvPr id="23" name="a9_bonus"/>
          <p:cNvSpPr/>
          <p:nvPr/>
        </p:nvSpPr>
        <p:spPr>
          <a:xfrm>
            <a:off x="548640" y="5486400"/>
            <a:ext cx="5669280" cy="731520"/>
          </a:xfrm>
          <a:prstGeom prst="roundRect">
            <a:avLst>
              <a:gd name="adj" fmla="val 12500"/>
            </a:avLst>
          </a:prstGeom>
          <a:solidFill>
            <a:srgbClr val="1D2250"/>
          </a:solidFill>
          <a:ln/>
        </p:spPr>
      </p:sp>
      <p:sp>
        <p:nvSpPr>
          <p:cNvPr id="24" name="a9_bonus_t"/>
          <p:cNvSpPr txBox="1"/>
          <p:nvPr/>
        </p:nvSpPr>
        <p:spPr>
          <a:xfrm>
            <a:off x="731520" y="548640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</a:t>
            </a:r>
            <a:pPr indent="0" marL="0">
              <a:buNone/>
            </a:pPr>
            <a:r>
              <a:rPr lang="en-US" sz="13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second card, or flip on keyboard focus with :focus-within for accessibility.</a:t>
            </a:r>
            <a:endParaRPr lang="en-US" sz="1350" dirty="0"/>
          </a:p>
        </p:txBody>
      </p:sp>
      <p:sp>
        <p:nvSpPr>
          <p:cNvPr id="25" name="a2_goal_l"/>
          <p:cNvSpPr txBox="1"/>
          <p:nvPr/>
        </p:nvSpPr>
        <p:spPr>
          <a:xfrm>
            <a:off x="6583680" y="1371600"/>
            <a:ext cx="50593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match this result</a:t>
            </a:r>
            <a:endParaRPr lang="en-US" sz="1400" dirty="0"/>
          </a:p>
        </p:txBody>
      </p:sp>
      <p:sp>
        <p:nvSpPr>
          <p:cNvPr id="26" name="a3_browser"/>
          <p:cNvSpPr/>
          <p:nvPr/>
        </p:nvSpPr>
        <p:spPr>
          <a:xfrm>
            <a:off x="6583680" y="1828800"/>
            <a:ext cx="4655127" cy="3145536"/>
          </a:xfrm>
          <a:prstGeom prst="rect">
            <a:avLst/>
          </a:prstGeom>
          <a:solidFill>
            <a:schemeClr val="bg1"/>
          </a:solidFill>
          <a:ln w="12700">
            <a:solidFill>
              <a:srgbClr val="D5DA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27" name="a3_browser_bar"/>
          <p:cNvSpPr/>
          <p:nvPr/>
        </p:nvSpPr>
        <p:spPr>
          <a:xfrm>
            <a:off x="6583680" y="1828800"/>
            <a:ext cx="4655127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8" name="a3_browser_dot"/>
          <p:cNvSpPr/>
          <p:nvPr/>
        </p:nvSpPr>
        <p:spPr>
          <a:xfrm>
            <a:off x="6766560" y="1965960"/>
            <a:ext cx="118872" cy="11887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9" name="a3_browser_dot"/>
          <p:cNvSpPr/>
          <p:nvPr/>
        </p:nvSpPr>
        <p:spPr>
          <a:xfrm>
            <a:off x="6967728" y="196596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0" name="a3_browser_dot"/>
          <p:cNvSpPr/>
          <p:nvPr/>
        </p:nvSpPr>
        <p:spPr>
          <a:xfrm>
            <a:off x="7168896" y="1965960"/>
            <a:ext cx="118872" cy="118872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31" name="a3_browser_url"/>
          <p:cNvSpPr/>
          <p:nvPr/>
        </p:nvSpPr>
        <p:spPr>
          <a:xfrm>
            <a:off x="7498080" y="1892808"/>
            <a:ext cx="3557847" cy="274320"/>
          </a:xfrm>
          <a:prstGeom prst="roundRect">
            <a:avLst>
              <a:gd name="adj" fmla="val 33333"/>
            </a:avLst>
          </a:prstGeom>
          <a:solidFill>
            <a:schemeClr val="bg1"/>
          </a:solidFill>
          <a:ln/>
        </p:spPr>
      </p:sp>
      <p:sp>
        <p:nvSpPr>
          <p:cNvPr id="32" name="a3_browser_urltext"/>
          <p:cNvSpPr txBox="1"/>
          <p:nvPr/>
        </p:nvSpPr>
        <p:spPr>
          <a:xfrm>
            <a:off x="7607808" y="1892808"/>
            <a:ext cx="33749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lesson7/challenge/solution/index.html</a:t>
            </a:r>
            <a:endParaRPr lang="en-US" sz="1100" dirty="0"/>
          </a:p>
        </p:txBody>
      </p:sp>
      <p:pic>
        <p:nvPicPr>
          <p:cNvPr id="33" name="a3_shot" descr="/home/user/Python/CSS_Course/assets/l7_chal_sol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2231136"/>
            <a:ext cx="4655127" cy="2743200"/>
          </a:xfrm>
          <a:prstGeom prst="rect">
            <a:avLst/>
          </a:prstGeom>
        </p:spPr>
      </p:pic>
      <p:sp>
        <p:nvSpPr>
          <p:cNvPr id="34" name="a10_files"/>
          <p:cNvSpPr/>
          <p:nvPr/>
        </p:nvSpPr>
        <p:spPr>
          <a:xfrm>
            <a:off x="6583680" y="5202936"/>
            <a:ext cx="5059375" cy="914400"/>
          </a:xfrm>
          <a:prstGeom prst="roundRect">
            <a:avLst>
              <a:gd name="adj" fmla="val 10000"/>
            </a:avLst>
          </a:prstGeom>
          <a:solidFill>
            <a:srgbClr val="1D2250"/>
          </a:solidFill>
          <a:ln/>
        </p:spPr>
      </p:sp>
      <p:sp>
        <p:nvSpPr>
          <p:cNvPr id="35" name="a10_files_t"/>
          <p:cNvSpPr txBox="1"/>
          <p:nvPr/>
        </p:nvSpPr>
        <p:spPr>
          <a:xfrm>
            <a:off x="6766560" y="5202936"/>
            <a:ext cx="46936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from:  </a:t>
            </a:r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code/lesson7/challenge/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with:  </a:t>
            </a:r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code/lesson7/challenge/solution/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doors dir="ver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3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7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224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6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1" dur="6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2" presetClass="entr" presetSubtype="0" fill="hold" grpId="0" nodeType="withEffect">
                                  <p:stCondLst>
                                    <p:cond delay="224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6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5" dur="6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4" grpId="0" animBg="1"/>
      <p:bldP spid="3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Quick check</a:t>
            </a:r>
            <a:endParaRPr lang="en-US" sz="3400" dirty="0"/>
          </a:p>
        </p:txBody>
      </p:sp>
      <p:sp>
        <p:nvSpPr>
          <p:cNvPr id="3" name="a2_hint"/>
          <p:cNvSpPr txBox="1"/>
          <p:nvPr/>
        </p:nvSpPr>
        <p:spPr>
          <a:xfrm>
            <a:off x="548640" y="126187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first, then click to reveal each answer.</a:t>
            </a:r>
            <a:endParaRPr lang="en-US" sz="1500" dirty="0"/>
          </a:p>
        </p:txBody>
      </p:sp>
      <p:sp>
        <p:nvSpPr>
          <p:cNvPr id="4" name="a3_row"/>
          <p:cNvSpPr/>
          <p:nvPr/>
        </p:nvSpPr>
        <p:spPr>
          <a:xfrm>
            <a:off x="548640" y="1737360"/>
            <a:ext cx="11094415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5" name="a3_num"/>
          <p:cNvSpPr/>
          <p:nvPr/>
        </p:nvSpPr>
        <p:spPr>
          <a:xfrm>
            <a:off x="822960" y="21488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a3_numt"/>
          <p:cNvSpPr txBox="1"/>
          <p:nvPr/>
        </p:nvSpPr>
        <p:spPr>
          <a:xfrm>
            <a:off x="82296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a3_q"/>
          <p:cNvSpPr txBox="1"/>
          <p:nvPr/>
        </p:nvSpPr>
        <p:spPr>
          <a:xfrm>
            <a:off x="1600200" y="1737360"/>
            <a:ext cx="5394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should the transition property go: the normal state or :hover?</a:t>
            </a:r>
            <a:endParaRPr lang="en-US" sz="1650" dirty="0"/>
          </a:p>
        </p:txBody>
      </p:sp>
      <p:sp>
        <p:nvSpPr>
          <p:cNvPr id="8" name="k3_ans_bg"/>
          <p:cNvSpPr/>
          <p:nvPr/>
        </p:nvSpPr>
        <p:spPr>
          <a:xfrm>
            <a:off x="7269480" y="1892808"/>
            <a:ext cx="4206240" cy="1014984"/>
          </a:xfrm>
          <a:prstGeom prst="roundRect">
            <a:avLst>
              <a:gd name="adj" fmla="val 9009"/>
            </a:avLst>
          </a:prstGeom>
          <a:solidFill>
            <a:srgbClr val="DDF7E7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9" name="k3_ans"/>
          <p:cNvSpPr txBox="1"/>
          <p:nvPr/>
        </p:nvSpPr>
        <p:spPr>
          <a:xfrm>
            <a:off x="7452360" y="1892808"/>
            <a:ext cx="384048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normal state, so the change animates both when entering and leaving the hover.</a:t>
            </a:r>
            <a:endParaRPr lang="en-US" sz="1450" dirty="0"/>
          </a:p>
        </p:txBody>
      </p:sp>
      <p:sp>
        <p:nvSpPr>
          <p:cNvPr id="10" name="a4_row"/>
          <p:cNvSpPr/>
          <p:nvPr/>
        </p:nvSpPr>
        <p:spPr>
          <a:xfrm>
            <a:off x="548640" y="3218688"/>
            <a:ext cx="11094415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11" name="a4_num"/>
          <p:cNvSpPr/>
          <p:nvPr/>
        </p:nvSpPr>
        <p:spPr>
          <a:xfrm>
            <a:off x="822960" y="3630168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2" name="a4_numt"/>
          <p:cNvSpPr txBox="1"/>
          <p:nvPr/>
        </p:nvSpPr>
        <p:spPr>
          <a:xfrm>
            <a:off x="822960" y="3630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a4_q"/>
          <p:cNvSpPr txBox="1"/>
          <p:nvPr/>
        </p:nvSpPr>
        <p:spPr>
          <a:xfrm>
            <a:off x="1600200" y="3218688"/>
            <a:ext cx="5394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two properties are best to animate for smooth motion?</a:t>
            </a:r>
            <a:endParaRPr lang="en-US" sz="1650" dirty="0"/>
          </a:p>
        </p:txBody>
      </p:sp>
      <p:sp>
        <p:nvSpPr>
          <p:cNvPr id="14" name="k4_ans_bg"/>
          <p:cNvSpPr/>
          <p:nvPr/>
        </p:nvSpPr>
        <p:spPr>
          <a:xfrm>
            <a:off x="7269480" y="3374136"/>
            <a:ext cx="4206240" cy="1014984"/>
          </a:xfrm>
          <a:prstGeom prst="roundRect">
            <a:avLst>
              <a:gd name="adj" fmla="val 9009"/>
            </a:avLst>
          </a:prstGeom>
          <a:solidFill>
            <a:srgbClr val="DDF7E7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15" name="k4_ans"/>
          <p:cNvSpPr txBox="1"/>
          <p:nvPr/>
        </p:nvSpPr>
        <p:spPr>
          <a:xfrm>
            <a:off x="7452360" y="3374136"/>
            <a:ext cx="384048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and opacity.</a:t>
            </a:r>
            <a:endParaRPr lang="en-US" sz="1450" dirty="0"/>
          </a:p>
        </p:txBody>
      </p:sp>
      <p:sp>
        <p:nvSpPr>
          <p:cNvPr id="16" name="a5_row"/>
          <p:cNvSpPr/>
          <p:nvPr/>
        </p:nvSpPr>
        <p:spPr>
          <a:xfrm>
            <a:off x="548640" y="4700016"/>
            <a:ext cx="11094415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17" name="a5_num"/>
          <p:cNvSpPr/>
          <p:nvPr/>
        </p:nvSpPr>
        <p:spPr>
          <a:xfrm>
            <a:off x="822960" y="5111496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a5_numt"/>
          <p:cNvSpPr txBox="1"/>
          <p:nvPr/>
        </p:nvSpPr>
        <p:spPr>
          <a:xfrm>
            <a:off x="822960" y="51114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a5_q"/>
          <p:cNvSpPr txBox="1"/>
          <p:nvPr/>
        </p:nvSpPr>
        <p:spPr>
          <a:xfrm>
            <a:off x="1600200" y="4700016"/>
            <a:ext cx="5394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can CSS respect users who get dizzy from motion?</a:t>
            </a:r>
            <a:endParaRPr lang="en-US" sz="1650" dirty="0"/>
          </a:p>
        </p:txBody>
      </p:sp>
      <p:sp>
        <p:nvSpPr>
          <p:cNvPr id="20" name="k5_ans_bg"/>
          <p:cNvSpPr/>
          <p:nvPr/>
        </p:nvSpPr>
        <p:spPr>
          <a:xfrm>
            <a:off x="7269480" y="4855464"/>
            <a:ext cx="4206240" cy="1014984"/>
          </a:xfrm>
          <a:prstGeom prst="roundRect">
            <a:avLst>
              <a:gd name="adj" fmla="val 9009"/>
            </a:avLst>
          </a:prstGeom>
          <a:solidFill>
            <a:srgbClr val="DDF7E7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21" name="k5_ans"/>
          <p:cNvSpPr txBox="1"/>
          <p:nvPr/>
        </p:nvSpPr>
        <p:spPr>
          <a:xfrm>
            <a:off x="7452360" y="4855464"/>
            <a:ext cx="384048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@media (prefers-reduced-motion: reduce) to remove or slow animations.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Summary</a:t>
            </a:r>
            <a:endParaRPr lang="en-US" sz="3400" dirty="0"/>
          </a:p>
        </p:txBody>
      </p:sp>
      <p:sp>
        <p:nvSpPr>
          <p:cNvPr id="3" name="a2_ico_bg"/>
          <p:cNvSpPr/>
          <p:nvPr/>
        </p:nvSpPr>
        <p:spPr>
          <a:xfrm>
            <a:off x="548640" y="1581912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4" name="a2_ico_im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428" y="1717700"/>
            <a:ext cx="231343" cy="231343"/>
          </a:xfrm>
          <a:prstGeom prst="rect">
            <a:avLst/>
          </a:prstGeom>
        </p:spPr>
      </p:pic>
      <p:sp>
        <p:nvSpPr>
          <p:cNvPr id="5" name="a2_pt"/>
          <p:cNvSpPr txBox="1"/>
          <p:nvPr/>
        </p:nvSpPr>
        <p:spPr>
          <a:xfrm>
            <a:off x="1280160" y="1508760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animates between two states; put it on the normal state.</a:t>
            </a:r>
            <a:endParaRPr lang="en-US" sz="1650" dirty="0"/>
          </a:p>
        </p:txBody>
      </p:sp>
      <p:sp>
        <p:nvSpPr>
          <p:cNvPr id="6" name="a3_ico_bg"/>
          <p:cNvSpPr/>
          <p:nvPr/>
        </p:nvSpPr>
        <p:spPr>
          <a:xfrm>
            <a:off x="548640" y="2514600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7" name="a3_ico_im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428" y="2650388"/>
            <a:ext cx="231343" cy="231343"/>
          </a:xfrm>
          <a:prstGeom prst="rect">
            <a:avLst/>
          </a:prstGeom>
        </p:spPr>
      </p:pic>
      <p:sp>
        <p:nvSpPr>
          <p:cNvPr id="8" name="a3_pt"/>
          <p:cNvSpPr txBox="1"/>
          <p:nvPr/>
        </p:nvSpPr>
        <p:spPr>
          <a:xfrm>
            <a:off x="1280160" y="2441448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transform: translate, scale and rotate change how an element is drawn.</a:t>
            </a:r>
            <a:endParaRPr lang="en-US" sz="1650" dirty="0"/>
          </a:p>
        </p:txBody>
      </p:sp>
      <p:sp>
        <p:nvSpPr>
          <p:cNvPr id="9" name="a4_ico_bg"/>
          <p:cNvSpPr/>
          <p:nvPr/>
        </p:nvSpPr>
        <p:spPr>
          <a:xfrm>
            <a:off x="548640" y="3447288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0" name="a4_ico_img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428" y="3583076"/>
            <a:ext cx="231343" cy="231343"/>
          </a:xfrm>
          <a:prstGeom prst="rect">
            <a:avLst/>
          </a:prstGeom>
        </p:spPr>
      </p:pic>
      <p:sp>
        <p:nvSpPr>
          <p:cNvPr id="11" name="a4_pt"/>
          <p:cNvSpPr txBox="1"/>
          <p:nvPr/>
        </p:nvSpPr>
        <p:spPr>
          <a:xfrm>
            <a:off x="1280160" y="3374136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@keyframes + animation create multi-step motion.</a:t>
            </a:r>
            <a:endParaRPr lang="en-US" sz="1650" dirty="0"/>
          </a:p>
        </p:txBody>
      </p:sp>
      <p:sp>
        <p:nvSpPr>
          <p:cNvPr id="12" name="a5_ico_bg"/>
          <p:cNvSpPr/>
          <p:nvPr/>
        </p:nvSpPr>
        <p:spPr>
          <a:xfrm>
            <a:off x="548640" y="4379976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3" name="a5_ico_img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428" y="4515764"/>
            <a:ext cx="231343" cy="231343"/>
          </a:xfrm>
          <a:prstGeom prst="rect">
            <a:avLst/>
          </a:prstGeom>
        </p:spPr>
      </p:pic>
      <p:sp>
        <p:nvSpPr>
          <p:cNvPr id="14" name="a5_pt"/>
          <p:cNvSpPr txBox="1"/>
          <p:nvPr/>
        </p:nvSpPr>
        <p:spPr>
          <a:xfrm>
            <a:off x="1280160" y="4306824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Easing sets the feel: linear for spinners, ease for most UI.</a:t>
            </a:r>
            <a:endParaRPr lang="en-US" sz="1650" dirty="0"/>
          </a:p>
        </p:txBody>
      </p:sp>
      <p:sp>
        <p:nvSpPr>
          <p:cNvPr id="15" name="a6_ico_bg"/>
          <p:cNvSpPr/>
          <p:nvPr/>
        </p:nvSpPr>
        <p:spPr>
          <a:xfrm>
            <a:off x="548640" y="5312664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6" name="a6_ico_img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428" y="5448452"/>
            <a:ext cx="231343" cy="231343"/>
          </a:xfrm>
          <a:prstGeom prst="rect">
            <a:avLst/>
          </a:prstGeom>
        </p:spPr>
      </p:pic>
      <p:sp>
        <p:nvSpPr>
          <p:cNvPr id="17" name="a6_pt"/>
          <p:cNvSpPr txBox="1"/>
          <p:nvPr/>
        </p:nvSpPr>
        <p:spPr>
          <a:xfrm>
            <a:off x="1280160" y="5239512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 transform and opacity, keep it short, and honour reduced motion.</a:t>
            </a:r>
            <a:endParaRPr lang="en-US" sz="1650" dirty="0"/>
          </a:p>
        </p:txBody>
      </p:sp>
      <p:sp>
        <p:nvSpPr>
          <p:cNvPr id="18" name="a8_panel"/>
          <p:cNvSpPr/>
          <p:nvPr/>
        </p:nvSpPr>
        <p:spPr>
          <a:xfrm>
            <a:off x="7315200" y="1508760"/>
            <a:ext cx="4325112" cy="4617720"/>
          </a:xfrm>
          <a:prstGeom prst="roundRect">
            <a:avLst>
              <a:gd name="adj" fmla="val 2960"/>
            </a:avLst>
          </a:prstGeom>
          <a:solidFill>
            <a:schemeClr val="tx1"/>
          </a:solidFill>
          <a:ln/>
        </p:spPr>
      </p:sp>
      <p:sp>
        <p:nvSpPr>
          <p:cNvPr id="19" name="a8_panel_h"/>
          <p:cNvSpPr txBox="1"/>
          <p:nvPr/>
        </p:nvSpPr>
        <p:spPr>
          <a:xfrm>
            <a:off x="7635240" y="1691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going</a:t>
            </a:r>
            <a:endParaRPr lang="en-US" sz="2100" dirty="0"/>
          </a:p>
        </p:txBody>
      </p:sp>
      <p:sp>
        <p:nvSpPr>
          <p:cNvPr id="20" name="a9_panel_b"/>
          <p:cNvSpPr txBox="1"/>
          <p:nvPr/>
        </p:nvSpPr>
        <p:spPr>
          <a:xfrm>
            <a:off x="7635240" y="2286000"/>
            <a:ext cx="3703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code</a:t>
            </a:r>
            <a:endParaRPr lang="en-US" sz="145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code/lesson7/  (examples, activity, challenge)</a:t>
            </a:r>
            <a:endParaRPr lang="en-US" sz="145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Practise online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playground.html (works offline) or the CodePen links in codepen.html</a:t>
            </a:r>
            <a:endParaRPr lang="en-US" sz="145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complete! Build a mini-site that uses all 7 lessons.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rippl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53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53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53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53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53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8" grpId="0" animBg="1"/>
      <p:bldP spid="9" grpId="0" animBg="1"/>
      <p:bldP spid="11" grpId="0" animBg="1"/>
      <p:bldP spid="12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0" grpId="0" animBg="1"/>
    </p:bldLst>
  </p:timing>
</p:sld>
</file>

<file path=ppt/theme/theme1.xml><?xml version="1.0" encoding="utf-8"?>
<a:theme xmlns:a="http://schemas.openxmlformats.org/drawingml/2006/main" name="Stylesheet">
  <a:themeElements>
    <a:clrScheme name="Stylesheet">
      <a:dk1>
        <a:srgbClr val="10132B"/>
      </a:dk1>
      <a:lt1>
        <a:srgbClr val="FFFFFF"/>
      </a:lt1>
      <a:dk2>
        <a:srgbClr val="2B3A8F"/>
      </a:dk2>
      <a:lt2>
        <a:srgbClr val="EEF2FF"/>
      </a:lt2>
      <a:accent1>
        <a:srgbClr val="2965F1"/>
      </a:accent1>
      <a:accent2>
        <a:srgbClr val="FFC83D"/>
      </a:accent2>
      <a:accent3>
        <a:srgbClr val="FF4F8B"/>
      </a:accent3>
      <a:accent4>
        <a:srgbClr val="8B5CF6"/>
      </a:accent4>
      <a:accent5>
        <a:srgbClr val="22C55E"/>
      </a:accent5>
      <a:accent6>
        <a:srgbClr val="22D3EE"/>
      </a:accent6>
      <a:hlink>
        <a:srgbClr val="2965F1"/>
      </a:hlink>
      <a:folHlink>
        <a:srgbClr val="8B5CF6"/>
      </a:folHlink>
    </a:clrScheme>
    <a:fontScheme name="Stylesheet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CSS for High School - Lesson 7: Transitions &amp; Animations</dc:title>
  <dc:subject>CSS for high-school students</dc:subject>
  <dc:creator>CSS for High School</dc:creator>
  <cp:lastModifiedBy>CSS for High School</cp:lastModifiedBy>
  <cp:revision>1</cp:revision>
  <dcterms:created xsi:type="dcterms:W3CDTF">2026-10-08T23:28:06Z</dcterms:created>
  <dcterms:modified xsi:type="dcterms:W3CDTF">2026-10-08T23:28:06Z</dcterms:modified>
</cp:coreProperties>
</file>