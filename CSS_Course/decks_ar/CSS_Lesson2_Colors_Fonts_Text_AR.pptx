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margin-bottom تضيف مسافة أسفل كل مربع (انظر الدرس 3).
2. اسم لون: سهل القراءة، لكن عدد الأسماء محدود.
3. #RRGGBB: أحمر وأخضر وأزرق من 00 إلى ff.
4. rgb(): كل قناة رقم من 0 إلى 255.
5. hsl(): الصبغة 0–360 درجة، ثم التشبّع والإضاءة بالنسبة المئوية.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Georgia خط ذو زوائد (serif)، و serif هو الاحتياطي إن لم يتوفر.
2. line-height: 1.6 (دون وحدة) تعني 1.6 ضعف حجم الخط.
3. 2rem = ضعف حجم خط الجذر (32px افتراضيًا).
4. text-align توسّط العنوان، وletter-spacing تزيد المسافة بين الحروف.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:root قمة الصفحة، فالمتغيّرات المعرّفة هنا تعمل في كل مكان.
2. اسم الخاصية المخصّصة يبدأ دائمًا بشرطتين.
3. var(--brand) تقرأ القيمة. غيّر --brand مرة واحدة فتتبعها كل الأزرار.
4. .btn.alt (دون مسافة) تستهدف العناصر التي تحمل الفئتين معًا.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2: الألوان والخطوط والنص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2: الألوان والخطوط والنص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2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الألوان والخطوط والنص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اجعل صفحاتك مقروءة ومتسقة وسهلة الصيانة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الدرس 1  |  نحو 45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اختيار الألوان بالاسم أو بالرمز السداسي عشري أو بـ rgb() أو hsl()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النص بـ font-family وfont-size وline-height وtext-align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القيم المتكررة في متغيّرات CSS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code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الرمز السداسي عشري: لون مكتوب بالصيغة ‎#RRGGBB‎، أي مقادير الأحمر والأخضر والأزرق بالنظام الستّ عشري، مثل ‎#2965f1‎.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الوحدة: ما يقيسه الرقم، مثل px (بكسل) وrem (مضاعف لحجم خط الجذر) و %.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Typeface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 (typeface): عائلة من تصاميم الحروف مثل Arial أو Georgia. في CSS نكتبه في font-family.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variable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متغيّر CSS: قيمة مسمّاة تبدأ بشرطتين ‎--name‎، ونستخدمها بـ var(‎--name‎). ويسمّى أيضًا خاصية مخصّصة.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لون واحد، صيغ كثيرة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يمكن كتابة اللون باسمه، أو برمز سداسي عشري، أو بـ rgb() بثلاثة أرقام من 0 إلى 255، أو بـ hsl(): الصبغة من 0 إلى 360 درجة، والتشبّع، والإضاءة. وhsl أسهلها في التعديل اليدوي.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hsl(222, 88%, 55%)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النص يجب أن يكون مقروءًا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 خطًّا مع خط احتياطي، وحجمًا مريحًا، وارتفاع سطر بين 1.5 و1.7، وتباينًا كافيًا بين النص والخلفية.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الوحدات: px مقابل rem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حجم ثابت. أما rem فنسبة إلى حجم خط جذر الصفحة (16px افتراضيًا)، فيكبر النص إذا غيّر المستخدم إعدادات متصفحه. فضّل rem لأحجام الخطوط.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1.25rem;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الأزرق نفسه بأربع طرق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2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اللون نفسه يمكن كتابته باسم أو برمز سداسي عشري أو rgb() أو hsl().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hsl() الصبغة هي اللون على عجلة من 0 إلى 360 درجة، والتشبّع شدّته، والإضاءة سطوعه.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ثبّت الصبغة والتشبّع وغيّر الإضاءة فقط تحصل على درجات جاهزة للتمرير والحدود.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أربع طرق لكتابة اللون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هذه المربعات الأربعة تستخدم الأزرق نفسه مكتوبًا بصيغ مختلفة.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royalblue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rgb(41, 101, 241)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hsl(222, 88%, 55%)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32209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6527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100" dirty="0"/>
          </a:p>
        </p:txBody>
      </p:sp>
      <p:sp>
        <p:nvSpPr>
          <p:cNvPr id="21" name="a5_html"/>
          <p:cNvSpPr/>
          <p:nvPr/>
        </p:nvSpPr>
        <p:spPr>
          <a:xfrm>
            <a:off x="6019495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22" name="a5_html_h"/>
          <p:cNvSpPr txBox="1"/>
          <p:nvPr/>
        </p:nvSpPr>
        <p:spPr>
          <a:xfrm>
            <a:off x="9631375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3" name="a5_html_text"/>
          <p:cNvSpPr txBox="1"/>
          <p:nvPr/>
        </p:nvSpPr>
        <p:spPr>
          <a:xfrm>
            <a:off x="6202375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a"&gt;royalblue&lt;/div&gt;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b"&gt;#2965f1&lt;/div&gt;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c"&gt;rgb(41, 101, 241)&lt;/div&gt;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d"&gt;hsl(222, 88%, 55%)&lt;/div&gt;</a:t>
            </a:r>
            <a:endParaRPr lang="en-US" sz="1050" dirty="0"/>
          </a:p>
        </p:txBody>
      </p:sp>
      <p:sp>
        <p:nvSpPr>
          <p:cNvPr id="24" name="a4_browser"/>
          <p:cNvSpPr/>
          <p:nvPr/>
        </p:nvSpPr>
        <p:spPr>
          <a:xfrm>
            <a:off x="1096975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a4_browser_bar"/>
          <p:cNvSpPr/>
          <p:nvPr/>
        </p:nvSpPr>
        <p:spPr>
          <a:xfrm>
            <a:off x="1096975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27985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a4_browser_dot"/>
          <p:cNvSpPr/>
          <p:nvPr/>
        </p:nvSpPr>
        <p:spPr>
          <a:xfrm>
            <a:off x="148102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a4_browser_dot"/>
          <p:cNvSpPr/>
          <p:nvPr/>
        </p:nvSpPr>
        <p:spPr>
          <a:xfrm>
            <a:off x="168219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a4_browser_url"/>
          <p:cNvSpPr/>
          <p:nvPr/>
        </p:nvSpPr>
        <p:spPr>
          <a:xfrm>
            <a:off x="2011375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0" name="a4_browser_urltext"/>
          <p:cNvSpPr txBox="1"/>
          <p:nvPr/>
        </p:nvSpPr>
        <p:spPr>
          <a:xfrm>
            <a:off x="2121103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lesson2/example1/index.html</a:t>
            </a:r>
            <a:endParaRPr lang="en-US" sz="1100" dirty="0"/>
          </a:p>
        </p:txBody>
      </p:sp>
      <p:pic>
        <p:nvPicPr>
          <p:cNvPr id="31" name="a4_shot" descr="/home/user/Python/CSS_Course/assets/l2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975" y="2185416"/>
            <a:ext cx="4693920" cy="2514600"/>
          </a:xfrm>
          <a:prstGeom prst="rect">
            <a:avLst/>
          </a:prstGeom>
        </p:spPr>
      </p:pic>
      <p:sp>
        <p:nvSpPr>
          <p:cNvPr id="32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4" name="a6_ann"/>
          <p:cNvSpPr txBox="1"/>
          <p:nvPr/>
        </p:nvSpPr>
        <p:spPr>
          <a:xfrm>
            <a:off x="548640" y="4882896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margin-bottom تضيف مسافة أسفل كل مربع (انظر الدرس 3).</a:t>
            </a:r>
            <a:endParaRPr lang="ar-EG" sz="1250" dirty="0"/>
          </a:p>
        </p:txBody>
      </p:sp>
      <p:sp>
        <p:nvSpPr>
          <p:cNvPr id="35" name="a7_num"/>
          <p:cNvSpPr/>
          <p:nvPr/>
        </p:nvSpPr>
        <p:spPr>
          <a:xfrm>
            <a:off x="5562295" y="5204765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a7_numt"/>
          <p:cNvSpPr txBox="1"/>
          <p:nvPr/>
        </p:nvSpPr>
        <p:spPr>
          <a:xfrm>
            <a:off x="5562295" y="52047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7" name="a7_ann"/>
          <p:cNvSpPr txBox="1"/>
          <p:nvPr/>
        </p:nvSpPr>
        <p:spPr>
          <a:xfrm>
            <a:off x="548640" y="5168189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اسم لون: سهل القراءة، لكن عدد الأسماء محدود.</a:t>
            </a:r>
            <a:endParaRPr lang="ar-EG" sz="1250" dirty="0"/>
          </a:p>
        </p:txBody>
      </p:sp>
      <p:sp>
        <p:nvSpPr>
          <p:cNvPr id="38" name="a8_num"/>
          <p:cNvSpPr/>
          <p:nvPr/>
        </p:nvSpPr>
        <p:spPr>
          <a:xfrm>
            <a:off x="5562295" y="549005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a8_numt"/>
          <p:cNvSpPr txBox="1"/>
          <p:nvPr/>
        </p:nvSpPr>
        <p:spPr>
          <a:xfrm>
            <a:off x="5562295" y="549005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40" name="a8_ann"/>
          <p:cNvSpPr txBox="1"/>
          <p:nvPr/>
        </p:nvSpPr>
        <p:spPr>
          <a:xfrm>
            <a:off x="548640" y="5453482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‎#RRGGBB‎: أحمر وأخضر وأزرق من 00 إلى ff.</a:t>
            </a:r>
            <a:endParaRPr lang="ar-EG" sz="1250" dirty="0"/>
          </a:p>
        </p:txBody>
      </p:sp>
      <p:sp>
        <p:nvSpPr>
          <p:cNvPr id="41" name="a9_num"/>
          <p:cNvSpPr/>
          <p:nvPr/>
        </p:nvSpPr>
        <p:spPr>
          <a:xfrm>
            <a:off x="5562295" y="577535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2" name="a9_numt"/>
          <p:cNvSpPr txBox="1"/>
          <p:nvPr/>
        </p:nvSpPr>
        <p:spPr>
          <a:xfrm>
            <a:off x="5562295" y="5775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3" name="a9_ann"/>
          <p:cNvSpPr txBox="1"/>
          <p:nvPr/>
        </p:nvSpPr>
        <p:spPr>
          <a:xfrm>
            <a:off x="548640" y="5738774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rgb(): كل قناة رقم من 0 إلى 255.</a:t>
            </a:r>
            <a:endParaRPr lang="ar-EG" sz="1250" dirty="0"/>
          </a:p>
        </p:txBody>
      </p:sp>
      <p:sp>
        <p:nvSpPr>
          <p:cNvPr id="44" name="a10_num"/>
          <p:cNvSpPr/>
          <p:nvPr/>
        </p:nvSpPr>
        <p:spPr>
          <a:xfrm>
            <a:off x="5562295" y="6060643"/>
            <a:ext cx="228600" cy="2286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5" name="a10_numt"/>
          <p:cNvSpPr txBox="1"/>
          <p:nvPr/>
        </p:nvSpPr>
        <p:spPr>
          <a:xfrm>
            <a:off x="5562295" y="60606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100" dirty="0"/>
          </a:p>
        </p:txBody>
      </p:sp>
      <p:sp>
        <p:nvSpPr>
          <p:cNvPr id="46" name="a10_ann"/>
          <p:cNvSpPr txBox="1"/>
          <p:nvPr/>
        </p:nvSpPr>
        <p:spPr>
          <a:xfrm>
            <a:off x="548640" y="6024067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hsl(): الصبغة 0–360 درجة، ثم التشبّع والإضاءة بالنسبة المئوية.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طباعة مقروءة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النص الجيد يعتمد على الحجم والتباعد والمحاذاة.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Georgia, 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1.6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#1f2937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2rem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&lt;h1&gt;Why we read on screens&lt;/h1&gt;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&lt;p&gt;Good typography makes long text easy on the eyes. Space between lines helps your eyes find the next line without effort.&lt;/p&gt;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&lt;p&gt;Short lines and clear contrast help even more.&lt;/p&gt;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1523695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1523695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1706575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1907743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2108911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2438095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2547823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lesson2/example2/index.html</a:t>
            </a:r>
            <a:endParaRPr lang="en-US" sz="1100" dirty="0"/>
          </a:p>
        </p:txBody>
      </p:sp>
      <p:pic>
        <p:nvPicPr>
          <p:cNvPr id="29" name="a4_shot" descr="/home/user/Python/CSS_Course/assets/l2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695" y="2185416"/>
            <a:ext cx="426720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خط ذو زوائد (serif)، و serif هو الاحتياطي إن لم يتوفر.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1.6 (دون وحدة) تعني 1.6 ضعف حجم الخط.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2rem = ضعف حجم خط الجذر (32px افتراضيًا).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 توسّط العنوان، وletter-spacing تزيد المسافة بين الحروف.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متغيّرات CSS (الخصائص المخصّصة)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خزّن القيمة مرة واحدة، واستخدمها في كل مكان، وعدّلها من موضع واحد.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--brand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var(--brand)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.btn.alt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var(--accent)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3573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357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25732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4368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7322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732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class="btn"&gt;Join&lt;/button&gt;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alt"&gt;Donate&lt;/button&gt;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1432065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lesson2/example3/index.html</a:t>
            </a:r>
            <a:endParaRPr lang="en-US" sz="1100" dirty="0"/>
          </a:p>
        </p:txBody>
      </p:sp>
      <p:pic>
        <p:nvPicPr>
          <p:cNvPr id="29" name="a4_shot" descr="/home/user/Python/CSS_Course/assets/l2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1029729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343460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343460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3398025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‎:root‎ قمة الصفحة، فالمتغيّرات المعرّفة هنا تعمل في كل مكان.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4001529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400152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3964953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اسم الخاصية المخصّصة يبدأ دائمًا بشرطتين.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4568457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456845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4531881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var(‎--brand‎) تقرأ القيمة. غيّر ‎--brand‎ مرة واحدة فتتبعها كل الأزرار.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135385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13538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098809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‎.btn‎.alt (دون مسافة) تستهدف العناصر التي تحمل الفئتين معًا.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ألوان الهوية ونص مقروء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الهوية البصرية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تحتفظ الشركات بألوان هويتها في متغيّرات، فإعادة التصميم تعني تغيير أسطر قليلة بدل مئات.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سهولة الوصول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التباين الكافي وارتفاع السطر المناسب يساعدان ضعاف البصر ومن يعانون عُسر القراءة.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احترام إعدادات المستخدم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استخدام rem يجعل النص يكبر عندما يرفع المستخدم حجم خط متصفحه بدل تجاهل احتياجه.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(F12)، واختر body، وانظر في تبويب Computed: ما الخط الذي استخدمه المتصفح فعلًا، وما حجمه بالبكسل؟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Times New Roman;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"Times New Roman", serif;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أسماء الخطوط التي تحوي مسافات تحتاج علامات اقتباس، ويجب دائمًا إضافة خط عام احتياطي مثل serif.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1.6px;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px تحدّد ارتفاعًا ثابتًا صغيرًا. الرقم دون وحدة يتناسب مع حجم الخط.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#333;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#444;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#ffffff;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#1f2937;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التباين الضعيف صعب القراءة. اجعل التباين بين النص والخلفية قويًا.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 لوحة ألوان صغيرة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لون رئيسي، ولون مميّز، وبضعة ألوان محايدة. خزّنها كمتغيّرات على ‎:root‎.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افحص التباين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تعرض DevTools نسبة التباين في منتقي اللون. استهدف 4.5:1 أو أكثر لنص المحتوى.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قلّل الخطوط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يكفي خطّان: واحد للعناوين وآخر للنص. الأكثر يبدو مزدحمًا ويبطّئ التحميل.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hsl للدرجات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تحتاج درجة أغمق عند التمرير؟ أبقِ الصبغة وخفّض الإضاءة بنحو 8 إلى 10 بالمئة.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صمّم بطاقة اقتباس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عدّل style.css في مجلد البداية، واستخدم المتغيّرات لألوانك.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عرّف ‎--ink‎ و‎--paper‎ و‎--accent‎ على ‎:root‎ (بالألوان التي تريد).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body بخلفية paper ولون نص ink والخط Georgia, serif.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blockquote حجم خط كبيرًا (1.5rem)، وارتفاع سطر 1.5، وحدًّا أيسر سميكًا بلون accent.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cite صغيرًا (0.9rem)، وغير مائل، بلون accent.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وسّط h1 وأضف letter-spacing.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غيّر المتغيّرات الثلاثة فقط لتحصل على نسخة داكنة.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2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71038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سمة فاتحة وسمة داكنة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ألوان البطاقة كلها من المتغيّرات فقط، ثم غيّر السمة بتجاوزها.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عرّف ‎--bg‎ و‎--text‎ و‎--accent‎ للسمة الفاتحة على ‎:root‎.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var() للخلفية والنص ولون العنوان.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body.dark بقيم جديدة للمتغيّرات الثلاثة نفسها.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class="dark" إلى body في index.html وراقب تغيّر كل شيء.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‎.tag‎ خلفية hsl() ولون تمرير أغمق بنسبة 10%.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548640" y="1828800"/>
            <a:ext cx="5059375" cy="2932024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2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2529688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4989424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4989424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لون يساوي rgb(255, 0, 0)؟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الأحمر: ‎#ff0000‎ أو الاسم red. الأحمر في أقصاه (ff = 255) والأخضر والأزرق صفر.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line-height: 1.6 أفضل من 1.6px؟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دون وحدة تعني 1.6 ضعف حجم الخط فتتكيّف مع أي حجم، أما 1.6px فارتفاع شبه معدوم.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نقرأ متغيّرًا اسمه ‎--brand‎؟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بـ var(‎--brand‎)، بعد تعريفه مثلًا على ‎:root‎.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الألوان: اسم، ‎#hex‎، rgb()، hsl(). واستخدم hsl() لصنع الدرجات.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 تحتاج خطوطًا احتياطية، وارتفاع السطر 1.5–1.7 يريح القراءة.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فضّل rem لأحجام الخطوط لتحترم إعدادات المستخدم.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المتغيّرات: عرّف ‎--name‎ على ‎:root‎ واستخدم var(‎--name‎).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التباين مهم: النص المقروء جزء من التصميم الجيد.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3: نموذج الصندوق (الحشو والإطار والهامش)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2: الألوان والخطوط والنص</dc:title>
  <dc:subject>CSS for high-school students</dc:subject>
  <dc:creator>CSS for High School</dc:creator>
  <cp:lastModifiedBy>CSS for High School</cp:lastModifiedBy>
  <cp:revision>1</cp:revision>
  <dcterms:created xsi:type="dcterms:W3CDTF">2026-10-09T08:52:51Z</dcterms:created>
  <dcterms:modified xsi:type="dcterms:W3CDTF">2026-10-09T08:52:51Z</dcterms:modified>
</cp:coreProperties>
</file>