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width تحدّد عرض المحتوى (افتراضيًا).
2. padding: 20px تضيف مسافة من الجهات الأربع داخل الإطار.
3. border: السماكة والنوع واللون.
4. margin: 24px تُبعد البطاقات عن بعضها وعن حافة الصفحة.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نطلب عرض 200px في الحالتين.
2. content-box (الافتراضي): 200 + 2×20 حشو + 2×5 إطار = 250px.
3. border-box: الحشو والإطار داخل الـ 200px، فيبقى 200px.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max-width: يمكن للصندوق أن يصغر لكنه لا يكبر فوق 420px.
2. margin: 0 auto تعني 0 أعلى وأسفل، وauto يمينًا ويسارًا = توسيط.
3. inline-block يُبقي العنصر في السطر ويتيح له العرض والارتفاع والحشو.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3: نموذج الصندوق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3: نموذج الصندوق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3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نموذج الصندوق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كل عنصر صندوق: تعلّم كيف تحدّد حجمه وتباعده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الدرسان 1–2  |  نحو 45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وصف الطبقات الأربع لنموذج الصندوق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التحكم بالمسافات عبر padding وborder وmargin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استخدام box-sizing: border-box وdisplay: inline-block لتحديد الأحجام بدقة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الحشو (Padding): مسافة داخل العنصر بين المحتوى وإطاره.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الإطار (Border): خط يُرسم حول الحشو، له سماكة ونوع ولون.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الهامش (Margin): مسافة خارج العنصر تُبعد العناصر الأخرى عنه، وهي شفافة دائمًا.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/ inline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كتلة / سطري (Block / inline): العنصر الكتلي يبدأ سطرًا جديدًا ويملأ العرض، والسطري يجري داخل سطر النص.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عنصر صندوق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يغلّف المتصفح كل عنصر بصندوق مستطيل من أربع طبقات من الداخل إلى الخارج: المحتوى، الحشو، الإطار، الهامش. إذا فهمت الطبقات صار التخطيط واضحًا.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&gt; padding &gt; border &gt; margin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الحشو داخلي والهامش خارجي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الحشو يجعل العنصر نفسه أرحب ويملؤه لون الخلفية. الهامش يُبعد الجيران ولا يظهر فيه لون خلفية.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16px;  margin: 24px;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border-box يجعل القياس منطقيًا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افتراضيًا تقيس width المحتوى فقط، فيكبّر الحشو والإطار الصندوق. مع box-sizing: border-box يشمل العرض الحشو والإطار.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الصندوق طبقةً طبقة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3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الداخل إلى الخارج: المحتوى، ثم الحشو، ثم الإطار، ثم الهامش.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الحشو والإطار جزء من الصندوق المرئي للعنصر، والهامش هو المساحة حوله.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العرض الكلي = المحتوى + الحشو + الإطار (من الجانبين)، إلا مع border-box.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الحشو والإطار والهامش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بطاقتان: لاحظ كيف يفصل الهامش بينهما بينما يملأ الحشو كل واحدة.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2513584"/>
          </a:xfrm>
          <a:prstGeom prst="roundRect">
            <a:avLst>
              <a:gd name="adj" fmla="val 43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177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4px solid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32209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4433824"/>
            <a:ext cx="5623560" cy="1829816"/>
          </a:xfrm>
          <a:prstGeom prst="roundRect">
            <a:avLst>
              <a:gd name="adj" fmla="val 4997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450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4781296"/>
            <a:ext cx="5257800" cy="141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class="card"&gt;First card&lt;/div&gt;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class="card"&gt;Second card&lt;/div&gt;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1523695" y="1783080"/>
            <a:ext cx="426720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1523695" y="1783080"/>
            <a:ext cx="42672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70657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190774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210891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2438095" y="1847088"/>
            <a:ext cx="31699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2547823" y="184708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lesson3/example1/index.html</a:t>
            </a:r>
            <a:endParaRPr lang="en-US" sz="1100" dirty="0"/>
          </a:p>
        </p:txBody>
      </p:sp>
      <p:pic>
        <p:nvPicPr>
          <p:cNvPr id="29" name="a4_shot" descr="/home/user/Python/CSS_Course/assets/l3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695" y="2185416"/>
            <a:ext cx="4267200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تحدّد عرض المحتوى (افتراضيًا).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20px تضيف مسافة من الجهات الأربع داخل الإطار.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السماكة والنوع واللون.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24px تُبعد البطاقات عن بعضها وعن حافة الصفحة.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content-box مقابل border-box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كلا الصندوقين يقول width: 200px، لكنهما لا يصيران بالحجم نفسه.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2945384"/>
          </a:xfrm>
          <a:prstGeom prst="roundRect">
            <a:avLst>
              <a:gd name="adj" fmla="val 372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 solid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#fff1f6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.content-box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content-box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.border-box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border-box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40845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5_html"/>
          <p:cNvSpPr/>
          <p:nvPr/>
        </p:nvSpPr>
        <p:spPr>
          <a:xfrm>
            <a:off x="6019495" y="4865624"/>
            <a:ext cx="5623560" cy="1398016"/>
          </a:xfrm>
          <a:prstGeom prst="roundRect">
            <a:avLst>
              <a:gd name="adj" fmla="val 6541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9631375" y="493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6202375" y="5213096"/>
            <a:ext cx="5257800" cy="9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content-box"&gt;content-box: 250px wide&lt;/div&gt;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border-box"&gt;border-box: 200px wide&lt;/div&gt;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1523695" y="1783080"/>
            <a:ext cx="426720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1523695" y="1783080"/>
            <a:ext cx="42672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170657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190774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210891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2438095" y="1847088"/>
            <a:ext cx="31699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2547823" y="184708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lesson3/example2/index.html</a:t>
            </a:r>
            <a:endParaRPr lang="en-US" sz="1100" dirty="0"/>
          </a:p>
        </p:txBody>
      </p:sp>
      <p:pic>
        <p:nvPicPr>
          <p:cNvPr id="27" name="a4_shot" descr="/home/user/Python/CSS_Course/assets/l3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695" y="2185416"/>
            <a:ext cx="4267200" cy="2514600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548640" y="4882896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نطلب عرض 200px في الحالتين.</a:t>
            </a:r>
            <a:endParaRPr lang="ar-EG" sz="1250" dirty="0"/>
          </a:p>
        </p:txBody>
      </p:sp>
      <p:sp>
        <p:nvSpPr>
          <p:cNvPr id="31" name="a7_num"/>
          <p:cNvSpPr/>
          <p:nvPr/>
        </p:nvSpPr>
        <p:spPr>
          <a:xfrm>
            <a:off x="5562295" y="5394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5562295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548640" y="5358384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content-box (الافتراضي): 200 + 2×20 حشو + 2×5 إطار = 250px.</a:t>
            </a:r>
            <a:endParaRPr lang="ar-EG" sz="1250" dirty="0"/>
          </a:p>
        </p:txBody>
      </p:sp>
      <p:sp>
        <p:nvSpPr>
          <p:cNvPr id="34" name="a8_num"/>
          <p:cNvSpPr/>
          <p:nvPr/>
        </p:nvSpPr>
        <p:spPr>
          <a:xfrm>
            <a:off x="5562295" y="587044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5562295" y="5870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548640" y="5833872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border-box: الحشو والإطار داخل الـ 200px، فيبقى 200px.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التوسيط وinline-block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 توسّط عنصرًا كتليًا له عرض. وinline-block يمنح العناصر السطرية صندوقًا.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auto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.tag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inline-block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4px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0845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class="page"&gt;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&lt;h2&gt;Match day&lt;/h2&gt;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1096975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1096975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127985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148102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68219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2011375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2121103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lesson3/example3/index.html</a:t>
            </a:r>
            <a:endParaRPr lang="en-US" sz="1100" dirty="0"/>
          </a:p>
        </p:txBody>
      </p:sp>
      <p:pic>
        <p:nvPicPr>
          <p:cNvPr id="27" name="a4_shot" descr="/home/user/Python/CSS_Course/assets/l3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975" y="2185416"/>
            <a:ext cx="4693920" cy="2514600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548640" y="4882896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يمكن للصندوق أن يصغر لكنه لا يكبر فوق 420px.</a:t>
            </a:r>
            <a:endParaRPr lang="ar-EG" sz="1250" dirty="0"/>
          </a:p>
        </p:txBody>
      </p:sp>
      <p:sp>
        <p:nvSpPr>
          <p:cNvPr id="31" name="a7_num"/>
          <p:cNvSpPr/>
          <p:nvPr/>
        </p:nvSpPr>
        <p:spPr>
          <a:xfrm>
            <a:off x="5562295" y="5394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5562295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548640" y="5358384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 تعني 0 أعلى وأسفل، وauto يمينًا ويسارًا = توسيط.</a:t>
            </a:r>
            <a:endParaRPr lang="ar-EG" sz="1250" dirty="0"/>
          </a:p>
        </p:txBody>
      </p:sp>
      <p:sp>
        <p:nvSpPr>
          <p:cNvPr id="34" name="a8_num"/>
          <p:cNvSpPr/>
          <p:nvPr/>
        </p:nvSpPr>
        <p:spPr>
          <a:xfrm>
            <a:off x="5562295" y="587044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5562295" y="5870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548640" y="5833872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يُبقي العنصر في السطر ويتيح له العرض والارتفاع والحشو.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البطاقات والأزرار والصفحات المريحة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البطاقات والأزرار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بطاقة وزر وعنصر قائمة في أي موقع صندوق: حشو للراحة، وإطار أو ظل.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المقالات المقروءة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تحدّ مواقع الأخبار عرض المقال بـ max-width وتوسّطه بـ margin: 0 auto حتى لا تطول الأسطر.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شبكات المنتجات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تستخدم المتاجر margin وgap لإبعاد المنتجات، وborder-box لتصطف البطاقات بدقة.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DevTools (F12)، واختر أي عنصر، ومرّر المؤشر على مخطط الصندوق في تبويب Computed. سيُظهر المتصفح الهامش والإطار والحشو والمحتوى بألوان مختلفة.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20;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20px;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الرقم يحتاج وحدة. الصفر وحده يمكن كتابته دون وحدة.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{ margin: 0 auto; }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block;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 auto;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الهوامش التلقائية توسّط العناصر الكتلية ذات العرض فقط. العناصر السطرية تتجاهلها.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content-box الافتراضي يصير 100% مع الحشو أعرض من الشاشة ويظهر شريط تمرير أفقي.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كل ورقة أنماط بـ border-box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*, *:‎:before‎, *:‎:after‎ { box-sizing: border-box; } فتتصرف الأحجام كما تتوقع.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 DevTools تريك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مرّر المؤشر على عنصر في لوحة Elements لترى الهامش (برتقالي) والحشو (أخضر) والمحتوى (أزرق).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الحشو داخلًا والهامش بين العناصر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الحشو لمنح العنصر مساحة، والهامش لفصله عن جيرانه.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تذكّر الترتيب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10px 20px 30px 40px يعني: أعلى، يمين، أسفل، يسار (باتجاه عقارب الساعة). قيمتان تعنيان رأسي وأفقي.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ابنِ بطاقة منتج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20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حوّل المحتوى العادي إلى بطاقة أنيقة باستخدام خصائص الصندوق فقط.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* { box-sizing: border-box; } في الأعلى.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‎.product‎ عرض 260px وحشوًا 20px وإطارًا رماديًا 1px solid وزوايا مدوّرة 12px.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margin: 24px auto لتتوسّط البطاقة.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‎.price‎ كحبّة ذهبية: display: inline-block وحشو 4px 12px وborder-radius: 20px.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الزر يملأ عرض البطاقة (display: block; width: 100%) بحشو 10px.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box-shadow: 0 6px 16px rgba(0,0,0,0.12) لترفع البطاقة.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952888" y="1828800"/>
            <a:ext cx="4655127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952888" y="1828800"/>
            <a:ext cx="4655127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1135768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1336936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538104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867288" y="1892808"/>
            <a:ext cx="3557847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977016" y="1892808"/>
            <a:ext cx="3374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3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88" y="2231136"/>
            <a:ext cx="4655127" cy="274320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بطاقة العمل بالمقاس الدقيق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اصنع بطاقة عمل مقاسها الكلي 350px × 200px بالضبط شاملةً الإطار.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box-sizing بحيث يكون width: 350px وheight: 200px هما المقاس الخارجي النهائي.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امنحها إطارًا 6px solid وحشوًا 24px وضعها في وسط الصفحة.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12px بين الأسطر النصية الثلاثة بالهامش.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تحقّق من المقاس في DevTools: يجب أن يكون 350 × 200.</a:t>
            </a:r>
            <a:endParaRPr lang="ar-EG" sz="1400" dirty="0"/>
          </a:p>
        </p:txBody>
      </p:sp>
      <p:sp>
        <p:nvSpPr>
          <p:cNvPr id="20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كبّر سطر الاسم، وأضف حدًّا ملوّنًا على يسار المسمّى الوظيفي.</a:t>
            </a:r>
            <a:endParaRPr lang="ar-EG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3" name="a3_browser"/>
          <p:cNvSpPr/>
          <p:nvPr/>
        </p:nvSpPr>
        <p:spPr>
          <a:xfrm>
            <a:off x="548640" y="1828800"/>
            <a:ext cx="5059375" cy="31127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3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71038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548640" y="517011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731520" y="517011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سمِّ طبقات نموذج الصندوق من الداخل إلى الخارج.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المحتوى، الحشو، الإطار، الهامش.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صندوق: width: 200px؛ padding: 10px؛ border: 5px solid. ما عرضه الكلي مع box-sizing الافتراضي؟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230px: 200 + 2×10 + 2×5. ومع border-box يبقى 200px.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لا يوسّط span { margin: 0 auto; } النص؟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لأن span عنصر سطري فيتجاهل الهوامش التلقائية. اجعله display: block وأعطه عرضًا.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عنصر صندوق: محتوى وحشو وإطار وهامش.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الحشو داخل الإطار، والهامش خارجه وشفاف.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يجعل العرض شاملًا الحشو والإطار.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 يوسّط عنصرًا كتليًا له عرض.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يمنح العناصر السطرية عرضًا وارتفاعًا وحشوًا.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4: التخطيط باستخدام Flexbox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3: نموذج الصندوق</dc:title>
  <dc:subject>CSS for high-school students</dc:subject>
  <dc:creator>CSS for High School</dc:creator>
  <cp:lastModifiedBy>CSS for High School</cp:lastModifiedBy>
  <cp:revision>1</cp:revision>
  <dcterms:created xsi:type="dcterms:W3CDTF">2026-10-09T08:52:51Z</dcterms:created>
  <dcterms:modified xsi:type="dcterms:W3CDTF">2026-10-09T08:52:51Z</dcterms:modified>
</cp:coreProperties>
</file>