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display: flex تجعل .nav حاوية مرنة: الشعار والروابط يصبحان عنصرين.
2. space-between يضع أول عنصر في اليسار وآخر عنصر في اليمين.
3. align-items: center توسّط العناصر رأسيًا.
4. حاوية الروابط مرنة أيضًا، وgap تضيف 18px بين الروابط.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flex-wrap: wrap تتيح للعناصر الانتقال إلى سطر جديد بدل الانضغاط.
2. gap تحدّد المسافة بين الصفوف والأعمدة.
3. flex: 1 1 150px = تكبير 1، تصغير 1، عرض مثالي 150px.
4. النتيجة: كل صف يملأ العرض كاملًا، وآخر صف يتمدّد أيضًا.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flex-direction: column تكدّس العناصر؛ فيصبح المحور الرئيسي رأسيًا.
2. لذلك توسّط justify-content رأسيًا وalign-items أفقيًا.
3. min-height تمنح الصندوق مساحة ليكون هناك ما نوسّطه.
4. linear-gradient() تمزج الألوان وتُستخدم كصورة خلفية.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2200" dirty="0">
                <a:solidFill>
                  <a:schemeClr val="bg2"/>
                </a:solidFill>
              </a:defRPr>
            </a:lvl1pPr>
          </a:lstStyle>
          <a:p>
            <a:pPr algn="r" indent="0" marL="0">
              <a:buNone/>
            </a:pPr>
            <a:endParaRPr lang="ar-EG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4: Flexbox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EG" sz="3400" dirty="0"/>
          </a:p>
        </p:txBody>
      </p:sp>
      <p:sp>
        <p:nvSpPr>
          <p:cNvPr id="3" name="Shape 0"/>
          <p:cNvSpPr/>
          <p:nvPr/>
        </p:nvSpPr>
        <p:spPr>
          <a:xfrm>
            <a:off x="10820095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4327855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للمرحلة الثانوية  |  الدرس 4: Flexbox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8716975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8808415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8808415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4 من 7</a:t>
            </a:r>
            <a:endParaRPr lang="ar-EG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876495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4800" b="1" dirty="0">
                <a:solidFill>
                  <a:schemeClr val="bg1"/>
                </a:solidFill>
              </a:rPr>
              <a:t>التخطيط باستخدام Flexbox</a:t>
            </a:r>
            <a:endParaRPr lang="ar-EG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059375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200" dirty="0">
                <a:solidFill>
                  <a:schemeClr val="bg2"/>
                </a:solidFill>
              </a:rPr>
              <a:t>رتّب العناصر في صف أو عمود، وحاذِها، وقسّم المساحة بينها</a:t>
            </a:r>
            <a:endParaRPr lang="ar-EG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5059375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المرحلة الثانوية  |  المعرفة السابقة: الدروس 1–3  |  نحو 50 دقيقة</a:t>
            </a:r>
            <a:endParaRPr lang="ar-EG" sz="1600" dirty="0"/>
          </a:p>
        </p:txBody>
      </p:sp>
      <p:sp>
        <p:nvSpPr>
          <p:cNvPr id="8" name="a5_layer"/>
          <p:cNvSpPr/>
          <p:nvPr/>
        </p:nvSpPr>
        <p:spPr>
          <a:xfrm>
            <a:off x="441655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98855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1310335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1676095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1676095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ar-EG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هدف الدرس</a:t>
            </a:r>
            <a:endParaRPr lang="ar-EG" sz="3400" dirty="0"/>
          </a:p>
        </p:txBody>
      </p:sp>
      <p:sp>
        <p:nvSpPr>
          <p:cNvPr id="3" name="a2_panel"/>
          <p:cNvSpPr/>
          <p:nvPr/>
        </p:nvSpPr>
        <p:spPr>
          <a:xfrm>
            <a:off x="6156655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6476695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بنهاية هذا الدرس ستكون قادرًا على:</a:t>
            </a:r>
            <a:endParaRPr lang="ar-EG" sz="1900" dirty="0"/>
          </a:p>
        </p:txBody>
      </p:sp>
      <p:sp>
        <p:nvSpPr>
          <p:cNvPr id="5" name="a3_ico_bg"/>
          <p:cNvSpPr/>
          <p:nvPr/>
        </p:nvSpPr>
        <p:spPr>
          <a:xfrm>
            <a:off x="10774375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508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6430975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تحويل العنصر الأب إلى حاوية مرنة بـ display: flex</a:t>
            </a:r>
            <a:endParaRPr lang="ar-EG" sz="1800" dirty="0"/>
          </a:p>
        </p:txBody>
      </p:sp>
      <p:sp>
        <p:nvSpPr>
          <p:cNvPr id="8" name="a4_ico_bg"/>
          <p:cNvSpPr/>
          <p:nvPr/>
        </p:nvSpPr>
        <p:spPr>
          <a:xfrm>
            <a:off x="10774375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508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6430975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المحاذاة والتباعد بـ justify-content وalign-items وgap</a:t>
            </a:r>
            <a:endParaRPr lang="ar-EG" sz="1800" dirty="0"/>
          </a:p>
        </p:txBody>
      </p:sp>
      <p:sp>
        <p:nvSpPr>
          <p:cNvPr id="11" name="a5_ico_bg"/>
          <p:cNvSpPr/>
          <p:nvPr/>
        </p:nvSpPr>
        <p:spPr>
          <a:xfrm>
            <a:off x="10774375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508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6430975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الالتفاف وتحديد الأحجام بـ flex-wrap وflex</a:t>
            </a:r>
            <a:endParaRPr lang="ar-EG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24535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مصطلحات أساسية</a:t>
            </a:r>
            <a:endParaRPr lang="ar-EG" sz="1900" dirty="0"/>
          </a:p>
        </p:txBody>
      </p:sp>
      <p:sp>
        <p:nvSpPr>
          <p:cNvPr id="15" name="a6_chip"/>
          <p:cNvSpPr/>
          <p:nvPr/>
        </p:nvSpPr>
        <p:spPr>
          <a:xfrm>
            <a:off x="4190695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4190695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container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551383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الحاوية المرنة: العنصر الأب الذي له display: flex، وهو يتحكم في تخطيط أبنائه.</a:t>
            </a:r>
            <a:endParaRPr lang="ar-EG" sz="1400" dirty="0"/>
          </a:p>
        </p:txBody>
      </p:sp>
      <p:sp>
        <p:nvSpPr>
          <p:cNvPr id="18" name="a7_chip"/>
          <p:cNvSpPr/>
          <p:nvPr/>
        </p:nvSpPr>
        <p:spPr>
          <a:xfrm>
            <a:off x="4190695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4190695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item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551383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العنصر المرن: ابن مباشر للحاوية المرنة. تصطف العناصر افتراضيًا في صف.</a:t>
            </a:r>
            <a:endParaRPr lang="ar-EG" sz="1400" dirty="0"/>
          </a:p>
        </p:txBody>
      </p:sp>
      <p:sp>
        <p:nvSpPr>
          <p:cNvPr id="21" name="a8_chip"/>
          <p:cNvSpPr/>
          <p:nvPr/>
        </p:nvSpPr>
        <p:spPr>
          <a:xfrm>
            <a:off x="4190695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4190695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axis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551383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المحور الرئيسي: اتجاه تدفّق العناصر: أفقي في الصف ورأسي في العمود.</a:t>
            </a:r>
            <a:endParaRPr lang="ar-EG" sz="1400" dirty="0"/>
          </a:p>
        </p:txBody>
      </p:sp>
      <p:sp>
        <p:nvSpPr>
          <p:cNvPr id="24" name="a9_chip"/>
          <p:cNvSpPr/>
          <p:nvPr/>
        </p:nvSpPr>
        <p:spPr>
          <a:xfrm>
            <a:off x="4190695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4190695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 axis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551383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المحور المتعامد: الاتجاه الذي يعامد المحور الرئيسي.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الأفكار الكبرى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10545775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10865815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10865815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تُكتب على العنصر الأب</a:t>
            </a:r>
            <a:endParaRPr lang="ar-EG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اكتب display: flex على الحاوية فيصير أبناؤها المباشرون عناصر مرنة تصطف في صف. نادرًا ما تنسّق التخطيط على الأبناء أنفسهم.</a:t>
            </a:r>
            <a:endParaRPr lang="ar-EG" sz="1500" dirty="0"/>
          </a:p>
        </p:txBody>
      </p:sp>
      <p:sp>
        <p:nvSpPr>
          <p:cNvPr id="9" name="a2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{ display: flex; }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6756197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7076237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707623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محوران وخاصيتان</a:t>
            </a:r>
            <a:endParaRPr lang="ar-EG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توزّع العناصر على المحور الرئيسي، وalign-items على المحور المتعامد. وflex-direction: column تبدّل المحورين.</a:t>
            </a:r>
            <a:endParaRPr lang="ar-EG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 / align-items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2966618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328665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328665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العناصر تكبر وتصغر وتلتف</a:t>
            </a:r>
            <a:endParaRPr lang="ar-EG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1 180px تعني: يمكن أن تكبر وتصغر، والعرض المثالي 180px. ومع flex-wrap: wrap تنتقل العناصر التي لا تتسع إلى السطر التالي. وgap تضيف مسافة بينها.</a:t>
            </a:r>
            <a:endParaRPr lang="ar-EG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flex-wrap: wrap; gap: 16px;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المحور الرئيسي والمحور المتعامد</a:t>
            </a:r>
            <a:endParaRPr lang="ar-EG" sz="3400" dirty="0"/>
          </a:p>
        </p:txBody>
      </p:sp>
      <p:sp>
        <p:nvSpPr>
          <p:cNvPr id="3" name="a2_frame"/>
          <p:cNvSpPr/>
          <p:nvPr/>
        </p:nvSpPr>
        <p:spPr>
          <a:xfrm>
            <a:off x="4620463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ar_l4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15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3824935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3824935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533095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افتراضيًا يمتد المحور الرئيسي من اليسار إلى اليمين، والمتعامد من الأعلى إلى الأسفل.</a:t>
            </a:r>
            <a:endParaRPr lang="ar-EG" sz="1600" dirty="0"/>
          </a:p>
        </p:txBody>
      </p:sp>
      <p:sp>
        <p:nvSpPr>
          <p:cNvPr id="8" name="a4_num"/>
          <p:cNvSpPr/>
          <p:nvPr/>
        </p:nvSpPr>
        <p:spPr>
          <a:xfrm>
            <a:off x="3824935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3824935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533095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space-between تدفع أول عنصر وآخر عنصر إلى الحافتين.</a:t>
            </a:r>
            <a:endParaRPr lang="ar-EG" sz="1600" dirty="0"/>
          </a:p>
        </p:txBody>
      </p:sp>
      <p:sp>
        <p:nvSpPr>
          <p:cNvPr id="11" name="a5_num"/>
          <p:cNvSpPr/>
          <p:nvPr/>
        </p:nvSpPr>
        <p:spPr>
          <a:xfrm>
            <a:off x="3824935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3824935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533095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align-items: center توسّط العناصر على المحور المتعامد.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1: شريط تنقّل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space-between وalign-items: center في حاوية مرنة واحدة.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2945384"/>
          </a:xfrm>
          <a:prstGeom prst="roundRect">
            <a:avLst>
              <a:gd name="adj" fmla="val 3725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20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space-between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#1e2a78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14px 20px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 a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.links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18px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7891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30050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2209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2209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43004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43004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4865624"/>
            <a:ext cx="5623560" cy="1398016"/>
          </a:xfrm>
          <a:prstGeom prst="roundRect">
            <a:avLst>
              <a:gd name="adj" fmla="val 6541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4938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213096"/>
            <a:ext cx="5257800" cy="98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class="nav"&gt;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 class="logo" href="#"&gt;CodeClub&lt;/a&gt;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class="links"&gt;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href="#"&gt;Home&lt;/a&gt;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href="#"&gt;Projects&lt;/a&gt;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548640" y="1783080"/>
            <a:ext cx="5242255" cy="1338453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lesson4/example1/index.html</a:t>
            </a:r>
            <a:endParaRPr lang="en-US" sz="1100" dirty="0"/>
          </a:p>
        </p:txBody>
      </p:sp>
      <p:pic>
        <p:nvPicPr>
          <p:cNvPr id="29" name="a4_shot" descr="/home/user/Python/CSS_Course/assets/l4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5242255" cy="936117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3340989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334098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3304413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تجعل ‎.nav‎ حاوية مرنة: الشعار والروابط يصبحان عنصرين.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3907917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390791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3871341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space-between يضع أول عنصر في اليسار وآخر عنصر في اليمين.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4474845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447484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4438269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align-items: center توسّط العناصر رأسيًا.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041773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04177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005197"/>
            <a:ext cx="4894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حاوية الروابط مرنة أيضًا، وgap تضيف 18px بين الروابط.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2: بطاقات تلتفّ وتتقاسم المساحة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1 180px تتيح للبطاقات أن تكبر وتصغر وتلتف إلى صفوف جديدة.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.cards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wrap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1 150px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#eef2ff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27891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30050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8686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38686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class="cards"&gt;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class="card"&gt;Maths&lt;/div&gt;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548640" y="1783080"/>
            <a:ext cx="5242255" cy="283624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lesson4/example2/index.html</a:t>
            </a:r>
            <a:endParaRPr lang="en-US" sz="1100" dirty="0"/>
          </a:p>
        </p:txBody>
      </p:sp>
      <p:pic>
        <p:nvPicPr>
          <p:cNvPr id="29" name="a4_shot" descr="/home/user/Python/CSS_Course/assets/l4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5242255" cy="2433904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483877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48387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480220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flex-wrap: wrap تتيح للعناصر الانتقال إلى سطر جديد بدل الانضغاط.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5215566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52155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517899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تحدّد المسافة بين الصفوف والأعمدة.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5592356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55923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555578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1 150px = تكبير 1، تصغير 1، عرض مثالي 150px.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969146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96914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93257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النتيجة: كل صف يملأ العرض كاملًا، وآخر صف يتمدّد أيضًا.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مثال 3: وسّط أي شيء</a:t>
            </a:r>
            <a:endParaRPr lang="ar-EG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الحالة الكلاسيكية: توسيط المحتوى أفقيًا ورأسيًا معًا بـ flexbox.</a:t>
            </a:r>
            <a:endParaRPr lang="ar-EG" sz="1600" dirty="0"/>
          </a:p>
        </p:txBody>
      </p:sp>
      <p:sp>
        <p:nvSpPr>
          <p:cNvPr id="5" name="a3_code"/>
          <p:cNvSpPr/>
          <p:nvPr/>
        </p:nvSpPr>
        <p:spPr>
          <a:xfrm>
            <a:off x="6019495" y="1783080"/>
            <a:ext cx="5623560" cy="3161284"/>
          </a:xfrm>
          <a:prstGeom prst="roundRect">
            <a:avLst>
              <a:gd name="adj" fmla="val 3471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6238951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6458407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6677863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7025335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6732727" y="2350008"/>
            <a:ext cx="4754880" cy="242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flex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column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min-height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240px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linear-gradient(blue, violet)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6293815" y="30050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6293815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13" name="a3_num"/>
          <p:cNvSpPr/>
          <p:nvPr/>
        </p:nvSpPr>
        <p:spPr>
          <a:xfrm>
            <a:off x="6293815" y="32209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6293815" y="32209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15" name="a3_num"/>
          <p:cNvSpPr/>
          <p:nvPr/>
        </p:nvSpPr>
        <p:spPr>
          <a:xfrm>
            <a:off x="6293815" y="36527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6293815" y="36527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17" name="a3_num"/>
          <p:cNvSpPr/>
          <p:nvPr/>
        </p:nvSpPr>
        <p:spPr>
          <a:xfrm>
            <a:off x="6293815" y="38686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6293815" y="38686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19" name="a5_html"/>
          <p:cNvSpPr/>
          <p:nvPr/>
        </p:nvSpPr>
        <p:spPr>
          <a:xfrm>
            <a:off x="6019495" y="5081524"/>
            <a:ext cx="5623560" cy="1182116"/>
          </a:xfrm>
          <a:prstGeom prst="roundRect">
            <a:avLst>
              <a:gd name="adj" fmla="val 7735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9631375" y="51546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شيفرة HTML المستخدمة</a:t>
            </a:r>
            <a:endParaRPr lang="ar-EG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6202375" y="5428996"/>
            <a:ext cx="5257800" cy="770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class="hero"&gt;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&lt;h1&gt;Welcome&lt;/h1&gt;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&lt;p&gt;Centred with a few lines of CSS&lt;/p&gt;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548640" y="1783080"/>
            <a:ext cx="5242255" cy="2742629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54864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73152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93268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113385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146304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157276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lesson4/example3/index.html</a:t>
            </a:r>
            <a:endParaRPr lang="en-US" sz="1100" dirty="0"/>
          </a:p>
        </p:txBody>
      </p:sp>
      <p:pic>
        <p:nvPicPr>
          <p:cNvPr id="29" name="a4_shot" descr="/home/user/Python/CSS_Course/assets/l4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5416"/>
            <a:ext cx="5242255" cy="2340293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5562295" y="4745165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5562295" y="474516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548640" y="4708589"/>
            <a:ext cx="4894783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flex-direction: column تكدّس العناصر؛ فيصبح المحور الرئيسي رأسيًا.</a:t>
            </a:r>
            <a:endParaRPr lang="ar-EG" sz="1250" dirty="0"/>
          </a:p>
        </p:txBody>
      </p:sp>
      <p:sp>
        <p:nvSpPr>
          <p:cNvPr id="33" name="a7_num"/>
          <p:cNvSpPr/>
          <p:nvPr/>
        </p:nvSpPr>
        <p:spPr>
          <a:xfrm>
            <a:off x="5562295" y="5145357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5562295" y="514535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548640" y="5108781"/>
            <a:ext cx="4894783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لذلك توسّط justify-content رأسيًا وalign-items أفقيًا.</a:t>
            </a:r>
            <a:endParaRPr lang="ar-EG" sz="1250" dirty="0"/>
          </a:p>
        </p:txBody>
      </p:sp>
      <p:sp>
        <p:nvSpPr>
          <p:cNvPr id="36" name="a8_num"/>
          <p:cNvSpPr/>
          <p:nvPr/>
        </p:nvSpPr>
        <p:spPr>
          <a:xfrm>
            <a:off x="5562295" y="5545550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5562295" y="5545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548640" y="5508974"/>
            <a:ext cx="4894783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min-height تمنح الصندوق مساحة ليكون هناك ما نوسّطه.</a:t>
            </a:r>
            <a:endParaRPr lang="ar-EG" sz="1250" dirty="0"/>
          </a:p>
        </p:txBody>
      </p:sp>
      <p:sp>
        <p:nvSpPr>
          <p:cNvPr id="39" name="a9_num"/>
          <p:cNvSpPr/>
          <p:nvPr/>
        </p:nvSpPr>
        <p:spPr>
          <a:xfrm>
            <a:off x="5562295" y="5945743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5562295" y="594574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548640" y="5909167"/>
            <a:ext cx="4894783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linear-gradient() تمزج الألوان وتُستخدم كصورة خلفية.</a:t>
            </a:r>
            <a:endParaRPr lang="ar-EG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في الواقع: القوائم والبطاقات وأشرطة الأدوات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10637215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26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أشرطة التنقّل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تقريبًا كل قائمة موقع حاوية مرنة: الشعار في جهة، والروابط في الجهة الأخرى، والكل متوسّط رأسيًا.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6847637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147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صفوف البطاقات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قوائم المقررات ومعارض الصور وصفحات الفرق تستخدم صفوفًا مرنة ملتفّة تتكيّف مع أي عرض شاشة.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3058058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569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شاشات شبيهة بالتطبيقات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أشرطة الأدوات وفقاعات المحادثة والأزرار ذات الأيقونات تستخدم flex لمحاذاة الأيقونة والنص بإتقان.</a:t>
            </a:r>
            <a:endParaRPr lang="ar-EG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10728655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132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91440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 بنفسك: </a:t>
            </a:r>
            <a:pPr algn="r" indent="0" marL="0">
              <a:buNone/>
            </a:pPr>
            <a:r>
              <a:rPr lang="ar-EG" alt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افتح DevTools في موقع تستخدمه، وابحث عن عنصر عليه شارة flex صغيرة في لوحة Elements، وانقر عليها لترى طبقة flex.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أخطاء شائعة</a:t>
            </a:r>
            <a:endParaRPr lang="ar-EG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79854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تجنّب</a:t>
            </a:r>
            <a:endParaRPr lang="ar-EG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09925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افعل هذا بدلًا منه</a:t>
            </a:r>
            <a:endParaRPr lang="ar-EG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167335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السبب</a:t>
            </a:r>
            <a:endParaRPr lang="ar-EG" sz="1500" dirty="0"/>
          </a:p>
        </p:txBody>
      </p:sp>
      <p:sp>
        <p:nvSpPr>
          <p:cNvPr id="6" name="a2_bad"/>
          <p:cNvSpPr/>
          <p:nvPr/>
        </p:nvSpPr>
        <p:spPr>
          <a:xfrm>
            <a:off x="78940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11569903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9854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 { display: flex; }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007815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7683703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099255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 display: flex; }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551383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توضع على العنصر الأب. وضعها على الأبناء لا ينظّمهم.</a:t>
            </a:r>
            <a:endParaRPr lang="ar-EG" sz="1400" dirty="0"/>
          </a:p>
        </p:txBody>
      </p:sp>
      <p:sp>
        <p:nvSpPr>
          <p:cNvPr id="13" name="a3_bad"/>
          <p:cNvSpPr/>
          <p:nvPr/>
        </p:nvSpPr>
        <p:spPr>
          <a:xfrm>
            <a:off x="78940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11569903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9854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flex-direction: column;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center;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expects horizontal */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007815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7683703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099255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flex-direction: column;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center;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horizontal centring */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551383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 العمود تتبدّل المحاور: align-items تعمل الآن أفقيًا.</a:t>
            </a:r>
            <a:endParaRPr lang="ar-EG" sz="1400" dirty="0"/>
          </a:p>
        </p:txBody>
      </p:sp>
      <p:sp>
        <p:nvSpPr>
          <p:cNvPr id="20" name="a4_bad"/>
          <p:cNvSpPr/>
          <p:nvPr/>
        </p:nvSpPr>
        <p:spPr>
          <a:xfrm>
            <a:off x="78940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11569903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9854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007815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7683703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099255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min-height: 100vh;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551383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التوسيط الرأسي يحتاج ارتفاعًا. 100vh تعني 100% من ارتفاع نافذة العرض.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نصائح وأفضل الممارسات</a:t>
            </a:r>
            <a:endParaRPr lang="ar-EG" sz="3400" dirty="0"/>
          </a:p>
        </p:txBody>
      </p:sp>
      <p:sp>
        <p:nvSpPr>
          <p:cNvPr id="3" name="a2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10728655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1477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655304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استخدم gap لا الهوامش</a:t>
            </a:r>
            <a:endParaRPr lang="ar-EG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توزّع المسافات بالتساوي دون مسافة زائدة في الأطراف، وتعمل مع الالتفاف.</a:t>
            </a:r>
            <a:endParaRPr lang="ar-EG" sz="1500" dirty="0"/>
          </a:p>
        </p:txBody>
      </p:sp>
      <p:sp>
        <p:nvSpPr>
          <p:cNvPr id="8" name="a3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499856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38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82296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تذكّر: الصف هو الافتراضي</a:t>
            </a:r>
            <a:endParaRPr lang="ar-EG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قيمة flex-direction الافتراضية row. أضف column حين تريد تكديسًا رأسيًا.</a:t>
            </a:r>
            <a:endParaRPr lang="ar-EG" sz="1500" dirty="0"/>
          </a:p>
        </p:txBody>
      </p:sp>
      <p:sp>
        <p:nvSpPr>
          <p:cNvPr id="13" name="a4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10728655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477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655304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اكتشف الأخطاء بالطبقة</a:t>
            </a:r>
            <a:endParaRPr lang="ar-EG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تُظهر DevTools الحاوية والعناصر والمساحة الحرّة، فتصبح التخطيطات المفاجئة سهلة التفسير.</a:t>
            </a:r>
            <a:endParaRPr lang="ar-EG" sz="1500" dirty="0"/>
          </a:p>
        </p:txBody>
      </p:sp>
      <p:sp>
        <p:nvSpPr>
          <p:cNvPr id="18" name="a5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499856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138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82296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لبُعد واحد</a:t>
            </a:r>
            <a:endParaRPr lang="ar-EG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تنظّم Flexbox صفًّا أو عمودًا. أما الصفوف والأعمدة معًا فاستخدم Grid (الدرس التالي).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نشاط: صفحة الفريق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25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نشاط عملي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ابنِ شريط تنقّل وصفًّا من ثلاث بطاقات تعريف بـ flexbox.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‎.nav‎ حاوية مرنة: الشعار يسارًا والروابط يمينًا ومتوسّطة رأسيًا.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امنح حاوية الروابط display: flex وgap: 16px.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‎.team‎ حاوية مرنة مع gap: 16px وflex-wrap: wrap.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امنح كل ‎.member‎ القيمة flex: 1 1 180px وحشوًا 20px وخلفية فاتحة وزوايا مدوّرة.</a:t>
            </a:r>
            <a:endParaRPr lang="ar-EG" sz="1400" dirty="0"/>
          </a:p>
        </p:txBody>
      </p:sp>
      <p:sp>
        <p:nvSpPr>
          <p:cNvPr id="20" name="a8_num"/>
          <p:cNvSpPr/>
          <p:nvPr/>
        </p:nvSpPr>
        <p:spPr>
          <a:xfrm>
            <a:off x="11332159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11332159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EG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5973775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وسّط النص داخل كل عضو بـ flex-direction: column مع align-items: center.</a:t>
            </a:r>
            <a:endParaRPr lang="ar-EG" sz="1400" dirty="0"/>
          </a:p>
        </p:txBody>
      </p:sp>
      <p:sp>
        <p:nvSpPr>
          <p:cNvPr id="23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أضف ‎.avatar‎: دائرة 60px (border-radius: 50%) ملوّنة فوق كل اسم.</a:t>
            </a:r>
            <a:endParaRPr lang="ar-EG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الهدف: ينبغي أن تبدو صفحتك هكذا</a:t>
            </a:r>
            <a:endParaRPr lang="ar-EG" sz="1400" dirty="0"/>
          </a:p>
        </p:txBody>
      </p:sp>
      <p:sp>
        <p:nvSpPr>
          <p:cNvPr id="26" name="a3_browser"/>
          <p:cNvSpPr/>
          <p:nvPr/>
        </p:nvSpPr>
        <p:spPr>
          <a:xfrm>
            <a:off x="548640" y="1828800"/>
            <a:ext cx="5059375" cy="223636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54864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73152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93268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113385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146304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157276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lesson4/activity/solution/index.html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4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31136"/>
            <a:ext cx="5059375" cy="1834024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548640" y="4293760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731520" y="4293760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code/lesson4/activity/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code/lesson4/activity/solution/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bg1"/>
                </a:solidFill>
              </a:rPr>
              <a:t>تحدٍّ: رأس وشريط جانبي وتذييل</a:t>
            </a:r>
            <a:endParaRPr lang="ar-EG" sz="3400" dirty="0"/>
          </a:p>
        </p:txBody>
      </p:sp>
      <p:sp>
        <p:nvSpPr>
          <p:cNvPr id="3" name="a2_chip"/>
          <p:cNvSpPr/>
          <p:nvPr/>
        </p:nvSpPr>
        <p:spPr>
          <a:xfrm>
            <a:off x="10271455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10271455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الوقت: 30 دقيقة</a:t>
            </a:r>
            <a:endParaRPr lang="ar-EG" sz="1200" dirty="0"/>
          </a:p>
        </p:txBody>
      </p:sp>
      <p:sp>
        <p:nvSpPr>
          <p:cNvPr id="5" name="a2_chip"/>
          <p:cNvSpPr/>
          <p:nvPr/>
        </p:nvSpPr>
        <p:spPr>
          <a:xfrm>
            <a:off x="8396935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8396935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تحدٍّ</a:t>
            </a:r>
            <a:endParaRPr lang="ar-EG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973775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ابنِ تخطيط صفحة كاملة يلتصق فيه التذييل بالأسفل حتى مع محتوى قليل.</a:t>
            </a:r>
            <a:endParaRPr lang="ar-EG" sz="1500" dirty="0"/>
          </a:p>
        </p:txBody>
      </p:sp>
      <p:sp>
        <p:nvSpPr>
          <p:cNvPr id="8" name="a4_num"/>
          <p:cNvSpPr/>
          <p:nvPr/>
        </p:nvSpPr>
        <p:spPr>
          <a:xfrm>
            <a:off x="11332159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11332159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5973775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body عمودًا مرنًا مع min-height: 100vh.</a:t>
            </a:r>
            <a:endParaRPr lang="ar-EG" sz="1400" dirty="0"/>
          </a:p>
        </p:txBody>
      </p:sp>
      <p:sp>
        <p:nvSpPr>
          <p:cNvPr id="11" name="a5_num"/>
          <p:cNvSpPr/>
          <p:nvPr/>
        </p:nvSpPr>
        <p:spPr>
          <a:xfrm>
            <a:off x="11332159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11332159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5973775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‎.layout‎ صفًّا مرنًا؛ الشريط الجانبي عرضه 160px والمنطقة الرئيسية تأخذ الباقي بـ flex: 1.</a:t>
            </a:r>
            <a:endParaRPr lang="ar-EG" sz="1400" dirty="0"/>
          </a:p>
        </p:txBody>
      </p:sp>
      <p:sp>
        <p:nvSpPr>
          <p:cNvPr id="14" name="a6_num"/>
          <p:cNvSpPr/>
          <p:nvPr/>
        </p:nvSpPr>
        <p:spPr>
          <a:xfrm>
            <a:off x="11332159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11332159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5973775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‎.layout‎ يتمدّد لملء المساحة الحرّة (flex: 1) فيُدفع التذييل إلى الأسفل.</a:t>
            </a:r>
            <a:endParaRPr lang="ar-EG" sz="1400" dirty="0"/>
          </a:p>
        </p:txBody>
      </p:sp>
      <p:sp>
        <p:nvSpPr>
          <p:cNvPr id="17" name="a7_num"/>
          <p:cNvSpPr/>
          <p:nvPr/>
        </p:nvSpPr>
        <p:spPr>
          <a:xfrm>
            <a:off x="11332159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11332159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EG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5973775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امنح الرأس والجانب والرئيسي والتذييل ألوان خلفية وحشوًا مختلفة.</a:t>
            </a:r>
            <a:endParaRPr lang="ar-EG" sz="1400" dirty="0"/>
          </a:p>
        </p:txBody>
      </p:sp>
      <p:sp>
        <p:nvSpPr>
          <p:cNvPr id="20" name="a9_bonus"/>
          <p:cNvSpPr/>
          <p:nvPr/>
        </p:nvSpPr>
        <p:spPr>
          <a:xfrm>
            <a:off x="5973775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6156655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إضافي: </a:t>
            </a:r>
            <a:pPr algn="r" indent="0" marL="0">
              <a:buNone/>
            </a:pPr>
            <a:r>
              <a:rPr lang="ar-EG" alt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اجعل التخطيط عمودًا على الشاشات الضيقة باستخدام flex-wrap.</a:t>
            </a:r>
            <a:endParaRPr lang="ar-EG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54864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المطلوب: طابق هذه النتيجة</a:t>
            </a:r>
            <a:endParaRPr lang="ar-EG" sz="1400" dirty="0"/>
          </a:p>
        </p:txBody>
      </p:sp>
      <p:sp>
        <p:nvSpPr>
          <p:cNvPr id="23" name="a3_browser"/>
          <p:cNvSpPr/>
          <p:nvPr/>
        </p:nvSpPr>
        <p:spPr>
          <a:xfrm>
            <a:off x="807415" y="1828800"/>
            <a:ext cx="4800600" cy="31455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807415" y="1828800"/>
            <a:ext cx="480060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990295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1191463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1392631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1721815" y="1892808"/>
            <a:ext cx="370332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1831543" y="18928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lesson4/challenge/solution/index.html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4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" y="2231136"/>
            <a:ext cx="4800600" cy="2743200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548640" y="5202936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731520" y="520293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من: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code/lesson4/challenge/</a:t>
            </a:r>
            <a:endParaRPr lang="ar-EG" sz="1150" dirty="0"/>
          </a:p>
          <a:p>
            <a:pPr algn="r" indent="0" marL="0">
              <a:buNone/>
            </a:pPr>
            <a:r>
              <a:rPr lang="ar-EG" alt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قارن مع:  </a:t>
            </a:r>
            <a:pPr algn="r" indent="0" marL="0">
              <a:buNone/>
            </a:pPr>
            <a:r>
              <a:rPr lang="ar-EG" alt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code/lesson4/challenge/solution/</a:t>
            </a:r>
            <a:endParaRPr lang="ar-EG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اختبار سريع</a:t>
            </a:r>
            <a:endParaRPr lang="ar-EG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فكّر أولًا، ثم انقر لإظهار كل إجابة.</a:t>
            </a:r>
            <a:endParaRPr lang="ar-EG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10865815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10865815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EG" sz="1800" dirty="0"/>
          </a:p>
        </p:txBody>
      </p:sp>
      <p:sp>
        <p:nvSpPr>
          <p:cNvPr id="7" name="a3_q"/>
          <p:cNvSpPr txBox="1"/>
          <p:nvPr/>
        </p:nvSpPr>
        <p:spPr>
          <a:xfrm>
            <a:off x="5196535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على أي عنصر تكتب display: flex: الأب أم الأبناء؟</a:t>
            </a:r>
            <a:endParaRPr lang="ar-EG" sz="1650" dirty="0"/>
          </a:p>
        </p:txBody>
      </p:sp>
      <p:sp>
        <p:nvSpPr>
          <p:cNvPr id="8" name="k3_ans_bg"/>
          <p:cNvSpPr/>
          <p:nvPr/>
        </p:nvSpPr>
        <p:spPr>
          <a:xfrm>
            <a:off x="715975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898855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على الأب (الحاوية). يصير أبناؤه المباشرون عناصر مرنة.</a:t>
            </a:r>
            <a:endParaRPr lang="ar-EG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10865815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10865815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EG" sz="1800" dirty="0"/>
          </a:p>
        </p:txBody>
      </p:sp>
      <p:sp>
        <p:nvSpPr>
          <p:cNvPr id="13" name="a4_q"/>
          <p:cNvSpPr txBox="1"/>
          <p:nvPr/>
        </p:nvSpPr>
        <p:spPr>
          <a:xfrm>
            <a:off x="5196535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 الصف، أي خاصية توسّط العناصر رأسيًا؟</a:t>
            </a:r>
            <a:endParaRPr lang="ar-EG" sz="1650" dirty="0"/>
          </a:p>
        </p:txBody>
      </p:sp>
      <p:sp>
        <p:nvSpPr>
          <p:cNvPr id="14" name="k4_ans_bg"/>
          <p:cNvSpPr/>
          <p:nvPr/>
        </p:nvSpPr>
        <p:spPr>
          <a:xfrm>
            <a:off x="715975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898855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align-items: center (تعمل على المحور المتعامد).</a:t>
            </a:r>
            <a:endParaRPr lang="ar-EG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10865815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10865815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EG" sz="1800" dirty="0"/>
          </a:p>
        </p:txBody>
      </p:sp>
      <p:sp>
        <p:nvSpPr>
          <p:cNvPr id="19" name="a5_q"/>
          <p:cNvSpPr txBox="1"/>
          <p:nvPr/>
        </p:nvSpPr>
        <p:spPr>
          <a:xfrm>
            <a:off x="5196535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ماذا تعني flex: 1 1 200px؟</a:t>
            </a:r>
            <a:endParaRPr lang="ar-EG" sz="1650" dirty="0"/>
          </a:p>
        </p:txBody>
      </p:sp>
      <p:sp>
        <p:nvSpPr>
          <p:cNvPr id="20" name="k5_ans_bg"/>
          <p:cNvSpPr/>
          <p:nvPr/>
        </p:nvSpPr>
        <p:spPr>
          <a:xfrm>
            <a:off x="715975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898855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تكبير = 1، تصغير = 1، العرض الابتدائي (basis) = 200px.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400" b="1" dirty="0">
                <a:solidFill>
                  <a:schemeClr val="tx1"/>
                </a:solidFill>
              </a:rPr>
              <a:t>الخلاصة</a:t>
            </a:r>
            <a:endParaRPr lang="ar-EG" sz="3400" dirty="0"/>
          </a:p>
        </p:txBody>
      </p:sp>
      <p:sp>
        <p:nvSpPr>
          <p:cNvPr id="3" name="a2_ico_bg"/>
          <p:cNvSpPr/>
          <p:nvPr/>
        </p:nvSpPr>
        <p:spPr>
          <a:xfrm>
            <a:off x="11140135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5924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5150815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على الأب تحوّل الأبناء إلى عناصر مرنة.</a:t>
            </a:r>
            <a:endParaRPr lang="ar-EG" sz="1650" dirty="0"/>
          </a:p>
        </p:txBody>
      </p:sp>
      <p:sp>
        <p:nvSpPr>
          <p:cNvPr id="6" name="a3_ico_bg"/>
          <p:cNvSpPr/>
          <p:nvPr/>
        </p:nvSpPr>
        <p:spPr>
          <a:xfrm>
            <a:off x="11140135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5924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5150815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تعمل على المحور الرئيسي وalign-items على المتعامد.</a:t>
            </a:r>
            <a:endParaRPr lang="ar-EG" sz="1650" dirty="0"/>
          </a:p>
        </p:txBody>
      </p:sp>
      <p:sp>
        <p:nvSpPr>
          <p:cNvPr id="9" name="a4_ico_bg"/>
          <p:cNvSpPr/>
          <p:nvPr/>
        </p:nvSpPr>
        <p:spPr>
          <a:xfrm>
            <a:off x="11140135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924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5150815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flex-direction: column تبدّل المحورين.</a:t>
            </a:r>
            <a:endParaRPr lang="ar-EG" sz="1650" dirty="0"/>
          </a:p>
        </p:txBody>
      </p:sp>
      <p:sp>
        <p:nvSpPr>
          <p:cNvPr id="12" name="a5_ico_bg"/>
          <p:cNvSpPr/>
          <p:nvPr/>
        </p:nvSpPr>
        <p:spPr>
          <a:xfrm>
            <a:off x="11140135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5924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5150815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وflex-wrap وflex تمنح المسافات والالتفاف والأحجام المرنة.</a:t>
            </a:r>
            <a:endParaRPr lang="ar-EG" sz="1650" dirty="0"/>
          </a:p>
        </p:txBody>
      </p:sp>
      <p:sp>
        <p:nvSpPr>
          <p:cNvPr id="15" name="a6_ico_bg"/>
          <p:cNvSpPr/>
          <p:nvPr/>
        </p:nvSpPr>
        <p:spPr>
          <a:xfrm>
            <a:off x="11140135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5924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5150815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لبُعد واحد، وGrid للصفوف والأعمدة معًا.</a:t>
            </a:r>
            <a:endParaRPr lang="ar-EG" sz="1650" dirty="0"/>
          </a:p>
        </p:txBody>
      </p:sp>
      <p:sp>
        <p:nvSpPr>
          <p:cNvPr id="18" name="a8_panel"/>
          <p:cNvSpPr/>
          <p:nvPr/>
        </p:nvSpPr>
        <p:spPr>
          <a:xfrm>
            <a:off x="551383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898855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واصل التعلّم</a:t>
            </a:r>
            <a:endParaRPr lang="ar-EG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853135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ملفات الشيفرة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code/lesson4/  (الأمثلة والنشاط والتحدي)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تدرّب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(يعمل دون إنترنت) أو روابط CodePen في codepen.html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التالي</a:t>
            </a:r>
            <a:endParaRPr lang="ar-EG" sz="1450" dirty="0"/>
          </a:p>
          <a:p>
            <a:pPr algn="r" indent="0" marL="0">
              <a:buNone/>
            </a:pPr>
            <a:r>
              <a:rPr lang="ar-EG" alt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5: CSS Grid</a:t>
            </a:r>
            <a:endParaRPr lang="ar-EG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1383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4: Flexbox</dc:title>
  <dc:subject>CSS for high-school students</dc:subject>
  <dc:creator>CSS for High School</dc:creator>
  <cp:lastModifiedBy>CSS for High School</cp:lastModifiedBy>
  <cp:revision>1</cp:revision>
  <dcterms:created xsi:type="dcterms:W3CDTF">2026-10-09T08:52:51Z</dcterms:created>
  <dcterms:modified xsi:type="dcterms:W3CDTF">2026-10-09T08:52:51Z</dcterms:modified>
</cp:coreProperties>
</file>