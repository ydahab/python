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display: grid تجعل .gallery حاوية شبكة.
2. repeat(3, 1fr) = ثلاثة أعمدة متساوية.
3. gap: 12px تفصل الصفوف والأعمدة.
4. تملأ العناصر الخلايا من اليسار إلى اليمين صفًّا بعد 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أربعة أعمدة متساوية.
2. grid-column: span 2 تجعل .wide يغطّي عمودين.
3. grid-row: span 2 تجعل .tall يغطّي صفّين، وترتّب الشبكة الباقي حوله.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عمود جانبي عرضه 130px وعمود رئيسي مرن.
2. كل سلسلة بين علامتي اقتباس صفّ؛ والاسم المكرّر متجاورًا يعني أن المنطقة تمتد.
3. .page &gt; * تستهدف كل الأبناء المباشرين لـ .page.
4. grid-area: head تضع الرأس في المنطقة المسمّاة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5: CSS Grid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5: CSS Grid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5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شبكة CSS Grid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صمّم تخطيطات صفحات كاملة بالصفوف والأعمدة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الدروس 1–4  |  نحو 50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شبكة بـ display: grid وgrid-template-columns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تحديد أحجام المسارات بوحدة fr ودالة repeat() وgap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 العناصر ومدّها وتسمية المناطق بـ grid-template-areas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container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حاوية الشبكة: العنصر الأب الذي له display: grid، وتوضع أبناؤه على الشبكة.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المسار (Track): صف واحد أو عمود واحد في الشبكة.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unit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fr: جزء من المساحة الحرّة. 1fr 2fr تمنح العمود الثاني ضعف عرض الأول.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line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 الشبكة: الخطوط المرقّمة بين المسارات. شبكة من 3 أعمدة لها 4 خطوط رأسية (1 إلى 4).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ثنائية الأبعاد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ترتّب Flexbox العناصر في خط واحد كل مرة، أما Grid فترتّب الصفوف والأعمدة معًا، فهي مناسبة لتخطيط الصفحات الكاملة والمعارض.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حدّد المسارات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 تسرد عرض كل عمود. وrepeat(3, 1fr) تعني ثلاثة أعمدة متساوية تتقاسم المساحة الحرّة. وgap تضيف مسافة بين المسارات.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repeat(3, 1fr)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العناصر بالخطوط أو بالأسماء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تتوزّع العناصر تلقائيًا. ولتحريك عنصر أو مدّه استخدم grid-column وgrid-row مع span، أو سمِّ مناطق وضع العناصر فيها بـ grid-area.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span 2;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المسارات وخطوط الشبكة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5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من 3 أعمدة وصفّين لها 4 خطوط أعمدة و3 خطوط صفوف.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1 / 3 تبدأ عند الخط 1 وتنتهي عند الخط 3: أي أنها تغطّي عمودين.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تترك مسافة بين المسارات دون هوامش إضافية.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شبكة بسيطة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ثلاثة أعمدة متساوية بـ repeat() ومسافة gap بين المسارات.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repeat(3, 1fr)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div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34368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class="gallery"&gt;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&lt;div&gt;1&lt;/div&gt;&lt;div&gt;2&lt;/div&gt;&lt;div&gt;3&lt;/div&gt;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lesson5/example1/index.html</a:t>
            </a:r>
            <a:endParaRPr lang="en-US" sz="1100" dirty="0"/>
          </a:p>
        </p:txBody>
      </p:sp>
      <p:pic>
        <p:nvPicPr>
          <p:cNvPr id="29" name="a4_shot" descr="/home/user/Python/CSS_Course/assets/l5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تجعل ‎.gallery‎ حاوية شبكة.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repeat(3, 1fr) = ثلاثة أعمدة متساوية.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12px تفصل الصفوف والأعمدة.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تملأ العناصر الخلايا من اليسار إلى اليمين صفًّا بعد صف.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تمديد الصفوف والأعمدة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للعنصر أن يغطّي أكثر من خلية بـ span.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631184"/>
          </a:xfrm>
          <a:prstGeom prst="roundRect">
            <a:avLst>
              <a:gd name="adj" fmla="val 30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8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repeat(4, 1fr)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div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#8b5cf6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.wide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span 2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.tall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grid-row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span 2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6293815" y="27574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757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45862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7894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78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5_html"/>
          <p:cNvSpPr/>
          <p:nvPr/>
        </p:nvSpPr>
        <p:spPr>
          <a:xfrm>
            <a:off x="6019495" y="5551424"/>
            <a:ext cx="5623560" cy="712216"/>
          </a:xfrm>
          <a:prstGeom prst="roundRect">
            <a:avLst>
              <a:gd name="adj" fmla="val 12839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9631375" y="5624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6202375" y="5898896"/>
            <a:ext cx="52578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935116" y="1783080"/>
            <a:ext cx="4855779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935116" y="1783080"/>
            <a:ext cx="4855779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1117996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1319164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520332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1849516" y="1847088"/>
            <a:ext cx="3758499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1959244" y="1847088"/>
            <a:ext cx="3575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lesson5/example2/index.html</a:t>
            </a:r>
            <a:endParaRPr lang="en-US" sz="1100" dirty="0"/>
          </a:p>
        </p:txBody>
      </p:sp>
      <p:pic>
        <p:nvPicPr>
          <p:cNvPr id="27" name="a4_shot" descr="/home/user/Python/CSS_Course/assets/l5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116" y="2185416"/>
            <a:ext cx="4855779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548640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أربعة أعمدة متساوية.</a:t>
            </a:r>
            <a:endParaRPr lang="ar-EG" sz="1250" dirty="0"/>
          </a:p>
        </p:txBody>
      </p:sp>
      <p:sp>
        <p:nvSpPr>
          <p:cNvPr id="31" name="a7_num"/>
          <p:cNvSpPr/>
          <p:nvPr/>
        </p:nvSpPr>
        <p:spPr>
          <a:xfrm>
            <a:off x="5562295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5562295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548640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span 2 تجعل ‎.wide‎ يغطّي عمودين.</a:t>
            </a:r>
            <a:endParaRPr lang="ar-EG" sz="1250" dirty="0"/>
          </a:p>
        </p:txBody>
      </p:sp>
      <p:sp>
        <p:nvSpPr>
          <p:cNvPr id="34" name="a8_num"/>
          <p:cNvSpPr/>
          <p:nvPr/>
        </p:nvSpPr>
        <p:spPr>
          <a:xfrm>
            <a:off x="5562295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5562295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548640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grid-row: span 2 تجعل ‎.tall‎ يغطّي صفّين، وترتّب الشبكة الباقي حوله.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تخطيط صفحة بمناطق مسمّاة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ارسم التخطيط في CSS بـ grid-template-areas.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834384"/>
          </a:xfrm>
          <a:prstGeom prst="roundRect">
            <a:avLst>
              <a:gd name="adj" fmla="val 28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130px 1fr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"head head"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"side main"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"foot foot"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&gt; *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#dbe4ff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foot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6293815" y="27574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757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1638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3830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383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58622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4_browser"/>
          <p:cNvSpPr/>
          <p:nvPr/>
        </p:nvSpPr>
        <p:spPr>
          <a:xfrm>
            <a:off x="1096975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browser_bar"/>
          <p:cNvSpPr/>
          <p:nvPr/>
        </p:nvSpPr>
        <p:spPr>
          <a:xfrm>
            <a:off x="1096975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a4_browser_dot"/>
          <p:cNvSpPr/>
          <p:nvPr/>
        </p:nvSpPr>
        <p:spPr>
          <a:xfrm>
            <a:off x="127985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148102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168219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a4_browser_url"/>
          <p:cNvSpPr/>
          <p:nvPr/>
        </p:nvSpPr>
        <p:spPr>
          <a:xfrm>
            <a:off x="2011375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5" name="a4_browser_urltext"/>
          <p:cNvSpPr txBox="1"/>
          <p:nvPr/>
        </p:nvSpPr>
        <p:spPr>
          <a:xfrm>
            <a:off x="2121103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lesson5/example3/index.html</a:t>
            </a:r>
            <a:endParaRPr lang="en-US" sz="1100" dirty="0"/>
          </a:p>
        </p:txBody>
      </p:sp>
      <p:pic>
        <p:nvPicPr>
          <p:cNvPr id="26" name="a4_shot" descr="/home/user/Python/CSS_Course/assets/l5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75" y="2185416"/>
            <a:ext cx="4693920" cy="2514600"/>
          </a:xfrm>
          <a:prstGeom prst="rect">
            <a:avLst/>
          </a:prstGeom>
        </p:spPr>
      </p:pic>
      <p:sp>
        <p:nvSpPr>
          <p:cNvPr id="27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29" name="a6_ann"/>
          <p:cNvSpPr txBox="1"/>
          <p:nvPr/>
        </p:nvSpPr>
        <p:spPr>
          <a:xfrm>
            <a:off x="548640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عمود جانبي عرضه 130px وعمود رئيسي مرن.</a:t>
            </a:r>
            <a:endParaRPr lang="ar-EG" sz="1250" dirty="0"/>
          </a:p>
        </p:txBody>
      </p:sp>
      <p:sp>
        <p:nvSpPr>
          <p:cNvPr id="30" name="a7_num"/>
          <p:cNvSpPr/>
          <p:nvPr/>
        </p:nvSpPr>
        <p:spPr>
          <a:xfrm>
            <a:off x="5562295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a7_numt"/>
          <p:cNvSpPr txBox="1"/>
          <p:nvPr/>
        </p:nvSpPr>
        <p:spPr>
          <a:xfrm>
            <a:off x="5562295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2" name="a7_ann"/>
          <p:cNvSpPr txBox="1"/>
          <p:nvPr/>
        </p:nvSpPr>
        <p:spPr>
          <a:xfrm>
            <a:off x="548640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سلسلة بين علامتي اقتباس صفّ؛ والاسم المكرّر متجاورًا يعني أن المنطقة تمتد.</a:t>
            </a:r>
            <a:endParaRPr lang="ar-EG" sz="1250" dirty="0"/>
          </a:p>
        </p:txBody>
      </p:sp>
      <p:sp>
        <p:nvSpPr>
          <p:cNvPr id="33" name="a8_num"/>
          <p:cNvSpPr/>
          <p:nvPr/>
        </p:nvSpPr>
        <p:spPr>
          <a:xfrm>
            <a:off x="5562295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a8_numt"/>
          <p:cNvSpPr txBox="1"/>
          <p:nvPr/>
        </p:nvSpPr>
        <p:spPr>
          <a:xfrm>
            <a:off x="5562295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5" name="a8_ann"/>
          <p:cNvSpPr txBox="1"/>
          <p:nvPr/>
        </p:nvSpPr>
        <p:spPr>
          <a:xfrm>
            <a:off x="548640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‎.page‎ &gt; * تستهدف كل الأبناء المباشرين لـ ‎.page‎.</a:t>
            </a:r>
            <a:endParaRPr lang="ar-EG" sz="1250" dirty="0"/>
          </a:p>
        </p:txBody>
      </p:sp>
      <p:sp>
        <p:nvSpPr>
          <p:cNvPr id="36" name="a9_num"/>
          <p:cNvSpPr/>
          <p:nvPr/>
        </p:nvSpPr>
        <p:spPr>
          <a:xfrm>
            <a:off x="5562295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7" name="a9_numt"/>
          <p:cNvSpPr txBox="1"/>
          <p:nvPr/>
        </p:nvSpPr>
        <p:spPr>
          <a:xfrm>
            <a:off x="5562295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38" name="a9_ann"/>
          <p:cNvSpPr txBox="1"/>
          <p:nvPr/>
        </p:nvSpPr>
        <p:spPr>
          <a:xfrm>
            <a:off x="548640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grid-area: head تضع الرأس في المنطقة المسمّاة head.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المعارض ولوحات المعلومات والمجلات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معارض الصور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تُبقي Grid الصور في صفوف وأعمدة مرتّبة، وتتيح span لصورة مميّزة أن تكون أكبر من غيرها.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لوحات المعلومات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تصطف المخططات والجداول وبطاقات الإحصاء على شبكة فتتحاذى كل اللوحات في الاتجاهين.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تخطيطات المجلات والأخبار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خبر رئيسي كبير بجوار أخبار صغيرة يستخدم المناطق المسمّاة وspan، كصفحة أولى مطبوعة.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في موقع معرض أو لوحة معلومات وابحث عن شارة grid في Elements. انقر عليها لتظهر خطوط الشبكة المرقّمة في الصفحة.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دون display: grid لا تفعل خصائص الشبكة شيئًا.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1 / 3;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meant columns 1 to 3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1 / 4;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or span 3 */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الأرقام خطوط وليست أعمدة. القيمة 1 / 3 تغطّي عمودين فقط.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300px 300px 300px;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repeat(3, 1fr);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المسارات الثابتة بالبكسل تتجاوز الشاشات الصغيرة. استخدم fr أو minmax لتتكيّف المسارات.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 الأداة المناسبة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 أو عمود واحد: Flexbox. تخطيط كامل بصفوف وأعمدة: Grid. واستخدمهما معًا عند الحاجة.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تتولّى الحساب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repeat(auto-fit, minmax(160px, 1fr)) تصنع أكبر عدد من الأعمدة يتسع له العرض دون استعلامات وسائط.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أظهر خطوط الشبكة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فعّل طبقة الشبكة في DevTools لترى أرقام الخطوط وأحجام المسارات أثناء العمل.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الأسماء لتخطيط الصفحات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تُقرأ grid-template-areas كأنها رسم للصفحة، فيفهمها زملاؤك من النظرة الأولى.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لوحة إحصاءات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أنشئ شبكة بطاقات إحصاء متجاوبة دون كتابة استعلام وسائط واحد.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‎.stats‎ شبكة مع gap: 16px وpadding: 20px.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اضبط grid-template-columns: repeat(auto-fit, minmax(150px, 1fr)).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‎.stat‎ بخلفية بيضاء وزوايا مدوّرة وحشو وإطار ناعم.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‎.big‎ (الإحصاء الأول) يمتد عمودين بـ grid-column: span 2.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الأرقام (strong) كبيرة وغامقة، والعناوين (span) رمادية.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غيّر عرض نافذة المتصفح وراقب ظهور الأعمدة واختفاءها.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5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71038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الصفحة الأولى لجريدة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30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صمّم تخطيطًا على نمط الصحف بـ grid-template-areas دون تعديل HTML.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أنشئ شبكة من 3 أعمدة مع gap قدره 12px.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الخبر الرئيسي عبر العمودين الأولين وعلى صفّين (المنطقة: lead).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الشريط الجانبي في العمود الثالث ممتدًّا على الصفّين (المنطقة: side).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قصتين أصغر تحت الرئيسية (المنطقتان a وb) وتذييلًا عبر عرض الصفحة.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الخبر الرئيسي خطًّا أكبر وحدًّا علويًا ملوّنًا.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807415" y="1828800"/>
            <a:ext cx="4800600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807415" y="1828800"/>
            <a:ext cx="48006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990295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1191463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392631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721815" y="1892808"/>
            <a:ext cx="37033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831543" y="1892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5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" y="2231136"/>
            <a:ext cx="4800600" cy="274320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تُنشئ grid-template-columns: 1fr 2fr 1fr؟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ثلاثة أعمدة؛ الأوسط ضعف عرض كل من الآخرين.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 عمودًا تغطّي grid-column: 2 / 4؟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عمودين (الثاني والثالث). فالأرقام هي الخطوط.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متى تستخدم Flexbox بدل Grid؟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لصف أو عمود واحد من العناصر، كشريط تنقّل أو مجموعة أزرار.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على الأب، ويوضع الأبناء في الخلايا.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 وrepeat() وfr تصنع مسارات مرنة.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تفصل المسارات، وspan تمدّ العنصر على عدة خلايا.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تتيح رسم التخطيط بالأسماء.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مع minmax() تمنح شبكات متجاوبة دون استعلامات وسائط.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6: التصميم المتجاوب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5: CSS Grid</dc:title>
  <dc:subject>CSS for high-school students</dc:subject>
  <dc:creator>CSS for High School</dc:creator>
  <cp:lastModifiedBy>CSS for High School</cp:lastModifiedBy>
  <cp:revision>1</cp:revision>
  <dcterms:created xsi:type="dcterms:W3CDTF">2026-10-09T08:52:52Z</dcterms:created>
  <dcterms:modified xsi:type="dcterms:W3CDTF">2026-10-09T08:52:52Z</dcterms:modified>
</cp:coreProperties>
</file>