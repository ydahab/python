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90% من عرض الشاشة: تنكمش مع الشاشة.
2. max-width تمنعها من الاتساع أكثر من اللازم على الشاشات الكبيرة.
3. aspect-ratio تحافظ على شكل 16:9 عند أي عرض.
4. للصور الحقيقية: لا تتجاوز عرض حاويتها وتحافظ على نسبتها.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لا أعمدة محدّدة: عمود واحد (تخطيط الهاتف).
2. @media (min-width: 600px): القواعد داخلها تُطبَّق فقط على شاشات 600px فأكثر.
3. يظهر عمودان متساويان حين تتوفر المساحة.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clamp(الأدنى، المفضّل، الأقصى): يكبر مع الشاشة لكنه يبقى بين 1.4rem و3rem.
2. على الهواتف تُكدَّس الروابط في عمود.
3. ابتداءً من 600px تصير القائمة صفًّا.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876495" y="2011680"/>
            <a:ext cx="65836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48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ar-EG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59375" y="4069080"/>
            <a:ext cx="6400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2200" dirty="0">
                <a:solidFill>
                  <a:schemeClr val="bg2"/>
                </a:solidFill>
              </a:defRPr>
            </a:lvl1pPr>
          </a:lstStyle>
          <a:p>
            <a:pPr algn="r" indent="0" marL="0">
              <a:buNone/>
            </a:pPr>
            <a:endParaRPr lang="ar-EG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34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ar-EG" sz="3400" dirty="0"/>
          </a:p>
        </p:txBody>
      </p:sp>
      <p:sp>
        <p:nvSpPr>
          <p:cNvPr id="3" name="Shape 0"/>
          <p:cNvSpPr/>
          <p:nvPr/>
        </p:nvSpPr>
        <p:spPr>
          <a:xfrm>
            <a:off x="10820095" y="1143000"/>
            <a:ext cx="822960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" name="Text 1"/>
          <p:cNvSpPr/>
          <p:nvPr/>
        </p:nvSpPr>
        <p:spPr>
          <a:xfrm>
            <a:off x="4327855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للمرحلة الثانوية  |  الدرس 6: التصميم المتجاوب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34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ar-EG" sz="3400" dirty="0"/>
          </a:p>
        </p:txBody>
      </p:sp>
      <p:sp>
        <p:nvSpPr>
          <p:cNvPr id="3" name="Shape 0"/>
          <p:cNvSpPr/>
          <p:nvPr/>
        </p:nvSpPr>
        <p:spPr>
          <a:xfrm>
            <a:off x="10820095" y="114300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1"/>
          <p:cNvSpPr/>
          <p:nvPr/>
        </p:nvSpPr>
        <p:spPr>
          <a:xfrm>
            <a:off x="4327855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للمرحلة الثانوية  |  الدرس 6: التصميم المتجاوب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5_braces"/>
          <p:cNvSpPr txBox="1"/>
          <p:nvPr/>
        </p:nvSpPr>
        <p:spPr>
          <a:xfrm>
            <a:off x="8716975" y="502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6000" dirty="0"/>
          </a:p>
        </p:txBody>
      </p:sp>
      <p:sp>
        <p:nvSpPr>
          <p:cNvPr id="3" name="a1_pill"/>
          <p:cNvSpPr/>
          <p:nvPr/>
        </p:nvSpPr>
        <p:spPr>
          <a:xfrm>
            <a:off x="8808415" y="1463040"/>
            <a:ext cx="2651760" cy="42062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a1_pill_text"/>
          <p:cNvSpPr txBox="1"/>
          <p:nvPr/>
        </p:nvSpPr>
        <p:spPr>
          <a:xfrm>
            <a:off x="8808415" y="14630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الدرس 6 من 7</a:t>
            </a:r>
            <a:endParaRPr lang="ar-EG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876495" y="2011680"/>
            <a:ext cx="6583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EG" altLang="en-US" sz="4800" b="1" dirty="0">
                <a:solidFill>
                  <a:schemeClr val="bg1"/>
                </a:solidFill>
              </a:rPr>
              <a:t>التصميم المتجاوب</a:t>
            </a:r>
            <a:endParaRPr lang="ar-EG" sz="4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059375" y="4069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200" dirty="0">
                <a:solidFill>
                  <a:schemeClr val="bg2"/>
                </a:solidFill>
              </a:rPr>
              <a:t>موقع واحد يبدو سليمًا على الهواتف واللوحيات والحواسيب</a:t>
            </a:r>
            <a:endParaRPr lang="ar-EG" sz="2200" dirty="0"/>
          </a:p>
        </p:txBody>
      </p:sp>
      <p:sp>
        <p:nvSpPr>
          <p:cNvPr id="7" name="a4_meta"/>
          <p:cNvSpPr txBox="1"/>
          <p:nvPr/>
        </p:nvSpPr>
        <p:spPr>
          <a:xfrm>
            <a:off x="5059375" y="5074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المرحلة الثانوية  |  المعرفة السابقة: الدروس 1–5  |  نحو 50 دقيقة</a:t>
            </a:r>
            <a:endParaRPr lang="ar-EG" sz="1600" dirty="0"/>
          </a:p>
        </p:txBody>
      </p:sp>
      <p:sp>
        <p:nvSpPr>
          <p:cNvPr id="8" name="a5_layer"/>
          <p:cNvSpPr/>
          <p:nvPr/>
        </p:nvSpPr>
        <p:spPr>
          <a:xfrm>
            <a:off x="441655" y="1234440"/>
            <a:ext cx="4114800" cy="4480560"/>
          </a:xfrm>
          <a:prstGeom prst="roundRect">
            <a:avLst>
              <a:gd name="adj" fmla="val 2667"/>
            </a:avLst>
          </a:prstGeom>
          <a:solidFill>
            <a:schemeClr val="accent2">
              <a:alpha val="75000"/>
            </a:schemeClr>
          </a:solidFill>
          <a:ln/>
        </p:spPr>
      </p:sp>
      <p:sp>
        <p:nvSpPr>
          <p:cNvPr id="9" name="a6_layer"/>
          <p:cNvSpPr/>
          <p:nvPr/>
        </p:nvSpPr>
        <p:spPr>
          <a:xfrm>
            <a:off x="898855" y="1691640"/>
            <a:ext cx="3200400" cy="3566160"/>
          </a:xfrm>
          <a:prstGeom prst="roundRect">
            <a:avLst>
              <a:gd name="adj" fmla="val 3429"/>
            </a:avLst>
          </a:prstGeom>
          <a:solidFill>
            <a:schemeClr val="accent3"/>
          </a:solidFill>
          <a:ln/>
        </p:spPr>
      </p:sp>
      <p:sp>
        <p:nvSpPr>
          <p:cNvPr id="10" name="a7_layer"/>
          <p:cNvSpPr/>
          <p:nvPr/>
        </p:nvSpPr>
        <p:spPr>
          <a:xfrm>
            <a:off x="1310335" y="2103120"/>
            <a:ext cx="2377440" cy="2743200"/>
          </a:xfrm>
          <a:prstGeom prst="roundRect">
            <a:avLst>
              <a:gd name="adj" fmla="val 4615"/>
            </a:avLst>
          </a:prstGeom>
          <a:solidFill>
            <a:schemeClr val="accent4"/>
          </a:solidFill>
          <a:ln/>
        </p:spPr>
      </p:sp>
      <p:sp>
        <p:nvSpPr>
          <p:cNvPr id="11" name="a8_layer"/>
          <p:cNvSpPr/>
          <p:nvPr/>
        </p:nvSpPr>
        <p:spPr>
          <a:xfrm>
            <a:off x="1676095" y="2468880"/>
            <a:ext cx="1645920" cy="192024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a9_cssword"/>
          <p:cNvSpPr txBox="1"/>
          <p:nvPr/>
        </p:nvSpPr>
        <p:spPr>
          <a:xfrm>
            <a:off x="1676095" y="246888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ar-EG" sz="3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هدف الدرس</a:t>
            </a:r>
            <a:endParaRPr lang="ar-EG" sz="3400" dirty="0"/>
          </a:p>
        </p:txBody>
      </p:sp>
      <p:sp>
        <p:nvSpPr>
          <p:cNvPr id="3" name="a2_panel"/>
          <p:cNvSpPr/>
          <p:nvPr/>
        </p:nvSpPr>
        <p:spPr>
          <a:xfrm>
            <a:off x="6156655" y="1508760"/>
            <a:ext cx="548640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a2_head"/>
          <p:cNvSpPr txBox="1"/>
          <p:nvPr/>
        </p:nvSpPr>
        <p:spPr>
          <a:xfrm>
            <a:off x="6476695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بنهاية هذا الدرس ستكون قادرًا على:</a:t>
            </a:r>
            <a:endParaRPr lang="ar-EG" sz="1900" dirty="0"/>
          </a:p>
        </p:txBody>
      </p:sp>
      <p:sp>
        <p:nvSpPr>
          <p:cNvPr id="5" name="a3_ico_bg"/>
          <p:cNvSpPr/>
          <p:nvPr/>
        </p:nvSpPr>
        <p:spPr>
          <a:xfrm>
            <a:off x="10774375" y="242316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a3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2508" y="2571293"/>
            <a:ext cx="252374" cy="252374"/>
          </a:xfrm>
          <a:prstGeom prst="rect">
            <a:avLst/>
          </a:prstGeom>
        </p:spPr>
      </p:pic>
      <p:sp>
        <p:nvSpPr>
          <p:cNvPr id="7" name="a3_obj"/>
          <p:cNvSpPr txBox="1"/>
          <p:nvPr/>
        </p:nvSpPr>
        <p:spPr>
          <a:xfrm>
            <a:off x="6430975" y="23317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شرح سبب الحاجة إلى وسم viewport والوحدات المرنة</a:t>
            </a:r>
            <a:endParaRPr lang="ar-EG" sz="1800" dirty="0"/>
          </a:p>
        </p:txBody>
      </p:sp>
      <p:sp>
        <p:nvSpPr>
          <p:cNvPr id="8" name="a4_ico_bg"/>
          <p:cNvSpPr/>
          <p:nvPr/>
        </p:nvSpPr>
        <p:spPr>
          <a:xfrm>
            <a:off x="10774375" y="370332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a4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508" y="3851453"/>
            <a:ext cx="252374" cy="252374"/>
          </a:xfrm>
          <a:prstGeom prst="rect">
            <a:avLst/>
          </a:prstGeom>
        </p:spPr>
      </p:pic>
      <p:sp>
        <p:nvSpPr>
          <p:cNvPr id="10" name="a4_obj"/>
          <p:cNvSpPr txBox="1"/>
          <p:nvPr/>
        </p:nvSpPr>
        <p:spPr>
          <a:xfrm>
            <a:off x="6430975" y="361188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كتابة استعلامات وسائط بأسلوب الجوال أولًا</a:t>
            </a:r>
            <a:endParaRPr lang="ar-EG" sz="1800" dirty="0"/>
          </a:p>
        </p:txBody>
      </p:sp>
      <p:sp>
        <p:nvSpPr>
          <p:cNvPr id="11" name="a5_ico_bg"/>
          <p:cNvSpPr/>
          <p:nvPr/>
        </p:nvSpPr>
        <p:spPr>
          <a:xfrm>
            <a:off x="10774375" y="49834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a5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508" y="5131613"/>
            <a:ext cx="252374" cy="252374"/>
          </a:xfrm>
          <a:prstGeom prst="rect">
            <a:avLst/>
          </a:prstGeom>
        </p:spPr>
      </p:pic>
      <p:sp>
        <p:nvSpPr>
          <p:cNvPr id="13" name="a5_obj"/>
          <p:cNvSpPr txBox="1"/>
          <p:nvPr/>
        </p:nvSpPr>
        <p:spPr>
          <a:xfrm>
            <a:off x="6430975" y="489204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بناء تخطيطات مرنة بـ max-width وgrid ودالة clamp() والوحدات النسبية</a:t>
            </a:r>
            <a:endParaRPr lang="ar-EG" sz="1800" dirty="0"/>
          </a:p>
        </p:txBody>
      </p:sp>
      <p:sp>
        <p:nvSpPr>
          <p:cNvPr id="14" name="a6_terms_head"/>
          <p:cNvSpPr txBox="1"/>
          <p:nvPr/>
        </p:nvSpPr>
        <p:spPr>
          <a:xfrm>
            <a:off x="624535" y="15087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مصطلحات أساسية</a:t>
            </a:r>
            <a:endParaRPr lang="ar-EG" sz="1900" dirty="0"/>
          </a:p>
        </p:txBody>
      </p:sp>
      <p:sp>
        <p:nvSpPr>
          <p:cNvPr id="15" name="a6_chip"/>
          <p:cNvSpPr/>
          <p:nvPr/>
        </p:nvSpPr>
        <p:spPr>
          <a:xfrm>
            <a:off x="4190695" y="2057400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6" name="a6_chip_text"/>
          <p:cNvSpPr txBox="1"/>
          <p:nvPr/>
        </p:nvSpPr>
        <p:spPr>
          <a:xfrm>
            <a:off x="4190695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Viewport</a:t>
            </a:r>
            <a:endParaRPr lang="en-US" sz="1300" dirty="0"/>
          </a:p>
        </p:txBody>
      </p:sp>
      <p:sp>
        <p:nvSpPr>
          <p:cNvPr id="17" name="a6_def"/>
          <p:cNvSpPr txBox="1"/>
          <p:nvPr/>
        </p:nvSpPr>
        <p:spPr>
          <a:xfrm>
            <a:off x="551383" y="1947672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نافذة العرض (Viewport): المساحة المرئية من الصفحة في نافذة المتصفح أو شاشة الهاتف.</a:t>
            </a:r>
            <a:endParaRPr lang="ar-EG" sz="1400" dirty="0"/>
          </a:p>
        </p:txBody>
      </p:sp>
      <p:sp>
        <p:nvSpPr>
          <p:cNvPr id="18" name="a7_chip"/>
          <p:cNvSpPr/>
          <p:nvPr/>
        </p:nvSpPr>
        <p:spPr>
          <a:xfrm>
            <a:off x="4190695" y="3127248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19" name="a7_chip_text"/>
          <p:cNvSpPr txBox="1"/>
          <p:nvPr/>
        </p:nvSpPr>
        <p:spPr>
          <a:xfrm>
            <a:off x="4190695" y="31272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 query</a:t>
            </a:r>
            <a:endParaRPr lang="en-US" sz="1300" dirty="0"/>
          </a:p>
        </p:txBody>
      </p:sp>
      <p:sp>
        <p:nvSpPr>
          <p:cNvPr id="20" name="a7_def"/>
          <p:cNvSpPr txBox="1"/>
          <p:nvPr/>
        </p:nvSpPr>
        <p:spPr>
          <a:xfrm>
            <a:off x="551383" y="3017520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استعلام الوسائط: قاعدة ‎@media‎ تطبّق CSS فقط عند تحقّق شرط، مثل عرض الشاشة.</a:t>
            </a:r>
            <a:endParaRPr lang="ar-EG" sz="1400" dirty="0"/>
          </a:p>
        </p:txBody>
      </p:sp>
      <p:sp>
        <p:nvSpPr>
          <p:cNvPr id="21" name="a8_chip"/>
          <p:cNvSpPr/>
          <p:nvPr/>
        </p:nvSpPr>
        <p:spPr>
          <a:xfrm>
            <a:off x="4190695" y="4197096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22" name="a8_chip_text"/>
          <p:cNvSpPr txBox="1"/>
          <p:nvPr/>
        </p:nvSpPr>
        <p:spPr>
          <a:xfrm>
            <a:off x="4190695" y="41970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Breakpoint</a:t>
            </a:r>
            <a:endParaRPr lang="en-US" sz="1300" dirty="0"/>
          </a:p>
        </p:txBody>
      </p:sp>
      <p:sp>
        <p:nvSpPr>
          <p:cNvPr id="23" name="a8_def"/>
          <p:cNvSpPr txBox="1"/>
          <p:nvPr/>
        </p:nvSpPr>
        <p:spPr>
          <a:xfrm>
            <a:off x="551383" y="4087368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نقطة التوقف: عرض الشاشة الذي يتغيّر عنده التخطيط، مثل 600px.</a:t>
            </a:r>
            <a:endParaRPr lang="ar-EG" sz="1400" dirty="0"/>
          </a:p>
        </p:txBody>
      </p:sp>
      <p:sp>
        <p:nvSpPr>
          <p:cNvPr id="24" name="a9_chip"/>
          <p:cNvSpPr/>
          <p:nvPr/>
        </p:nvSpPr>
        <p:spPr>
          <a:xfrm>
            <a:off x="4190695" y="5266944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</p:sp>
      <p:sp>
        <p:nvSpPr>
          <p:cNvPr id="25" name="a9_chip_text"/>
          <p:cNvSpPr txBox="1"/>
          <p:nvPr/>
        </p:nvSpPr>
        <p:spPr>
          <a:xfrm>
            <a:off x="4190695" y="52669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Mobile-first</a:t>
            </a:r>
            <a:endParaRPr lang="en-US" sz="1300" dirty="0"/>
          </a:p>
        </p:txBody>
      </p:sp>
      <p:sp>
        <p:nvSpPr>
          <p:cNvPr id="26" name="a9_def"/>
          <p:cNvSpPr txBox="1"/>
          <p:nvPr/>
        </p:nvSpPr>
        <p:spPr>
          <a:xfrm>
            <a:off x="551383" y="5157216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الجوال أولًا: اكتب تخطيط الهاتف أولًا ثم أضف استعلامات min-width للشاشات الأكبر.</a:t>
            </a:r>
            <a:endParaRPr lang="ar-EG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الأفكار الكبرى</a:t>
            </a:r>
            <a:endParaRPr lang="ar-EG" sz="3400" dirty="0"/>
          </a:p>
        </p:txBody>
      </p:sp>
      <p:sp>
        <p:nvSpPr>
          <p:cNvPr id="3" name="a2_card"/>
          <p:cNvSpPr/>
          <p:nvPr/>
        </p:nvSpPr>
        <p:spPr>
          <a:xfrm>
            <a:off x="8127797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a2_card_bar"/>
          <p:cNvSpPr/>
          <p:nvPr/>
        </p:nvSpPr>
        <p:spPr>
          <a:xfrm>
            <a:off x="10545775" y="1508760"/>
            <a:ext cx="822960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a2_num"/>
          <p:cNvSpPr/>
          <p:nvPr/>
        </p:nvSpPr>
        <p:spPr>
          <a:xfrm>
            <a:off x="10865815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2_numt"/>
          <p:cNvSpPr txBox="1"/>
          <p:nvPr/>
        </p:nvSpPr>
        <p:spPr>
          <a:xfrm>
            <a:off x="10865815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800" dirty="0"/>
          </a:p>
        </p:txBody>
      </p:sp>
      <p:sp>
        <p:nvSpPr>
          <p:cNvPr id="7" name="a2_card_h"/>
          <p:cNvSpPr txBox="1"/>
          <p:nvPr/>
        </p:nvSpPr>
        <p:spPr>
          <a:xfrm>
            <a:off x="8402117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أخبر الهاتف الحقيقة</a:t>
            </a:r>
            <a:endParaRPr lang="ar-EG" sz="2000" dirty="0"/>
          </a:p>
        </p:txBody>
      </p:sp>
      <p:sp>
        <p:nvSpPr>
          <p:cNvPr id="8" name="a2_card_b"/>
          <p:cNvSpPr txBox="1"/>
          <p:nvPr/>
        </p:nvSpPr>
        <p:spPr>
          <a:xfrm>
            <a:off x="8402117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دون وسم viewport تتظاهر الهواتف بأن عرضها نحو 980px وتصغّر صفحتك. هذا السطر الواحد في &lt;head&gt; يفعّل السلوك المتجاوب الحقيقي.</a:t>
            </a:r>
            <a:endParaRPr lang="ar-EG" sz="1500" dirty="0"/>
          </a:p>
        </p:txBody>
      </p:sp>
      <p:sp>
        <p:nvSpPr>
          <p:cNvPr id="9" name="a2_card_codebg"/>
          <p:cNvSpPr/>
          <p:nvPr/>
        </p:nvSpPr>
        <p:spPr>
          <a:xfrm>
            <a:off x="8402117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0" name="a2_card_code"/>
          <p:cNvSpPr txBox="1"/>
          <p:nvPr/>
        </p:nvSpPr>
        <p:spPr>
          <a:xfrm>
            <a:off x="8402117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name="viewport" content="width=device-width, initial-scale=1"&gt;</a:t>
            </a:r>
            <a:endParaRPr lang="en-US" sz="1300" dirty="0"/>
          </a:p>
        </p:txBody>
      </p:sp>
      <p:sp>
        <p:nvSpPr>
          <p:cNvPr id="11" name="a3_card"/>
          <p:cNvSpPr/>
          <p:nvPr/>
        </p:nvSpPr>
        <p:spPr>
          <a:xfrm>
            <a:off x="4338218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2" name="a3_card_bar"/>
          <p:cNvSpPr/>
          <p:nvPr/>
        </p:nvSpPr>
        <p:spPr>
          <a:xfrm>
            <a:off x="6756197" y="1508760"/>
            <a:ext cx="822960" cy="822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a3_num"/>
          <p:cNvSpPr/>
          <p:nvPr/>
        </p:nvSpPr>
        <p:spPr>
          <a:xfrm>
            <a:off x="7076237" y="17830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7076237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800" dirty="0"/>
          </a:p>
        </p:txBody>
      </p:sp>
      <p:sp>
        <p:nvSpPr>
          <p:cNvPr id="15" name="a3_card_h"/>
          <p:cNvSpPr txBox="1"/>
          <p:nvPr/>
        </p:nvSpPr>
        <p:spPr>
          <a:xfrm>
            <a:off x="4612538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كن مرنًا افتراضيًا</a:t>
            </a:r>
            <a:endParaRPr lang="ar-EG" sz="2000" dirty="0"/>
          </a:p>
        </p:txBody>
      </p:sp>
      <p:sp>
        <p:nvSpPr>
          <p:cNvPr id="16" name="a3_card_b"/>
          <p:cNvSpPr txBox="1"/>
          <p:nvPr/>
        </p:nvSpPr>
        <p:spPr>
          <a:xfrm>
            <a:off x="4612538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استخدم النسب المئوية ووحدة fr وmax-width وrem بدل العروض الثابتة بالبكسل. واجعل الصور تصغر بـ max-width: 100%. عندها ينثني التخطيط بدل أن ينكسر.</a:t>
            </a:r>
            <a:endParaRPr lang="ar-EG" sz="1500" dirty="0"/>
          </a:p>
        </p:txBody>
      </p:sp>
      <p:sp>
        <p:nvSpPr>
          <p:cNvPr id="17" name="a3_card_codebg"/>
          <p:cNvSpPr/>
          <p:nvPr/>
        </p:nvSpPr>
        <p:spPr>
          <a:xfrm>
            <a:off x="4612538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8" name="a3_card_code"/>
          <p:cNvSpPr txBox="1"/>
          <p:nvPr/>
        </p:nvSpPr>
        <p:spPr>
          <a:xfrm>
            <a:off x="4612538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{ max-width: 100%; }</a:t>
            </a:r>
            <a:endParaRPr lang="en-US" sz="1300" dirty="0"/>
          </a:p>
        </p:txBody>
      </p:sp>
      <p:sp>
        <p:nvSpPr>
          <p:cNvPr id="19" name="a4_card"/>
          <p:cNvSpPr/>
          <p:nvPr/>
        </p:nvSpPr>
        <p:spPr>
          <a:xfrm>
            <a:off x="548640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a4_card_bar"/>
          <p:cNvSpPr/>
          <p:nvPr/>
        </p:nvSpPr>
        <p:spPr>
          <a:xfrm>
            <a:off x="2966618" y="1508760"/>
            <a:ext cx="822960" cy="8229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1" name="a4_num"/>
          <p:cNvSpPr/>
          <p:nvPr/>
        </p:nvSpPr>
        <p:spPr>
          <a:xfrm>
            <a:off x="3286658" y="17830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2" name="a4_numt"/>
          <p:cNvSpPr txBox="1"/>
          <p:nvPr/>
        </p:nvSpPr>
        <p:spPr>
          <a:xfrm>
            <a:off x="328665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800" dirty="0"/>
          </a:p>
        </p:txBody>
      </p:sp>
      <p:sp>
        <p:nvSpPr>
          <p:cNvPr id="23" name="a4_card_h"/>
          <p:cNvSpPr txBox="1"/>
          <p:nvPr/>
        </p:nvSpPr>
        <p:spPr>
          <a:xfrm>
            <a:off x="822960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أضف قواعد عند نقاط التوقف</a:t>
            </a:r>
            <a:endParaRPr lang="ar-EG" sz="2000" dirty="0"/>
          </a:p>
        </p:txBody>
      </p:sp>
      <p:sp>
        <p:nvSpPr>
          <p:cNvPr id="24" name="a4_card_b"/>
          <p:cNvSpPr txBox="1"/>
          <p:nvPr/>
        </p:nvSpPr>
        <p:spPr>
          <a:xfrm>
            <a:off x="822960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ابدأ بتخطيط عمود واحد للهاتف، ثم استخدم ‎@media‎ (min-width: ...) لإضافة أعمدة حين تتسع الشاشة. واختر نقاط التوقف حيث يبدأ تصميمك بالسوء.</a:t>
            </a:r>
            <a:endParaRPr lang="ar-EG" sz="1500" dirty="0"/>
          </a:p>
        </p:txBody>
      </p:sp>
      <p:sp>
        <p:nvSpPr>
          <p:cNvPr id="25" name="a4_card_codebg"/>
          <p:cNvSpPr/>
          <p:nvPr/>
        </p:nvSpPr>
        <p:spPr>
          <a:xfrm>
            <a:off x="822960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26" name="a4_card_code"/>
          <p:cNvSpPr txBox="1"/>
          <p:nvPr/>
        </p:nvSpPr>
        <p:spPr>
          <a:xfrm>
            <a:off x="822960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600px)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صفحة واحدة، ثلاث شاشات</a:t>
            </a:r>
            <a:endParaRPr lang="ar-EG" sz="3400" dirty="0"/>
          </a:p>
        </p:txBody>
      </p:sp>
      <p:sp>
        <p:nvSpPr>
          <p:cNvPr id="3" name="a2_frame"/>
          <p:cNvSpPr/>
          <p:nvPr/>
        </p:nvSpPr>
        <p:spPr>
          <a:xfrm>
            <a:off x="4620463" y="1435608"/>
            <a:ext cx="7095744" cy="4718304"/>
          </a:xfrm>
          <a:prstGeom prst="roundRect">
            <a:avLst>
              <a:gd name="adj" fmla="val 1938"/>
            </a:avLst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a2_diagram" descr="/home/user/Python/CSS_Course/assets/ar_l6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3615" y="1508760"/>
            <a:ext cx="6949440" cy="4572000"/>
          </a:xfrm>
          <a:prstGeom prst="rect">
            <a:avLst/>
          </a:prstGeom>
        </p:spPr>
      </p:pic>
      <p:sp>
        <p:nvSpPr>
          <p:cNvPr id="5" name="a3_num"/>
          <p:cNvSpPr/>
          <p:nvPr/>
        </p:nvSpPr>
        <p:spPr>
          <a:xfrm>
            <a:off x="3824935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3824935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600" dirty="0"/>
          </a:p>
        </p:txBody>
      </p:sp>
      <p:sp>
        <p:nvSpPr>
          <p:cNvPr id="7" name="a3_cap"/>
          <p:cNvSpPr txBox="1"/>
          <p:nvPr/>
        </p:nvSpPr>
        <p:spPr>
          <a:xfrm>
            <a:off x="533095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الهاتف (أقل من 600px): عمود واحد، وكل شيء مكدّس.</a:t>
            </a:r>
            <a:endParaRPr lang="ar-EG" sz="1600" dirty="0"/>
          </a:p>
        </p:txBody>
      </p:sp>
      <p:sp>
        <p:nvSpPr>
          <p:cNvPr id="8" name="a4_num"/>
          <p:cNvSpPr/>
          <p:nvPr/>
        </p:nvSpPr>
        <p:spPr>
          <a:xfrm>
            <a:off x="3824935" y="31546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3824935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600" dirty="0"/>
          </a:p>
        </p:txBody>
      </p:sp>
      <p:sp>
        <p:nvSpPr>
          <p:cNvPr id="10" name="a4_cap"/>
          <p:cNvSpPr txBox="1"/>
          <p:nvPr/>
        </p:nvSpPr>
        <p:spPr>
          <a:xfrm>
            <a:off x="533095" y="3063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اللوحي (600px فأكثر): عمودان للبطاقات.</a:t>
            </a:r>
            <a:endParaRPr lang="ar-EG" sz="1600" dirty="0"/>
          </a:p>
        </p:txBody>
      </p:sp>
      <p:sp>
        <p:nvSpPr>
          <p:cNvPr id="11" name="a5_num"/>
          <p:cNvSpPr/>
          <p:nvPr/>
        </p:nvSpPr>
        <p:spPr>
          <a:xfrm>
            <a:off x="3824935" y="46177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3824935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600" dirty="0"/>
          </a:p>
        </p:txBody>
      </p:sp>
      <p:sp>
        <p:nvSpPr>
          <p:cNvPr id="13" name="a5_cap"/>
          <p:cNvSpPr txBox="1"/>
          <p:nvPr/>
        </p:nvSpPr>
        <p:spPr>
          <a:xfrm>
            <a:off x="533095" y="4526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الحاسوب (900px فأكثر): ثلاثة أعمدة ومساحة أكبر.</a:t>
            </a:r>
            <a:endParaRPr lang="ar-EG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window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مثال 1: حاويات وصور مرنة</a:t>
            </a:r>
            <a:endParaRPr lang="ar-EG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استخدم النسب المئوية وmax-width لتتكيّف العناصر بدل أن تفيض.</a:t>
            </a:r>
            <a:endParaRPr lang="ar-EG" sz="1600" dirty="0"/>
          </a:p>
        </p:txBody>
      </p:sp>
      <p:sp>
        <p:nvSpPr>
          <p:cNvPr id="5" name="a3_code"/>
          <p:cNvSpPr/>
          <p:nvPr/>
        </p:nvSpPr>
        <p:spPr>
          <a:xfrm>
            <a:off x="6019495" y="1783080"/>
            <a:ext cx="5623560" cy="3377184"/>
          </a:xfrm>
          <a:prstGeom prst="roundRect">
            <a:avLst>
              <a:gd name="adj" fmla="val 324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6238951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6458407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6677863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7025335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6732727" y="2350008"/>
            <a:ext cx="4754880" cy="2636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90%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max-width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700px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 auto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.photo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aspect-ratio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16 / 9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linear-gradient(cyan, blue)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12px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max-width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100%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auto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6293815" y="25732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6293815" y="25732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13" name="a3_num"/>
          <p:cNvSpPr/>
          <p:nvPr/>
        </p:nvSpPr>
        <p:spPr>
          <a:xfrm>
            <a:off x="6293815" y="27891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6293815" y="27891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15" name="a3_num"/>
          <p:cNvSpPr/>
          <p:nvPr/>
        </p:nvSpPr>
        <p:spPr>
          <a:xfrm>
            <a:off x="6293815" y="36527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6293815" y="36527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17" name="a3_num"/>
          <p:cNvSpPr/>
          <p:nvPr/>
        </p:nvSpPr>
        <p:spPr>
          <a:xfrm>
            <a:off x="6293815" y="451637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3_numt"/>
          <p:cNvSpPr txBox="1"/>
          <p:nvPr/>
        </p:nvSpPr>
        <p:spPr>
          <a:xfrm>
            <a:off x="6293815" y="45163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100" dirty="0"/>
          </a:p>
        </p:txBody>
      </p:sp>
      <p:sp>
        <p:nvSpPr>
          <p:cNvPr id="19" name="a5_html"/>
          <p:cNvSpPr/>
          <p:nvPr/>
        </p:nvSpPr>
        <p:spPr>
          <a:xfrm>
            <a:off x="6019495" y="5297424"/>
            <a:ext cx="5623560" cy="966216"/>
          </a:xfrm>
          <a:prstGeom prst="roundRect">
            <a:avLst>
              <a:gd name="adj" fmla="val 9464"/>
            </a:avLst>
          </a:prstGeom>
          <a:solidFill>
            <a:schemeClr val="bg2"/>
          </a:solidFill>
          <a:ln/>
        </p:spPr>
      </p:sp>
      <p:sp>
        <p:nvSpPr>
          <p:cNvPr id="20" name="a5_html_h"/>
          <p:cNvSpPr txBox="1"/>
          <p:nvPr/>
        </p:nvSpPr>
        <p:spPr>
          <a:xfrm>
            <a:off x="9631375" y="5370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شيفرة HTML المستخدمة</a:t>
            </a:r>
            <a:endParaRPr lang="ar-EG" sz="1100" dirty="0"/>
          </a:p>
        </p:txBody>
      </p:sp>
      <p:sp>
        <p:nvSpPr>
          <p:cNvPr id="21" name="a5_html_text"/>
          <p:cNvSpPr txBox="1"/>
          <p:nvPr/>
        </p:nvSpPr>
        <p:spPr>
          <a:xfrm>
            <a:off x="6202375" y="5644896"/>
            <a:ext cx="525780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class="container"&gt;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class="photo"&gt;&lt;/div&gt;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50" dirty="0"/>
          </a:p>
        </p:txBody>
      </p:sp>
      <p:sp>
        <p:nvSpPr>
          <p:cNvPr id="22" name="a4_browser"/>
          <p:cNvSpPr/>
          <p:nvPr/>
        </p:nvSpPr>
        <p:spPr>
          <a:xfrm>
            <a:off x="548640" y="1783080"/>
            <a:ext cx="5242255" cy="2241451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a4_browser_bar"/>
          <p:cNvSpPr/>
          <p:nvPr/>
        </p:nvSpPr>
        <p:spPr>
          <a:xfrm>
            <a:off x="548640" y="1783080"/>
            <a:ext cx="524225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73152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a4_browser_dot"/>
          <p:cNvSpPr/>
          <p:nvPr/>
        </p:nvSpPr>
        <p:spPr>
          <a:xfrm>
            <a:off x="93268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a4_browser_dot"/>
          <p:cNvSpPr/>
          <p:nvPr/>
        </p:nvSpPr>
        <p:spPr>
          <a:xfrm>
            <a:off x="113385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7" name="a4_browser_url"/>
          <p:cNvSpPr/>
          <p:nvPr/>
        </p:nvSpPr>
        <p:spPr>
          <a:xfrm>
            <a:off x="1463040" y="1847088"/>
            <a:ext cx="414497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8" name="a4_browser_urltext"/>
          <p:cNvSpPr txBox="1"/>
          <p:nvPr/>
        </p:nvSpPr>
        <p:spPr>
          <a:xfrm>
            <a:off x="1572768" y="1847088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lesson6/example1/index.html</a:t>
            </a:r>
            <a:endParaRPr lang="en-US" sz="1100" dirty="0"/>
          </a:p>
        </p:txBody>
      </p:sp>
      <p:pic>
        <p:nvPicPr>
          <p:cNvPr id="29" name="a4_shot" descr="/home/user/Python/CSS_Course/assets/l6_ex1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85416"/>
            <a:ext cx="3505141" cy="1564795"/>
          </a:xfrm>
          <a:prstGeom prst="rect">
            <a:avLst/>
          </a:prstGeom>
        </p:spPr>
      </p:pic>
      <p:sp>
        <p:nvSpPr>
          <p:cNvPr id="30" name="a4_shot_label"/>
          <p:cNvSpPr txBox="1"/>
          <p:nvPr/>
        </p:nvSpPr>
        <p:spPr>
          <a:xfrm>
            <a:off x="548640" y="3786787"/>
            <a:ext cx="35051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حاسوب (560px)</a:t>
            </a:r>
            <a:endParaRPr lang="ar-EG" sz="1100" dirty="0"/>
          </a:p>
        </p:txBody>
      </p:sp>
      <p:pic>
        <p:nvPicPr>
          <p:cNvPr id="31" name="a4_shot" descr="/home/user/Python/CSS_Course/assets/l6_ex1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3509" y="2185416"/>
            <a:ext cx="1627387" cy="1564795"/>
          </a:xfrm>
          <a:prstGeom prst="rect">
            <a:avLst/>
          </a:prstGeom>
        </p:spPr>
      </p:pic>
      <p:sp>
        <p:nvSpPr>
          <p:cNvPr id="32" name="a4_shot_label"/>
          <p:cNvSpPr txBox="1"/>
          <p:nvPr/>
        </p:nvSpPr>
        <p:spPr>
          <a:xfrm>
            <a:off x="4163509" y="3786787"/>
            <a:ext cx="16273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هاتف (260px)</a:t>
            </a:r>
            <a:endParaRPr lang="ar-EG" sz="1100" dirty="0"/>
          </a:p>
        </p:txBody>
      </p:sp>
      <p:sp>
        <p:nvSpPr>
          <p:cNvPr id="33" name="a6_num"/>
          <p:cNvSpPr/>
          <p:nvPr/>
        </p:nvSpPr>
        <p:spPr>
          <a:xfrm>
            <a:off x="5562295" y="4243987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a6_numt"/>
          <p:cNvSpPr txBox="1"/>
          <p:nvPr/>
        </p:nvSpPr>
        <p:spPr>
          <a:xfrm>
            <a:off x="5562295" y="424398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35" name="a6_ann"/>
          <p:cNvSpPr txBox="1"/>
          <p:nvPr/>
        </p:nvSpPr>
        <p:spPr>
          <a:xfrm>
            <a:off x="548640" y="4207411"/>
            <a:ext cx="4894783" cy="507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من عرض الشاشة: تنكمش مع الشاشة.</a:t>
            </a:r>
            <a:endParaRPr lang="ar-EG" sz="1250" dirty="0"/>
          </a:p>
        </p:txBody>
      </p:sp>
      <p:sp>
        <p:nvSpPr>
          <p:cNvPr id="36" name="a7_num"/>
          <p:cNvSpPr/>
          <p:nvPr/>
        </p:nvSpPr>
        <p:spPr>
          <a:xfrm>
            <a:off x="5562295" y="4769474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7" name="a7_numt"/>
          <p:cNvSpPr txBox="1"/>
          <p:nvPr/>
        </p:nvSpPr>
        <p:spPr>
          <a:xfrm>
            <a:off x="5562295" y="476947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38" name="a7_ann"/>
          <p:cNvSpPr txBox="1"/>
          <p:nvPr/>
        </p:nvSpPr>
        <p:spPr>
          <a:xfrm>
            <a:off x="548640" y="4732898"/>
            <a:ext cx="4894783" cy="507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max-width تمنعها من الاتساع أكثر من اللازم على الشاشات الكبيرة.</a:t>
            </a:r>
            <a:endParaRPr lang="ar-EG" sz="1250" dirty="0"/>
          </a:p>
        </p:txBody>
      </p:sp>
      <p:sp>
        <p:nvSpPr>
          <p:cNvPr id="39" name="a8_num"/>
          <p:cNvSpPr/>
          <p:nvPr/>
        </p:nvSpPr>
        <p:spPr>
          <a:xfrm>
            <a:off x="5562295" y="5294961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0" name="a8_numt"/>
          <p:cNvSpPr txBox="1"/>
          <p:nvPr/>
        </p:nvSpPr>
        <p:spPr>
          <a:xfrm>
            <a:off x="5562295" y="5294961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41" name="a8_ann"/>
          <p:cNvSpPr txBox="1"/>
          <p:nvPr/>
        </p:nvSpPr>
        <p:spPr>
          <a:xfrm>
            <a:off x="548640" y="5258385"/>
            <a:ext cx="4894783" cy="507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aspect-ratio تحافظ على شكل 16:9 عند أي عرض.</a:t>
            </a:r>
            <a:endParaRPr lang="ar-EG" sz="1250" dirty="0"/>
          </a:p>
        </p:txBody>
      </p:sp>
      <p:sp>
        <p:nvSpPr>
          <p:cNvPr id="42" name="a9_num"/>
          <p:cNvSpPr/>
          <p:nvPr/>
        </p:nvSpPr>
        <p:spPr>
          <a:xfrm>
            <a:off x="5562295" y="5820449"/>
            <a:ext cx="228600" cy="228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3" name="a9_numt"/>
          <p:cNvSpPr txBox="1"/>
          <p:nvPr/>
        </p:nvSpPr>
        <p:spPr>
          <a:xfrm>
            <a:off x="5562295" y="582044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100" dirty="0"/>
          </a:p>
        </p:txBody>
      </p:sp>
      <p:sp>
        <p:nvSpPr>
          <p:cNvPr id="44" name="a9_ann"/>
          <p:cNvSpPr txBox="1"/>
          <p:nvPr/>
        </p:nvSpPr>
        <p:spPr>
          <a:xfrm>
            <a:off x="548640" y="5783873"/>
            <a:ext cx="4894783" cy="507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للصور الحقيقية: لا تتجاوز عرض حاويتها وتحافظ على نسبتها.</a:t>
            </a:r>
            <a:endParaRPr lang="ar-EG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6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9" dur="6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3" dur="6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6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7" dur="6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مثال 2: استعلامات وسائط بأسلوب الجوال أولًا</a:t>
            </a:r>
            <a:endParaRPr lang="ar-EG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عمود واحد افتراضيًا، وعمودان حين يبلغ عرض الشاشة 600px على الأقل.</a:t>
            </a:r>
            <a:endParaRPr lang="ar-EG" sz="1600" dirty="0"/>
          </a:p>
        </p:txBody>
      </p:sp>
      <p:sp>
        <p:nvSpPr>
          <p:cNvPr id="5" name="a3_code"/>
          <p:cNvSpPr/>
          <p:nvPr/>
        </p:nvSpPr>
        <p:spPr>
          <a:xfrm>
            <a:off x="6019495" y="1783080"/>
            <a:ext cx="5623560" cy="3834384"/>
          </a:xfrm>
          <a:prstGeom prst="roundRect">
            <a:avLst>
              <a:gd name="adj" fmla="val 286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6238951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6458407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6677863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7025335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6732727" y="2350008"/>
            <a:ext cx="4754880" cy="3093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.cards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grid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12px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#eef2ff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18px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10px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600px)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.cards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grid-template-columns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1fr 1fr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a3_num"/>
          <p:cNvSpPr/>
          <p:nvPr/>
        </p:nvSpPr>
        <p:spPr>
          <a:xfrm>
            <a:off x="6293815" y="255422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6293815" y="2554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13" name="a3_num"/>
          <p:cNvSpPr/>
          <p:nvPr/>
        </p:nvSpPr>
        <p:spPr>
          <a:xfrm>
            <a:off x="6293815" y="417982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6293815" y="4179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15" name="a3_num"/>
          <p:cNvSpPr/>
          <p:nvPr/>
        </p:nvSpPr>
        <p:spPr>
          <a:xfrm>
            <a:off x="6293815" y="458622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6293815" y="4586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17" name="a4_browser"/>
          <p:cNvSpPr/>
          <p:nvPr/>
        </p:nvSpPr>
        <p:spPr>
          <a:xfrm>
            <a:off x="548640" y="1783080"/>
            <a:ext cx="5242255" cy="2387498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8" name="a4_browser_bar"/>
          <p:cNvSpPr/>
          <p:nvPr/>
        </p:nvSpPr>
        <p:spPr>
          <a:xfrm>
            <a:off x="548640" y="1783080"/>
            <a:ext cx="524225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a4_browser_dot"/>
          <p:cNvSpPr/>
          <p:nvPr/>
        </p:nvSpPr>
        <p:spPr>
          <a:xfrm>
            <a:off x="73152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0" name="a4_browser_dot"/>
          <p:cNvSpPr/>
          <p:nvPr/>
        </p:nvSpPr>
        <p:spPr>
          <a:xfrm>
            <a:off x="93268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a4_browser_dot"/>
          <p:cNvSpPr/>
          <p:nvPr/>
        </p:nvSpPr>
        <p:spPr>
          <a:xfrm>
            <a:off x="113385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2" name="a4_browser_url"/>
          <p:cNvSpPr/>
          <p:nvPr/>
        </p:nvSpPr>
        <p:spPr>
          <a:xfrm>
            <a:off x="1463040" y="1847088"/>
            <a:ext cx="414497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3" name="a4_browser_urltext"/>
          <p:cNvSpPr txBox="1"/>
          <p:nvPr/>
        </p:nvSpPr>
        <p:spPr>
          <a:xfrm>
            <a:off x="1572768" y="1847088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lesson6/example2/index.html</a:t>
            </a:r>
            <a:endParaRPr lang="en-US" sz="1100" dirty="0"/>
          </a:p>
        </p:txBody>
      </p:sp>
      <p:pic>
        <p:nvPicPr>
          <p:cNvPr id="24" name="a4_shot" descr="/home/user/Python/CSS_Course/assets/l6_ex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85416"/>
            <a:ext cx="3649797" cy="1710842"/>
          </a:xfrm>
          <a:prstGeom prst="rect">
            <a:avLst/>
          </a:prstGeom>
        </p:spPr>
      </p:pic>
      <p:sp>
        <p:nvSpPr>
          <p:cNvPr id="25" name="a4_shot_label"/>
          <p:cNvSpPr txBox="1"/>
          <p:nvPr/>
        </p:nvSpPr>
        <p:spPr>
          <a:xfrm>
            <a:off x="548640" y="3932834"/>
            <a:ext cx="36497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عريضة (640px)</a:t>
            </a:r>
            <a:endParaRPr lang="ar-EG" sz="1100" dirty="0"/>
          </a:p>
        </p:txBody>
      </p:sp>
      <p:pic>
        <p:nvPicPr>
          <p:cNvPr id="26" name="a4_shot" descr="/home/user/Python/CSS_Course/assets/l6_ex2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165" y="2185416"/>
            <a:ext cx="1482730" cy="1710842"/>
          </a:xfrm>
          <a:prstGeom prst="rect">
            <a:avLst/>
          </a:prstGeom>
        </p:spPr>
      </p:pic>
      <p:sp>
        <p:nvSpPr>
          <p:cNvPr id="27" name="a4_shot_label"/>
          <p:cNvSpPr txBox="1"/>
          <p:nvPr/>
        </p:nvSpPr>
        <p:spPr>
          <a:xfrm>
            <a:off x="4308165" y="3932834"/>
            <a:ext cx="14827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ضيقة (260px)</a:t>
            </a:r>
            <a:endParaRPr lang="ar-EG" sz="1100" dirty="0"/>
          </a:p>
        </p:txBody>
      </p:sp>
      <p:sp>
        <p:nvSpPr>
          <p:cNvPr id="28" name="a6_num"/>
          <p:cNvSpPr/>
          <p:nvPr/>
        </p:nvSpPr>
        <p:spPr>
          <a:xfrm>
            <a:off x="5562295" y="4390034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a6_numt"/>
          <p:cNvSpPr txBox="1"/>
          <p:nvPr/>
        </p:nvSpPr>
        <p:spPr>
          <a:xfrm>
            <a:off x="5562295" y="439003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30" name="a6_ann"/>
          <p:cNvSpPr txBox="1"/>
          <p:nvPr/>
        </p:nvSpPr>
        <p:spPr>
          <a:xfrm>
            <a:off x="548640" y="4353458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أعمدة محدّدة: عمود واحد (تخطيط الهاتف).</a:t>
            </a:r>
            <a:endParaRPr lang="ar-EG" sz="1250" dirty="0"/>
          </a:p>
        </p:txBody>
      </p:sp>
      <p:sp>
        <p:nvSpPr>
          <p:cNvPr id="31" name="a7_num"/>
          <p:cNvSpPr/>
          <p:nvPr/>
        </p:nvSpPr>
        <p:spPr>
          <a:xfrm>
            <a:off x="5562295" y="4956962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2" name="a7_numt"/>
          <p:cNvSpPr txBox="1"/>
          <p:nvPr/>
        </p:nvSpPr>
        <p:spPr>
          <a:xfrm>
            <a:off x="5562295" y="495696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33" name="a7_ann"/>
          <p:cNvSpPr txBox="1"/>
          <p:nvPr/>
        </p:nvSpPr>
        <p:spPr>
          <a:xfrm>
            <a:off x="548640" y="4920386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‎@media‎ (min-width: 600px): القواعد داخلها تُطبَّق فقط على شاشات 600px فأكثر.</a:t>
            </a:r>
            <a:endParaRPr lang="ar-EG" sz="1250" dirty="0"/>
          </a:p>
        </p:txBody>
      </p:sp>
      <p:sp>
        <p:nvSpPr>
          <p:cNvPr id="34" name="a8_num"/>
          <p:cNvSpPr/>
          <p:nvPr/>
        </p:nvSpPr>
        <p:spPr>
          <a:xfrm>
            <a:off x="5562295" y="5523890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5" name="a8_numt"/>
          <p:cNvSpPr txBox="1"/>
          <p:nvPr/>
        </p:nvSpPr>
        <p:spPr>
          <a:xfrm>
            <a:off x="5562295" y="552389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36" name="a8_ann"/>
          <p:cNvSpPr txBox="1"/>
          <p:nvPr/>
        </p:nvSpPr>
        <p:spPr>
          <a:xfrm>
            <a:off x="548640" y="5487314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يظهر عمودان متساويان حين تتوفر المساحة.</a:t>
            </a:r>
            <a:endParaRPr lang="ar-EG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مثال 3: خط مرن وقائمة متجاوبة</a:t>
            </a:r>
            <a:endParaRPr lang="ar-EG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clamp() تحدّد حجم خط مرنًا؛ واستعلام وسائط يحوّل القائمة إلى صف.</a:t>
            </a:r>
            <a:endParaRPr lang="ar-EG" sz="1600" dirty="0"/>
          </a:p>
        </p:txBody>
      </p:sp>
      <p:sp>
        <p:nvSpPr>
          <p:cNvPr id="5" name="a3_code"/>
          <p:cNvSpPr/>
          <p:nvPr/>
        </p:nvSpPr>
        <p:spPr>
          <a:xfrm>
            <a:off x="6019495" y="1783080"/>
            <a:ext cx="5623560" cy="3377184"/>
          </a:xfrm>
          <a:prstGeom prst="roundRect">
            <a:avLst>
              <a:gd name="adj" fmla="val 324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6238951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6458407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6677863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7025335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6732727" y="2350008"/>
            <a:ext cx="4754880" cy="2636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clamp(1.4rem, 5vw, 3rem)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flex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flex-direction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column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600px)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flex-direction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row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6293815" y="27891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6293815" y="27891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13" name="a3_num"/>
          <p:cNvSpPr/>
          <p:nvPr/>
        </p:nvSpPr>
        <p:spPr>
          <a:xfrm>
            <a:off x="6293815" y="34368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6293815" y="34368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15" name="a3_num"/>
          <p:cNvSpPr/>
          <p:nvPr/>
        </p:nvSpPr>
        <p:spPr>
          <a:xfrm>
            <a:off x="6293815" y="43004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6293815" y="43004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17" name="a5_html"/>
          <p:cNvSpPr/>
          <p:nvPr/>
        </p:nvSpPr>
        <p:spPr>
          <a:xfrm>
            <a:off x="6019495" y="5297424"/>
            <a:ext cx="5623560" cy="966216"/>
          </a:xfrm>
          <a:prstGeom prst="roundRect">
            <a:avLst>
              <a:gd name="adj" fmla="val 9464"/>
            </a:avLst>
          </a:prstGeom>
          <a:solidFill>
            <a:schemeClr val="bg2"/>
          </a:solidFill>
          <a:ln/>
        </p:spPr>
      </p:sp>
      <p:sp>
        <p:nvSpPr>
          <p:cNvPr id="18" name="a5_html_h"/>
          <p:cNvSpPr txBox="1"/>
          <p:nvPr/>
        </p:nvSpPr>
        <p:spPr>
          <a:xfrm>
            <a:off x="9631375" y="5370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شيفرة HTML المستخدمة</a:t>
            </a:r>
            <a:endParaRPr lang="ar-EG" sz="1100" dirty="0"/>
          </a:p>
        </p:txBody>
      </p:sp>
      <p:sp>
        <p:nvSpPr>
          <p:cNvPr id="19" name="a5_html_text"/>
          <p:cNvSpPr txBox="1"/>
          <p:nvPr/>
        </p:nvSpPr>
        <p:spPr>
          <a:xfrm>
            <a:off x="6202375" y="5644896"/>
            <a:ext cx="525780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&lt;h1&gt;Class 3B&lt;/h1&gt;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 class="nav"&gt;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50" dirty="0"/>
          </a:p>
        </p:txBody>
      </p:sp>
      <p:sp>
        <p:nvSpPr>
          <p:cNvPr id="20" name="a4_browser"/>
          <p:cNvSpPr/>
          <p:nvPr/>
        </p:nvSpPr>
        <p:spPr>
          <a:xfrm>
            <a:off x="548640" y="1783080"/>
            <a:ext cx="5242255" cy="1760190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a4_browser_bar"/>
          <p:cNvSpPr/>
          <p:nvPr/>
        </p:nvSpPr>
        <p:spPr>
          <a:xfrm>
            <a:off x="548640" y="1783080"/>
            <a:ext cx="524225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a4_browser_dot"/>
          <p:cNvSpPr/>
          <p:nvPr/>
        </p:nvSpPr>
        <p:spPr>
          <a:xfrm>
            <a:off x="73152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a4_browser_dot"/>
          <p:cNvSpPr/>
          <p:nvPr/>
        </p:nvSpPr>
        <p:spPr>
          <a:xfrm>
            <a:off x="93268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113385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5" name="a4_browser_url"/>
          <p:cNvSpPr/>
          <p:nvPr/>
        </p:nvSpPr>
        <p:spPr>
          <a:xfrm>
            <a:off x="1463040" y="1847088"/>
            <a:ext cx="414497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6" name="a4_browser_urltext"/>
          <p:cNvSpPr txBox="1"/>
          <p:nvPr/>
        </p:nvSpPr>
        <p:spPr>
          <a:xfrm>
            <a:off x="1572768" y="1847088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lesson6/example3/index.html</a:t>
            </a:r>
            <a:endParaRPr lang="en-US" sz="1100" dirty="0"/>
          </a:p>
        </p:txBody>
      </p:sp>
      <p:pic>
        <p:nvPicPr>
          <p:cNvPr id="27" name="a4_shot" descr="/home/user/Python/CSS_Course/assets/l6_ex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85416"/>
            <a:ext cx="3649797" cy="1083534"/>
          </a:xfrm>
          <a:prstGeom prst="rect">
            <a:avLst/>
          </a:prstGeom>
        </p:spPr>
      </p:pic>
      <p:sp>
        <p:nvSpPr>
          <p:cNvPr id="28" name="a4_shot_label"/>
          <p:cNvSpPr txBox="1"/>
          <p:nvPr/>
        </p:nvSpPr>
        <p:spPr>
          <a:xfrm>
            <a:off x="548640" y="3305526"/>
            <a:ext cx="36497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عريضة (640px)</a:t>
            </a:r>
            <a:endParaRPr lang="ar-EG" sz="1100" dirty="0"/>
          </a:p>
        </p:txBody>
      </p:sp>
      <p:pic>
        <p:nvPicPr>
          <p:cNvPr id="29" name="a4_shot" descr="/home/user/Python/CSS_Course/assets/l6_ex3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165" y="2185416"/>
            <a:ext cx="1482730" cy="1083534"/>
          </a:xfrm>
          <a:prstGeom prst="rect">
            <a:avLst/>
          </a:prstGeom>
        </p:spPr>
      </p:pic>
      <p:sp>
        <p:nvSpPr>
          <p:cNvPr id="30" name="a4_shot_label"/>
          <p:cNvSpPr txBox="1"/>
          <p:nvPr/>
        </p:nvSpPr>
        <p:spPr>
          <a:xfrm>
            <a:off x="4308165" y="3305526"/>
            <a:ext cx="14827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ضيقة (260px)</a:t>
            </a:r>
            <a:endParaRPr lang="ar-EG" sz="1100" dirty="0"/>
          </a:p>
        </p:txBody>
      </p:sp>
      <p:sp>
        <p:nvSpPr>
          <p:cNvPr id="31" name="a6_num"/>
          <p:cNvSpPr/>
          <p:nvPr/>
        </p:nvSpPr>
        <p:spPr>
          <a:xfrm>
            <a:off x="5562295" y="3762726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a6_numt"/>
          <p:cNvSpPr txBox="1"/>
          <p:nvPr/>
        </p:nvSpPr>
        <p:spPr>
          <a:xfrm>
            <a:off x="5562295" y="376272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33" name="a6_ann"/>
          <p:cNvSpPr txBox="1"/>
          <p:nvPr/>
        </p:nvSpPr>
        <p:spPr>
          <a:xfrm>
            <a:off x="548640" y="3726150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clamp(الأدنى، المفضّل، الأقصى): يكبر مع الشاشة لكنه يبقى بين 1.4rem و3rem.</a:t>
            </a:r>
            <a:endParaRPr lang="ar-EG" sz="1250" dirty="0"/>
          </a:p>
        </p:txBody>
      </p:sp>
      <p:sp>
        <p:nvSpPr>
          <p:cNvPr id="34" name="a7_num"/>
          <p:cNvSpPr/>
          <p:nvPr/>
        </p:nvSpPr>
        <p:spPr>
          <a:xfrm>
            <a:off x="5562295" y="4329654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5" name="a7_numt"/>
          <p:cNvSpPr txBox="1"/>
          <p:nvPr/>
        </p:nvSpPr>
        <p:spPr>
          <a:xfrm>
            <a:off x="5562295" y="432965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36" name="a7_ann"/>
          <p:cNvSpPr txBox="1"/>
          <p:nvPr/>
        </p:nvSpPr>
        <p:spPr>
          <a:xfrm>
            <a:off x="548640" y="4293078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على الهواتف تُكدَّس الروابط في عمود.</a:t>
            </a:r>
            <a:endParaRPr lang="ar-EG" sz="1250" dirty="0"/>
          </a:p>
        </p:txBody>
      </p:sp>
      <p:sp>
        <p:nvSpPr>
          <p:cNvPr id="37" name="a8_num"/>
          <p:cNvSpPr/>
          <p:nvPr/>
        </p:nvSpPr>
        <p:spPr>
          <a:xfrm>
            <a:off x="5562295" y="4896582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8" name="a8_numt"/>
          <p:cNvSpPr txBox="1"/>
          <p:nvPr/>
        </p:nvSpPr>
        <p:spPr>
          <a:xfrm>
            <a:off x="5562295" y="489658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39" name="a8_ann"/>
          <p:cNvSpPr txBox="1"/>
          <p:nvPr/>
        </p:nvSpPr>
        <p:spPr>
          <a:xfrm>
            <a:off x="548640" y="4860006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ابتداءً من 600px تصير القائمة صفًّا.</a:t>
            </a:r>
            <a:endParaRPr lang="ar-EG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conveyor dir="l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في الواقع: موقع واحد لكل الأجهزة</a:t>
            </a:r>
            <a:endParaRPr lang="ar-EG" sz="3400" dirty="0"/>
          </a:p>
        </p:txBody>
      </p:sp>
      <p:sp>
        <p:nvSpPr>
          <p:cNvPr id="3" name="a2_card"/>
          <p:cNvSpPr/>
          <p:nvPr/>
        </p:nvSpPr>
        <p:spPr>
          <a:xfrm>
            <a:off x="8127797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a2_ico_bg"/>
          <p:cNvSpPr/>
          <p:nvPr/>
        </p:nvSpPr>
        <p:spPr>
          <a:xfrm>
            <a:off x="10637215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4726" y="1980590"/>
            <a:ext cx="336499" cy="336499"/>
          </a:xfrm>
          <a:prstGeom prst="rect">
            <a:avLst/>
          </a:prstGeom>
        </p:spPr>
      </p:pic>
      <p:sp>
        <p:nvSpPr>
          <p:cNvPr id="6" name="a2_card_h"/>
          <p:cNvSpPr txBox="1"/>
          <p:nvPr/>
        </p:nvSpPr>
        <p:spPr>
          <a:xfrm>
            <a:off x="8402117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معظم الزوار على الهواتف</a:t>
            </a:r>
            <a:endParaRPr lang="ar-EG" sz="1900" dirty="0"/>
          </a:p>
        </p:txBody>
      </p:sp>
      <p:sp>
        <p:nvSpPr>
          <p:cNvPr id="7" name="a2_card_b"/>
          <p:cNvSpPr txBox="1"/>
          <p:nvPr/>
        </p:nvSpPr>
        <p:spPr>
          <a:xfrm>
            <a:off x="8402117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يتصفح كثيرون من هواتفهم فقط. والصفحة التي تتطلب تكبيرًا وتمريرًا جانبيًا تخسر زوّارها سريعًا.</a:t>
            </a:r>
            <a:endParaRPr lang="ar-EG" sz="1500" dirty="0"/>
          </a:p>
        </p:txBody>
      </p:sp>
      <p:sp>
        <p:nvSpPr>
          <p:cNvPr id="8" name="a3_card"/>
          <p:cNvSpPr/>
          <p:nvPr/>
        </p:nvSpPr>
        <p:spPr>
          <a:xfrm>
            <a:off x="4338218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a3_ico_bg"/>
          <p:cNvSpPr/>
          <p:nvPr/>
        </p:nvSpPr>
        <p:spPr>
          <a:xfrm>
            <a:off x="6847637" y="17830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147" y="1980590"/>
            <a:ext cx="336499" cy="336499"/>
          </a:xfrm>
          <a:prstGeom prst="rect">
            <a:avLst/>
          </a:prstGeom>
        </p:spPr>
      </p:pic>
      <p:sp>
        <p:nvSpPr>
          <p:cNvPr id="11" name="a3_card_h"/>
          <p:cNvSpPr txBox="1"/>
          <p:nvPr/>
        </p:nvSpPr>
        <p:spPr>
          <a:xfrm>
            <a:off x="4612538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المتاجر والخدمات</a:t>
            </a:r>
            <a:endParaRPr lang="ar-EG" sz="1900" dirty="0"/>
          </a:p>
        </p:txBody>
      </p:sp>
      <p:sp>
        <p:nvSpPr>
          <p:cNvPr id="12" name="a3_card_b"/>
          <p:cNvSpPr txBox="1"/>
          <p:nvPr/>
        </p:nvSpPr>
        <p:spPr>
          <a:xfrm>
            <a:off x="4612538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تعرض المتاجر منتجًا في كل صف على الهاتف وشبكة كاملة على الحاسوب، بهذه التقنيات نفسها.</a:t>
            </a:r>
            <a:endParaRPr lang="ar-EG" sz="1500" dirty="0"/>
          </a:p>
        </p:txBody>
      </p:sp>
      <p:sp>
        <p:nvSpPr>
          <p:cNvPr id="13" name="a4_card"/>
          <p:cNvSpPr/>
          <p:nvPr/>
        </p:nvSpPr>
        <p:spPr>
          <a:xfrm>
            <a:off x="548640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a4_ico_bg"/>
          <p:cNvSpPr/>
          <p:nvPr/>
        </p:nvSpPr>
        <p:spPr>
          <a:xfrm>
            <a:off x="3058058" y="178308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569" y="1980590"/>
            <a:ext cx="336499" cy="336499"/>
          </a:xfrm>
          <a:prstGeom prst="rect">
            <a:avLst/>
          </a:prstGeom>
        </p:spPr>
      </p:pic>
      <p:sp>
        <p:nvSpPr>
          <p:cNvPr id="16" name="a4_card_h"/>
          <p:cNvSpPr txBox="1"/>
          <p:nvPr/>
        </p:nvSpPr>
        <p:spPr>
          <a:xfrm>
            <a:off x="822960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بوابات المدارس والامتحانات</a:t>
            </a:r>
            <a:endParaRPr lang="ar-EG" sz="1900" dirty="0"/>
          </a:p>
        </p:txBody>
      </p:sp>
      <p:sp>
        <p:nvSpPr>
          <p:cNvPr id="17" name="a4_card_b"/>
          <p:cNvSpPr txBox="1"/>
          <p:nvPr/>
        </p:nvSpPr>
        <p:spPr>
          <a:xfrm>
            <a:off x="822960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يفتح الطالب البوابة نفسها من الحاسوب في الصف ومن الهاتف في البيت. CSS المتجاوبة تخدم الحالتين.</a:t>
            </a:r>
            <a:endParaRPr lang="ar-EG" sz="1500" dirty="0"/>
          </a:p>
        </p:txBody>
      </p:sp>
      <p:sp>
        <p:nvSpPr>
          <p:cNvPr id="18" name="a5_try"/>
          <p:cNvSpPr/>
          <p:nvPr/>
        </p:nvSpPr>
        <p:spPr>
          <a:xfrm>
            <a:off x="548640" y="4892040"/>
            <a:ext cx="11094415" cy="123444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19" name="a5_ico_bg"/>
          <p:cNvSpPr/>
          <p:nvPr/>
        </p:nvSpPr>
        <p:spPr>
          <a:xfrm>
            <a:off x="10728655" y="52120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9132" y="5372557"/>
            <a:ext cx="273406" cy="273406"/>
          </a:xfrm>
          <a:prstGeom prst="rect">
            <a:avLst/>
          </a:prstGeom>
        </p:spPr>
      </p:pic>
      <p:sp>
        <p:nvSpPr>
          <p:cNvPr id="21" name="a5_try_text"/>
          <p:cNvSpPr txBox="1"/>
          <p:nvPr/>
        </p:nvSpPr>
        <p:spPr>
          <a:xfrm>
            <a:off x="914400" y="4983480"/>
            <a:ext cx="95399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جرّب بنفسك: </a:t>
            </a:r>
            <a:pPr algn="r" indent="0" marL="0">
              <a:buNone/>
            </a:pPr>
            <a:r>
              <a:rPr lang="ar-EG" alt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افتح DevTools (F12) واضغط Ctrl+Shift+M (أو Cmd+Shift+M على ماك) لشريط الأجهزة. اختر هاتفًا ثم اسحب العرض لترى نقاط التوقف تعمل.</a:t>
            </a:r>
            <a:endParaRPr lang="ar-EG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أخطاء شائعة</a:t>
            </a:r>
            <a:endParaRPr lang="ar-EG" sz="3400" dirty="0"/>
          </a:p>
        </p:txBody>
      </p:sp>
      <p:sp>
        <p:nvSpPr>
          <p:cNvPr id="3" name="a1_hdr"/>
          <p:cNvSpPr txBox="1"/>
          <p:nvPr/>
        </p:nvSpPr>
        <p:spPr>
          <a:xfrm>
            <a:off x="7985455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rgbClr val="C02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تجنّب</a:t>
            </a:r>
            <a:endParaRPr lang="ar-EG" sz="1500" dirty="0"/>
          </a:p>
        </p:txBody>
      </p:sp>
      <p:sp>
        <p:nvSpPr>
          <p:cNvPr id="4" name="a1_hdr"/>
          <p:cNvSpPr txBox="1"/>
          <p:nvPr/>
        </p:nvSpPr>
        <p:spPr>
          <a:xfrm>
            <a:off x="4099255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افعل هذا بدلًا منه</a:t>
            </a:r>
            <a:endParaRPr lang="ar-EG" sz="1500" dirty="0"/>
          </a:p>
        </p:txBody>
      </p:sp>
      <p:sp>
        <p:nvSpPr>
          <p:cNvPr id="5" name="a1_hdr"/>
          <p:cNvSpPr txBox="1"/>
          <p:nvPr/>
        </p:nvSpPr>
        <p:spPr>
          <a:xfrm>
            <a:off x="167335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rgbClr val="2B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السبب</a:t>
            </a:r>
            <a:endParaRPr lang="ar-EG" sz="1500" dirty="0"/>
          </a:p>
        </p:txBody>
      </p:sp>
      <p:sp>
        <p:nvSpPr>
          <p:cNvPr id="6" name="a2_bad"/>
          <p:cNvSpPr/>
          <p:nvPr/>
        </p:nvSpPr>
        <p:spPr>
          <a:xfrm>
            <a:off x="7894015" y="178308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7" name="a2_bad_bar"/>
          <p:cNvSpPr/>
          <p:nvPr/>
        </p:nvSpPr>
        <p:spPr>
          <a:xfrm>
            <a:off x="11569903" y="1892808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" name="a2_bad_t"/>
          <p:cNvSpPr txBox="1"/>
          <p:nvPr/>
        </p:nvSpPr>
        <p:spPr>
          <a:xfrm>
            <a:off x="7985455" y="178308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&lt;title&gt;My page&lt;/title&gt;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300" dirty="0"/>
          </a:p>
        </p:txBody>
      </p:sp>
      <p:sp>
        <p:nvSpPr>
          <p:cNvPr id="9" name="a2_good"/>
          <p:cNvSpPr/>
          <p:nvPr/>
        </p:nvSpPr>
        <p:spPr>
          <a:xfrm>
            <a:off x="4007815" y="178308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10" name="a2_good_bar"/>
          <p:cNvSpPr/>
          <p:nvPr/>
        </p:nvSpPr>
        <p:spPr>
          <a:xfrm>
            <a:off x="7683703" y="1892808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1" name="a2_good_t"/>
          <p:cNvSpPr txBox="1"/>
          <p:nvPr/>
        </p:nvSpPr>
        <p:spPr>
          <a:xfrm>
            <a:off x="4099255" y="178308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name="viewport"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content="width=device-width,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initial-scale=1"&gt;</a:t>
            </a:r>
            <a:endParaRPr lang="en-US" sz="1300" dirty="0"/>
          </a:p>
        </p:txBody>
      </p:sp>
      <p:sp>
        <p:nvSpPr>
          <p:cNvPr id="12" name="a2_why"/>
          <p:cNvSpPr txBox="1"/>
          <p:nvPr/>
        </p:nvSpPr>
        <p:spPr>
          <a:xfrm>
            <a:off x="551383" y="1783080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دون وسم viewport تعرض الهواتف صفحة حاسوب مصغّرة، وتتصرف استعلامات الوسائط بغرابة.</a:t>
            </a:r>
            <a:endParaRPr lang="ar-EG" sz="1400" dirty="0"/>
          </a:p>
        </p:txBody>
      </p:sp>
      <p:sp>
        <p:nvSpPr>
          <p:cNvPr id="13" name="a3_bad"/>
          <p:cNvSpPr/>
          <p:nvPr/>
        </p:nvSpPr>
        <p:spPr>
          <a:xfrm>
            <a:off x="7894015" y="3264408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14" name="a3_bad_bar"/>
          <p:cNvSpPr/>
          <p:nvPr/>
        </p:nvSpPr>
        <p:spPr>
          <a:xfrm>
            <a:off x="11569903" y="3374136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" name="a3_bad_t"/>
          <p:cNvSpPr txBox="1"/>
          <p:nvPr/>
        </p:nvSpPr>
        <p:spPr>
          <a:xfrm>
            <a:off x="7985455" y="326440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.page { width: 960px; }</a:t>
            </a:r>
            <a:endParaRPr lang="en-US" sz="1300" dirty="0"/>
          </a:p>
        </p:txBody>
      </p:sp>
      <p:sp>
        <p:nvSpPr>
          <p:cNvPr id="16" name="a3_good"/>
          <p:cNvSpPr/>
          <p:nvPr/>
        </p:nvSpPr>
        <p:spPr>
          <a:xfrm>
            <a:off x="4007815" y="3264408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17" name="a3_good_bar"/>
          <p:cNvSpPr/>
          <p:nvPr/>
        </p:nvSpPr>
        <p:spPr>
          <a:xfrm>
            <a:off x="7683703" y="3374136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8" name="a3_good_t"/>
          <p:cNvSpPr txBox="1"/>
          <p:nvPr/>
        </p:nvSpPr>
        <p:spPr>
          <a:xfrm>
            <a:off x="4099255" y="326440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.page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100%;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max-width: 960px;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9" name="a3_why"/>
          <p:cNvSpPr txBox="1"/>
          <p:nvPr/>
        </p:nvSpPr>
        <p:spPr>
          <a:xfrm>
            <a:off x="551383" y="3264408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العرض الثابت يفرض تمريرًا جانبيًا على الشاشات الصغيرة. max-width تتيح للعنصر أن ينكمش.</a:t>
            </a:r>
            <a:endParaRPr lang="ar-EG" sz="1400" dirty="0"/>
          </a:p>
        </p:txBody>
      </p:sp>
      <p:sp>
        <p:nvSpPr>
          <p:cNvPr id="20" name="a4_bad"/>
          <p:cNvSpPr/>
          <p:nvPr/>
        </p:nvSpPr>
        <p:spPr>
          <a:xfrm>
            <a:off x="7894015" y="4745736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21" name="a4_bad_bar"/>
          <p:cNvSpPr/>
          <p:nvPr/>
        </p:nvSpPr>
        <p:spPr>
          <a:xfrm>
            <a:off x="11569903" y="4855464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2" name="a4_bad_t"/>
          <p:cNvSpPr txBox="1"/>
          <p:nvPr/>
        </p:nvSpPr>
        <p:spPr>
          <a:xfrm>
            <a:off x="7985455" y="4745736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min-width: 600px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3" name="a4_good"/>
          <p:cNvSpPr/>
          <p:nvPr/>
        </p:nvSpPr>
        <p:spPr>
          <a:xfrm>
            <a:off x="4007815" y="4745736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24" name="a4_good_bar"/>
          <p:cNvSpPr/>
          <p:nvPr/>
        </p:nvSpPr>
        <p:spPr>
          <a:xfrm>
            <a:off x="7683703" y="4855464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5" name="a4_good_t"/>
          <p:cNvSpPr txBox="1"/>
          <p:nvPr/>
        </p:nvSpPr>
        <p:spPr>
          <a:xfrm>
            <a:off x="4099255" y="4745736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600px)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6" name="a4_why"/>
          <p:cNvSpPr txBox="1"/>
          <p:nvPr/>
        </p:nvSpPr>
        <p:spPr>
          <a:xfrm>
            <a:off x="551383" y="4745736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يجب أن يكون الشرط بين أقواس. دونها يكون الاستعلام غير صالح ويُتجاهل.</a:t>
            </a:r>
            <a:endParaRPr lang="ar-EG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bg1"/>
                </a:solidFill>
              </a:rPr>
              <a:t>نصائح وأفضل الممارسات</a:t>
            </a:r>
            <a:endParaRPr lang="ar-EG" sz="3400" dirty="0"/>
          </a:p>
        </p:txBody>
      </p:sp>
      <p:sp>
        <p:nvSpPr>
          <p:cNvPr id="3" name="a2_card"/>
          <p:cNvSpPr/>
          <p:nvPr/>
        </p:nvSpPr>
        <p:spPr>
          <a:xfrm>
            <a:off x="6278728" y="150876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4" name="a2_ico_bg"/>
          <p:cNvSpPr/>
          <p:nvPr/>
        </p:nvSpPr>
        <p:spPr>
          <a:xfrm>
            <a:off x="10728655" y="17830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1477" y="1955902"/>
            <a:ext cx="294437" cy="294437"/>
          </a:xfrm>
          <a:prstGeom prst="rect">
            <a:avLst/>
          </a:prstGeom>
        </p:spPr>
      </p:pic>
      <p:sp>
        <p:nvSpPr>
          <p:cNvPr id="6" name="a2_card_h"/>
          <p:cNvSpPr txBox="1"/>
          <p:nvPr/>
        </p:nvSpPr>
        <p:spPr>
          <a:xfrm>
            <a:off x="6553048" y="178308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صمّم للهاتف أولًا</a:t>
            </a:r>
            <a:endParaRPr lang="ar-EG" sz="1900" dirty="0"/>
          </a:p>
        </p:txBody>
      </p:sp>
      <p:sp>
        <p:nvSpPr>
          <p:cNvPr id="7" name="a2_card_b"/>
          <p:cNvSpPr txBox="1"/>
          <p:nvPr/>
        </p:nvSpPr>
        <p:spPr>
          <a:xfrm>
            <a:off x="6553048" y="251460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اكتب تخطيط الشاشة الصغيرة كأساس ثم أضف استعلامات min-width. تصير الشيفرة أقصر وأسرع.</a:t>
            </a:r>
            <a:endParaRPr lang="ar-EG" sz="1500" dirty="0"/>
          </a:p>
        </p:txBody>
      </p:sp>
      <p:sp>
        <p:nvSpPr>
          <p:cNvPr id="8" name="a3_card"/>
          <p:cNvSpPr/>
          <p:nvPr/>
        </p:nvSpPr>
        <p:spPr>
          <a:xfrm>
            <a:off x="548640" y="150876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9" name="a3_ico_bg"/>
          <p:cNvSpPr/>
          <p:nvPr/>
        </p:nvSpPr>
        <p:spPr>
          <a:xfrm>
            <a:off x="4998568" y="178308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389" y="1955902"/>
            <a:ext cx="294437" cy="294437"/>
          </a:xfrm>
          <a:prstGeom prst="rect">
            <a:avLst/>
          </a:prstGeom>
        </p:spPr>
      </p:pic>
      <p:sp>
        <p:nvSpPr>
          <p:cNvPr id="11" name="a3_card_h"/>
          <p:cNvSpPr txBox="1"/>
          <p:nvPr/>
        </p:nvSpPr>
        <p:spPr>
          <a:xfrm>
            <a:off x="822960" y="178308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اختبر بشريط الأجهزة</a:t>
            </a:r>
            <a:endParaRPr lang="ar-EG" sz="1900" dirty="0"/>
          </a:p>
        </p:txBody>
      </p:sp>
      <p:sp>
        <p:nvSpPr>
          <p:cNvPr id="12" name="a3_card_b"/>
          <p:cNvSpPr txBox="1"/>
          <p:nvPr/>
        </p:nvSpPr>
        <p:spPr>
          <a:xfrm>
            <a:off x="822960" y="251460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اسحب عرض النافذة ببطء وأضف نقطة توقف حيث يبدأ التخطيط بالازدحام.</a:t>
            </a:r>
            <a:endParaRPr lang="ar-EG" sz="1500" dirty="0"/>
          </a:p>
        </p:txBody>
      </p:sp>
      <p:sp>
        <p:nvSpPr>
          <p:cNvPr id="13" name="a4_card"/>
          <p:cNvSpPr/>
          <p:nvPr/>
        </p:nvSpPr>
        <p:spPr>
          <a:xfrm>
            <a:off x="6278728" y="388620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14" name="a4_ico_bg"/>
          <p:cNvSpPr/>
          <p:nvPr/>
        </p:nvSpPr>
        <p:spPr>
          <a:xfrm>
            <a:off x="10728655" y="41605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1477" y="4333342"/>
            <a:ext cx="294437" cy="294437"/>
          </a:xfrm>
          <a:prstGeom prst="rect">
            <a:avLst/>
          </a:prstGeom>
        </p:spPr>
      </p:pic>
      <p:sp>
        <p:nvSpPr>
          <p:cNvPr id="16" name="a4_card_h"/>
          <p:cNvSpPr txBox="1"/>
          <p:nvPr/>
        </p:nvSpPr>
        <p:spPr>
          <a:xfrm>
            <a:off x="6553048" y="4160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أبقِ النص مقروءًا</a:t>
            </a:r>
            <a:endParaRPr lang="ar-EG" sz="1900" dirty="0"/>
          </a:p>
        </p:txBody>
      </p:sp>
      <p:sp>
        <p:nvSpPr>
          <p:cNvPr id="17" name="a4_card_b"/>
          <p:cNvSpPr txBox="1"/>
          <p:nvPr/>
        </p:nvSpPr>
        <p:spPr>
          <a:xfrm>
            <a:off x="6553048" y="489204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تعطّل التكبير. استخدم rem، واجعل السطر أقصر من نحو 75 حرفًا، وأهداف اللمس 44px على الأقل.</a:t>
            </a:r>
            <a:endParaRPr lang="ar-EG" sz="1500" dirty="0"/>
          </a:p>
        </p:txBody>
      </p:sp>
      <p:sp>
        <p:nvSpPr>
          <p:cNvPr id="18" name="a5_card"/>
          <p:cNvSpPr/>
          <p:nvPr/>
        </p:nvSpPr>
        <p:spPr>
          <a:xfrm>
            <a:off x="548640" y="388620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19" name="a5_ico_bg"/>
          <p:cNvSpPr/>
          <p:nvPr/>
        </p:nvSpPr>
        <p:spPr>
          <a:xfrm>
            <a:off x="4998568" y="41605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1389" y="4333342"/>
            <a:ext cx="294437" cy="294437"/>
          </a:xfrm>
          <a:prstGeom prst="rect">
            <a:avLst/>
          </a:prstGeom>
        </p:spPr>
      </p:pic>
      <p:sp>
        <p:nvSpPr>
          <p:cNvPr id="21" name="a5_card_h"/>
          <p:cNvSpPr txBox="1"/>
          <p:nvPr/>
        </p:nvSpPr>
        <p:spPr>
          <a:xfrm>
            <a:off x="822960" y="4160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دع أدوات التخطيط تعمل</a:t>
            </a:r>
            <a:endParaRPr lang="ar-EG" sz="1900" dirty="0"/>
          </a:p>
        </p:txBody>
      </p:sp>
      <p:sp>
        <p:nvSpPr>
          <p:cNvPr id="22" name="a5_card_b"/>
          <p:cNvSpPr txBox="1"/>
          <p:nvPr/>
        </p:nvSpPr>
        <p:spPr>
          <a:xfrm>
            <a:off x="822960" y="489204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كثيرًا ما لا تحتاج flex-wrap وgrid مع auto-fit وminmax() إلى استعلامات وسائط أصلًا.</a:t>
            </a:r>
            <a:endParaRPr lang="ar-EG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نشاط: صفحة تعريف متجاوبة</a:t>
            </a:r>
            <a:endParaRPr lang="ar-EG" sz="3400" dirty="0"/>
          </a:p>
        </p:txBody>
      </p:sp>
      <p:sp>
        <p:nvSpPr>
          <p:cNvPr id="3" name="a2_chip"/>
          <p:cNvSpPr/>
          <p:nvPr/>
        </p:nvSpPr>
        <p:spPr>
          <a:xfrm>
            <a:off x="10271455" y="137160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a2_chip_t"/>
          <p:cNvSpPr txBox="1"/>
          <p:nvPr/>
        </p:nvSpPr>
        <p:spPr>
          <a:xfrm>
            <a:off x="10271455" y="1371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الوقت: 25 دقيقة</a:t>
            </a:r>
            <a:endParaRPr lang="ar-EG" sz="1200" dirty="0"/>
          </a:p>
        </p:txBody>
      </p:sp>
      <p:sp>
        <p:nvSpPr>
          <p:cNvPr id="5" name="a2_chip"/>
          <p:cNvSpPr/>
          <p:nvPr/>
        </p:nvSpPr>
        <p:spPr>
          <a:xfrm>
            <a:off x="8396935" y="13716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a2_chip_t"/>
          <p:cNvSpPr txBox="1"/>
          <p:nvPr/>
        </p:nvSpPr>
        <p:spPr>
          <a:xfrm>
            <a:off x="8396935" y="1371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نشاط عملي</a:t>
            </a:r>
            <a:endParaRPr lang="ar-EG" sz="1200" dirty="0"/>
          </a:p>
        </p:txBody>
      </p:sp>
      <p:sp>
        <p:nvSpPr>
          <p:cNvPr id="7" name="a3_brief"/>
          <p:cNvSpPr txBox="1"/>
          <p:nvPr/>
        </p:nvSpPr>
        <p:spPr>
          <a:xfrm>
            <a:off x="5973775" y="1828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شيفرة HTML تحوي وسم viewport. اكتب CSS بأسلوب الجوال أولًا، ثم أضف التخطيطات الأعرض.</a:t>
            </a:r>
            <a:endParaRPr lang="ar-EG" sz="1500" dirty="0"/>
          </a:p>
        </p:txBody>
      </p:sp>
      <p:sp>
        <p:nvSpPr>
          <p:cNvPr id="8" name="a4_num"/>
          <p:cNvSpPr/>
          <p:nvPr/>
        </p:nvSpPr>
        <p:spPr>
          <a:xfrm>
            <a:off x="11332159" y="2651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11332159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300" dirty="0"/>
          </a:p>
        </p:txBody>
      </p:sp>
      <p:sp>
        <p:nvSpPr>
          <p:cNvPr id="10" name="a4_step"/>
          <p:cNvSpPr txBox="1"/>
          <p:nvPr/>
        </p:nvSpPr>
        <p:spPr>
          <a:xfrm>
            <a:off x="5973775" y="2606040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الأنماط الأساسية: وسّط ‎.wrap‎ بـ max-width: 900px وحشو 16px، واجعل الصور مرنة.</a:t>
            </a:r>
            <a:endParaRPr lang="ar-EG" sz="1400" dirty="0"/>
          </a:p>
        </p:txBody>
      </p:sp>
      <p:sp>
        <p:nvSpPr>
          <p:cNvPr id="11" name="a5_num"/>
          <p:cNvSpPr/>
          <p:nvPr/>
        </p:nvSpPr>
        <p:spPr>
          <a:xfrm>
            <a:off x="11332159" y="3218688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11332159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300" dirty="0"/>
          </a:p>
        </p:txBody>
      </p:sp>
      <p:sp>
        <p:nvSpPr>
          <p:cNvPr id="13" name="a5_step"/>
          <p:cNvSpPr txBox="1"/>
          <p:nvPr/>
        </p:nvSpPr>
        <p:spPr>
          <a:xfrm>
            <a:off x="5973775" y="3172968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اجعل ‎.skills‎ شبكة مع gap: 12px؛ على الهاتف عمود واحد.</a:t>
            </a:r>
            <a:endParaRPr lang="ar-EG" sz="1400" dirty="0"/>
          </a:p>
        </p:txBody>
      </p:sp>
      <p:sp>
        <p:nvSpPr>
          <p:cNvPr id="14" name="a6_num"/>
          <p:cNvSpPr/>
          <p:nvPr/>
        </p:nvSpPr>
        <p:spPr>
          <a:xfrm>
            <a:off x="11332159" y="3785616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a6_numt"/>
          <p:cNvSpPr txBox="1"/>
          <p:nvPr/>
        </p:nvSpPr>
        <p:spPr>
          <a:xfrm>
            <a:off x="11332159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300" dirty="0"/>
          </a:p>
        </p:txBody>
      </p:sp>
      <p:sp>
        <p:nvSpPr>
          <p:cNvPr id="16" name="a6_step"/>
          <p:cNvSpPr txBox="1"/>
          <p:nvPr/>
        </p:nvSpPr>
        <p:spPr>
          <a:xfrm>
            <a:off x="5973775" y="3739896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عند min-width: 600px اجعل ‎.skills‎ عمودين.</a:t>
            </a:r>
            <a:endParaRPr lang="ar-EG" sz="1400" dirty="0"/>
          </a:p>
        </p:txBody>
      </p:sp>
      <p:sp>
        <p:nvSpPr>
          <p:cNvPr id="17" name="a7_num"/>
          <p:cNvSpPr/>
          <p:nvPr/>
        </p:nvSpPr>
        <p:spPr>
          <a:xfrm>
            <a:off x="11332159" y="4352544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7_numt"/>
          <p:cNvSpPr txBox="1"/>
          <p:nvPr/>
        </p:nvSpPr>
        <p:spPr>
          <a:xfrm>
            <a:off x="11332159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300" dirty="0"/>
          </a:p>
        </p:txBody>
      </p:sp>
      <p:sp>
        <p:nvSpPr>
          <p:cNvPr id="19" name="a7_step"/>
          <p:cNvSpPr txBox="1"/>
          <p:nvPr/>
        </p:nvSpPr>
        <p:spPr>
          <a:xfrm>
            <a:off x="5973775" y="4306824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عند min-width: 900px اجعل ‎.skills‎ ثلاثة أعمدة.</a:t>
            </a:r>
            <a:endParaRPr lang="ar-EG" sz="1400" dirty="0"/>
          </a:p>
        </p:txBody>
      </p:sp>
      <p:sp>
        <p:nvSpPr>
          <p:cNvPr id="20" name="a8_num"/>
          <p:cNvSpPr/>
          <p:nvPr/>
        </p:nvSpPr>
        <p:spPr>
          <a:xfrm>
            <a:off x="11332159" y="4919472"/>
            <a:ext cx="310896" cy="31089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1" name="a8_numt"/>
          <p:cNvSpPr txBox="1"/>
          <p:nvPr/>
        </p:nvSpPr>
        <p:spPr>
          <a:xfrm>
            <a:off x="11332159" y="4919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ar-EG" sz="1300" dirty="0"/>
          </a:p>
        </p:txBody>
      </p:sp>
      <p:sp>
        <p:nvSpPr>
          <p:cNvPr id="22" name="a8_step"/>
          <p:cNvSpPr txBox="1"/>
          <p:nvPr/>
        </p:nvSpPr>
        <p:spPr>
          <a:xfrm>
            <a:off x="5973775" y="4873752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استخدم clamp() لحجم h1.</a:t>
            </a:r>
            <a:endParaRPr lang="ar-EG" sz="1400" dirty="0"/>
          </a:p>
        </p:txBody>
      </p:sp>
      <p:sp>
        <p:nvSpPr>
          <p:cNvPr id="23" name="a9_bonus"/>
          <p:cNvSpPr/>
          <p:nvPr/>
        </p:nvSpPr>
        <p:spPr>
          <a:xfrm>
            <a:off x="5973775" y="548640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F4D1"/>
          </a:solidFill>
          <a:ln/>
        </p:spPr>
      </p:sp>
      <p:sp>
        <p:nvSpPr>
          <p:cNvPr id="24" name="a9_bonus_t"/>
          <p:cNvSpPr txBox="1"/>
          <p:nvPr/>
        </p:nvSpPr>
        <p:spPr>
          <a:xfrm>
            <a:off x="6156655" y="5486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إضافي: </a:t>
            </a:r>
            <a:pPr algn="r" indent="0" marL="0">
              <a:buNone/>
            </a:pPr>
            <a:r>
              <a:rPr lang="ar-EG" alt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عند 900px فأكثر ضع النص والصورة جنبًا إلى جنب بـ flexbox.</a:t>
            </a:r>
            <a:endParaRPr lang="ar-EG" sz="1350" dirty="0"/>
          </a:p>
        </p:txBody>
      </p:sp>
      <p:sp>
        <p:nvSpPr>
          <p:cNvPr id="25" name="a2_goal_l"/>
          <p:cNvSpPr txBox="1"/>
          <p:nvPr/>
        </p:nvSpPr>
        <p:spPr>
          <a:xfrm>
            <a:off x="548640" y="1371600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الهدف: ينبغي أن تبدو صفحتك هكذا</a:t>
            </a:r>
            <a:endParaRPr lang="ar-EG" sz="1400" dirty="0"/>
          </a:p>
        </p:txBody>
      </p:sp>
      <p:sp>
        <p:nvSpPr>
          <p:cNvPr id="26" name="a3_browser"/>
          <p:cNvSpPr/>
          <p:nvPr/>
        </p:nvSpPr>
        <p:spPr>
          <a:xfrm>
            <a:off x="548640" y="1828800"/>
            <a:ext cx="5059375" cy="2615813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a3_browser_bar"/>
          <p:cNvSpPr/>
          <p:nvPr/>
        </p:nvSpPr>
        <p:spPr>
          <a:xfrm>
            <a:off x="548640" y="1828800"/>
            <a:ext cx="505937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a3_browser_dot"/>
          <p:cNvSpPr/>
          <p:nvPr/>
        </p:nvSpPr>
        <p:spPr>
          <a:xfrm>
            <a:off x="731520" y="196596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9" name="a3_browser_dot"/>
          <p:cNvSpPr/>
          <p:nvPr/>
        </p:nvSpPr>
        <p:spPr>
          <a:xfrm>
            <a:off x="932688" y="196596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a3_browser_dot"/>
          <p:cNvSpPr/>
          <p:nvPr/>
        </p:nvSpPr>
        <p:spPr>
          <a:xfrm>
            <a:off x="1133856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1" name="a3_browser_url"/>
          <p:cNvSpPr/>
          <p:nvPr/>
        </p:nvSpPr>
        <p:spPr>
          <a:xfrm>
            <a:off x="1463040" y="1892808"/>
            <a:ext cx="396209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32" name="a3_browser_urltext"/>
          <p:cNvSpPr txBox="1"/>
          <p:nvPr/>
        </p:nvSpPr>
        <p:spPr>
          <a:xfrm>
            <a:off x="1572768" y="189280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lesson6/activity/solution/index.html</a:t>
            </a:r>
            <a:endParaRPr lang="en-US" sz="1100" dirty="0"/>
          </a:p>
        </p:txBody>
      </p:sp>
      <p:pic>
        <p:nvPicPr>
          <p:cNvPr id="33" name="a3_shot" descr="/home/user/Python/CSS_Course/assets/l6_act_so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31136"/>
            <a:ext cx="5059375" cy="2213477"/>
          </a:xfrm>
          <a:prstGeom prst="rect">
            <a:avLst/>
          </a:prstGeom>
        </p:spPr>
      </p:pic>
      <p:sp>
        <p:nvSpPr>
          <p:cNvPr id="34" name="a10_files"/>
          <p:cNvSpPr/>
          <p:nvPr/>
        </p:nvSpPr>
        <p:spPr>
          <a:xfrm>
            <a:off x="548640" y="4673213"/>
            <a:ext cx="5059375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35" name="a10_files_t"/>
          <p:cNvSpPr txBox="1"/>
          <p:nvPr/>
        </p:nvSpPr>
        <p:spPr>
          <a:xfrm>
            <a:off x="731520" y="4673213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ابدأ من:  </a:t>
            </a:r>
            <a:pPr algn="r" indent="0" marL="0">
              <a:buNone/>
            </a:pPr>
            <a:r>
              <a:rPr lang="ar-EG" alt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code/lesson6/activity/</a:t>
            </a:r>
            <a:endParaRPr lang="ar-EG" sz="1150" dirty="0"/>
          </a:p>
          <a:p>
            <a:pPr algn="r" indent="0" marL="0">
              <a:buNone/>
            </a:pPr>
            <a:r>
              <a:rPr lang="ar-EG" alt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قارن مع:  </a:t>
            </a:r>
            <a:pPr algn="r" indent="0" marL="0">
              <a:buNone/>
            </a:pPr>
            <a:r>
              <a:rPr lang="ar-EG" alt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code/lesson6/activity/solution/</a:t>
            </a:r>
            <a:endParaRPr lang="ar-EG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bg1"/>
                </a:solidFill>
              </a:rPr>
              <a:t>تحدٍّ: تخطيط يعيد ترتيب نفسه</a:t>
            </a:r>
            <a:endParaRPr lang="ar-EG" sz="3400" dirty="0"/>
          </a:p>
        </p:txBody>
      </p:sp>
      <p:sp>
        <p:nvSpPr>
          <p:cNvPr id="3" name="a2_chip"/>
          <p:cNvSpPr/>
          <p:nvPr/>
        </p:nvSpPr>
        <p:spPr>
          <a:xfrm>
            <a:off x="10271455" y="137160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a2_chip_t"/>
          <p:cNvSpPr txBox="1"/>
          <p:nvPr/>
        </p:nvSpPr>
        <p:spPr>
          <a:xfrm>
            <a:off x="10271455" y="1371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الوقت: 30 دقيقة</a:t>
            </a:r>
            <a:endParaRPr lang="ar-EG" sz="1200" dirty="0"/>
          </a:p>
        </p:txBody>
      </p:sp>
      <p:sp>
        <p:nvSpPr>
          <p:cNvPr id="5" name="a2_chip"/>
          <p:cNvSpPr/>
          <p:nvPr/>
        </p:nvSpPr>
        <p:spPr>
          <a:xfrm>
            <a:off x="8396935" y="13716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6" name="a2_chip_t"/>
          <p:cNvSpPr txBox="1"/>
          <p:nvPr/>
        </p:nvSpPr>
        <p:spPr>
          <a:xfrm>
            <a:off x="8396935" y="1371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تحدٍّ</a:t>
            </a:r>
            <a:endParaRPr lang="ar-EG" sz="1200" dirty="0"/>
          </a:p>
        </p:txBody>
      </p:sp>
      <p:sp>
        <p:nvSpPr>
          <p:cNvPr id="7" name="a3_brief"/>
          <p:cNvSpPr txBox="1"/>
          <p:nvPr/>
        </p:nvSpPr>
        <p:spPr>
          <a:xfrm>
            <a:off x="5973775" y="1828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ابنِ صفحة يكون شريطها الجانبي تحت المقال على الهواتف وبجانبه على الشاشات الأكبر.</a:t>
            </a:r>
            <a:endParaRPr lang="ar-EG" sz="1500" dirty="0"/>
          </a:p>
        </p:txBody>
      </p:sp>
      <p:sp>
        <p:nvSpPr>
          <p:cNvPr id="8" name="a4_num"/>
          <p:cNvSpPr/>
          <p:nvPr/>
        </p:nvSpPr>
        <p:spPr>
          <a:xfrm>
            <a:off x="11332159" y="2651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11332159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300" dirty="0"/>
          </a:p>
        </p:txBody>
      </p:sp>
      <p:sp>
        <p:nvSpPr>
          <p:cNvPr id="10" name="a4_step"/>
          <p:cNvSpPr txBox="1"/>
          <p:nvPr/>
        </p:nvSpPr>
        <p:spPr>
          <a:xfrm>
            <a:off x="5973775" y="260604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تخطيط الهاتف: ‎.layout‎ عمود مرن مع gap: 16px، المقال أولًا والشريط الجانبي ثانيًا.</a:t>
            </a:r>
            <a:endParaRPr lang="ar-EG" sz="1400" dirty="0"/>
          </a:p>
        </p:txBody>
      </p:sp>
      <p:sp>
        <p:nvSpPr>
          <p:cNvPr id="11" name="a5_num"/>
          <p:cNvSpPr/>
          <p:nvPr/>
        </p:nvSpPr>
        <p:spPr>
          <a:xfrm>
            <a:off x="11332159" y="3360420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11332159" y="33604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300" dirty="0"/>
          </a:p>
        </p:txBody>
      </p:sp>
      <p:sp>
        <p:nvSpPr>
          <p:cNvPr id="13" name="a5_step"/>
          <p:cNvSpPr txBox="1"/>
          <p:nvPr/>
        </p:nvSpPr>
        <p:spPr>
          <a:xfrm>
            <a:off x="5973775" y="331470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عند min-width: 700px حوّل ‎.layout‎ إلى صف.</a:t>
            </a:r>
            <a:endParaRPr lang="ar-EG" sz="1400" dirty="0"/>
          </a:p>
        </p:txBody>
      </p:sp>
      <p:sp>
        <p:nvSpPr>
          <p:cNvPr id="14" name="a6_num"/>
          <p:cNvSpPr/>
          <p:nvPr/>
        </p:nvSpPr>
        <p:spPr>
          <a:xfrm>
            <a:off x="11332159" y="4069080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a6_numt"/>
          <p:cNvSpPr txBox="1"/>
          <p:nvPr/>
        </p:nvSpPr>
        <p:spPr>
          <a:xfrm>
            <a:off x="11332159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300" dirty="0"/>
          </a:p>
        </p:txBody>
      </p:sp>
      <p:sp>
        <p:nvSpPr>
          <p:cNvPr id="16" name="a6_step"/>
          <p:cNvSpPr txBox="1"/>
          <p:nvPr/>
        </p:nvSpPr>
        <p:spPr>
          <a:xfrm>
            <a:off x="5973775" y="402336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امنح المقال flex: 1 وللشريط الجانبي عرضًا ثابتًا 220px عند ذلك الحجم.</a:t>
            </a:r>
            <a:endParaRPr lang="ar-EG" sz="1400" dirty="0"/>
          </a:p>
        </p:txBody>
      </p:sp>
      <p:sp>
        <p:nvSpPr>
          <p:cNvPr id="17" name="a7_num"/>
          <p:cNvSpPr/>
          <p:nvPr/>
        </p:nvSpPr>
        <p:spPr>
          <a:xfrm>
            <a:off x="11332159" y="4777740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7_numt"/>
          <p:cNvSpPr txBox="1"/>
          <p:nvPr/>
        </p:nvSpPr>
        <p:spPr>
          <a:xfrm>
            <a:off x="11332159" y="47777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300" dirty="0"/>
          </a:p>
        </p:txBody>
      </p:sp>
      <p:sp>
        <p:nvSpPr>
          <p:cNvPr id="19" name="a7_step"/>
          <p:cNvSpPr txBox="1"/>
          <p:nvPr/>
        </p:nvSpPr>
        <p:spPr>
          <a:xfrm>
            <a:off x="5973775" y="473202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وسم viewport موجود في الرأس؛ اختبر في DevTools.</a:t>
            </a:r>
            <a:endParaRPr lang="ar-EG" sz="1400" dirty="0"/>
          </a:p>
        </p:txBody>
      </p:sp>
      <p:sp>
        <p:nvSpPr>
          <p:cNvPr id="20" name="a9_bonus"/>
          <p:cNvSpPr/>
          <p:nvPr/>
        </p:nvSpPr>
        <p:spPr>
          <a:xfrm>
            <a:off x="5973775" y="548640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1D2250"/>
          </a:solidFill>
          <a:ln/>
        </p:spPr>
      </p:sp>
      <p:sp>
        <p:nvSpPr>
          <p:cNvPr id="21" name="a9_bonus_t"/>
          <p:cNvSpPr txBox="1"/>
          <p:nvPr/>
        </p:nvSpPr>
        <p:spPr>
          <a:xfrm>
            <a:off x="6156655" y="5486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إضافي: </a:t>
            </a:r>
            <a:pPr algn="r" indent="0" marL="0">
              <a:buNone/>
            </a:pPr>
            <a:r>
              <a:rPr lang="ar-EG" alt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استخدم الخاصية order ليظهر الشريط الجانبي أولًا على الشاشات العريضة (الصورة المطلوبة تتضمنها).</a:t>
            </a:r>
            <a:endParaRPr lang="ar-EG" sz="1350" dirty="0"/>
          </a:p>
        </p:txBody>
      </p:sp>
      <p:sp>
        <p:nvSpPr>
          <p:cNvPr id="22" name="a2_goal_l"/>
          <p:cNvSpPr txBox="1"/>
          <p:nvPr/>
        </p:nvSpPr>
        <p:spPr>
          <a:xfrm>
            <a:off x="548640" y="1371600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المطلوب: طابق هذه النتيجة</a:t>
            </a:r>
            <a:endParaRPr lang="ar-EG" sz="1400" dirty="0"/>
          </a:p>
        </p:txBody>
      </p:sp>
      <p:sp>
        <p:nvSpPr>
          <p:cNvPr id="23" name="a3_browser"/>
          <p:cNvSpPr/>
          <p:nvPr/>
        </p:nvSpPr>
        <p:spPr>
          <a:xfrm>
            <a:off x="548640" y="1828800"/>
            <a:ext cx="5059375" cy="133432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4" name="a3_browser_bar"/>
          <p:cNvSpPr/>
          <p:nvPr/>
        </p:nvSpPr>
        <p:spPr>
          <a:xfrm>
            <a:off x="548640" y="1828800"/>
            <a:ext cx="505937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a3_browser_dot"/>
          <p:cNvSpPr/>
          <p:nvPr/>
        </p:nvSpPr>
        <p:spPr>
          <a:xfrm>
            <a:off x="731520" y="196596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6" name="a3_browser_dot"/>
          <p:cNvSpPr/>
          <p:nvPr/>
        </p:nvSpPr>
        <p:spPr>
          <a:xfrm>
            <a:off x="932688" y="196596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a3_browser_dot"/>
          <p:cNvSpPr/>
          <p:nvPr/>
        </p:nvSpPr>
        <p:spPr>
          <a:xfrm>
            <a:off x="1133856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8" name="a3_browser_url"/>
          <p:cNvSpPr/>
          <p:nvPr/>
        </p:nvSpPr>
        <p:spPr>
          <a:xfrm>
            <a:off x="1463040" y="1892808"/>
            <a:ext cx="396209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9" name="a3_browser_urltext"/>
          <p:cNvSpPr txBox="1"/>
          <p:nvPr/>
        </p:nvSpPr>
        <p:spPr>
          <a:xfrm>
            <a:off x="1572768" y="189280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lesson6/challenge/solution/index.html</a:t>
            </a:r>
            <a:endParaRPr lang="en-US" sz="1100" dirty="0"/>
          </a:p>
        </p:txBody>
      </p:sp>
      <p:pic>
        <p:nvPicPr>
          <p:cNvPr id="30" name="a3_shot" descr="/home/user/Python/CSS_Course/assets/l6_chal_so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31136"/>
            <a:ext cx="5059375" cy="931990"/>
          </a:xfrm>
          <a:prstGeom prst="rect">
            <a:avLst/>
          </a:prstGeom>
        </p:spPr>
      </p:pic>
      <p:sp>
        <p:nvSpPr>
          <p:cNvPr id="31" name="a10_files"/>
          <p:cNvSpPr/>
          <p:nvPr/>
        </p:nvSpPr>
        <p:spPr>
          <a:xfrm>
            <a:off x="548640" y="3391726"/>
            <a:ext cx="5059375" cy="914400"/>
          </a:xfrm>
          <a:prstGeom prst="roundRect">
            <a:avLst>
              <a:gd name="adj" fmla="val 10000"/>
            </a:avLst>
          </a:prstGeom>
          <a:solidFill>
            <a:srgbClr val="1D2250"/>
          </a:solidFill>
          <a:ln/>
        </p:spPr>
      </p:sp>
      <p:sp>
        <p:nvSpPr>
          <p:cNvPr id="32" name="a10_files_t"/>
          <p:cNvSpPr txBox="1"/>
          <p:nvPr/>
        </p:nvSpPr>
        <p:spPr>
          <a:xfrm>
            <a:off x="731520" y="3391726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ابدأ من:  </a:t>
            </a:r>
            <a:pPr algn="r" indent="0" marL="0">
              <a:buNone/>
            </a:pPr>
            <a:r>
              <a:rPr lang="ar-EG" alt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code/lesson6/challenge/</a:t>
            </a:r>
            <a:endParaRPr lang="ar-EG" sz="1150" dirty="0"/>
          </a:p>
          <a:p>
            <a:pPr algn="r" indent="0" marL="0">
              <a:buNone/>
            </a:pPr>
            <a:r>
              <a:rPr lang="ar-EG" altLang="en-US" sz="11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قارن مع:  </a:t>
            </a:r>
            <a:pPr algn="r" indent="0" marL="0">
              <a:buNone/>
            </a:pPr>
            <a:r>
              <a:rPr lang="ar-EG" alt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code/lesson6/challenge/solution/</a:t>
            </a:r>
            <a:endParaRPr lang="ar-EG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اختبار سريع</a:t>
            </a:r>
            <a:endParaRPr lang="ar-EG" sz="3400" dirty="0"/>
          </a:p>
        </p:txBody>
      </p:sp>
      <p:sp>
        <p:nvSpPr>
          <p:cNvPr id="3" name="a2_hint"/>
          <p:cNvSpPr txBox="1"/>
          <p:nvPr/>
        </p:nvSpPr>
        <p:spPr>
          <a:xfrm>
            <a:off x="548640" y="12618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فكّر أولًا، ثم انقر لإظهار كل إجابة.</a:t>
            </a:r>
            <a:endParaRPr lang="ar-EG" sz="1500" dirty="0"/>
          </a:p>
        </p:txBody>
      </p:sp>
      <p:sp>
        <p:nvSpPr>
          <p:cNvPr id="4" name="a3_row"/>
          <p:cNvSpPr/>
          <p:nvPr/>
        </p:nvSpPr>
        <p:spPr>
          <a:xfrm>
            <a:off x="548640" y="1737360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5" name="a3_num"/>
          <p:cNvSpPr/>
          <p:nvPr/>
        </p:nvSpPr>
        <p:spPr>
          <a:xfrm>
            <a:off x="10865815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10865815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800" dirty="0"/>
          </a:p>
        </p:txBody>
      </p:sp>
      <p:sp>
        <p:nvSpPr>
          <p:cNvPr id="7" name="a3_q"/>
          <p:cNvSpPr txBox="1"/>
          <p:nvPr/>
        </p:nvSpPr>
        <p:spPr>
          <a:xfrm>
            <a:off x="5196535" y="173736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أي سطر يجعل استعلامات الوسائط تعمل سليمًا على الهاتف؟</a:t>
            </a:r>
            <a:endParaRPr lang="ar-EG" sz="1650" dirty="0"/>
          </a:p>
        </p:txBody>
      </p:sp>
      <p:sp>
        <p:nvSpPr>
          <p:cNvPr id="8" name="k3_ans_bg"/>
          <p:cNvSpPr/>
          <p:nvPr/>
        </p:nvSpPr>
        <p:spPr>
          <a:xfrm>
            <a:off x="715975" y="1892808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9" name="k3_ans"/>
          <p:cNvSpPr txBox="1"/>
          <p:nvPr/>
        </p:nvSpPr>
        <p:spPr>
          <a:xfrm>
            <a:off x="898855" y="1892808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وسم viewport: &lt;meta name="viewport" content="width=device-width, initial-scale=1"&gt;.</a:t>
            </a:r>
            <a:endParaRPr lang="ar-EG" sz="1450" dirty="0"/>
          </a:p>
        </p:txBody>
      </p:sp>
      <p:sp>
        <p:nvSpPr>
          <p:cNvPr id="10" name="a4_row"/>
          <p:cNvSpPr/>
          <p:nvPr/>
        </p:nvSpPr>
        <p:spPr>
          <a:xfrm>
            <a:off x="548640" y="3218688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1" name="a4_num"/>
          <p:cNvSpPr/>
          <p:nvPr/>
        </p:nvSpPr>
        <p:spPr>
          <a:xfrm>
            <a:off x="10865815" y="363016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4_numt"/>
          <p:cNvSpPr txBox="1"/>
          <p:nvPr/>
        </p:nvSpPr>
        <p:spPr>
          <a:xfrm>
            <a:off x="10865815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800" dirty="0"/>
          </a:p>
        </p:txBody>
      </p:sp>
      <p:sp>
        <p:nvSpPr>
          <p:cNvPr id="13" name="a4_q"/>
          <p:cNvSpPr txBox="1"/>
          <p:nvPr/>
        </p:nvSpPr>
        <p:spPr>
          <a:xfrm>
            <a:off x="5196535" y="3218688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ماذا يعني «الجوال أولًا» في CSS؟</a:t>
            </a:r>
            <a:endParaRPr lang="ar-EG" sz="1650" dirty="0"/>
          </a:p>
        </p:txBody>
      </p:sp>
      <p:sp>
        <p:nvSpPr>
          <p:cNvPr id="14" name="k4_ans_bg"/>
          <p:cNvSpPr/>
          <p:nvPr/>
        </p:nvSpPr>
        <p:spPr>
          <a:xfrm>
            <a:off x="715975" y="3374136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5" name="k4_ans"/>
          <p:cNvSpPr txBox="1"/>
          <p:nvPr/>
        </p:nvSpPr>
        <p:spPr>
          <a:xfrm>
            <a:off x="898855" y="3374136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اكتب تخطيط الهاتف كأنماط أساسية وأضف استعلامات min-width للشاشات الأكبر.</a:t>
            </a:r>
            <a:endParaRPr lang="ar-EG" sz="1450" dirty="0"/>
          </a:p>
        </p:txBody>
      </p:sp>
      <p:sp>
        <p:nvSpPr>
          <p:cNvPr id="16" name="a5_row"/>
          <p:cNvSpPr/>
          <p:nvPr/>
        </p:nvSpPr>
        <p:spPr>
          <a:xfrm>
            <a:off x="548640" y="4700016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7" name="a5_num"/>
          <p:cNvSpPr/>
          <p:nvPr/>
        </p:nvSpPr>
        <p:spPr>
          <a:xfrm>
            <a:off x="10865815" y="5111496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a5_numt"/>
          <p:cNvSpPr txBox="1"/>
          <p:nvPr/>
        </p:nvSpPr>
        <p:spPr>
          <a:xfrm>
            <a:off x="10865815" y="5111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800" dirty="0"/>
          </a:p>
        </p:txBody>
      </p:sp>
      <p:sp>
        <p:nvSpPr>
          <p:cNvPr id="19" name="a5_q"/>
          <p:cNvSpPr txBox="1"/>
          <p:nvPr/>
        </p:nvSpPr>
        <p:spPr>
          <a:xfrm>
            <a:off x="5196535" y="4700016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لماذا نستخدم max-width: 960px بدل width: 960px؟</a:t>
            </a:r>
            <a:endParaRPr lang="ar-EG" sz="1650" dirty="0"/>
          </a:p>
        </p:txBody>
      </p:sp>
      <p:sp>
        <p:nvSpPr>
          <p:cNvPr id="20" name="k5_ans_bg"/>
          <p:cNvSpPr/>
          <p:nvPr/>
        </p:nvSpPr>
        <p:spPr>
          <a:xfrm>
            <a:off x="715975" y="4855464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1" name="k5_ans"/>
          <p:cNvSpPr txBox="1"/>
          <p:nvPr/>
        </p:nvSpPr>
        <p:spPr>
          <a:xfrm>
            <a:off x="898855" y="4855464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لأن max-width تتيح للعنصر أن ينكمش على الشاشات الصغيرة، بينما العرض الثابت يسبّب تمريرًا جانبيًا.</a:t>
            </a:r>
            <a:endParaRPr lang="ar-EG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الخلاصة</a:t>
            </a:r>
            <a:endParaRPr lang="ar-EG" sz="3400" dirty="0"/>
          </a:p>
        </p:txBody>
      </p:sp>
      <p:sp>
        <p:nvSpPr>
          <p:cNvPr id="3" name="a2_ico_bg"/>
          <p:cNvSpPr/>
          <p:nvPr/>
        </p:nvSpPr>
        <p:spPr>
          <a:xfrm>
            <a:off x="11140135" y="1581912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5924" y="1717700"/>
            <a:ext cx="231343" cy="231343"/>
          </a:xfrm>
          <a:prstGeom prst="rect">
            <a:avLst/>
          </a:prstGeom>
        </p:spPr>
      </p:pic>
      <p:sp>
        <p:nvSpPr>
          <p:cNvPr id="5" name="a2_pt"/>
          <p:cNvSpPr txBox="1"/>
          <p:nvPr/>
        </p:nvSpPr>
        <p:spPr>
          <a:xfrm>
            <a:off x="5150815" y="150876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أضف وسم viewport إلى كل صفحة.</a:t>
            </a:r>
            <a:endParaRPr lang="ar-EG" sz="1650" dirty="0"/>
          </a:p>
        </p:txBody>
      </p:sp>
      <p:sp>
        <p:nvSpPr>
          <p:cNvPr id="6" name="a3_ico_bg"/>
          <p:cNvSpPr/>
          <p:nvPr/>
        </p:nvSpPr>
        <p:spPr>
          <a:xfrm>
            <a:off x="11140135" y="25146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5924" y="2650388"/>
            <a:ext cx="231343" cy="231343"/>
          </a:xfrm>
          <a:prstGeom prst="rect">
            <a:avLst/>
          </a:prstGeom>
        </p:spPr>
      </p:pic>
      <p:sp>
        <p:nvSpPr>
          <p:cNvPr id="8" name="a3_pt"/>
          <p:cNvSpPr txBox="1"/>
          <p:nvPr/>
        </p:nvSpPr>
        <p:spPr>
          <a:xfrm>
            <a:off x="5150815" y="2441448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فضّل %, fr, rem وmax-width على الأحجام الثابتة بالبكسل.</a:t>
            </a:r>
            <a:endParaRPr lang="ar-EG" sz="1650" dirty="0"/>
          </a:p>
        </p:txBody>
      </p:sp>
      <p:sp>
        <p:nvSpPr>
          <p:cNvPr id="9" name="a4_ico_bg"/>
          <p:cNvSpPr/>
          <p:nvPr/>
        </p:nvSpPr>
        <p:spPr>
          <a:xfrm>
            <a:off x="11140135" y="3447288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5924" y="3583076"/>
            <a:ext cx="231343" cy="231343"/>
          </a:xfrm>
          <a:prstGeom prst="rect">
            <a:avLst/>
          </a:prstGeom>
        </p:spPr>
      </p:pic>
      <p:sp>
        <p:nvSpPr>
          <p:cNvPr id="11" name="a4_pt"/>
          <p:cNvSpPr txBox="1"/>
          <p:nvPr/>
        </p:nvSpPr>
        <p:spPr>
          <a:xfrm>
            <a:off x="5150815" y="3374136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الجوال أولًا: أنماط أساسية للهاتف، و‎@media‎ (min-width: ...) لمساحة أكبر.</a:t>
            </a:r>
            <a:endParaRPr lang="ar-EG" sz="1650" dirty="0"/>
          </a:p>
        </p:txBody>
      </p:sp>
      <p:sp>
        <p:nvSpPr>
          <p:cNvPr id="12" name="a5_ico_bg"/>
          <p:cNvSpPr/>
          <p:nvPr/>
        </p:nvSpPr>
        <p:spPr>
          <a:xfrm>
            <a:off x="11140135" y="4379976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5924" y="4515764"/>
            <a:ext cx="231343" cy="231343"/>
          </a:xfrm>
          <a:prstGeom prst="rect">
            <a:avLst/>
          </a:prstGeom>
        </p:spPr>
      </p:pic>
      <p:sp>
        <p:nvSpPr>
          <p:cNvPr id="14" name="a5_pt"/>
          <p:cNvSpPr txBox="1"/>
          <p:nvPr/>
        </p:nvSpPr>
        <p:spPr>
          <a:xfrm>
            <a:off x="5150815" y="4306824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clamp() وauto-fit وflex-wrap تقلّل الحاجة إلى نقاط التوقف.</a:t>
            </a:r>
            <a:endParaRPr lang="ar-EG" sz="1650" dirty="0"/>
          </a:p>
        </p:txBody>
      </p:sp>
      <p:sp>
        <p:nvSpPr>
          <p:cNvPr id="15" name="a6_ico_bg"/>
          <p:cNvSpPr/>
          <p:nvPr/>
        </p:nvSpPr>
        <p:spPr>
          <a:xfrm>
            <a:off x="11140135" y="5312664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a6_ico_im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5924" y="5448452"/>
            <a:ext cx="231343" cy="231343"/>
          </a:xfrm>
          <a:prstGeom prst="rect">
            <a:avLst/>
          </a:prstGeom>
        </p:spPr>
      </p:pic>
      <p:sp>
        <p:nvSpPr>
          <p:cNvPr id="17" name="a6_pt"/>
          <p:cNvSpPr txBox="1"/>
          <p:nvPr/>
        </p:nvSpPr>
        <p:spPr>
          <a:xfrm>
            <a:off x="5150815" y="5239512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اختبر بشريط الأجهزة في DevTools عند عروض كثيرة.</a:t>
            </a:r>
            <a:endParaRPr lang="ar-EG" sz="1650" dirty="0"/>
          </a:p>
        </p:txBody>
      </p:sp>
      <p:sp>
        <p:nvSpPr>
          <p:cNvPr id="18" name="a8_panel"/>
          <p:cNvSpPr/>
          <p:nvPr/>
        </p:nvSpPr>
        <p:spPr>
          <a:xfrm>
            <a:off x="551383" y="1508760"/>
            <a:ext cx="4325112" cy="4617720"/>
          </a:xfrm>
          <a:prstGeom prst="roundRect">
            <a:avLst>
              <a:gd name="adj" fmla="val 2960"/>
            </a:avLst>
          </a:prstGeom>
          <a:solidFill>
            <a:schemeClr val="tx1"/>
          </a:solidFill>
          <a:ln/>
        </p:spPr>
      </p:sp>
      <p:sp>
        <p:nvSpPr>
          <p:cNvPr id="19" name="a8_panel_h"/>
          <p:cNvSpPr txBox="1"/>
          <p:nvPr/>
        </p:nvSpPr>
        <p:spPr>
          <a:xfrm>
            <a:off x="898855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واصل التعلّم</a:t>
            </a:r>
            <a:endParaRPr lang="ar-EG" sz="2100" dirty="0"/>
          </a:p>
        </p:txBody>
      </p:sp>
      <p:sp>
        <p:nvSpPr>
          <p:cNvPr id="20" name="a9_panel_b"/>
          <p:cNvSpPr txBox="1"/>
          <p:nvPr/>
        </p:nvSpPr>
        <p:spPr>
          <a:xfrm>
            <a:off x="853135" y="2286000"/>
            <a:ext cx="3703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EG" alt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ملفات الشيفرة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code/lesson6/  (الأمثلة والنشاط والتحدي)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تدرّب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playground.html (يعمل دون إنترنت) أو روابط CodePen في codepen.html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الدرس التالي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الدرس 7: الانتقالات والتحويلات والحركة</a:t>
            </a:r>
            <a:endParaRPr lang="ar-EG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Stylesheet">
  <a:themeElements>
    <a:clrScheme name="Stylesheet">
      <a:dk1>
        <a:srgbClr val="10132B"/>
      </a:dk1>
      <a:lt1>
        <a:srgbClr val="FFFFFF"/>
      </a:lt1>
      <a:dk2>
        <a:srgbClr val="2B3A8F"/>
      </a:dk2>
      <a:lt2>
        <a:srgbClr val="EEF2FF"/>
      </a:lt2>
      <a:accent1>
        <a:srgbClr val="2965F1"/>
      </a:accent1>
      <a:accent2>
        <a:srgbClr val="FFC83D"/>
      </a:accent2>
      <a:accent3>
        <a:srgbClr val="FF4F8B"/>
      </a:accent3>
      <a:accent4>
        <a:srgbClr val="8B5CF6"/>
      </a:accent4>
      <a:accent5>
        <a:srgbClr val="22C55E"/>
      </a:accent5>
      <a:accent6>
        <a:srgbClr val="22D3EE"/>
      </a:accent6>
      <a:hlink>
        <a:srgbClr val="2965F1"/>
      </a:hlink>
      <a:folHlink>
        <a:srgbClr val="8B5CF6"/>
      </a:folHlink>
    </a:clrScheme>
    <a:fontScheme name="Styleshee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for High School - Lesson 6: التصميم المتجاوب</dc:title>
  <dc:subject>CSS for high-school students</dc:subject>
  <dc:creator>CSS for High School</dc:creator>
  <cp:lastModifiedBy>CSS for High School</cp:lastModifiedBy>
  <cp:revision>1</cp:revision>
  <dcterms:created xsi:type="dcterms:W3CDTF">2026-10-09T08:53:25Z</dcterms:created>
  <dcterms:modified xsi:type="dcterms:W3CDTF">2026-10-09T08:53:25Z</dcterms:modified>
</cp:coreProperties>
</file>