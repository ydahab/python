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انتقالان مدة كل منهما 0.3 ثانية (المنحنى الافتراضي ease).
2. لون التمرير. بفضل الانتقال يتلاشى بدل أن يتبدّل فجأة.
3. translateY(-4px) ترفع الزر 4px؛ وscale(1.05) تكبّره 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اختصار animation: الاسم والمدة والتكرار والاتجاه.
2. infinite = إلى الأبد؛ alternate = للأمام ثم للخلف.
3. اسم @keyframes يجب أن يطابق اسم animation.
4. نبدأ من 0 وننتهي أسفل بـ 120px؛ ويملأ المتصفح ما بينهما.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دائرة بحدّ فاتح، وحدّها العلوي وحده ملوّن.
2. linear تُبقي السرعة ثابتة، وهذا يناسب المؤشر الدوّار.
3. مع الخطوة to وحدها تبدأ الحركة من الحالة العادية للعنصر.
4. prefers-reduced-motion: يمكن للمستخدم أن يطلب من نظامه حركة أقل. احترم ذلك.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22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ar-EG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7: الانتقالات والحركة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7: الانتقالات والحركة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8716975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8808415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8808415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7 من 7</a:t>
            </a:r>
            <a:endParaRPr lang="ar-EG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800" b="1" dirty="0">
                <a:solidFill>
                  <a:schemeClr val="bg1"/>
                </a:solidFill>
              </a:rPr>
              <a:t>الانتقالات والتحويلات والحركة</a:t>
            </a:r>
            <a:endParaRPr lang="ar-EG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أحيِ صفحاتك، وأبقِ الحركة مريحة لجميع المستخدمين</a:t>
            </a:r>
            <a:endParaRPr lang="ar-EG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5059375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الثانوية  |  المعرفة السابقة: الدروس 1–6  |  نحو 50 دقيقة</a:t>
            </a:r>
            <a:endParaRPr lang="ar-EG" sz="1600" dirty="0"/>
          </a:p>
        </p:txBody>
      </p:sp>
      <p:sp>
        <p:nvSpPr>
          <p:cNvPr id="8" name="a5_layer"/>
          <p:cNvSpPr/>
          <p:nvPr/>
        </p:nvSpPr>
        <p:spPr>
          <a:xfrm>
            <a:off x="441655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98855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1310335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1676095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1676095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ar-EG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هدف الدرس</a:t>
            </a:r>
            <a:endParaRPr lang="ar-EG" sz="3400" dirty="0"/>
          </a:p>
        </p:txBody>
      </p:sp>
      <p:sp>
        <p:nvSpPr>
          <p:cNvPr id="3" name="a2_panel"/>
          <p:cNvSpPr/>
          <p:nvPr/>
        </p:nvSpPr>
        <p:spPr>
          <a:xfrm>
            <a:off x="6156655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6476695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بنهاية هذا الدرس ستكون قادرًا على:</a:t>
            </a:r>
            <a:endParaRPr lang="ar-EG" sz="1900" dirty="0"/>
          </a:p>
        </p:txBody>
      </p:sp>
      <p:sp>
        <p:nvSpPr>
          <p:cNvPr id="5" name="a3_ico_bg"/>
          <p:cNvSpPr/>
          <p:nvPr/>
        </p:nvSpPr>
        <p:spPr>
          <a:xfrm>
            <a:off x="10774375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8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6430975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تحريك التغيّر بين حالتين بـ transition</a:t>
            </a:r>
            <a:endParaRPr lang="ar-EG" sz="1800" dirty="0"/>
          </a:p>
        </p:txBody>
      </p:sp>
      <p:sp>
        <p:nvSpPr>
          <p:cNvPr id="8" name="a4_ico_bg"/>
          <p:cNvSpPr/>
          <p:nvPr/>
        </p:nvSpPr>
        <p:spPr>
          <a:xfrm>
            <a:off x="10774375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08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6430975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تحريك العناصر وتكبيرها وتدويرها بـ transform</a:t>
            </a:r>
            <a:endParaRPr lang="ar-EG" sz="1800" dirty="0"/>
          </a:p>
        </p:txBody>
      </p:sp>
      <p:sp>
        <p:nvSpPr>
          <p:cNvPr id="11" name="a5_ico_bg"/>
          <p:cNvSpPr/>
          <p:nvPr/>
        </p:nvSpPr>
        <p:spPr>
          <a:xfrm>
            <a:off x="10774375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508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6430975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صنع حركات متعدّدة الخطوات بـ ‎@keyframes‎، واحترام إعدادات تقليل الحركة</a:t>
            </a:r>
            <a:endParaRPr lang="ar-EG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24535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مصطلحات أساسية</a:t>
            </a:r>
            <a:endParaRPr lang="ar-EG" sz="1900" dirty="0"/>
          </a:p>
        </p:txBody>
      </p:sp>
      <p:sp>
        <p:nvSpPr>
          <p:cNvPr id="15" name="a6_chip"/>
          <p:cNvSpPr/>
          <p:nvPr/>
        </p:nvSpPr>
        <p:spPr>
          <a:xfrm>
            <a:off x="4190695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4190695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551383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الانتقال (Transition): تغيّر ناعم من مجموعة أنماط إلى أخرى، مثلًا عند التمرير.</a:t>
            </a:r>
            <a:endParaRPr lang="ar-EG" sz="1400" dirty="0"/>
          </a:p>
        </p:txBody>
      </p:sp>
      <p:sp>
        <p:nvSpPr>
          <p:cNvPr id="18" name="a7_chip"/>
          <p:cNvSpPr/>
          <p:nvPr/>
        </p:nvSpPr>
        <p:spPr>
          <a:xfrm>
            <a:off x="4190695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4190695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551383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التحويل (Transform): تغيير بصري للعنصر: translate (إزاحة) أو scale (تكبير) أو rotate (تدوير) أو skew (إمالة).</a:t>
            </a:r>
            <a:endParaRPr lang="ar-EG" sz="1400" dirty="0"/>
          </a:p>
        </p:txBody>
      </p:sp>
      <p:sp>
        <p:nvSpPr>
          <p:cNvPr id="21" name="a8_chip"/>
          <p:cNvSpPr/>
          <p:nvPr/>
        </p:nvSpPr>
        <p:spPr>
          <a:xfrm>
            <a:off x="4190695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4190695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Keyframes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551383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الإطارات المفتاحية (Keyframes): خطوات الحركة المسمّاة، تُكتب بـ ‎@keyframes‎ (from/to أو بنسب مئوية).</a:t>
            </a:r>
            <a:endParaRPr lang="ar-EG" sz="1400" dirty="0"/>
          </a:p>
        </p:txBody>
      </p:sp>
      <p:sp>
        <p:nvSpPr>
          <p:cNvPr id="24" name="a9_chip"/>
          <p:cNvSpPr/>
          <p:nvPr/>
        </p:nvSpPr>
        <p:spPr>
          <a:xfrm>
            <a:off x="4190695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4190695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Easing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551383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منحنى السرعة (Easing): شكل سرعة الحركة: ease وlinear وease-in-out وغيرها.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الأفكار الكبرى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10545775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10865815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1086581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الانتقال: حالتان وتغيّر ناعم</a:t>
            </a:r>
            <a:endParaRPr lang="ar-EG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ضع transition على الحالة العادية: أي خاصية ولكم من الوقت وبأي منحنى. وحين تتغيّر الأنماط (مثلًا عند ‎:hover‎) يحرّك المتصفح الفرق.</a:t>
            </a:r>
            <a:endParaRPr lang="ar-EG" sz="1500" dirty="0"/>
          </a:p>
        </p:txBody>
      </p:sp>
      <p:sp>
        <p:nvSpPr>
          <p:cNvPr id="9" name="a2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background 0.3s ease;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6756197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7076237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707623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التحويل يحرّك بصريًا</a:t>
            </a:r>
            <a:endParaRPr lang="ar-EG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وscale وrotate تغيّر طريقة رسم العنصر دون تحريك جيرانه. وهي سلسة وسريعة، فهي أفضل خيار للحركة.</a:t>
            </a:r>
            <a:endParaRPr lang="ar-EG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scale(1.1);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2966618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328665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328665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الحركة تعمل وحدها</a:t>
            </a:r>
            <a:endParaRPr lang="ar-EG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عرّف الخطوات بـ ‎@keyframes‎ ثم اربطها بـ animation: الاسم والمدة والمنحنى والتكرار. واحترم دائمًا من يطلبون حركة أقل.</a:t>
            </a:r>
            <a:endParaRPr lang="ar-EG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animation: spin 1s infinite;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منحنى السرعة</a:t>
            </a:r>
            <a:endParaRPr lang="ar-EG" sz="3400" dirty="0"/>
          </a:p>
        </p:txBody>
      </p:sp>
      <p:sp>
        <p:nvSpPr>
          <p:cNvPr id="3" name="a2_frame"/>
          <p:cNvSpPr/>
          <p:nvPr/>
        </p:nvSpPr>
        <p:spPr>
          <a:xfrm>
            <a:off x="4620463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ar_l7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3824935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3824935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533095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linear: سرعة ثابتة. مناسب للمؤشرات الدوّارة.</a:t>
            </a:r>
            <a:endParaRPr lang="ar-EG" sz="1600" dirty="0"/>
          </a:p>
        </p:txBody>
      </p:sp>
      <p:sp>
        <p:nvSpPr>
          <p:cNvPr id="8" name="a4_num"/>
          <p:cNvSpPr/>
          <p:nvPr/>
        </p:nvSpPr>
        <p:spPr>
          <a:xfrm>
            <a:off x="3824935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3824935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533095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(الافتراضي) وease-in-out: تبدأ وتنتهي بنعومة، فتبدو طبيعية.</a:t>
            </a:r>
            <a:endParaRPr lang="ar-EG" sz="1600" dirty="0"/>
          </a:p>
        </p:txBody>
      </p:sp>
      <p:sp>
        <p:nvSpPr>
          <p:cNvPr id="11" name="a5_num"/>
          <p:cNvSpPr/>
          <p:nvPr/>
        </p:nvSpPr>
        <p:spPr>
          <a:xfrm>
            <a:off x="3824935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3824935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533095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الزمن من اليسار إلى اليمين والتقدّم من الأسفل إلى الأعلى. كلما زاد انحدار الخط زادت السرعة.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1: انتقال عند التمرير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الانتقال يوضع على الحالة العادية، والتغيير على ‎:hover‎.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 24px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background 0.3s, transform 0.3s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#ff4f8b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translateY(-4px) scale(1.05)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36527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36527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43004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45163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45163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5_html"/>
          <p:cNvSpPr/>
          <p:nvPr/>
        </p:nvSpPr>
        <p:spPr>
          <a:xfrm>
            <a:off x="6019495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18" name="a5_html_h"/>
          <p:cNvSpPr txBox="1"/>
          <p:nvPr/>
        </p:nvSpPr>
        <p:spPr>
          <a:xfrm>
            <a:off x="9631375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19" name="a5_html_text"/>
          <p:cNvSpPr txBox="1"/>
          <p:nvPr/>
        </p:nvSpPr>
        <p:spPr>
          <a:xfrm>
            <a:off x="6202375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class="btn"&gt;Hover me&lt;/button&gt;</a:t>
            </a:r>
            <a:endParaRPr lang="en-US" sz="1050" dirty="0"/>
          </a:p>
        </p:txBody>
      </p:sp>
      <p:sp>
        <p:nvSpPr>
          <p:cNvPr id="20" name="a4_browser"/>
          <p:cNvSpPr/>
          <p:nvPr/>
        </p:nvSpPr>
        <p:spPr>
          <a:xfrm>
            <a:off x="548640" y="1783080"/>
            <a:ext cx="5242255" cy="1619288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6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lesson7/example1/index.html</a:t>
            </a:r>
            <a:endParaRPr lang="en-US" sz="1100" dirty="0"/>
          </a:p>
        </p:txBody>
      </p:sp>
      <p:pic>
        <p:nvPicPr>
          <p:cNvPr id="27" name="a4_shot" descr="/home/user/Python/CSS_Course/assets/l7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5242255" cy="1216952"/>
          </a:xfrm>
          <a:prstGeom prst="rect">
            <a:avLst/>
          </a:prstGeom>
        </p:spPr>
      </p:pic>
      <p:sp>
        <p:nvSpPr>
          <p:cNvPr id="28" name="a6_num"/>
          <p:cNvSpPr/>
          <p:nvPr/>
        </p:nvSpPr>
        <p:spPr>
          <a:xfrm>
            <a:off x="5562295" y="362182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a6_numt"/>
          <p:cNvSpPr txBox="1"/>
          <p:nvPr/>
        </p:nvSpPr>
        <p:spPr>
          <a:xfrm>
            <a:off x="5562295" y="36218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0" name="a6_ann"/>
          <p:cNvSpPr txBox="1"/>
          <p:nvPr/>
        </p:nvSpPr>
        <p:spPr>
          <a:xfrm>
            <a:off x="548640" y="3585248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انتقالان مدة كل منهما 0.3 ثانية (المنحنى الافتراضي ease).</a:t>
            </a:r>
            <a:endParaRPr lang="ar-EG" sz="1250" dirty="0"/>
          </a:p>
        </p:txBody>
      </p:sp>
      <p:sp>
        <p:nvSpPr>
          <p:cNvPr id="31" name="a7_num"/>
          <p:cNvSpPr/>
          <p:nvPr/>
        </p:nvSpPr>
        <p:spPr>
          <a:xfrm>
            <a:off x="5562295" y="4188752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a7_numt"/>
          <p:cNvSpPr txBox="1"/>
          <p:nvPr/>
        </p:nvSpPr>
        <p:spPr>
          <a:xfrm>
            <a:off x="5562295" y="4188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3" name="a7_ann"/>
          <p:cNvSpPr txBox="1"/>
          <p:nvPr/>
        </p:nvSpPr>
        <p:spPr>
          <a:xfrm>
            <a:off x="548640" y="4152176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لون التمرير. بفضل الانتقال يتلاشى بدل أن يتبدّل فجأة.</a:t>
            </a:r>
            <a:endParaRPr lang="ar-EG" sz="1250" dirty="0"/>
          </a:p>
        </p:txBody>
      </p:sp>
      <p:sp>
        <p:nvSpPr>
          <p:cNvPr id="34" name="a8_num"/>
          <p:cNvSpPr/>
          <p:nvPr/>
        </p:nvSpPr>
        <p:spPr>
          <a:xfrm>
            <a:off x="5562295" y="4755680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a8_numt"/>
          <p:cNvSpPr txBox="1"/>
          <p:nvPr/>
        </p:nvSpPr>
        <p:spPr>
          <a:xfrm>
            <a:off x="5562295" y="4755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6" name="a8_ann"/>
          <p:cNvSpPr txBox="1"/>
          <p:nvPr/>
        </p:nvSpPr>
        <p:spPr>
          <a:xfrm>
            <a:off x="548640" y="4719104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translateY(-4px) ترفع الزر 4px؛ وscale(1.05) تكبّره 5%.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2: حركة إطارات مفتاحية: كرة تقفز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‎@keyframes‎ تعرّف الخطوات، وanimation تربطها بالعنصر.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.ball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50%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#ff4f8b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bounce 1s infinite alternate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bounce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translateY(0)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translateY(120px)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34368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3436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4368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436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8686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3004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class="ball"&gt;&lt;/div&gt;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548640" y="1783080"/>
            <a:ext cx="5242255" cy="283624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lesson7/example2/index.html</a:t>
            </a:r>
            <a:endParaRPr lang="en-US" sz="1100" dirty="0"/>
          </a:p>
        </p:txBody>
      </p:sp>
      <p:pic>
        <p:nvPicPr>
          <p:cNvPr id="29" name="a4_shot" descr="/home/user/Python/CSS_Course/assets/l7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5242255" cy="2433904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483877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48387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480220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اختصار animation: الاسم والمدة والتكرار والاتجاه.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5215566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52155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517899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= إلى الأبد؛ alternate = للأمام ثم للخلف.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5592356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55923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555578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اسم ‎@keyframes‎ يجب أن يطابق اسم animation.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969146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96914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93257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نبدأ من 0 وننتهي أسفل بـ 120px؛ ويملأ المتصفح ما بينهما.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3: مؤشر تحميل (وتقليل الحركة)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دوران خطّي لا ينتهي. أبطئه لمن يفضّلون حركة أقل.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631184"/>
          </a:xfrm>
          <a:prstGeom prst="roundRect">
            <a:avLst>
              <a:gd name="adj" fmla="val 302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8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.spinner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48px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48px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6px solid #e0e7ff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border-top-color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50%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spin 0.9s linear infinite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spin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rotate(360deg)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(prefers-reduced-motion: reduce)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.spinner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animation-duration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a3_num"/>
          <p:cNvSpPr/>
          <p:nvPr/>
        </p:nvSpPr>
        <p:spPr>
          <a:xfrm>
            <a:off x="6293815" y="29606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960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57022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570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97662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97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58622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586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551424"/>
            <a:ext cx="5623560" cy="712216"/>
          </a:xfrm>
          <a:prstGeom prst="roundRect">
            <a:avLst>
              <a:gd name="adj" fmla="val 12839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624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898896"/>
            <a:ext cx="5257800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class="spinner"&gt;&lt;/div&gt;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548640" y="1783080"/>
            <a:ext cx="5242255" cy="1619288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lesson7/example3/index.html</a:t>
            </a:r>
            <a:endParaRPr lang="en-US" sz="1100" dirty="0"/>
          </a:p>
        </p:txBody>
      </p:sp>
      <p:pic>
        <p:nvPicPr>
          <p:cNvPr id="29" name="a4_shot" descr="/home/user/Python/CSS_Course/assets/l7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5242255" cy="1216952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3621824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36218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3585248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دائرة بحدّ فاتح، وحدّها العلوي وحده ملوّن.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4188752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4188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4152176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تُبقي السرعة ثابتة، وهذا يناسب المؤشر الدوّار.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4755680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4755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4719104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 الخطوة to وحدها تبدأ الحركة من الحالة العادية للعنصر.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322608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322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286032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prefers-reduced-motion: يمكن للمستخدم أن يطلب من نظامه حركة أقل. احترم ذلك.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في الواقع: تغذية راجعة وانتباه وسرد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10637215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26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التغذية الراجعة في الواجهة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أزرار ترتفع أو تتغيّر ألوانها وقوائم تنزلق: انتقالات صغيرة تخبر المستخدم أن الصفحة لاحظت فعله.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6847637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147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حالات التحميل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المؤشرات الدوّارة وأشرطة التقدّم تُظهر أن شيئًا يحدث، فلا ينقر المستخدم مرارًا.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3058058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569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السرد البصري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صفحات تُظهر محتواها تدريجيًا وأنت تتصفّحها. بحكمة تشرح الحركة، وبإفراط تُشتّت.</a:t>
            </a:r>
            <a:endParaRPr lang="ar-EG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10728655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132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91440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بنفسك: </a:t>
            </a:r>
            <a:pPr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افتح DevTools واختر لوحة Animations (من More tools)، ثم مرّر المؤشر أو أعد التحميل. يمكنك إبطاء الحركات إلى 10% لترى بالضبط ما يحدث.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أخطاء شائعة</a:t>
            </a:r>
            <a:endParaRPr lang="ar-EG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79854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تجنّب</a:t>
            </a:r>
            <a:endParaRPr lang="ar-EG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0992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افعل هذا بدلًا منه</a:t>
            </a:r>
            <a:endParaRPr lang="ar-EG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16733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السبب</a:t>
            </a:r>
            <a:endParaRPr lang="ar-EG" sz="1500" dirty="0"/>
          </a:p>
        </p:txBody>
      </p:sp>
      <p:sp>
        <p:nvSpPr>
          <p:cNvPr id="6" name="a2_bad"/>
          <p:cNvSpPr/>
          <p:nvPr/>
        </p:nvSpPr>
        <p:spPr>
          <a:xfrm>
            <a:off x="78940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11569903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9854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0.3s;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pink;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0078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7683703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0992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0.3s;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pink;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551383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الانتقال على ‎:hover‎ فقط يتحرّك عند الدخول لكنه يقفز عند الخروج. ضعه على الحالة العادية ليتحرّك في الاتجاهين.</a:t>
            </a:r>
            <a:endParaRPr lang="ar-EG" sz="1400" dirty="0"/>
          </a:p>
        </p:txBody>
      </p:sp>
      <p:sp>
        <p:nvSpPr>
          <p:cNvPr id="13" name="a3_bad"/>
          <p:cNvSpPr/>
          <p:nvPr/>
        </p:nvSpPr>
        <p:spPr>
          <a:xfrm>
            <a:off x="78940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11569903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9854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all 1s;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animates width, top... */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0078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7683703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0992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transform 0.3s,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 0.3s;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551383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حرّك transform وopacity فهما سلسان. تحريك width أو height أو top يُجبر المتصفح على إعادة التخطيط ببطء.</a:t>
            </a:r>
            <a:endParaRPr lang="ar-EG" sz="1400" dirty="0"/>
          </a:p>
        </p:txBody>
      </p:sp>
      <p:sp>
        <p:nvSpPr>
          <p:cNvPr id="20" name="a4_bad"/>
          <p:cNvSpPr/>
          <p:nvPr/>
        </p:nvSpPr>
        <p:spPr>
          <a:xfrm>
            <a:off x="78940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11569903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9854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animation: spinn 1s infinite;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spin { ... }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0078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7683703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0992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animation: spin 1s infinite;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spin { ... }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551383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يجب أن تتطابق الأسماء تمامًا، وإلا لن تتحرّك الأشياء ولن تظهر رسالة خطأ.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نصائح وأفضل الممارسات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10728655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1477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655304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اجعلها سريعة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تبدو انتقالات الواجهة أفضل بين 150 و400 ملّي ثانية. الحركات الطويلة تُشعر بأن الواجهة بطيئة.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499856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8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82296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احترم تقليل الحركة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غلّف الحركات القوية بـ ‎@media‎ (prefers-reduced-motion: no-preference) أو خفّفها لمن يطلبون ذلك.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10728655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477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655304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حرّك transform وopacity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هاتان الخاصيتان تعالجهما بطاقة الرسوميات فتبقيان سلستين حتى على الهاتف.</a:t>
            </a:r>
            <a:endParaRPr lang="ar-EG" sz="1500" dirty="0"/>
          </a:p>
        </p:txBody>
      </p:sp>
      <p:sp>
        <p:nvSpPr>
          <p:cNvPr id="18" name="a5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499856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38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82296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حرّك لغرض</a:t>
            </a:r>
            <a:endParaRPr lang="ar-EG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اسأل: هل تساعد هذه الحركة المستخدم على الفهم؟ إن لم تفعل فاحذفها.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نشاط: صفحة هبوط متحرّكة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25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نشاط عملي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نص الواجهة ينزلق للأعلى ويظهر تدريجيًا واحدًا بعد الآخر، وأضف تأثيرًا للزر.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اكتب ‎@keyframes‎ rise: من opacity 0 وtranslateY(20px) إلى opacity 1 وtranslateY(0).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امنح h1 وp والزر animation: rise 0.8s ease both (كلمة both تُبقي الحالة النهائية).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وزّع بدايتها بـ animation-delay: 0s و0.2s و0.4s.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transition وتحويل ‎:hover‎ بـ transform: scale(1.06) للزر.</a:t>
            </a:r>
            <a:endParaRPr lang="ar-EG" sz="1400" dirty="0"/>
          </a:p>
        </p:txBody>
      </p:sp>
      <p:sp>
        <p:nvSpPr>
          <p:cNvPr id="20" name="a8_num"/>
          <p:cNvSpPr/>
          <p:nvPr/>
        </p:nvSpPr>
        <p:spPr>
          <a:xfrm>
            <a:off x="11332159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11332159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EG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5973775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غلّف الحركة بـ prefers-reduced-motion: no-preference.</a:t>
            </a:r>
            <a:endParaRPr lang="ar-EG" sz="1400" dirty="0"/>
          </a:p>
        </p:txBody>
      </p:sp>
      <p:sp>
        <p:nvSpPr>
          <p:cNvPr id="23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توهّجًا نابضًا بـ ‎@keyframes‎ ثانية تحرّك box-shadow.</a:t>
            </a:r>
            <a:endParaRPr lang="ar-EG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الهدف: ينبغي أن تبدو صفحتك هكذا</a:t>
            </a:r>
            <a:endParaRPr lang="ar-EG" sz="1400" dirty="0"/>
          </a:p>
        </p:txBody>
      </p:sp>
      <p:sp>
        <p:nvSpPr>
          <p:cNvPr id="26" name="a3_browser"/>
          <p:cNvSpPr/>
          <p:nvPr/>
        </p:nvSpPr>
        <p:spPr>
          <a:xfrm>
            <a:off x="548640" y="1828800"/>
            <a:ext cx="5059375" cy="2841678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54864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73152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113385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146304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157276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lesson7/activity/solution/index.html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7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1136"/>
            <a:ext cx="5059375" cy="2439342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548640" y="4899078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731520" y="4899078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code/lesson7/activity/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code/lesson7/activity/solution/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تحدٍّ: بطاقة تنقلب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35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تحدٍّ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ابنِ بطاقة تنقلب لتُظهر ظهرها عند التمرير. ستستخدم تحويلات ثلاثية الأبعاد.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اضبط perspective: 800px على ‎.scene‎ (تمنح عمقًا ثلاثي الأبعاد) وحجمها 220 × 280px.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‎.card‎ تملأ المشهد، وtransform-style: preserve-3d، وtransition مدته 0.8s على transform.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‎.scene‎:hover ‎.card‎ استخدم transform: rotateY(180deg).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كدّس الوجهين بـ position: absolute; inset: 0 وأخفِ ظهريهما بـ backface-visibility: hidden.</a:t>
            </a:r>
            <a:endParaRPr lang="ar-EG" sz="1400" dirty="0"/>
          </a:p>
        </p:txBody>
      </p:sp>
      <p:sp>
        <p:nvSpPr>
          <p:cNvPr id="20" name="a8_num"/>
          <p:cNvSpPr/>
          <p:nvPr/>
        </p:nvSpPr>
        <p:spPr>
          <a:xfrm>
            <a:off x="11332159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11332159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EG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5973775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دوّر ‎.back‎ بـ 180deg لتُقرأ نصوصها صحيحة بعد القلب.</a:t>
            </a:r>
            <a:endParaRPr lang="ar-EG" sz="1400" dirty="0"/>
          </a:p>
        </p:txBody>
      </p:sp>
      <p:sp>
        <p:nvSpPr>
          <p:cNvPr id="23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بطاقة ثانية، أو اقلب البطاقة عند تركيز لوحة المفاتيح بـ ‎:focus-within‎ لتحسين سهولة الوصول.</a:t>
            </a:r>
            <a:endParaRPr lang="ar-EG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المطلوب: طابق هذه النتيجة</a:t>
            </a:r>
            <a:endParaRPr lang="ar-EG" sz="1400" dirty="0"/>
          </a:p>
        </p:txBody>
      </p:sp>
      <p:sp>
        <p:nvSpPr>
          <p:cNvPr id="26" name="a3_browser"/>
          <p:cNvSpPr/>
          <p:nvPr/>
        </p:nvSpPr>
        <p:spPr>
          <a:xfrm>
            <a:off x="952888" y="1828800"/>
            <a:ext cx="4655127" cy="31455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952888" y="1828800"/>
            <a:ext cx="4655127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1135768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1336936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1538104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1867288" y="1892808"/>
            <a:ext cx="3557847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1977016" y="1892808"/>
            <a:ext cx="3374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lesson7/challenge/solution/index.html</a:t>
            </a:r>
            <a:endParaRPr lang="en-US" sz="1100" dirty="0"/>
          </a:p>
        </p:txBody>
      </p:sp>
      <p:pic>
        <p:nvPicPr>
          <p:cNvPr id="33" name="a3_shot" descr="/home/user/Python/CSS_Course/assets/l7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88" y="2231136"/>
            <a:ext cx="4655127" cy="2743200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548640" y="5202936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731520" y="520293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code/lesson7/challenge/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code/lesson7/challenge/solution/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اختبار سريع</a:t>
            </a:r>
            <a:endParaRPr lang="ar-EG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فكّر أولًا، ثم انقر لإظهار كل إجابة.</a:t>
            </a:r>
            <a:endParaRPr lang="ar-EG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10865815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1086581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3_q"/>
          <p:cNvSpPr txBox="1"/>
          <p:nvPr/>
        </p:nvSpPr>
        <p:spPr>
          <a:xfrm>
            <a:off x="5196535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أين نضع خاصية transition: على الحالة العادية أم على ‎:hover‎؟</a:t>
            </a:r>
            <a:endParaRPr lang="ar-EG" sz="1650" dirty="0"/>
          </a:p>
        </p:txBody>
      </p:sp>
      <p:sp>
        <p:nvSpPr>
          <p:cNvPr id="8" name="k3_ans_bg"/>
          <p:cNvSpPr/>
          <p:nvPr/>
        </p:nvSpPr>
        <p:spPr>
          <a:xfrm>
            <a:off x="715975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898855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على الحالة العادية، لتتحرّك عند الدخول إلى حالة التمرير وعند الخروج منها.</a:t>
            </a:r>
            <a:endParaRPr lang="ar-EG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10865815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10865815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3" name="a4_q"/>
          <p:cNvSpPr txBox="1"/>
          <p:nvPr/>
        </p:nvSpPr>
        <p:spPr>
          <a:xfrm>
            <a:off x="5196535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 خاصيتين أفضل للحركة السلسة؟</a:t>
            </a:r>
            <a:endParaRPr lang="ar-EG" sz="1650" dirty="0"/>
          </a:p>
        </p:txBody>
      </p:sp>
      <p:sp>
        <p:nvSpPr>
          <p:cNvPr id="14" name="k4_ans_bg"/>
          <p:cNvSpPr/>
          <p:nvPr/>
        </p:nvSpPr>
        <p:spPr>
          <a:xfrm>
            <a:off x="715975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898855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وopacity.</a:t>
            </a:r>
            <a:endParaRPr lang="ar-EG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10865815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10865815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19" name="a5_q"/>
          <p:cNvSpPr txBox="1"/>
          <p:nvPr/>
        </p:nvSpPr>
        <p:spPr>
          <a:xfrm>
            <a:off x="5196535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تحترم CSS من تزعجهم الحركة؟</a:t>
            </a:r>
            <a:endParaRPr lang="ar-EG" sz="1650" dirty="0"/>
          </a:p>
        </p:txBody>
      </p:sp>
      <p:sp>
        <p:nvSpPr>
          <p:cNvPr id="20" name="k5_ans_bg"/>
          <p:cNvSpPr/>
          <p:nvPr/>
        </p:nvSpPr>
        <p:spPr>
          <a:xfrm>
            <a:off x="715975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898855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بـ ‎@media‎ (prefers-reduced-motion: reduce) لإزالة الحركة أو إبطائها.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الخلاصة</a:t>
            </a:r>
            <a:endParaRPr lang="ar-EG" sz="3400" dirty="0"/>
          </a:p>
        </p:txBody>
      </p:sp>
      <p:sp>
        <p:nvSpPr>
          <p:cNvPr id="3" name="a2_ico_bg"/>
          <p:cNvSpPr/>
          <p:nvPr/>
        </p:nvSpPr>
        <p:spPr>
          <a:xfrm>
            <a:off x="11140135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5924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5150815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تحرّك بين حالتين؛ ضعها على الحالة العادية.</a:t>
            </a:r>
            <a:endParaRPr lang="ar-EG" sz="1650" dirty="0"/>
          </a:p>
        </p:txBody>
      </p:sp>
      <p:sp>
        <p:nvSpPr>
          <p:cNvPr id="6" name="a3_ico_bg"/>
          <p:cNvSpPr/>
          <p:nvPr/>
        </p:nvSpPr>
        <p:spPr>
          <a:xfrm>
            <a:off x="11140135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924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5150815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translate وscale وrotate تغيّر طريقة رسم العنصر.</a:t>
            </a:r>
            <a:endParaRPr lang="ar-EG" sz="1650" dirty="0"/>
          </a:p>
        </p:txBody>
      </p:sp>
      <p:sp>
        <p:nvSpPr>
          <p:cNvPr id="9" name="a4_ico_bg"/>
          <p:cNvSpPr/>
          <p:nvPr/>
        </p:nvSpPr>
        <p:spPr>
          <a:xfrm>
            <a:off x="11140135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924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5150815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‎@keyframes‎ مع animation تصنع حركة متعدّدة الخطوات.</a:t>
            </a:r>
            <a:endParaRPr lang="ar-EG" sz="1650" dirty="0"/>
          </a:p>
        </p:txBody>
      </p:sp>
      <p:sp>
        <p:nvSpPr>
          <p:cNvPr id="12" name="a5_ico_bg"/>
          <p:cNvSpPr/>
          <p:nvPr/>
        </p:nvSpPr>
        <p:spPr>
          <a:xfrm>
            <a:off x="11140135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924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5150815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المنحنى يحدّد الإحساس: linear للمؤشر الدوّار، وease لمعظم الواجهات.</a:t>
            </a:r>
            <a:endParaRPr lang="ar-EG" sz="1650" dirty="0"/>
          </a:p>
        </p:txBody>
      </p:sp>
      <p:sp>
        <p:nvSpPr>
          <p:cNvPr id="15" name="a6_ico_bg"/>
          <p:cNvSpPr/>
          <p:nvPr/>
        </p:nvSpPr>
        <p:spPr>
          <a:xfrm>
            <a:off x="11140135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5924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5150815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حرّك transform وopacity، واجعل الحركة قصيرة، واحترم تقليل الحركة.</a:t>
            </a:r>
            <a:endParaRPr lang="ar-EG" sz="1650" dirty="0"/>
          </a:p>
        </p:txBody>
      </p:sp>
      <p:sp>
        <p:nvSpPr>
          <p:cNvPr id="18" name="a8_panel"/>
          <p:cNvSpPr/>
          <p:nvPr/>
        </p:nvSpPr>
        <p:spPr>
          <a:xfrm>
            <a:off x="551383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898855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واصل التعلّم</a:t>
            </a:r>
            <a:endParaRPr lang="ar-EG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853135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ملفات الشيفرة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code/lesson7/  (الأمثلة والنشاط والتحدي)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تدرّب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(يعمل دون إنترنت) أو روابط CodePen في codepen.html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التالي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اكتمل المقرّر! ابنِ موقعًا صغيرًا يستخدم الدروس السبعة كلها.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7: الانتقالات والحركة</dc:title>
  <dc:subject>CSS for high-school students</dc:subject>
  <dc:creator>CSS for High School</dc:creator>
  <cp:lastModifiedBy>CSS for High School</cp:lastModifiedBy>
  <cp:revision>1</cp:revision>
  <dcterms:created xsi:type="dcterms:W3CDTF">2026-10-09T08:52:53Z</dcterms:created>
  <dcterms:modified xsi:type="dcterms:W3CDTF">2026-10-09T08:52:53Z</dcterms:modified>
</cp:coreProperties>
</file>