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ced7556-16a3-0321-970c-5e019b5186b7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Tags &amp; elements" id="{f0c92d9f-5261-b916-9b64-3c65ccc4fdb1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 class. Ask: who has visited a website today? Every one of those pages is written with HTML. Today everyone will build a real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four goals aloud. Tell students the last 15 minutes are hands-on.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house analogy. We start with HTML because you cannot paint a house that has no walls. CSS and JavaScript come in later courses.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for another 'markup' they know: a teacher marking an exam paper with a red pen is adding markup.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Stress that the browser, not the student, turns the tags into a visual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lab has no VS Code, Notepad is fine. Make sure 'Save as type' is All Files so Windows does not add .txt.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 Take a breath and ask if anything is unclear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&lt;p&gt;Hello Egypt&lt;/p&gt; on the board and have students point at each of the three parts.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 this in front of the class. Point out: the title lives in head, the visible heading lives in body. Students often mix them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code live in a browser. Then add a blank line in the editor and refresh: nothing changes. That is the 'ignored spaces' tip.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 with a newspaper: big headline, then section titles, then small sub-titles.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Quick-fire: say a description, students shout the tag.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20 seconds. Click once to reveal the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Circulate. The most common bug is a missing slash in a closing tag. Remind students to save (Ctrl+S) and refresh (F5).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each row of students to tell you one thing they learned. Hand out the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57400"/>
            <a:ext cx="75895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69494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931920" y="210312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3931920" y="361188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Fundamentals  |  Lesson 1: Meet HTML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Fundamentals  |  Lesson 1: Meet HTML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5_ico_sun"/>
          <p:cNvSpPr/>
          <p:nvPr/>
        </p:nvSpPr>
        <p:spPr>
          <a:xfrm>
            <a:off x="9966960" y="822960"/>
            <a:ext cx="1371600" cy="1371600"/>
          </a:xfrm>
          <a:prstGeom prst="ellipse">
            <a:avLst/>
          </a:prstGeom>
          <a:solidFill>
            <a:schemeClr val="accent2">
              <a:alpha val="90000"/>
            </a:schemeClr>
          </a:solidFill>
          <a:ln/>
        </p:spPr>
      </p:sp>
      <p:sp>
        <p:nvSpPr>
          <p:cNvPr id="4" name="a5_halo"/>
          <p:cNvSpPr/>
          <p:nvPr/>
        </p:nvSpPr>
        <p:spPr>
          <a:xfrm>
            <a:off x="8595360" y="-1097280"/>
            <a:ext cx="4206240" cy="420624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5" name="a6_pyr1"/>
          <p:cNvSpPr/>
          <p:nvPr/>
        </p:nvSpPr>
        <p:spPr>
          <a:xfrm>
            <a:off x="7406640" y="4160520"/>
            <a:ext cx="2651760" cy="2240280"/>
          </a:xfrm>
          <a:prstGeom prst="triangle">
            <a:avLst/>
          </a:prstGeom>
          <a:solidFill>
            <a:schemeClr val="accent1">
              <a:alpha val="75000"/>
            </a:schemeClr>
          </a:solidFill>
          <a:ln/>
        </p:spPr>
      </p:sp>
      <p:sp>
        <p:nvSpPr>
          <p:cNvPr id="6" name="a6_pyr2"/>
          <p:cNvSpPr/>
          <p:nvPr/>
        </p:nvSpPr>
        <p:spPr>
          <a:xfrm>
            <a:off x="8869680" y="2743200"/>
            <a:ext cx="3017520" cy="3657600"/>
          </a:xfrm>
          <a:prstGeom prst="triangle">
            <a:avLst/>
          </a:prstGeom>
          <a:solidFill>
            <a:schemeClr val="accent2"/>
          </a:solidFill>
          <a:ln/>
        </p:spPr>
      </p:sp>
      <p:sp>
        <p:nvSpPr>
          <p:cNvPr id="7" name="a6_pyr3"/>
          <p:cNvSpPr/>
          <p:nvPr/>
        </p:nvSpPr>
        <p:spPr>
          <a:xfrm>
            <a:off x="10561320" y="4709160"/>
            <a:ext cx="1371600" cy="1691640"/>
          </a:xfrm>
          <a:prstGeom prst="triangle">
            <a:avLst/>
          </a:prstGeom>
          <a:solidFill>
            <a:schemeClr val="accent3">
              <a:alpha val="85000"/>
            </a:schemeClr>
          </a:solidFill>
          <a:ln/>
        </p:spPr>
      </p:sp>
      <p:sp>
        <p:nvSpPr>
          <p:cNvPr id="8" name="a1_pill"/>
          <p:cNvSpPr/>
          <p:nvPr/>
        </p:nvSpPr>
        <p:spPr>
          <a:xfrm>
            <a:off x="731520" y="1325880"/>
            <a:ext cx="22860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9" name="a1_pill_text"/>
          <p:cNvSpPr txBox="1"/>
          <p:nvPr/>
        </p:nvSpPr>
        <p:spPr>
          <a:xfrm>
            <a:off x="73152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</a:t>
            </a:r>
            <a:endParaRPr lang="en-US" sz="1400" dirty="0"/>
          </a:p>
        </p:txBody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731520" y="205740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Meet HTML</a:t>
            </a:r>
            <a:endParaRPr lang="en-US" sz="54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731520" y="402336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Build your very first web page, step by step</a:t>
            </a:r>
            <a:endParaRPr lang="en-US" sz="2200" dirty="0"/>
          </a:p>
        </p:txBody>
      </p:sp>
      <p:sp>
        <p:nvSpPr>
          <p:cNvPr id="12" name="a4_ar"/>
          <p:cNvSpPr txBox="1"/>
          <p:nvPr/>
        </p:nvSpPr>
        <p:spPr>
          <a:xfrm>
            <a:off x="731520" y="49834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EG" altLang="en-US" sz="22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الدرس الأول: صفحتك الأولى على الويب</a:t>
            </a:r>
            <a:endParaRPr lang="ar-EG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rippl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By the end of this lesson you will…</a:t>
            </a:r>
            <a:endParaRPr lang="en-US" sz="3600" dirty="0"/>
          </a:p>
        </p:txBody>
      </p:sp>
      <p:sp>
        <p:nvSpPr>
          <p:cNvPr id="4" name="a1_ico_bg"/>
          <p:cNvSpPr/>
          <p:nvPr/>
        </p:nvSpPr>
        <p:spPr>
          <a:xfrm>
            <a:off x="548640" y="160020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495" y="1810055"/>
            <a:ext cx="357530" cy="357530"/>
          </a:xfrm>
          <a:prstGeom prst="rect">
            <a:avLst/>
          </a:prstGeom>
        </p:spPr>
      </p:pic>
      <p:sp>
        <p:nvSpPr>
          <p:cNvPr id="6" name="a1_text"/>
          <p:cNvSpPr txBox="1"/>
          <p:nvPr/>
        </p:nvSpPr>
        <p:spPr>
          <a:xfrm>
            <a:off x="1600200" y="160020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HTML is and why websites need it</a:t>
            </a:r>
            <a:endParaRPr lang="en-US" sz="2200" dirty="0"/>
          </a:p>
        </p:txBody>
      </p:sp>
      <p:sp>
        <p:nvSpPr>
          <p:cNvPr id="7" name="a2_ico_bg"/>
          <p:cNvSpPr/>
          <p:nvPr/>
        </p:nvSpPr>
        <p:spPr>
          <a:xfrm>
            <a:off x="548640" y="2679192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a2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495" y="2889047"/>
            <a:ext cx="357530" cy="357530"/>
          </a:xfrm>
          <a:prstGeom prst="rect">
            <a:avLst/>
          </a:prstGeom>
        </p:spPr>
      </p:pic>
      <p:sp>
        <p:nvSpPr>
          <p:cNvPr id="9" name="a2_text"/>
          <p:cNvSpPr txBox="1"/>
          <p:nvPr/>
        </p:nvSpPr>
        <p:spPr>
          <a:xfrm>
            <a:off x="1600200" y="2679192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write tags and elements</a:t>
            </a:r>
            <a:endParaRPr lang="en-US" sz="2200" dirty="0"/>
          </a:p>
        </p:txBody>
      </p:sp>
      <p:sp>
        <p:nvSpPr>
          <p:cNvPr id="10" name="a3_ico_bg"/>
          <p:cNvSpPr/>
          <p:nvPr/>
        </p:nvSpPr>
        <p:spPr>
          <a:xfrm>
            <a:off x="548640" y="3758184"/>
            <a:ext cx="777240" cy="77724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1" name="a3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495" y="3968039"/>
            <a:ext cx="357530" cy="357530"/>
          </a:xfrm>
          <a:prstGeom prst="rect">
            <a:avLst/>
          </a:prstGeom>
        </p:spPr>
      </p:pic>
      <p:sp>
        <p:nvSpPr>
          <p:cNvPr id="12" name="a3_text"/>
          <p:cNvSpPr txBox="1"/>
          <p:nvPr/>
        </p:nvSpPr>
        <p:spPr>
          <a:xfrm>
            <a:off x="1600200" y="3758184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skeleton every web page has</a:t>
            </a:r>
            <a:endParaRPr lang="en-US" sz="2200" dirty="0"/>
          </a:p>
        </p:txBody>
      </p:sp>
      <p:sp>
        <p:nvSpPr>
          <p:cNvPr id="13" name="a4_ico_bg"/>
          <p:cNvSpPr/>
          <p:nvPr/>
        </p:nvSpPr>
        <p:spPr>
          <a:xfrm>
            <a:off x="548640" y="4837176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a4_ico_img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495" y="5047031"/>
            <a:ext cx="357530" cy="357530"/>
          </a:xfrm>
          <a:prstGeom prst="rect">
            <a:avLst/>
          </a:prstGeom>
        </p:spPr>
      </p:pic>
      <p:sp>
        <p:nvSpPr>
          <p:cNvPr id="15" name="a4_text"/>
          <p:cNvSpPr txBox="1"/>
          <p:nvPr/>
        </p:nvSpPr>
        <p:spPr>
          <a:xfrm>
            <a:off x="1600200" y="4837176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headings and paragraphs to organise text</a:t>
            </a:r>
            <a:endParaRPr lang="en-US" sz="2200" dirty="0"/>
          </a:p>
        </p:txBody>
      </p:sp>
      <p:sp>
        <p:nvSpPr>
          <p:cNvPr id="16" name="a5_panel"/>
          <p:cNvSpPr/>
          <p:nvPr/>
        </p:nvSpPr>
        <p:spPr>
          <a:xfrm>
            <a:off x="8503920" y="1600200"/>
            <a:ext cx="3136392" cy="4251960"/>
          </a:xfrm>
          <a:prstGeom prst="roundRect">
            <a:avLst>
              <a:gd name="adj" fmla="val 5831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pic>
        <p:nvPicPr>
          <p:cNvPr id="17" name="a5_ico_panel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0344" y="2057400"/>
            <a:ext cx="914400" cy="914400"/>
          </a:xfrm>
          <a:prstGeom prst="rect">
            <a:avLst/>
          </a:prstGeom>
        </p:spPr>
      </p:pic>
      <p:sp>
        <p:nvSpPr>
          <p:cNvPr id="18" name="a5_panel_label"/>
          <p:cNvSpPr txBox="1"/>
          <p:nvPr/>
        </p:nvSpPr>
        <p:spPr>
          <a:xfrm>
            <a:off x="8823960" y="324612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GOAL</a:t>
            </a:r>
            <a:endParaRPr lang="en-US" sz="1400" dirty="0"/>
          </a:p>
        </p:txBody>
      </p:sp>
      <p:sp>
        <p:nvSpPr>
          <p:cNvPr id="19" name="a5_panel_text"/>
          <p:cNvSpPr txBox="1"/>
          <p:nvPr/>
        </p:nvSpPr>
        <p:spPr>
          <a:xfrm>
            <a:off x="8823960" y="3657600"/>
            <a:ext cx="249631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your own About Me page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53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Every website is built from 3 layers</a:t>
            </a:r>
            <a:endParaRPr lang="en-US" sz="3600" dirty="0"/>
          </a:p>
        </p:txBody>
      </p:sp>
      <p:sp>
        <p:nvSpPr>
          <p:cNvPr id="4" name="a1_card"/>
          <p:cNvSpPr/>
          <p:nvPr/>
        </p:nvSpPr>
        <p:spPr>
          <a:xfrm>
            <a:off x="548640" y="1600200"/>
            <a:ext cx="3515258" cy="4297680"/>
          </a:xfrm>
          <a:prstGeom prst="roundRect">
            <a:avLst>
              <a:gd name="adj" fmla="val 4682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5" name="a1_ico_bg"/>
          <p:cNvSpPr/>
          <p:nvPr/>
        </p:nvSpPr>
        <p:spPr>
          <a:xfrm>
            <a:off x="868680" y="1920240"/>
            <a:ext cx="822960" cy="822960"/>
          </a:xfrm>
          <a:prstGeom prst="ellipse">
            <a:avLst/>
          </a:prstGeom>
          <a:solidFill>
            <a:srgbClr val="F5B301"/>
          </a:solidFill>
          <a:ln/>
        </p:spPr>
      </p:sp>
      <p:pic>
        <p:nvPicPr>
          <p:cNvPr id="6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79" y="2142439"/>
            <a:ext cx="378562" cy="378562"/>
          </a:xfrm>
          <a:prstGeom prst="rect">
            <a:avLst/>
          </a:prstGeom>
        </p:spPr>
      </p:pic>
      <p:sp>
        <p:nvSpPr>
          <p:cNvPr id="7" name="a1_chip"/>
          <p:cNvSpPr txBox="1"/>
          <p:nvPr/>
        </p:nvSpPr>
        <p:spPr>
          <a:xfrm>
            <a:off x="868680" y="201168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&lt;html&gt;</a:t>
            </a:r>
            <a:endParaRPr lang="en-US" sz="1600" dirty="0"/>
          </a:p>
        </p:txBody>
      </p:sp>
      <p:sp>
        <p:nvSpPr>
          <p:cNvPr id="8" name="a1_head"/>
          <p:cNvSpPr txBox="1"/>
          <p:nvPr/>
        </p:nvSpPr>
        <p:spPr>
          <a:xfrm>
            <a:off x="868680" y="297180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</a:t>
            </a:r>
            <a:endParaRPr lang="en-US" sz="2400" dirty="0"/>
          </a:p>
        </p:txBody>
      </p:sp>
      <p:sp>
        <p:nvSpPr>
          <p:cNvPr id="9" name="a1_body"/>
          <p:cNvSpPr txBox="1"/>
          <p:nvPr/>
        </p:nvSpPr>
        <p:spPr>
          <a:xfrm>
            <a:off x="868680" y="3611880"/>
            <a:ext cx="28751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structure. Like the walls and rooms of a house: it decides what is on the page.</a:t>
            </a:r>
            <a:endParaRPr lang="en-US" sz="1700" dirty="0"/>
          </a:p>
        </p:txBody>
      </p:sp>
      <p:sp>
        <p:nvSpPr>
          <p:cNvPr id="10" name="a1_ar"/>
          <p:cNvSpPr txBox="1"/>
          <p:nvPr/>
        </p:nvSpPr>
        <p:spPr>
          <a:xfrm>
            <a:off x="868680" y="52578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EG" alt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الهيكل</a:t>
            </a:r>
            <a:endParaRPr lang="ar-EG" sz="1800" dirty="0"/>
          </a:p>
        </p:txBody>
      </p:sp>
      <p:sp>
        <p:nvSpPr>
          <p:cNvPr id="11" name="a2_card"/>
          <p:cNvSpPr/>
          <p:nvPr/>
        </p:nvSpPr>
        <p:spPr>
          <a:xfrm>
            <a:off x="4338218" y="1600200"/>
            <a:ext cx="3515258" cy="4297680"/>
          </a:xfrm>
          <a:prstGeom prst="roundRect">
            <a:avLst>
              <a:gd name="adj" fmla="val 4682"/>
            </a:avLst>
          </a:prstGeom>
          <a:solidFill>
            <a:schemeClr val="bg2"/>
          </a:solidFill>
          <a:ln/>
        </p:spPr>
      </p:sp>
      <p:sp>
        <p:nvSpPr>
          <p:cNvPr id="12" name="a2_ico_bg"/>
          <p:cNvSpPr/>
          <p:nvPr/>
        </p:nvSpPr>
        <p:spPr>
          <a:xfrm>
            <a:off x="4658258" y="1920240"/>
            <a:ext cx="822960" cy="822960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13" name="a2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0458" y="2142439"/>
            <a:ext cx="378562" cy="378562"/>
          </a:xfrm>
          <a:prstGeom prst="rect">
            <a:avLst/>
          </a:prstGeom>
        </p:spPr>
      </p:pic>
      <p:sp>
        <p:nvSpPr>
          <p:cNvPr id="14" name="a2_chip"/>
          <p:cNvSpPr txBox="1"/>
          <p:nvPr/>
        </p:nvSpPr>
        <p:spPr>
          <a:xfrm>
            <a:off x="4658258" y="201168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style</a:t>
            </a:r>
            <a:endParaRPr lang="en-US" sz="1600" dirty="0"/>
          </a:p>
        </p:txBody>
      </p:sp>
      <p:sp>
        <p:nvSpPr>
          <p:cNvPr id="15" name="a2_head"/>
          <p:cNvSpPr txBox="1"/>
          <p:nvPr/>
        </p:nvSpPr>
        <p:spPr>
          <a:xfrm>
            <a:off x="4658258" y="297180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</a:t>
            </a:r>
            <a:endParaRPr lang="en-US" sz="2400" dirty="0"/>
          </a:p>
        </p:txBody>
      </p:sp>
      <p:sp>
        <p:nvSpPr>
          <p:cNvPr id="16" name="a2_body"/>
          <p:cNvSpPr txBox="1"/>
          <p:nvPr/>
        </p:nvSpPr>
        <p:spPr>
          <a:xfrm>
            <a:off x="4658258" y="3611880"/>
            <a:ext cx="28751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style. Like the paint, furniture and decoration: colours, fonts and layout.</a:t>
            </a:r>
            <a:endParaRPr lang="en-US" sz="1700" dirty="0"/>
          </a:p>
        </p:txBody>
      </p:sp>
      <p:sp>
        <p:nvSpPr>
          <p:cNvPr id="17" name="a2_ar"/>
          <p:cNvSpPr txBox="1"/>
          <p:nvPr/>
        </p:nvSpPr>
        <p:spPr>
          <a:xfrm>
            <a:off x="4658258" y="52578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EG" alt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التصميم</a:t>
            </a:r>
            <a:endParaRPr lang="ar-EG" sz="1800" dirty="0"/>
          </a:p>
        </p:txBody>
      </p:sp>
      <p:sp>
        <p:nvSpPr>
          <p:cNvPr id="18" name="a3_card"/>
          <p:cNvSpPr/>
          <p:nvPr/>
        </p:nvSpPr>
        <p:spPr>
          <a:xfrm>
            <a:off x="8127797" y="1600200"/>
            <a:ext cx="3515258" cy="4297680"/>
          </a:xfrm>
          <a:prstGeom prst="roundRect">
            <a:avLst>
              <a:gd name="adj" fmla="val 4682"/>
            </a:avLst>
          </a:prstGeom>
          <a:solidFill>
            <a:schemeClr val="bg2"/>
          </a:solidFill>
          <a:ln/>
        </p:spPr>
      </p:sp>
      <p:sp>
        <p:nvSpPr>
          <p:cNvPr id="19" name="a3_ico_bg"/>
          <p:cNvSpPr/>
          <p:nvPr/>
        </p:nvSpPr>
        <p:spPr>
          <a:xfrm>
            <a:off x="8447837" y="1920240"/>
            <a:ext cx="822960" cy="822960"/>
          </a:xfrm>
          <a:prstGeom prst="ellipse">
            <a:avLst/>
          </a:prstGeom>
          <a:solidFill>
            <a:srgbClr val="FF6B4A"/>
          </a:solidFill>
          <a:ln/>
        </p:spPr>
      </p:sp>
      <p:pic>
        <p:nvPicPr>
          <p:cNvPr id="20" name="a3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0036" y="2142439"/>
            <a:ext cx="378562" cy="378562"/>
          </a:xfrm>
          <a:prstGeom prst="rect">
            <a:avLst/>
          </a:prstGeom>
        </p:spPr>
      </p:pic>
      <p:sp>
        <p:nvSpPr>
          <p:cNvPr id="21" name="a3_chip"/>
          <p:cNvSpPr txBox="1"/>
          <p:nvPr/>
        </p:nvSpPr>
        <p:spPr>
          <a:xfrm>
            <a:off x="8447837" y="201168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endParaRPr lang="en-US" sz="1600" dirty="0"/>
          </a:p>
        </p:txBody>
      </p:sp>
      <p:sp>
        <p:nvSpPr>
          <p:cNvPr id="22" name="a3_head"/>
          <p:cNvSpPr txBox="1"/>
          <p:nvPr/>
        </p:nvSpPr>
        <p:spPr>
          <a:xfrm>
            <a:off x="8447837" y="297180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</a:t>
            </a:r>
            <a:endParaRPr lang="en-US" sz="2400" dirty="0"/>
          </a:p>
        </p:txBody>
      </p:sp>
      <p:sp>
        <p:nvSpPr>
          <p:cNvPr id="23" name="a3_body"/>
          <p:cNvSpPr txBox="1"/>
          <p:nvPr/>
        </p:nvSpPr>
        <p:spPr>
          <a:xfrm>
            <a:off x="8447837" y="3611880"/>
            <a:ext cx="28751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behaviour. Like the electricity: menus, games and buttons that react to you.</a:t>
            </a:r>
            <a:endParaRPr lang="en-US" sz="1700" dirty="0"/>
          </a:p>
        </p:txBody>
      </p:sp>
      <p:sp>
        <p:nvSpPr>
          <p:cNvPr id="24" name="a3_ar"/>
          <p:cNvSpPr txBox="1"/>
          <p:nvPr/>
        </p:nvSpPr>
        <p:spPr>
          <a:xfrm>
            <a:off x="8447837" y="52578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EG" alt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التفاعل</a:t>
            </a:r>
            <a:endParaRPr lang="ar-EG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does HTML stand for?</a:t>
            </a:r>
            <a:endParaRPr lang="en-US" sz="3600" dirty="0"/>
          </a:p>
        </p:txBody>
      </p:sp>
      <p:sp>
        <p:nvSpPr>
          <p:cNvPr id="4" name="a1_card"/>
          <p:cNvSpPr/>
          <p:nvPr/>
        </p:nvSpPr>
        <p:spPr>
          <a:xfrm>
            <a:off x="548640" y="1600200"/>
            <a:ext cx="3515258" cy="4297680"/>
          </a:xfrm>
          <a:prstGeom prst="roundRect">
            <a:avLst>
              <a:gd name="adj" fmla="val 4682"/>
            </a:avLst>
          </a:prstGeom>
          <a:solidFill>
            <a:schemeClr val="bg2"/>
          </a:solidFill>
          <a:ln/>
        </p:spPr>
      </p:sp>
      <p:sp>
        <p:nvSpPr>
          <p:cNvPr id="5" name="a1_big_bg"/>
          <p:cNvSpPr/>
          <p:nvPr/>
        </p:nvSpPr>
        <p:spPr>
          <a:xfrm>
            <a:off x="822960" y="1920240"/>
            <a:ext cx="2966618" cy="1005840"/>
          </a:xfrm>
          <a:prstGeom prst="roundRect">
            <a:avLst>
              <a:gd name="adj" fmla="val 12727"/>
            </a:avLst>
          </a:prstGeom>
          <a:solidFill>
            <a:srgbClr val="14B8A6"/>
          </a:solidFill>
          <a:ln/>
        </p:spPr>
      </p:sp>
      <p:sp>
        <p:nvSpPr>
          <p:cNvPr id="6" name="a1_big"/>
          <p:cNvSpPr txBox="1"/>
          <p:nvPr/>
        </p:nvSpPr>
        <p:spPr>
          <a:xfrm>
            <a:off x="822960" y="192024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HyperText</a:t>
            </a:r>
            <a:endParaRPr lang="en-US" sz="3200" dirty="0"/>
          </a:p>
        </p:txBody>
      </p:sp>
      <p:sp>
        <p:nvSpPr>
          <p:cNvPr id="7" name="a1_head"/>
          <p:cNvSpPr txBox="1"/>
          <p:nvPr/>
        </p:nvSpPr>
        <p:spPr>
          <a:xfrm>
            <a:off x="868680" y="315468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text</a:t>
            </a:r>
            <a:endParaRPr lang="en-US" sz="2400" dirty="0"/>
          </a:p>
        </p:txBody>
      </p:sp>
      <p:sp>
        <p:nvSpPr>
          <p:cNvPr id="8" name="a1_body"/>
          <p:cNvSpPr txBox="1"/>
          <p:nvPr/>
        </p:nvSpPr>
        <p:spPr>
          <a:xfrm>
            <a:off x="868680" y="379476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that contains links. Click a link and jump to another page, anywhere in the world.</a:t>
            </a:r>
            <a:endParaRPr lang="en-US" sz="1700" dirty="0"/>
          </a:p>
        </p:txBody>
      </p:sp>
      <p:sp>
        <p:nvSpPr>
          <p:cNvPr id="9" name="a1_ar"/>
          <p:cNvSpPr txBox="1"/>
          <p:nvPr/>
        </p:nvSpPr>
        <p:spPr>
          <a:xfrm>
            <a:off x="868680" y="52578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EG" alt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 تشعبي</a:t>
            </a:r>
            <a:endParaRPr lang="ar-EG" sz="1800" dirty="0"/>
          </a:p>
        </p:txBody>
      </p:sp>
      <p:sp>
        <p:nvSpPr>
          <p:cNvPr id="10" name="a2_card"/>
          <p:cNvSpPr/>
          <p:nvPr/>
        </p:nvSpPr>
        <p:spPr>
          <a:xfrm>
            <a:off x="4338218" y="1600200"/>
            <a:ext cx="3515258" cy="4297680"/>
          </a:xfrm>
          <a:prstGeom prst="roundRect">
            <a:avLst>
              <a:gd name="adj" fmla="val 4682"/>
            </a:avLst>
          </a:prstGeom>
          <a:solidFill>
            <a:schemeClr val="bg2"/>
          </a:solidFill>
          <a:ln/>
        </p:spPr>
      </p:sp>
      <p:sp>
        <p:nvSpPr>
          <p:cNvPr id="11" name="a2_big_bg"/>
          <p:cNvSpPr/>
          <p:nvPr/>
        </p:nvSpPr>
        <p:spPr>
          <a:xfrm>
            <a:off x="4612538" y="1920240"/>
            <a:ext cx="2966618" cy="1005840"/>
          </a:xfrm>
          <a:prstGeom prst="roundRect">
            <a:avLst>
              <a:gd name="adj" fmla="val 12727"/>
            </a:avLst>
          </a:prstGeom>
          <a:solidFill>
            <a:srgbClr val="F5B301"/>
          </a:solidFill>
          <a:ln/>
        </p:spPr>
      </p:sp>
      <p:sp>
        <p:nvSpPr>
          <p:cNvPr id="12" name="a2_big"/>
          <p:cNvSpPr txBox="1"/>
          <p:nvPr/>
        </p:nvSpPr>
        <p:spPr>
          <a:xfrm>
            <a:off x="4612538" y="192024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Markup</a:t>
            </a:r>
            <a:endParaRPr lang="en-US" sz="3200" dirty="0"/>
          </a:p>
        </p:txBody>
      </p:sp>
      <p:sp>
        <p:nvSpPr>
          <p:cNvPr id="13" name="a2_head"/>
          <p:cNvSpPr txBox="1"/>
          <p:nvPr/>
        </p:nvSpPr>
        <p:spPr>
          <a:xfrm>
            <a:off x="4658258" y="315468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on content</a:t>
            </a:r>
            <a:endParaRPr lang="en-US" sz="2400" dirty="0"/>
          </a:p>
        </p:txBody>
      </p:sp>
      <p:sp>
        <p:nvSpPr>
          <p:cNvPr id="14" name="a2_body"/>
          <p:cNvSpPr txBox="1"/>
          <p:nvPr/>
        </p:nvSpPr>
        <p:spPr>
          <a:xfrm>
            <a:off x="4658258" y="379476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wrap content in tags that tell the browser what it is: a heading, a paragraph, an image…</a:t>
            </a:r>
            <a:endParaRPr lang="en-US" sz="1700" dirty="0"/>
          </a:p>
        </p:txBody>
      </p:sp>
      <p:sp>
        <p:nvSpPr>
          <p:cNvPr id="15" name="a2_ar"/>
          <p:cNvSpPr txBox="1"/>
          <p:nvPr/>
        </p:nvSpPr>
        <p:spPr>
          <a:xfrm>
            <a:off x="4658258" y="52578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EG" alt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ترميز</a:t>
            </a:r>
            <a:endParaRPr lang="ar-EG" sz="1800" dirty="0"/>
          </a:p>
        </p:txBody>
      </p:sp>
      <p:sp>
        <p:nvSpPr>
          <p:cNvPr id="16" name="a3_card"/>
          <p:cNvSpPr/>
          <p:nvPr/>
        </p:nvSpPr>
        <p:spPr>
          <a:xfrm>
            <a:off x="8127797" y="1600200"/>
            <a:ext cx="3515258" cy="4297680"/>
          </a:xfrm>
          <a:prstGeom prst="roundRect">
            <a:avLst>
              <a:gd name="adj" fmla="val 4682"/>
            </a:avLst>
          </a:prstGeom>
          <a:solidFill>
            <a:schemeClr val="bg2"/>
          </a:solidFill>
          <a:ln/>
        </p:spPr>
      </p:sp>
      <p:sp>
        <p:nvSpPr>
          <p:cNvPr id="17" name="a3_big_bg"/>
          <p:cNvSpPr/>
          <p:nvPr/>
        </p:nvSpPr>
        <p:spPr>
          <a:xfrm>
            <a:off x="8402117" y="1920240"/>
            <a:ext cx="2966618" cy="1005840"/>
          </a:xfrm>
          <a:prstGeom prst="roundRect">
            <a:avLst>
              <a:gd name="adj" fmla="val 12727"/>
            </a:avLst>
          </a:prstGeom>
          <a:solidFill>
            <a:srgbClr val="38BDF8"/>
          </a:solidFill>
          <a:ln/>
        </p:spPr>
      </p:sp>
      <p:sp>
        <p:nvSpPr>
          <p:cNvPr id="18" name="a3_big"/>
          <p:cNvSpPr txBox="1"/>
          <p:nvPr/>
        </p:nvSpPr>
        <p:spPr>
          <a:xfrm>
            <a:off x="8402117" y="192024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</a:t>
            </a:r>
            <a:endParaRPr lang="en-US" sz="3200" dirty="0"/>
          </a:p>
        </p:txBody>
      </p:sp>
      <p:sp>
        <p:nvSpPr>
          <p:cNvPr id="19" name="a3_head"/>
          <p:cNvSpPr txBox="1"/>
          <p:nvPr/>
        </p:nvSpPr>
        <p:spPr>
          <a:xfrm>
            <a:off x="8447837" y="315468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to follow</a:t>
            </a:r>
            <a:endParaRPr lang="en-US" sz="2400" dirty="0"/>
          </a:p>
        </p:txBody>
      </p:sp>
      <p:sp>
        <p:nvSpPr>
          <p:cNvPr id="20" name="a3_body"/>
          <p:cNvSpPr txBox="1"/>
          <p:nvPr/>
        </p:nvSpPr>
        <p:spPr>
          <a:xfrm>
            <a:off x="8447837" y="379476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Arabic or English, HTML has rules. The browser reads them and draws the page.</a:t>
            </a:r>
            <a:endParaRPr lang="en-US" sz="1700" dirty="0"/>
          </a:p>
        </p:txBody>
      </p:sp>
      <p:sp>
        <p:nvSpPr>
          <p:cNvPr id="21" name="a3_ar"/>
          <p:cNvSpPr txBox="1"/>
          <p:nvPr/>
        </p:nvSpPr>
        <p:spPr>
          <a:xfrm>
            <a:off x="8447837" y="52578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EG" alt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لغة</a:t>
            </a:r>
            <a:endParaRPr lang="ar-EG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How a web page reaches your screen</a:t>
            </a:r>
            <a:endParaRPr lang="en-US" sz="3600" dirty="0"/>
          </a:p>
        </p:txBody>
      </p:sp>
      <p:sp>
        <p:nvSpPr>
          <p:cNvPr id="4" name="a1_card"/>
          <p:cNvSpPr/>
          <p:nvPr/>
        </p:nvSpPr>
        <p:spPr>
          <a:xfrm>
            <a:off x="548640" y="1600200"/>
            <a:ext cx="2259254" cy="3063240"/>
          </a:xfrm>
          <a:prstGeom prst="roundRect">
            <a:avLst>
              <a:gd name="adj" fmla="val 7285"/>
            </a:avLst>
          </a:prstGeom>
          <a:solidFill>
            <a:schemeClr val="bg2"/>
          </a:solidFill>
          <a:ln/>
        </p:spPr>
      </p:sp>
      <p:sp>
        <p:nvSpPr>
          <p:cNvPr id="5" name="a1_ico_bg"/>
          <p:cNvSpPr/>
          <p:nvPr/>
        </p:nvSpPr>
        <p:spPr>
          <a:xfrm>
            <a:off x="1175347" y="182880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6924" y="2100377"/>
            <a:ext cx="462686" cy="462686"/>
          </a:xfrm>
          <a:prstGeom prst="rect">
            <a:avLst/>
          </a:prstGeom>
        </p:spPr>
      </p:pic>
      <p:sp>
        <p:nvSpPr>
          <p:cNvPr id="7" name="a1_label"/>
          <p:cNvSpPr txBox="1"/>
          <p:nvPr/>
        </p:nvSpPr>
        <p:spPr>
          <a:xfrm>
            <a:off x="685800" y="2971800"/>
            <a:ext cx="19849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You type</a:t>
            </a:r>
            <a:endParaRPr lang="en-US" sz="1800" dirty="0"/>
          </a:p>
        </p:txBody>
      </p:sp>
      <p:sp>
        <p:nvSpPr>
          <p:cNvPr id="8" name="a1_sub"/>
          <p:cNvSpPr txBox="1"/>
          <p:nvPr/>
        </p:nvSpPr>
        <p:spPr>
          <a:xfrm>
            <a:off x="731520" y="3611880"/>
            <a:ext cx="18934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address such as www.egypt.gov.eg</a:t>
            </a:r>
            <a:endParaRPr lang="en-US" sz="1600" dirty="0"/>
          </a:p>
        </p:txBody>
      </p:sp>
      <p:pic>
        <p:nvPicPr>
          <p:cNvPr id="9" name="a1_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3342" y="2834640"/>
            <a:ext cx="365760" cy="365760"/>
          </a:xfrm>
          <a:prstGeom prst="rect">
            <a:avLst/>
          </a:prstGeom>
        </p:spPr>
      </p:pic>
      <p:sp>
        <p:nvSpPr>
          <p:cNvPr id="10" name="a2_card"/>
          <p:cNvSpPr/>
          <p:nvPr/>
        </p:nvSpPr>
        <p:spPr>
          <a:xfrm>
            <a:off x="3493694" y="1600200"/>
            <a:ext cx="2259254" cy="3063240"/>
          </a:xfrm>
          <a:prstGeom prst="roundRect">
            <a:avLst>
              <a:gd name="adj" fmla="val 7285"/>
            </a:avLst>
          </a:prstGeom>
          <a:solidFill>
            <a:schemeClr val="bg2"/>
          </a:solidFill>
          <a:ln/>
        </p:spPr>
      </p:sp>
      <p:sp>
        <p:nvSpPr>
          <p:cNvPr id="11" name="a2_ico_bg"/>
          <p:cNvSpPr/>
          <p:nvPr/>
        </p:nvSpPr>
        <p:spPr>
          <a:xfrm>
            <a:off x="4120401" y="1828800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a2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1978" y="2100377"/>
            <a:ext cx="462686" cy="462686"/>
          </a:xfrm>
          <a:prstGeom prst="rect">
            <a:avLst/>
          </a:prstGeom>
        </p:spPr>
      </p:pic>
      <p:sp>
        <p:nvSpPr>
          <p:cNvPr id="13" name="a2_label"/>
          <p:cNvSpPr txBox="1"/>
          <p:nvPr/>
        </p:nvSpPr>
        <p:spPr>
          <a:xfrm>
            <a:off x="3630854" y="2971800"/>
            <a:ext cx="19849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Browser asks</a:t>
            </a:r>
            <a:endParaRPr lang="en-US" sz="1800" dirty="0"/>
          </a:p>
        </p:txBody>
      </p:sp>
      <p:sp>
        <p:nvSpPr>
          <p:cNvPr id="14" name="a2_sub"/>
          <p:cNvSpPr txBox="1"/>
          <p:nvPr/>
        </p:nvSpPr>
        <p:spPr>
          <a:xfrm>
            <a:off x="3676574" y="3611880"/>
            <a:ext cx="18934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sends a request to the web server</a:t>
            </a:r>
            <a:endParaRPr lang="en-US" sz="1600" dirty="0"/>
          </a:p>
        </p:txBody>
      </p:sp>
      <p:pic>
        <p:nvPicPr>
          <p:cNvPr id="15" name="a2_arrow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8396" y="2834640"/>
            <a:ext cx="365760" cy="365760"/>
          </a:xfrm>
          <a:prstGeom prst="rect">
            <a:avLst/>
          </a:prstGeom>
        </p:spPr>
      </p:pic>
      <p:sp>
        <p:nvSpPr>
          <p:cNvPr id="16" name="a3_card"/>
          <p:cNvSpPr/>
          <p:nvPr/>
        </p:nvSpPr>
        <p:spPr>
          <a:xfrm>
            <a:off x="6438748" y="1600200"/>
            <a:ext cx="2259254" cy="3063240"/>
          </a:xfrm>
          <a:prstGeom prst="roundRect">
            <a:avLst>
              <a:gd name="adj" fmla="val 7285"/>
            </a:avLst>
          </a:prstGeom>
          <a:solidFill>
            <a:schemeClr val="bg2"/>
          </a:solidFill>
          <a:ln/>
        </p:spPr>
      </p:sp>
      <p:sp>
        <p:nvSpPr>
          <p:cNvPr id="17" name="a3_ico_bg"/>
          <p:cNvSpPr/>
          <p:nvPr/>
        </p:nvSpPr>
        <p:spPr>
          <a:xfrm>
            <a:off x="7065455" y="1828800"/>
            <a:ext cx="1005840" cy="100584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8" name="a3_ico_img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7031" y="2100377"/>
            <a:ext cx="462686" cy="462686"/>
          </a:xfrm>
          <a:prstGeom prst="rect">
            <a:avLst/>
          </a:prstGeom>
        </p:spPr>
      </p:pic>
      <p:sp>
        <p:nvSpPr>
          <p:cNvPr id="19" name="a3_label"/>
          <p:cNvSpPr txBox="1"/>
          <p:nvPr/>
        </p:nvSpPr>
        <p:spPr>
          <a:xfrm>
            <a:off x="6575908" y="2971800"/>
            <a:ext cx="19849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Server replies</a:t>
            </a:r>
            <a:endParaRPr lang="en-US" sz="1800" dirty="0"/>
          </a:p>
        </p:txBody>
      </p:sp>
      <p:sp>
        <p:nvSpPr>
          <p:cNvPr id="20" name="a3_sub"/>
          <p:cNvSpPr txBox="1"/>
          <p:nvPr/>
        </p:nvSpPr>
        <p:spPr>
          <a:xfrm>
            <a:off x="6621628" y="3611880"/>
            <a:ext cx="18934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sends back an HTML file</a:t>
            </a:r>
            <a:endParaRPr lang="en-US" sz="1600" dirty="0"/>
          </a:p>
        </p:txBody>
      </p:sp>
      <p:pic>
        <p:nvPicPr>
          <p:cNvPr id="21" name="a3_arrow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3449" y="2834640"/>
            <a:ext cx="365760" cy="365760"/>
          </a:xfrm>
          <a:prstGeom prst="rect">
            <a:avLst/>
          </a:prstGeom>
        </p:spPr>
      </p:pic>
      <p:sp>
        <p:nvSpPr>
          <p:cNvPr id="22" name="a4_card"/>
          <p:cNvSpPr/>
          <p:nvPr/>
        </p:nvSpPr>
        <p:spPr>
          <a:xfrm>
            <a:off x="9383801" y="1600200"/>
            <a:ext cx="2259254" cy="3063240"/>
          </a:xfrm>
          <a:prstGeom prst="roundRect">
            <a:avLst>
              <a:gd name="adj" fmla="val 7285"/>
            </a:avLst>
          </a:prstGeom>
          <a:solidFill>
            <a:schemeClr val="bg2"/>
          </a:solidFill>
          <a:ln/>
        </p:spPr>
      </p:sp>
      <p:sp>
        <p:nvSpPr>
          <p:cNvPr id="23" name="a4_ico_bg"/>
          <p:cNvSpPr/>
          <p:nvPr/>
        </p:nvSpPr>
        <p:spPr>
          <a:xfrm>
            <a:off x="10010508" y="1828800"/>
            <a:ext cx="1005840" cy="10058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4" name="a4_ico_img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2085" y="2100377"/>
            <a:ext cx="462686" cy="462686"/>
          </a:xfrm>
          <a:prstGeom prst="rect">
            <a:avLst/>
          </a:prstGeom>
        </p:spPr>
      </p:pic>
      <p:sp>
        <p:nvSpPr>
          <p:cNvPr id="25" name="a4_label"/>
          <p:cNvSpPr txBox="1"/>
          <p:nvPr/>
        </p:nvSpPr>
        <p:spPr>
          <a:xfrm>
            <a:off x="9520961" y="2971800"/>
            <a:ext cx="19849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Browser draws</a:t>
            </a:r>
            <a:endParaRPr lang="en-US" sz="1800" dirty="0"/>
          </a:p>
        </p:txBody>
      </p:sp>
      <p:sp>
        <p:nvSpPr>
          <p:cNvPr id="26" name="a4_sub"/>
          <p:cNvSpPr txBox="1"/>
          <p:nvPr/>
        </p:nvSpPr>
        <p:spPr>
          <a:xfrm>
            <a:off x="9566681" y="3611880"/>
            <a:ext cx="18934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reads the tags and shows the page</a:t>
            </a:r>
            <a:endParaRPr lang="en-US" sz="1600" dirty="0"/>
          </a:p>
        </p:txBody>
      </p:sp>
      <p:sp>
        <p:nvSpPr>
          <p:cNvPr id="27" name="a5_note"/>
          <p:cNvSpPr/>
          <p:nvPr/>
        </p:nvSpPr>
        <p:spPr>
          <a:xfrm>
            <a:off x="548640" y="4983480"/>
            <a:ext cx="11094415" cy="9144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/>
        </p:spPr>
      </p:sp>
      <p:pic>
        <p:nvPicPr>
          <p:cNvPr id="28" name="a5_note_ico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5257800"/>
            <a:ext cx="365760" cy="365760"/>
          </a:xfrm>
          <a:prstGeom prst="rect">
            <a:avLst/>
          </a:prstGeom>
        </p:spPr>
      </p:pic>
      <p:sp>
        <p:nvSpPr>
          <p:cNvPr id="29" name="a5_note_text"/>
          <p:cNvSpPr txBox="1"/>
          <p:nvPr/>
        </p:nvSpPr>
        <p:spPr>
          <a:xfrm>
            <a:off x="1463040" y="4983480"/>
            <a:ext cx="9814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browser (Chrome, Edge, Firefox) is a program that reads HTML and turns it into the page you see.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conveyor dir="l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6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23" grpId="0" animBg="1"/>
      <p:bldP spid="25" grpId="0" animBg="1"/>
      <p:bldP spid="26" grpId="0" animBg="1"/>
      <p:bldP spid="27" grpId="0" animBg="1"/>
      <p:bldP spid="2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Your toolbox: two programs and one file</a:t>
            </a:r>
            <a:endParaRPr lang="en-US" sz="3600" dirty="0"/>
          </a:p>
        </p:txBody>
      </p:sp>
      <p:sp>
        <p:nvSpPr>
          <p:cNvPr id="4" name="a1_ico_num_bg"/>
          <p:cNvSpPr/>
          <p:nvPr/>
        </p:nvSpPr>
        <p:spPr>
          <a:xfrm>
            <a:off x="548640" y="160020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a1_ico_num"/>
          <p:cNvSpPr txBox="1"/>
          <p:nvPr/>
        </p:nvSpPr>
        <p:spPr>
          <a:xfrm>
            <a:off x="548640" y="16002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a1_text"/>
          <p:cNvSpPr txBox="1"/>
          <p:nvPr/>
        </p:nvSpPr>
        <p:spPr>
          <a:xfrm>
            <a:off x="1417320" y="1545336"/>
            <a:ext cx="6035040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 browser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Chrome, Edge or Firefox. You already have one.</a:t>
            </a:r>
            <a:endParaRPr lang="en-US" sz="2100" dirty="0"/>
          </a:p>
        </p:txBody>
      </p:sp>
      <p:sp>
        <p:nvSpPr>
          <p:cNvPr id="7" name="a2_ico_num_bg"/>
          <p:cNvSpPr/>
          <p:nvPr/>
        </p:nvSpPr>
        <p:spPr>
          <a:xfrm>
            <a:off x="548640" y="267462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a2_ico_num"/>
          <p:cNvSpPr txBox="1"/>
          <p:nvPr/>
        </p:nvSpPr>
        <p:spPr>
          <a:xfrm>
            <a:off x="548640" y="26746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a2_text"/>
          <p:cNvSpPr txBox="1"/>
          <p:nvPr/>
        </p:nvSpPr>
        <p:spPr>
          <a:xfrm>
            <a:off x="1417320" y="2619756"/>
            <a:ext cx="6035040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text editor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is best. Notepad works too.</a:t>
            </a:r>
            <a:endParaRPr lang="en-US" sz="2100" dirty="0"/>
          </a:p>
        </p:txBody>
      </p:sp>
      <p:sp>
        <p:nvSpPr>
          <p:cNvPr id="10" name="a3_ico_num_bg"/>
          <p:cNvSpPr/>
          <p:nvPr/>
        </p:nvSpPr>
        <p:spPr>
          <a:xfrm>
            <a:off x="548640" y="3749040"/>
            <a:ext cx="658368" cy="65836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1" name="a3_ico_num"/>
          <p:cNvSpPr txBox="1"/>
          <p:nvPr/>
        </p:nvSpPr>
        <p:spPr>
          <a:xfrm>
            <a:off x="548640" y="37490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a3_text"/>
          <p:cNvSpPr txBox="1"/>
          <p:nvPr/>
        </p:nvSpPr>
        <p:spPr>
          <a:xfrm>
            <a:off x="1417320" y="3694176"/>
            <a:ext cx="6035040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folder called my-site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all your files for the website inside it.</a:t>
            </a:r>
            <a:endParaRPr lang="en-US" sz="2100" dirty="0"/>
          </a:p>
        </p:txBody>
      </p:sp>
      <p:sp>
        <p:nvSpPr>
          <p:cNvPr id="13" name="a4_ico_num_bg"/>
          <p:cNvSpPr/>
          <p:nvPr/>
        </p:nvSpPr>
        <p:spPr>
          <a:xfrm>
            <a:off x="548640" y="4823460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a4_ico_num"/>
          <p:cNvSpPr txBox="1"/>
          <p:nvPr/>
        </p:nvSpPr>
        <p:spPr>
          <a:xfrm>
            <a:off x="548640" y="48234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15" name="a4_text"/>
          <p:cNvSpPr txBox="1"/>
          <p:nvPr/>
        </p:nvSpPr>
        <p:spPr>
          <a:xfrm>
            <a:off x="1417320" y="4768596"/>
            <a:ext cx="6035040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 file as index.html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.html ending tells the computer it is a web page.</a:t>
            </a:r>
            <a:endParaRPr lang="en-US" sz="2100" dirty="0"/>
          </a:p>
        </p:txBody>
      </p:sp>
      <p:sp>
        <p:nvSpPr>
          <p:cNvPr id="16" name="a5_panel"/>
          <p:cNvSpPr/>
          <p:nvPr/>
        </p:nvSpPr>
        <p:spPr>
          <a:xfrm>
            <a:off x="7818120" y="1600200"/>
            <a:ext cx="3822192" cy="4297680"/>
          </a:xfrm>
          <a:prstGeom prst="roundRect">
            <a:avLst>
              <a:gd name="adj" fmla="val 478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pic>
        <p:nvPicPr>
          <p:cNvPr id="17" name="a5_ico_pane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965960"/>
            <a:ext cx="731520" cy="731520"/>
          </a:xfrm>
          <a:prstGeom prst="rect">
            <a:avLst/>
          </a:prstGeom>
        </p:spPr>
      </p:pic>
      <p:sp>
        <p:nvSpPr>
          <p:cNvPr id="18" name="a5_panel_head"/>
          <p:cNvSpPr txBox="1"/>
          <p:nvPr/>
        </p:nvSpPr>
        <p:spPr>
          <a:xfrm>
            <a:off x="8183880" y="2926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tip</a:t>
            </a:r>
            <a:endParaRPr lang="en-US" sz="2400" dirty="0"/>
          </a:p>
        </p:txBody>
      </p:sp>
      <p:sp>
        <p:nvSpPr>
          <p:cNvPr id="19" name="a5_panel_body"/>
          <p:cNvSpPr txBox="1"/>
          <p:nvPr/>
        </p:nvSpPr>
        <p:spPr>
          <a:xfrm>
            <a:off x="8183880" y="3566160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use Word! It adds hidden formatting. Web pages must be plain text files.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53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5_halo"/>
          <p:cNvSpPr/>
          <p:nvPr/>
        </p:nvSpPr>
        <p:spPr>
          <a:xfrm>
            <a:off x="-1371600" y="4023360"/>
            <a:ext cx="4572000" cy="4572000"/>
          </a:xfrm>
          <a:prstGeom prst="ellipse">
            <a:avLst/>
          </a:prstGeom>
          <a:solidFill>
            <a:schemeClr val="accent1">
              <a:alpha val="20000"/>
            </a:schemeClr>
          </a:solidFill>
          <a:ln/>
        </p:spPr>
      </p:sp>
      <p:sp>
        <p:nvSpPr>
          <p:cNvPr id="4" name="a5_halo2"/>
          <p:cNvSpPr/>
          <p:nvPr/>
        </p:nvSpPr>
        <p:spPr>
          <a:xfrm>
            <a:off x="9875520" y="-1280160"/>
            <a:ext cx="3474720" cy="3474720"/>
          </a:xfrm>
          <a:prstGeom prst="ellipse">
            <a:avLst/>
          </a:prstGeom>
          <a:solidFill>
            <a:schemeClr val="accent2">
              <a:alpha val="18000"/>
            </a:schemeClr>
          </a:solidFill>
          <a:ln/>
        </p:spPr>
      </p:sp>
      <p:sp>
        <p:nvSpPr>
          <p:cNvPr id="5" name="a1_num"/>
          <p:cNvSpPr txBox="1"/>
          <p:nvPr/>
        </p:nvSpPr>
        <p:spPr>
          <a:xfrm>
            <a:off x="640080" y="14630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3931920" y="210312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Tags &amp; elements</a:t>
            </a:r>
            <a:endParaRPr lang="en-US" sz="46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3931920" y="36118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The building blocks of every page</a:t>
            </a:r>
            <a:endParaRPr lang="en-US" sz="2200" dirty="0"/>
          </a:p>
        </p:txBody>
      </p:sp>
      <p:sp>
        <p:nvSpPr>
          <p:cNvPr id="8" name="a4_ar"/>
          <p:cNvSpPr txBox="1"/>
          <p:nvPr/>
        </p:nvSpPr>
        <p:spPr>
          <a:xfrm>
            <a:off x="3931920" y="43434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EG" altLang="en-US" sz="24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الوسوم والعناصر</a:t>
            </a:r>
            <a:endParaRPr lang="ar-EG" sz="2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rism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Anatomy of an HTML element</a:t>
            </a:r>
            <a:endParaRPr lang="en-US" sz="3600" dirty="0"/>
          </a:p>
        </p:txBody>
      </p:sp>
      <p:sp>
        <p:nvSpPr>
          <p:cNvPr id="4" name="a1_code"/>
          <p:cNvSpPr/>
          <p:nvPr/>
        </p:nvSpPr>
        <p:spPr>
          <a:xfrm>
            <a:off x="883768" y="1737360"/>
            <a:ext cx="3291840" cy="146304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5" name="a1_code_text"/>
          <p:cNvSpPr txBox="1"/>
          <p:nvPr/>
        </p:nvSpPr>
        <p:spPr>
          <a:xfrm>
            <a:off x="883768" y="173736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</a:t>
            </a:r>
            <a:endParaRPr lang="en-US" sz="3600" dirty="0"/>
          </a:p>
        </p:txBody>
      </p:sp>
      <p:sp>
        <p:nvSpPr>
          <p:cNvPr id="6" name="a1_pill"/>
          <p:cNvSpPr/>
          <p:nvPr/>
        </p:nvSpPr>
        <p:spPr>
          <a:xfrm>
            <a:off x="1112368" y="3520440"/>
            <a:ext cx="283464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7" name="a1_pill_text"/>
          <p:cNvSpPr txBox="1"/>
          <p:nvPr/>
        </p:nvSpPr>
        <p:spPr>
          <a:xfrm>
            <a:off x="1112368" y="35204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tag</a:t>
            </a:r>
            <a:endParaRPr lang="en-US" sz="2000" dirty="0"/>
          </a:p>
        </p:txBody>
      </p:sp>
      <p:sp>
        <p:nvSpPr>
          <p:cNvPr id="8" name="a1_body"/>
          <p:cNvSpPr txBox="1"/>
          <p:nvPr/>
        </p:nvSpPr>
        <p:spPr>
          <a:xfrm>
            <a:off x="975208" y="42062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element. Written inside angle brackets.</a:t>
            </a:r>
            <a:endParaRPr lang="en-US" sz="1600" dirty="0"/>
          </a:p>
        </p:txBody>
      </p:sp>
      <p:sp>
        <p:nvSpPr>
          <p:cNvPr id="9" name="a2_code"/>
          <p:cNvSpPr/>
          <p:nvPr/>
        </p:nvSpPr>
        <p:spPr>
          <a:xfrm>
            <a:off x="4449928" y="1737360"/>
            <a:ext cx="3291840" cy="146304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10" name="a2_code_text"/>
          <p:cNvSpPr txBox="1"/>
          <p:nvPr/>
        </p:nvSpPr>
        <p:spPr>
          <a:xfrm>
            <a:off x="4449928" y="173736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 Egypt</a:t>
            </a:r>
            <a:endParaRPr lang="en-US" sz="3600" dirty="0"/>
          </a:p>
        </p:txBody>
      </p:sp>
      <p:sp>
        <p:nvSpPr>
          <p:cNvPr id="11" name="a2_pill"/>
          <p:cNvSpPr/>
          <p:nvPr/>
        </p:nvSpPr>
        <p:spPr>
          <a:xfrm>
            <a:off x="4678528" y="3520440"/>
            <a:ext cx="2834640" cy="5486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2" name="a2_pill_text"/>
          <p:cNvSpPr txBox="1"/>
          <p:nvPr/>
        </p:nvSpPr>
        <p:spPr>
          <a:xfrm>
            <a:off x="4678528" y="35204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2000" dirty="0"/>
          </a:p>
        </p:txBody>
      </p:sp>
      <p:sp>
        <p:nvSpPr>
          <p:cNvPr id="13" name="a2_body"/>
          <p:cNvSpPr txBox="1"/>
          <p:nvPr/>
        </p:nvSpPr>
        <p:spPr>
          <a:xfrm>
            <a:off x="4541368" y="42062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people see on the page.</a:t>
            </a:r>
            <a:endParaRPr lang="en-US" sz="1600" dirty="0"/>
          </a:p>
        </p:txBody>
      </p:sp>
      <p:sp>
        <p:nvSpPr>
          <p:cNvPr id="14" name="a3_code"/>
          <p:cNvSpPr/>
          <p:nvPr/>
        </p:nvSpPr>
        <p:spPr>
          <a:xfrm>
            <a:off x="8016088" y="1737360"/>
            <a:ext cx="3291840" cy="146304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15" name="a3_code_text"/>
          <p:cNvSpPr txBox="1"/>
          <p:nvPr/>
        </p:nvSpPr>
        <p:spPr>
          <a:xfrm>
            <a:off x="8016088" y="173736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&lt;/p&gt;</a:t>
            </a:r>
            <a:endParaRPr lang="en-US" sz="3600" dirty="0"/>
          </a:p>
        </p:txBody>
      </p:sp>
      <p:sp>
        <p:nvSpPr>
          <p:cNvPr id="16" name="a3_pill"/>
          <p:cNvSpPr/>
          <p:nvPr/>
        </p:nvSpPr>
        <p:spPr>
          <a:xfrm>
            <a:off x="8244688" y="3520440"/>
            <a:ext cx="2834640" cy="54864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17" name="a3_pill_text"/>
          <p:cNvSpPr txBox="1"/>
          <p:nvPr/>
        </p:nvSpPr>
        <p:spPr>
          <a:xfrm>
            <a:off x="8244688" y="35204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tag</a:t>
            </a:r>
            <a:endParaRPr lang="en-US" sz="2000" dirty="0"/>
          </a:p>
        </p:txBody>
      </p:sp>
      <p:sp>
        <p:nvSpPr>
          <p:cNvPr id="18" name="a3_body"/>
          <p:cNvSpPr txBox="1"/>
          <p:nvPr/>
        </p:nvSpPr>
        <p:spPr>
          <a:xfrm>
            <a:off x="8107528" y="42062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name, with a slash / in front.</a:t>
            </a:r>
            <a:endParaRPr lang="en-US" sz="1600" dirty="0"/>
          </a:p>
        </p:txBody>
      </p:sp>
      <p:sp>
        <p:nvSpPr>
          <p:cNvPr id="19" name="a4_formula"/>
          <p:cNvSpPr/>
          <p:nvPr/>
        </p:nvSpPr>
        <p:spPr>
          <a:xfrm>
            <a:off x="548640" y="5212080"/>
            <a:ext cx="11094415" cy="73152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20" name="a4_formula_text"/>
          <p:cNvSpPr txBox="1"/>
          <p:nvPr/>
        </p:nvSpPr>
        <p:spPr>
          <a:xfrm>
            <a:off x="548640" y="52120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 =  opening tag  +  content  +  closing tag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skeleton of every web page</a:t>
            </a:r>
            <a:endParaRPr lang="en-US" sz="3600" dirty="0"/>
          </a:p>
        </p:txBody>
      </p:sp>
      <p:sp>
        <p:nvSpPr>
          <p:cNvPr id="4" name="a1_code"/>
          <p:cNvSpPr/>
          <p:nvPr/>
        </p:nvSpPr>
        <p:spPr>
          <a:xfrm>
            <a:off x="548640" y="1554480"/>
            <a:ext cx="6309360" cy="4114800"/>
          </a:xfrm>
          <a:prstGeom prst="roundRect">
            <a:avLst>
              <a:gd name="adj" fmla="val 3111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5" name="a1_code_dot"/>
          <p:cNvSpPr/>
          <p:nvPr/>
        </p:nvSpPr>
        <p:spPr>
          <a:xfrm>
            <a:off x="804672" y="1773936"/>
            <a:ext cx="137160" cy="1371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a1_code_dot"/>
          <p:cNvSpPr/>
          <p:nvPr/>
        </p:nvSpPr>
        <p:spPr>
          <a:xfrm>
            <a:off x="1042416" y="1773936"/>
            <a:ext cx="137160" cy="1371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a1_code_dot"/>
          <p:cNvSpPr/>
          <p:nvPr/>
        </p:nvSpPr>
        <p:spPr>
          <a:xfrm>
            <a:off x="1280160" y="1773936"/>
            <a:ext cx="137160" cy="1371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8" name="a1_code_file"/>
          <p:cNvSpPr txBox="1"/>
          <p:nvPr/>
        </p:nvSpPr>
        <p:spPr>
          <a:xfrm>
            <a:off x="1645920" y="17007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300" dirty="0"/>
          </a:p>
        </p:txBody>
      </p:sp>
      <p:sp>
        <p:nvSpPr>
          <p:cNvPr id="9" name="a1_code_text"/>
          <p:cNvSpPr txBox="1"/>
          <p:nvPr/>
        </p:nvSpPr>
        <p:spPr>
          <a:xfrm>
            <a:off x="841248" y="2148840"/>
            <a:ext cx="5852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&lt;!DOCTYPE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html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&lt;html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"en"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&lt;head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&lt;meta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charset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"UTF-8"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&lt;title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 First Page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&lt;/title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&lt;/head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&lt;body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Hello, Egypt!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&lt;/h1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&lt;/body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&lt;/html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</p:txBody>
      </p:sp>
      <p:sp>
        <p:nvSpPr>
          <p:cNvPr id="10" name="a3_chip"/>
          <p:cNvSpPr/>
          <p:nvPr/>
        </p:nvSpPr>
        <p:spPr>
          <a:xfrm>
            <a:off x="7132320" y="1554480"/>
            <a:ext cx="1417320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1" name="a3_chip_text"/>
          <p:cNvSpPr txBox="1"/>
          <p:nvPr/>
        </p:nvSpPr>
        <p:spPr>
          <a:xfrm>
            <a:off x="7132320" y="15544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&lt;html&gt;</a:t>
            </a:r>
            <a:endParaRPr lang="en-US" sz="1500" dirty="0"/>
          </a:p>
        </p:txBody>
      </p:sp>
      <p:sp>
        <p:nvSpPr>
          <p:cNvPr id="12" name="a3_chip_desc"/>
          <p:cNvSpPr txBox="1"/>
          <p:nvPr/>
        </p:nvSpPr>
        <p:spPr>
          <a:xfrm>
            <a:off x="8732520" y="1554480"/>
            <a:ext cx="2910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the whole page</a:t>
            </a:r>
            <a:endParaRPr lang="en-US" sz="1800" dirty="0"/>
          </a:p>
        </p:txBody>
      </p:sp>
      <p:sp>
        <p:nvSpPr>
          <p:cNvPr id="13" name="a4_chip"/>
          <p:cNvSpPr/>
          <p:nvPr/>
        </p:nvSpPr>
        <p:spPr>
          <a:xfrm>
            <a:off x="7132320" y="2450592"/>
            <a:ext cx="1417320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</p:sp>
      <p:sp>
        <p:nvSpPr>
          <p:cNvPr id="14" name="a4_chip_text"/>
          <p:cNvSpPr txBox="1"/>
          <p:nvPr/>
        </p:nvSpPr>
        <p:spPr>
          <a:xfrm>
            <a:off x="7132320" y="2450592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&lt;head&gt;</a:t>
            </a:r>
            <a:endParaRPr lang="en-US" sz="1500" dirty="0"/>
          </a:p>
        </p:txBody>
      </p:sp>
      <p:sp>
        <p:nvSpPr>
          <p:cNvPr id="15" name="a4_chip_desc"/>
          <p:cNvSpPr txBox="1"/>
          <p:nvPr/>
        </p:nvSpPr>
        <p:spPr>
          <a:xfrm>
            <a:off x="8732520" y="2450592"/>
            <a:ext cx="2910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for the browser. Not shown on the page</a:t>
            </a:r>
            <a:endParaRPr lang="en-US" sz="1800" dirty="0"/>
          </a:p>
        </p:txBody>
      </p:sp>
      <p:sp>
        <p:nvSpPr>
          <p:cNvPr id="16" name="a5_chip"/>
          <p:cNvSpPr/>
          <p:nvPr/>
        </p:nvSpPr>
        <p:spPr>
          <a:xfrm>
            <a:off x="7132320" y="3346704"/>
            <a:ext cx="1417320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/>
        </p:spPr>
      </p:sp>
      <p:sp>
        <p:nvSpPr>
          <p:cNvPr id="17" name="a5_chip_text"/>
          <p:cNvSpPr txBox="1"/>
          <p:nvPr/>
        </p:nvSpPr>
        <p:spPr>
          <a:xfrm>
            <a:off x="7132320" y="334670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&lt;title&gt;</a:t>
            </a:r>
            <a:endParaRPr lang="en-US" sz="1500" dirty="0"/>
          </a:p>
        </p:txBody>
      </p:sp>
      <p:sp>
        <p:nvSpPr>
          <p:cNvPr id="18" name="a5_chip_desc"/>
          <p:cNvSpPr txBox="1"/>
          <p:nvPr/>
        </p:nvSpPr>
        <p:spPr>
          <a:xfrm>
            <a:off x="8732520" y="3346704"/>
            <a:ext cx="2910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on the browser tab</a:t>
            </a:r>
            <a:endParaRPr lang="en-US" sz="1800" dirty="0"/>
          </a:p>
        </p:txBody>
      </p:sp>
      <p:sp>
        <p:nvSpPr>
          <p:cNvPr id="19" name="a6_chip"/>
          <p:cNvSpPr/>
          <p:nvPr/>
        </p:nvSpPr>
        <p:spPr>
          <a:xfrm>
            <a:off x="7132320" y="4242816"/>
            <a:ext cx="1417320" cy="54864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/>
        </p:spPr>
      </p:sp>
      <p:sp>
        <p:nvSpPr>
          <p:cNvPr id="20" name="a6_chip_text"/>
          <p:cNvSpPr txBox="1"/>
          <p:nvPr/>
        </p:nvSpPr>
        <p:spPr>
          <a:xfrm>
            <a:off x="7132320" y="424281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&lt;body&gt;</a:t>
            </a:r>
            <a:endParaRPr lang="en-US" sz="1500" dirty="0"/>
          </a:p>
        </p:txBody>
      </p:sp>
      <p:sp>
        <p:nvSpPr>
          <p:cNvPr id="21" name="a6_chip_desc"/>
          <p:cNvSpPr txBox="1"/>
          <p:nvPr/>
        </p:nvSpPr>
        <p:spPr>
          <a:xfrm>
            <a:off x="8732520" y="4242816"/>
            <a:ext cx="2910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can see on the page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Hello, Egypt: headings and paragraphs</a:t>
            </a:r>
            <a:endParaRPr lang="en-US" sz="3600" dirty="0"/>
          </a:p>
        </p:txBody>
      </p:sp>
      <p:sp>
        <p:nvSpPr>
          <p:cNvPr id="4" name="a1_code"/>
          <p:cNvSpPr/>
          <p:nvPr/>
        </p:nvSpPr>
        <p:spPr>
          <a:xfrm>
            <a:off x="548640" y="1554480"/>
            <a:ext cx="6309360" cy="2468880"/>
          </a:xfrm>
          <a:prstGeom prst="roundRect">
            <a:avLst>
              <a:gd name="adj" fmla="val 5185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5" name="a1_code_dot"/>
          <p:cNvSpPr/>
          <p:nvPr/>
        </p:nvSpPr>
        <p:spPr>
          <a:xfrm>
            <a:off x="804672" y="1773936"/>
            <a:ext cx="137160" cy="1371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a1_code_dot"/>
          <p:cNvSpPr/>
          <p:nvPr/>
        </p:nvSpPr>
        <p:spPr>
          <a:xfrm>
            <a:off x="1042416" y="1773936"/>
            <a:ext cx="137160" cy="1371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a1_code_dot"/>
          <p:cNvSpPr/>
          <p:nvPr/>
        </p:nvSpPr>
        <p:spPr>
          <a:xfrm>
            <a:off x="1280160" y="1773936"/>
            <a:ext cx="137160" cy="1371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8" name="a1_code_file"/>
          <p:cNvSpPr txBox="1"/>
          <p:nvPr/>
        </p:nvSpPr>
        <p:spPr>
          <a:xfrm>
            <a:off x="1645920" y="17007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300" dirty="0"/>
          </a:p>
        </p:txBody>
      </p:sp>
      <p:sp>
        <p:nvSpPr>
          <p:cNvPr id="9" name="a1_code_text"/>
          <p:cNvSpPr txBox="1"/>
          <p:nvPr/>
        </p:nvSpPr>
        <p:spPr>
          <a:xfrm>
            <a:off x="841248" y="214884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Welcome to Egypt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&lt;/h1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Nile flows through Cairo.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&lt;/p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Pyramids are in Giza.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&lt;/p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</p:txBody>
      </p:sp>
      <p:sp>
        <p:nvSpPr>
          <p:cNvPr id="10" name="a2_browser"/>
          <p:cNvSpPr/>
          <p:nvPr/>
        </p:nvSpPr>
        <p:spPr>
          <a:xfrm>
            <a:off x="7132320" y="1554480"/>
            <a:ext cx="4510735" cy="246888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11" name="a2_browser_bar"/>
          <p:cNvSpPr/>
          <p:nvPr/>
        </p:nvSpPr>
        <p:spPr>
          <a:xfrm>
            <a:off x="7132320" y="1554480"/>
            <a:ext cx="4510735" cy="420624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a2_browser_dot"/>
          <p:cNvSpPr/>
          <p:nvPr/>
        </p:nvSpPr>
        <p:spPr>
          <a:xfrm>
            <a:off x="7333488" y="1700784"/>
            <a:ext cx="128016" cy="12801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a2_browser_dot"/>
          <p:cNvSpPr/>
          <p:nvPr/>
        </p:nvSpPr>
        <p:spPr>
          <a:xfrm>
            <a:off x="7552944" y="1700784"/>
            <a:ext cx="128016" cy="12801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a2_browser_dot"/>
          <p:cNvSpPr/>
          <p:nvPr/>
        </p:nvSpPr>
        <p:spPr>
          <a:xfrm>
            <a:off x="7772400" y="1700784"/>
            <a:ext cx="128016" cy="128016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a2_browser_url"/>
          <p:cNvSpPr/>
          <p:nvPr/>
        </p:nvSpPr>
        <p:spPr>
          <a:xfrm>
            <a:off x="8092440" y="1627632"/>
            <a:ext cx="3276295" cy="274320"/>
          </a:xfrm>
          <a:prstGeom prst="roundRect">
            <a:avLst>
              <a:gd name="adj" fmla="val 33333"/>
            </a:avLst>
          </a:prstGeom>
          <a:solidFill>
            <a:schemeClr val="bg1"/>
          </a:solidFill>
          <a:ln/>
        </p:spPr>
      </p:sp>
      <p:sp>
        <p:nvSpPr>
          <p:cNvPr id="16" name="a2_browser_urltext"/>
          <p:cNvSpPr txBox="1"/>
          <p:nvPr/>
        </p:nvSpPr>
        <p:spPr>
          <a:xfrm>
            <a:off x="8229600" y="1627632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200" dirty="0"/>
          </a:p>
        </p:txBody>
      </p:sp>
      <p:sp>
        <p:nvSpPr>
          <p:cNvPr id="17" name="a2_browser_content"/>
          <p:cNvSpPr txBox="1"/>
          <p:nvPr/>
        </p:nvSpPr>
        <p:spPr>
          <a:xfrm>
            <a:off x="7452360" y="2176272"/>
            <a:ext cx="3870655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to Egypt</a:t>
            </a:r>
            <a:endParaRPr lang="en-US" sz="30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Nile flows through Cairo.</a:t>
            </a:r>
            <a:endParaRPr lang="en-US" sz="30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Pyramids are in Giza.</a:t>
            </a:r>
            <a:endParaRPr lang="en-US" sz="3000" dirty="0"/>
          </a:p>
        </p:txBody>
      </p:sp>
      <p:sp>
        <p:nvSpPr>
          <p:cNvPr id="18" name="a3_chip"/>
          <p:cNvSpPr/>
          <p:nvPr/>
        </p:nvSpPr>
        <p:spPr>
          <a:xfrm>
            <a:off x="7132320" y="4297680"/>
            <a:ext cx="1097280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9" name="a3_chip_text"/>
          <p:cNvSpPr txBox="1"/>
          <p:nvPr/>
        </p:nvSpPr>
        <p:spPr>
          <a:xfrm>
            <a:off x="7132320" y="42976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</a:t>
            </a:r>
            <a:endParaRPr lang="en-US" sz="1500" dirty="0"/>
          </a:p>
        </p:txBody>
      </p:sp>
      <p:sp>
        <p:nvSpPr>
          <p:cNvPr id="20" name="a3_chip_desc"/>
          <p:cNvSpPr txBox="1"/>
          <p:nvPr/>
        </p:nvSpPr>
        <p:spPr>
          <a:xfrm>
            <a:off x="8412480" y="4297680"/>
            <a:ext cx="3230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heading. Use it once per page</a:t>
            </a:r>
            <a:endParaRPr lang="en-US" sz="1600" dirty="0"/>
          </a:p>
        </p:txBody>
      </p:sp>
      <p:sp>
        <p:nvSpPr>
          <p:cNvPr id="21" name="a4_chip"/>
          <p:cNvSpPr/>
          <p:nvPr/>
        </p:nvSpPr>
        <p:spPr>
          <a:xfrm>
            <a:off x="7132320" y="4956048"/>
            <a:ext cx="1097280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</p:sp>
      <p:sp>
        <p:nvSpPr>
          <p:cNvPr id="22" name="a4_chip_text"/>
          <p:cNvSpPr txBox="1"/>
          <p:nvPr/>
        </p:nvSpPr>
        <p:spPr>
          <a:xfrm>
            <a:off x="7132320" y="495604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</a:t>
            </a:r>
            <a:endParaRPr lang="en-US" sz="1500" dirty="0"/>
          </a:p>
        </p:txBody>
      </p:sp>
      <p:sp>
        <p:nvSpPr>
          <p:cNvPr id="23" name="a4_chip_desc"/>
          <p:cNvSpPr txBox="1"/>
          <p:nvPr/>
        </p:nvSpPr>
        <p:spPr>
          <a:xfrm>
            <a:off x="8412480" y="4956048"/>
            <a:ext cx="3230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paragraph of text</a:t>
            </a:r>
            <a:endParaRPr lang="en-US" sz="1600" dirty="0"/>
          </a:p>
        </p:txBody>
      </p:sp>
      <p:sp>
        <p:nvSpPr>
          <p:cNvPr id="24" name="a5_chip"/>
          <p:cNvSpPr/>
          <p:nvPr/>
        </p:nvSpPr>
        <p:spPr>
          <a:xfrm>
            <a:off x="7132320" y="5614416"/>
            <a:ext cx="1097280" cy="548640"/>
          </a:xfrm>
          <a:prstGeom prst="roundRect">
            <a:avLst>
              <a:gd name="adj" fmla="val 16667"/>
            </a:avLst>
          </a:prstGeom>
          <a:solidFill>
            <a:srgbClr val="F5B301"/>
          </a:solidFill>
          <a:ln/>
        </p:spPr>
      </p:sp>
      <p:sp>
        <p:nvSpPr>
          <p:cNvPr id="25" name="a5_chip_text"/>
          <p:cNvSpPr txBox="1"/>
          <p:nvPr/>
        </p:nvSpPr>
        <p:spPr>
          <a:xfrm>
            <a:off x="7132320" y="5614416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Tip</a:t>
            </a:r>
            <a:endParaRPr lang="en-US" sz="1500" dirty="0"/>
          </a:p>
        </p:txBody>
      </p:sp>
      <p:sp>
        <p:nvSpPr>
          <p:cNvPr id="26" name="a5_chip_desc"/>
          <p:cNvSpPr txBox="1"/>
          <p:nvPr/>
        </p:nvSpPr>
        <p:spPr>
          <a:xfrm>
            <a:off x="8412480" y="5614416"/>
            <a:ext cx="3230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ignores extra spaces and blank lines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Six levels of headings</a:t>
            </a:r>
            <a:endParaRPr lang="en-US" sz="3600" dirty="0"/>
          </a:p>
        </p:txBody>
      </p:sp>
      <p:sp>
        <p:nvSpPr>
          <p:cNvPr id="4" name="a1_code"/>
          <p:cNvSpPr/>
          <p:nvPr/>
        </p:nvSpPr>
        <p:spPr>
          <a:xfrm>
            <a:off x="548640" y="1554480"/>
            <a:ext cx="5852160" cy="2880360"/>
          </a:xfrm>
          <a:prstGeom prst="roundRect">
            <a:avLst>
              <a:gd name="adj" fmla="val 4444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5" name="a1_code_dot"/>
          <p:cNvSpPr/>
          <p:nvPr/>
        </p:nvSpPr>
        <p:spPr>
          <a:xfrm>
            <a:off x="804672" y="1773936"/>
            <a:ext cx="137160" cy="1371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a1_code_dot"/>
          <p:cNvSpPr/>
          <p:nvPr/>
        </p:nvSpPr>
        <p:spPr>
          <a:xfrm>
            <a:off x="1042416" y="1773936"/>
            <a:ext cx="137160" cy="1371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a1_code_dot"/>
          <p:cNvSpPr/>
          <p:nvPr/>
        </p:nvSpPr>
        <p:spPr>
          <a:xfrm>
            <a:off x="1280160" y="1773936"/>
            <a:ext cx="137160" cy="1371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8" name="a1_code_file"/>
          <p:cNvSpPr txBox="1"/>
          <p:nvPr/>
        </p:nvSpPr>
        <p:spPr>
          <a:xfrm>
            <a:off x="1645920" y="17007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headings.html</a:t>
            </a:r>
            <a:endParaRPr lang="en-US" sz="1300" dirty="0"/>
          </a:p>
        </p:txBody>
      </p:sp>
      <p:sp>
        <p:nvSpPr>
          <p:cNvPr id="9" name="a1_code_text"/>
          <p:cNvSpPr txBox="1"/>
          <p:nvPr/>
        </p:nvSpPr>
        <p:spPr>
          <a:xfrm>
            <a:off x="841248" y="2148840"/>
            <a:ext cx="53949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Heading 1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&lt;/h1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&lt;h2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Heading 2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&lt;/h2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&lt;h3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Heading 3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&lt;/h3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&lt;h4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Heading 4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&lt;/h4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&lt;h5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Heading 5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&lt;/h5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&lt;h6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Heading 6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&lt;/h6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</p:txBody>
      </p:sp>
      <p:sp>
        <p:nvSpPr>
          <p:cNvPr id="10" name="a2_browser"/>
          <p:cNvSpPr/>
          <p:nvPr/>
        </p:nvSpPr>
        <p:spPr>
          <a:xfrm>
            <a:off x="6675120" y="1554480"/>
            <a:ext cx="4967935" cy="288036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11" name="a2_browser_bar"/>
          <p:cNvSpPr/>
          <p:nvPr/>
        </p:nvSpPr>
        <p:spPr>
          <a:xfrm>
            <a:off x="6675120" y="1554480"/>
            <a:ext cx="4967935" cy="420624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a2_browser_dot"/>
          <p:cNvSpPr/>
          <p:nvPr/>
        </p:nvSpPr>
        <p:spPr>
          <a:xfrm>
            <a:off x="6876288" y="1700784"/>
            <a:ext cx="128016" cy="12801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a2_browser_dot"/>
          <p:cNvSpPr/>
          <p:nvPr/>
        </p:nvSpPr>
        <p:spPr>
          <a:xfrm>
            <a:off x="7095744" y="1700784"/>
            <a:ext cx="128016" cy="12801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a2_browser_dot"/>
          <p:cNvSpPr/>
          <p:nvPr/>
        </p:nvSpPr>
        <p:spPr>
          <a:xfrm>
            <a:off x="7315200" y="1700784"/>
            <a:ext cx="128016" cy="128016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a2_browser_url"/>
          <p:cNvSpPr/>
          <p:nvPr/>
        </p:nvSpPr>
        <p:spPr>
          <a:xfrm>
            <a:off x="7635240" y="1627632"/>
            <a:ext cx="3733495" cy="274320"/>
          </a:xfrm>
          <a:prstGeom prst="roundRect">
            <a:avLst>
              <a:gd name="adj" fmla="val 33333"/>
            </a:avLst>
          </a:prstGeom>
          <a:solidFill>
            <a:schemeClr val="bg1"/>
          </a:solidFill>
          <a:ln/>
        </p:spPr>
      </p:sp>
      <p:sp>
        <p:nvSpPr>
          <p:cNvPr id="16" name="a2_browser_urltext"/>
          <p:cNvSpPr txBox="1"/>
          <p:nvPr/>
        </p:nvSpPr>
        <p:spPr>
          <a:xfrm>
            <a:off x="7772400" y="162763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headings.html</a:t>
            </a:r>
            <a:endParaRPr lang="en-US" sz="1200" dirty="0"/>
          </a:p>
        </p:txBody>
      </p:sp>
      <p:sp>
        <p:nvSpPr>
          <p:cNvPr id="17" name="a2_browser_content"/>
          <p:cNvSpPr txBox="1"/>
          <p:nvPr/>
        </p:nvSpPr>
        <p:spPr>
          <a:xfrm>
            <a:off x="6995160" y="2176272"/>
            <a:ext cx="4327855" cy="2093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 1</a:t>
            </a:r>
            <a:endParaRPr lang="en-US" sz="30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 2</a:t>
            </a:r>
            <a:endParaRPr lang="en-US" sz="30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 3</a:t>
            </a:r>
            <a:endParaRPr lang="en-US" sz="30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 4</a:t>
            </a:r>
            <a:endParaRPr lang="en-US" sz="30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 5</a:t>
            </a:r>
            <a:endParaRPr lang="en-US" sz="30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 6</a:t>
            </a:r>
            <a:endParaRPr lang="en-US" sz="3000" dirty="0"/>
          </a:p>
        </p:txBody>
      </p:sp>
      <p:sp>
        <p:nvSpPr>
          <p:cNvPr id="18" name="a3_chip"/>
          <p:cNvSpPr/>
          <p:nvPr/>
        </p:nvSpPr>
        <p:spPr>
          <a:xfrm>
            <a:off x="6675120" y="4709160"/>
            <a:ext cx="1463040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9" name="a3_chip_text"/>
          <p:cNvSpPr txBox="1"/>
          <p:nvPr/>
        </p:nvSpPr>
        <p:spPr>
          <a:xfrm>
            <a:off x="6675120" y="47091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h1 to h6</a:t>
            </a:r>
            <a:endParaRPr lang="en-US" sz="1500" dirty="0"/>
          </a:p>
        </p:txBody>
      </p:sp>
      <p:sp>
        <p:nvSpPr>
          <p:cNvPr id="20" name="a3_chip_desc"/>
          <p:cNvSpPr txBox="1"/>
          <p:nvPr/>
        </p:nvSpPr>
        <p:spPr>
          <a:xfrm>
            <a:off x="8321040" y="4709160"/>
            <a:ext cx="3322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is the most important, h6 the least</a:t>
            </a:r>
            <a:endParaRPr lang="en-US" sz="1600" dirty="0"/>
          </a:p>
        </p:txBody>
      </p:sp>
      <p:sp>
        <p:nvSpPr>
          <p:cNvPr id="21" name="a4_chip"/>
          <p:cNvSpPr/>
          <p:nvPr/>
        </p:nvSpPr>
        <p:spPr>
          <a:xfrm>
            <a:off x="6675120" y="5367528"/>
            <a:ext cx="1463040" cy="548640"/>
          </a:xfrm>
          <a:prstGeom prst="roundRect">
            <a:avLst>
              <a:gd name="adj" fmla="val 16667"/>
            </a:avLst>
          </a:prstGeom>
          <a:solidFill>
            <a:srgbClr val="F5B301"/>
          </a:solidFill>
          <a:ln/>
        </p:spPr>
      </p:sp>
      <p:sp>
        <p:nvSpPr>
          <p:cNvPr id="22" name="a4_chip_text"/>
          <p:cNvSpPr txBox="1"/>
          <p:nvPr/>
        </p:nvSpPr>
        <p:spPr>
          <a:xfrm>
            <a:off x="6675120" y="536752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</a:t>
            </a:r>
            <a:endParaRPr lang="en-US" sz="1500" dirty="0"/>
          </a:p>
        </p:txBody>
      </p:sp>
      <p:sp>
        <p:nvSpPr>
          <p:cNvPr id="23" name="a4_chip_desc"/>
          <p:cNvSpPr txBox="1"/>
          <p:nvPr/>
        </p:nvSpPr>
        <p:spPr>
          <a:xfrm>
            <a:off x="8321040" y="5367528"/>
            <a:ext cx="3322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by meaning, not by size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Tags you know now</a:t>
            </a:r>
            <a:endParaRPr lang="en-US" sz="3600" dirty="0"/>
          </a:p>
        </p:txBody>
      </p:sp>
      <p:sp>
        <p:nvSpPr>
          <p:cNvPr id="4" name="a1_pill"/>
          <p:cNvSpPr/>
          <p:nvPr/>
        </p:nvSpPr>
        <p:spPr>
          <a:xfrm>
            <a:off x="548640" y="1600200"/>
            <a:ext cx="2194560" cy="566928"/>
          </a:xfrm>
          <a:prstGeom prst="roundRect">
            <a:avLst>
              <a:gd name="adj" fmla="val 19355"/>
            </a:avLst>
          </a:prstGeom>
          <a:solidFill>
            <a:schemeClr val="accent1"/>
          </a:solidFill>
          <a:ln/>
        </p:spPr>
      </p:sp>
      <p:sp>
        <p:nvSpPr>
          <p:cNvPr id="5" name="a1_pill_text"/>
          <p:cNvSpPr txBox="1"/>
          <p:nvPr/>
        </p:nvSpPr>
        <p:spPr>
          <a:xfrm>
            <a:off x="548640" y="16002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&lt;html&gt;</a:t>
            </a:r>
            <a:endParaRPr lang="en-US" sz="1800" dirty="0"/>
          </a:p>
        </p:txBody>
      </p:sp>
      <p:sp>
        <p:nvSpPr>
          <p:cNvPr id="6" name="a1_desc"/>
          <p:cNvSpPr txBox="1"/>
          <p:nvPr/>
        </p:nvSpPr>
        <p:spPr>
          <a:xfrm>
            <a:off x="2971800" y="1563624"/>
            <a:ext cx="2941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root: wraps the whole page</a:t>
            </a:r>
            <a:endParaRPr lang="en-US" sz="1800" dirty="0"/>
          </a:p>
        </p:txBody>
      </p:sp>
      <p:sp>
        <p:nvSpPr>
          <p:cNvPr id="7" name="a2_pill"/>
          <p:cNvSpPr/>
          <p:nvPr/>
        </p:nvSpPr>
        <p:spPr>
          <a:xfrm>
            <a:off x="548640" y="2514600"/>
            <a:ext cx="2194560" cy="566928"/>
          </a:xfrm>
          <a:prstGeom prst="roundRect">
            <a:avLst>
              <a:gd name="adj" fmla="val 19355"/>
            </a:avLst>
          </a:prstGeom>
          <a:solidFill>
            <a:schemeClr val="accent2"/>
          </a:solidFill>
          <a:ln/>
        </p:spPr>
      </p:sp>
      <p:sp>
        <p:nvSpPr>
          <p:cNvPr id="8" name="a2_pill_text"/>
          <p:cNvSpPr txBox="1"/>
          <p:nvPr/>
        </p:nvSpPr>
        <p:spPr>
          <a:xfrm>
            <a:off x="548640" y="25146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&lt;head&gt;</a:t>
            </a:r>
            <a:endParaRPr lang="en-US" sz="1800" dirty="0"/>
          </a:p>
        </p:txBody>
      </p:sp>
      <p:sp>
        <p:nvSpPr>
          <p:cNvPr id="9" name="a2_desc"/>
          <p:cNvSpPr txBox="1"/>
          <p:nvPr/>
        </p:nvSpPr>
        <p:spPr>
          <a:xfrm>
            <a:off x="2971800" y="2478024"/>
            <a:ext cx="2941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about the page</a:t>
            </a:r>
            <a:endParaRPr lang="en-US" sz="1800" dirty="0"/>
          </a:p>
        </p:txBody>
      </p:sp>
      <p:sp>
        <p:nvSpPr>
          <p:cNvPr id="10" name="a3_pill"/>
          <p:cNvSpPr/>
          <p:nvPr/>
        </p:nvSpPr>
        <p:spPr>
          <a:xfrm>
            <a:off x="548640" y="3429000"/>
            <a:ext cx="2194560" cy="566928"/>
          </a:xfrm>
          <a:prstGeom prst="roundRect">
            <a:avLst>
              <a:gd name="adj" fmla="val 19355"/>
            </a:avLst>
          </a:prstGeom>
          <a:solidFill>
            <a:schemeClr val="accent6"/>
          </a:solidFill>
          <a:ln/>
        </p:spPr>
      </p:sp>
      <p:sp>
        <p:nvSpPr>
          <p:cNvPr id="11" name="a3_pill_text"/>
          <p:cNvSpPr txBox="1"/>
          <p:nvPr/>
        </p:nvSpPr>
        <p:spPr>
          <a:xfrm>
            <a:off x="548640" y="34290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&lt;title&gt;</a:t>
            </a:r>
            <a:endParaRPr lang="en-US" sz="1800" dirty="0"/>
          </a:p>
        </p:txBody>
      </p:sp>
      <p:sp>
        <p:nvSpPr>
          <p:cNvPr id="12" name="a3_desc"/>
          <p:cNvSpPr txBox="1"/>
          <p:nvPr/>
        </p:nvSpPr>
        <p:spPr>
          <a:xfrm>
            <a:off x="2971800" y="3392424"/>
            <a:ext cx="2941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shown on the browser tab</a:t>
            </a:r>
            <a:endParaRPr lang="en-US" sz="1800" dirty="0"/>
          </a:p>
        </p:txBody>
      </p:sp>
      <p:sp>
        <p:nvSpPr>
          <p:cNvPr id="13" name="a4_pill"/>
          <p:cNvSpPr/>
          <p:nvPr/>
        </p:nvSpPr>
        <p:spPr>
          <a:xfrm>
            <a:off x="6278728" y="1600200"/>
            <a:ext cx="2194560" cy="566928"/>
          </a:xfrm>
          <a:prstGeom prst="roundRect">
            <a:avLst>
              <a:gd name="adj" fmla="val 19355"/>
            </a:avLst>
          </a:prstGeom>
          <a:solidFill>
            <a:schemeClr val="accent3"/>
          </a:solidFill>
          <a:ln/>
        </p:spPr>
      </p:sp>
      <p:sp>
        <p:nvSpPr>
          <p:cNvPr id="14" name="a4_pill_text"/>
          <p:cNvSpPr txBox="1"/>
          <p:nvPr/>
        </p:nvSpPr>
        <p:spPr>
          <a:xfrm>
            <a:off x="6278728" y="16002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&lt;body&gt;</a:t>
            </a:r>
            <a:endParaRPr lang="en-US" sz="1800" dirty="0"/>
          </a:p>
        </p:txBody>
      </p:sp>
      <p:sp>
        <p:nvSpPr>
          <p:cNvPr id="15" name="a4_desc"/>
          <p:cNvSpPr txBox="1"/>
          <p:nvPr/>
        </p:nvSpPr>
        <p:spPr>
          <a:xfrm>
            <a:off x="8701888" y="1563624"/>
            <a:ext cx="2941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visible on the page</a:t>
            </a:r>
            <a:endParaRPr lang="en-US" sz="1800" dirty="0"/>
          </a:p>
        </p:txBody>
      </p:sp>
      <p:sp>
        <p:nvSpPr>
          <p:cNvPr id="16" name="a5_pill"/>
          <p:cNvSpPr/>
          <p:nvPr/>
        </p:nvSpPr>
        <p:spPr>
          <a:xfrm>
            <a:off x="6278728" y="2514600"/>
            <a:ext cx="2194560" cy="566928"/>
          </a:xfrm>
          <a:prstGeom prst="roundRect">
            <a:avLst>
              <a:gd name="adj" fmla="val 19355"/>
            </a:avLst>
          </a:prstGeom>
          <a:solidFill>
            <a:schemeClr val="accent4"/>
          </a:solidFill>
          <a:ln/>
        </p:spPr>
      </p:sp>
      <p:sp>
        <p:nvSpPr>
          <p:cNvPr id="17" name="a5_pill_text"/>
          <p:cNvSpPr txBox="1"/>
          <p:nvPr/>
        </p:nvSpPr>
        <p:spPr>
          <a:xfrm>
            <a:off x="6278728" y="25146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&lt;h1&gt;-&lt;h6&gt;</a:t>
            </a:r>
            <a:endParaRPr lang="en-US" sz="1800" dirty="0"/>
          </a:p>
        </p:txBody>
      </p:sp>
      <p:sp>
        <p:nvSpPr>
          <p:cNvPr id="18" name="a5_desc"/>
          <p:cNvSpPr txBox="1"/>
          <p:nvPr/>
        </p:nvSpPr>
        <p:spPr>
          <a:xfrm>
            <a:off x="8701888" y="2478024"/>
            <a:ext cx="2941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Headings, big to small</a:t>
            </a:r>
            <a:endParaRPr lang="en-US" sz="1800" dirty="0"/>
          </a:p>
        </p:txBody>
      </p:sp>
      <p:sp>
        <p:nvSpPr>
          <p:cNvPr id="19" name="a6_pill"/>
          <p:cNvSpPr/>
          <p:nvPr/>
        </p:nvSpPr>
        <p:spPr>
          <a:xfrm>
            <a:off x="6278728" y="3429000"/>
            <a:ext cx="2194560" cy="566928"/>
          </a:xfrm>
          <a:prstGeom prst="roundRect">
            <a:avLst>
              <a:gd name="adj" fmla="val 19355"/>
            </a:avLst>
          </a:prstGeom>
          <a:solidFill>
            <a:schemeClr val="accent5"/>
          </a:solidFill>
          <a:ln/>
        </p:spPr>
      </p:sp>
      <p:sp>
        <p:nvSpPr>
          <p:cNvPr id="20" name="a6_pill_text"/>
          <p:cNvSpPr txBox="1"/>
          <p:nvPr/>
        </p:nvSpPr>
        <p:spPr>
          <a:xfrm>
            <a:off x="6278728" y="34290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</a:t>
            </a:r>
            <a:endParaRPr lang="en-US" sz="1800" dirty="0"/>
          </a:p>
        </p:txBody>
      </p:sp>
      <p:sp>
        <p:nvSpPr>
          <p:cNvPr id="21" name="a6_desc"/>
          <p:cNvSpPr txBox="1"/>
          <p:nvPr/>
        </p:nvSpPr>
        <p:spPr>
          <a:xfrm>
            <a:off x="8701888" y="3392424"/>
            <a:ext cx="2941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paragraph of text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quiz</a:t>
            </a:r>
            <a:endParaRPr lang="en-US" sz="3600" dirty="0"/>
          </a:p>
        </p:txBody>
      </p:sp>
      <p:sp>
        <p:nvSpPr>
          <p:cNvPr id="4" name="a1_ico_q_bg"/>
          <p:cNvSpPr/>
          <p:nvPr/>
        </p:nvSpPr>
        <p:spPr>
          <a:xfrm>
            <a:off x="548640" y="15544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a1_ico_q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709928"/>
            <a:ext cx="420624" cy="420624"/>
          </a:xfrm>
          <a:prstGeom prst="rect">
            <a:avLst/>
          </a:prstGeom>
        </p:spPr>
      </p:pic>
      <p:sp>
        <p:nvSpPr>
          <p:cNvPr id="6" name="a1_question"/>
          <p:cNvSpPr txBox="1"/>
          <p:nvPr/>
        </p:nvSpPr>
        <p:spPr>
          <a:xfrm>
            <a:off x="1554480" y="14630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tag creates the biggest heading on a page?</a:t>
            </a:r>
            <a:endParaRPr lang="en-US" sz="2600" dirty="0"/>
          </a:p>
        </p:txBody>
      </p:sp>
      <p:sp>
        <p:nvSpPr>
          <p:cNvPr id="7" name="a2_opt"/>
          <p:cNvSpPr/>
          <p:nvPr/>
        </p:nvSpPr>
        <p:spPr>
          <a:xfrm>
            <a:off x="548640" y="2697480"/>
            <a:ext cx="5440680" cy="118872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8" name="a2_ico_letter_bg"/>
          <p:cNvSpPr/>
          <p:nvPr/>
        </p:nvSpPr>
        <p:spPr>
          <a:xfrm>
            <a:off x="804672" y="29718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a2_ico_letter"/>
          <p:cNvSpPr txBox="1"/>
          <p:nvPr/>
        </p:nvSpPr>
        <p:spPr>
          <a:xfrm>
            <a:off x="804672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0" name="a2_opt_text"/>
          <p:cNvSpPr txBox="1"/>
          <p:nvPr/>
        </p:nvSpPr>
        <p:spPr>
          <a:xfrm>
            <a:off x="1645920" y="269748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</a:t>
            </a:r>
            <a:endParaRPr lang="en-US" sz="2000" dirty="0"/>
          </a:p>
        </p:txBody>
      </p:sp>
      <p:sp>
        <p:nvSpPr>
          <p:cNvPr id="11" name="a3_opt"/>
          <p:cNvSpPr/>
          <p:nvPr/>
        </p:nvSpPr>
        <p:spPr>
          <a:xfrm>
            <a:off x="6199632" y="2697480"/>
            <a:ext cx="5440680" cy="118872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12" name="a3_ico_letter_bg"/>
          <p:cNvSpPr/>
          <p:nvPr/>
        </p:nvSpPr>
        <p:spPr>
          <a:xfrm>
            <a:off x="6455664" y="29718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a3_ico_letter"/>
          <p:cNvSpPr txBox="1"/>
          <p:nvPr/>
        </p:nvSpPr>
        <p:spPr>
          <a:xfrm>
            <a:off x="6455664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400" dirty="0"/>
          </a:p>
        </p:txBody>
      </p:sp>
      <p:sp>
        <p:nvSpPr>
          <p:cNvPr id="14" name="a3_opt_text"/>
          <p:cNvSpPr txBox="1"/>
          <p:nvPr/>
        </p:nvSpPr>
        <p:spPr>
          <a:xfrm>
            <a:off x="7296912" y="269748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</a:t>
            </a:r>
            <a:endParaRPr lang="en-US" sz="2000" dirty="0"/>
          </a:p>
        </p:txBody>
      </p:sp>
      <p:sp>
        <p:nvSpPr>
          <p:cNvPr id="15" name="a4_opt"/>
          <p:cNvSpPr/>
          <p:nvPr/>
        </p:nvSpPr>
        <p:spPr>
          <a:xfrm>
            <a:off x="548640" y="4114800"/>
            <a:ext cx="5440680" cy="118872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16" name="a4_ico_letter_bg"/>
          <p:cNvSpPr/>
          <p:nvPr/>
        </p:nvSpPr>
        <p:spPr>
          <a:xfrm>
            <a:off x="804672" y="438912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7" name="a4_ico_letter"/>
          <p:cNvSpPr txBox="1"/>
          <p:nvPr/>
        </p:nvSpPr>
        <p:spPr>
          <a:xfrm>
            <a:off x="804672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400" dirty="0"/>
          </a:p>
        </p:txBody>
      </p:sp>
      <p:sp>
        <p:nvSpPr>
          <p:cNvPr id="18" name="a4_opt_text"/>
          <p:cNvSpPr txBox="1"/>
          <p:nvPr/>
        </p:nvSpPr>
        <p:spPr>
          <a:xfrm>
            <a:off x="1645920" y="411480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&lt;h6&gt;</a:t>
            </a:r>
            <a:endParaRPr lang="en-US" sz="2000" dirty="0"/>
          </a:p>
        </p:txBody>
      </p:sp>
      <p:sp>
        <p:nvSpPr>
          <p:cNvPr id="19" name="a5_opt"/>
          <p:cNvSpPr/>
          <p:nvPr/>
        </p:nvSpPr>
        <p:spPr>
          <a:xfrm>
            <a:off x="6199632" y="4114800"/>
            <a:ext cx="5440680" cy="118872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20" name="a5_ico_letter_bg"/>
          <p:cNvSpPr/>
          <p:nvPr/>
        </p:nvSpPr>
        <p:spPr>
          <a:xfrm>
            <a:off x="6455664" y="43891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1" name="a5_ico_letter"/>
          <p:cNvSpPr txBox="1"/>
          <p:nvPr/>
        </p:nvSpPr>
        <p:spPr>
          <a:xfrm>
            <a:off x="6455664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400" dirty="0"/>
          </a:p>
        </p:txBody>
      </p:sp>
      <p:sp>
        <p:nvSpPr>
          <p:cNvPr id="22" name="a5_opt_text"/>
          <p:cNvSpPr txBox="1"/>
          <p:nvPr/>
        </p:nvSpPr>
        <p:spPr>
          <a:xfrm>
            <a:off x="7296912" y="411480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&lt;head&gt;</a:t>
            </a:r>
            <a:endParaRPr lang="en-US" sz="2000" dirty="0"/>
          </a:p>
        </p:txBody>
      </p:sp>
      <p:sp>
        <p:nvSpPr>
          <p:cNvPr id="23" name="k1_answer_ring"/>
          <p:cNvSpPr/>
          <p:nvPr/>
        </p:nvSpPr>
        <p:spPr>
          <a:xfrm>
            <a:off x="6199632" y="2697480"/>
            <a:ext cx="5440680" cy="1188720"/>
          </a:xfrm>
          <a:prstGeom prst="roundRect">
            <a:avLst>
              <a:gd name="adj" fmla="val 12308"/>
            </a:avLst>
          </a:prstGeom>
          <a:solidFill>
            <a:schemeClr val="accent5">
              <a:alpha val="0"/>
            </a:schemeClr>
          </a:solidFill>
          <a:ln w="63500">
            <a:solidFill>
              <a:schemeClr val="accent5"/>
            </a:solidFill>
            <a:prstDash val="solid"/>
          </a:ln>
        </p:spPr>
      </p:sp>
      <p:sp>
        <p:nvSpPr>
          <p:cNvPr id="24" name="k1_answer_bar"/>
          <p:cNvSpPr/>
          <p:nvPr/>
        </p:nvSpPr>
        <p:spPr>
          <a:xfrm>
            <a:off x="548640" y="5486400"/>
            <a:ext cx="11094415" cy="73152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pic>
        <p:nvPicPr>
          <p:cNvPr id="25" name="k1_answer_ic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669280"/>
            <a:ext cx="365760" cy="365760"/>
          </a:xfrm>
          <a:prstGeom prst="rect">
            <a:avLst/>
          </a:prstGeom>
        </p:spPr>
      </p:pic>
      <p:sp>
        <p:nvSpPr>
          <p:cNvPr id="26" name="k1_answer_text"/>
          <p:cNvSpPr txBox="1"/>
          <p:nvPr/>
        </p:nvSpPr>
        <p:spPr>
          <a:xfrm>
            <a:off x="1417320" y="5486400"/>
            <a:ext cx="99971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  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&lt;h1&gt; is the main heading. &lt;head&gt; is not shown on the page at all!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doors dir="ver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53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53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Your turn: build an About Me page</a:t>
            </a:r>
            <a:endParaRPr lang="en-US" sz="3600" dirty="0"/>
          </a:p>
        </p:txBody>
      </p:sp>
      <p:sp>
        <p:nvSpPr>
          <p:cNvPr id="4" name="a1_ico_num_bg"/>
          <p:cNvSpPr/>
          <p:nvPr/>
        </p:nvSpPr>
        <p:spPr>
          <a:xfrm>
            <a:off x="548640" y="160020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a1_ico_num"/>
          <p:cNvSpPr txBox="1"/>
          <p:nvPr/>
        </p:nvSpPr>
        <p:spPr>
          <a:xfrm>
            <a:off x="548640" y="16002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a1_text"/>
          <p:cNvSpPr txBox="1"/>
          <p:nvPr/>
        </p:nvSpPr>
        <p:spPr>
          <a:xfrm>
            <a:off x="1417320" y="1545336"/>
            <a:ext cx="5029200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file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my-site/index.html in your editor.</a:t>
            </a:r>
            <a:endParaRPr lang="en-US" sz="2100" dirty="0"/>
          </a:p>
        </p:txBody>
      </p:sp>
      <p:sp>
        <p:nvSpPr>
          <p:cNvPr id="7" name="a2_ico_num_bg"/>
          <p:cNvSpPr/>
          <p:nvPr/>
        </p:nvSpPr>
        <p:spPr>
          <a:xfrm>
            <a:off x="548640" y="267462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a2_ico_num"/>
          <p:cNvSpPr txBox="1"/>
          <p:nvPr/>
        </p:nvSpPr>
        <p:spPr>
          <a:xfrm>
            <a:off x="548640" y="26746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a2_text"/>
          <p:cNvSpPr txBox="1"/>
          <p:nvPr/>
        </p:nvSpPr>
        <p:spPr>
          <a:xfrm>
            <a:off x="1417320" y="2619756"/>
            <a:ext cx="5029200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skeleton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html, head, title and body, as on the earlier slide.</a:t>
            </a:r>
            <a:endParaRPr lang="en-US" sz="2100" dirty="0"/>
          </a:p>
        </p:txBody>
      </p:sp>
      <p:sp>
        <p:nvSpPr>
          <p:cNvPr id="10" name="a3_ico_num_bg"/>
          <p:cNvSpPr/>
          <p:nvPr/>
        </p:nvSpPr>
        <p:spPr>
          <a:xfrm>
            <a:off x="548640" y="3749040"/>
            <a:ext cx="658368" cy="65836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1" name="a3_ico_num"/>
          <p:cNvSpPr txBox="1"/>
          <p:nvPr/>
        </p:nvSpPr>
        <p:spPr>
          <a:xfrm>
            <a:off x="548640" y="37490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a3_text"/>
          <p:cNvSpPr txBox="1"/>
          <p:nvPr/>
        </p:nvSpPr>
        <p:spPr>
          <a:xfrm>
            <a:off x="1417320" y="3694176"/>
            <a:ext cx="5029200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content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h1 with your name and a p about your city or hobby.</a:t>
            </a:r>
            <a:endParaRPr lang="en-US" sz="2100" dirty="0"/>
          </a:p>
        </p:txBody>
      </p:sp>
      <p:sp>
        <p:nvSpPr>
          <p:cNvPr id="13" name="a4_ico_num_bg"/>
          <p:cNvSpPr/>
          <p:nvPr/>
        </p:nvSpPr>
        <p:spPr>
          <a:xfrm>
            <a:off x="548640" y="4823460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a4_ico_num"/>
          <p:cNvSpPr txBox="1"/>
          <p:nvPr/>
        </p:nvSpPr>
        <p:spPr>
          <a:xfrm>
            <a:off x="548640" y="48234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15" name="a4_text"/>
          <p:cNvSpPr txBox="1"/>
          <p:nvPr/>
        </p:nvSpPr>
        <p:spPr>
          <a:xfrm>
            <a:off x="1417320" y="4768596"/>
            <a:ext cx="5029200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open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Double-click the file to see it in your browser.</a:t>
            </a:r>
            <a:endParaRPr lang="en-US" sz="2100" dirty="0"/>
          </a:p>
        </p:txBody>
      </p:sp>
      <p:sp>
        <p:nvSpPr>
          <p:cNvPr id="16" name="a5_browser"/>
          <p:cNvSpPr/>
          <p:nvPr/>
        </p:nvSpPr>
        <p:spPr>
          <a:xfrm>
            <a:off x="6812280" y="1600200"/>
            <a:ext cx="4828032" cy="338328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17" name="a5_browser_bar"/>
          <p:cNvSpPr/>
          <p:nvPr/>
        </p:nvSpPr>
        <p:spPr>
          <a:xfrm>
            <a:off x="6812280" y="1600200"/>
            <a:ext cx="4828032" cy="420624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8" name="a5_browser_dot"/>
          <p:cNvSpPr/>
          <p:nvPr/>
        </p:nvSpPr>
        <p:spPr>
          <a:xfrm>
            <a:off x="7013448" y="1746504"/>
            <a:ext cx="128016" cy="12801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9" name="a5_browser_dot"/>
          <p:cNvSpPr/>
          <p:nvPr/>
        </p:nvSpPr>
        <p:spPr>
          <a:xfrm>
            <a:off x="7232904" y="1746504"/>
            <a:ext cx="128016" cy="12801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a5_browser_dot"/>
          <p:cNvSpPr/>
          <p:nvPr/>
        </p:nvSpPr>
        <p:spPr>
          <a:xfrm>
            <a:off x="7452360" y="1746504"/>
            <a:ext cx="128016" cy="128016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1" name="a5_browser_url"/>
          <p:cNvSpPr/>
          <p:nvPr/>
        </p:nvSpPr>
        <p:spPr>
          <a:xfrm>
            <a:off x="7772400" y="1673352"/>
            <a:ext cx="3593592" cy="274320"/>
          </a:xfrm>
          <a:prstGeom prst="roundRect">
            <a:avLst>
              <a:gd name="adj" fmla="val 33333"/>
            </a:avLst>
          </a:prstGeom>
          <a:solidFill>
            <a:schemeClr val="bg1"/>
          </a:solidFill>
          <a:ln/>
        </p:spPr>
      </p:sp>
      <p:sp>
        <p:nvSpPr>
          <p:cNvPr id="22" name="a5_browser_urltext"/>
          <p:cNvSpPr txBox="1"/>
          <p:nvPr/>
        </p:nvSpPr>
        <p:spPr>
          <a:xfrm>
            <a:off x="7909560" y="1673352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200" dirty="0"/>
          </a:p>
        </p:txBody>
      </p:sp>
      <p:sp>
        <p:nvSpPr>
          <p:cNvPr id="23" name="a5_browser_content"/>
          <p:cNvSpPr txBox="1"/>
          <p:nvPr/>
        </p:nvSpPr>
        <p:spPr>
          <a:xfrm>
            <a:off x="7132320" y="2221992"/>
            <a:ext cx="4187952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Mariam Hassan</a:t>
            </a:r>
            <a:endParaRPr lang="en-US" sz="28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live in Alexandria.</a:t>
            </a:r>
            <a:endParaRPr lang="en-US" sz="28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love football and drawing.</a:t>
            </a:r>
            <a:endParaRPr lang="en-US" sz="2800" dirty="0"/>
          </a:p>
        </p:txBody>
      </p:sp>
      <p:sp>
        <p:nvSpPr>
          <p:cNvPr id="24" name="a6_timer"/>
          <p:cNvSpPr/>
          <p:nvPr/>
        </p:nvSpPr>
        <p:spPr>
          <a:xfrm>
            <a:off x="6812280" y="5257800"/>
            <a:ext cx="4828032" cy="5943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pic>
        <p:nvPicPr>
          <p:cNvPr id="25" name="a6_timer_ic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5413248"/>
            <a:ext cx="274320" cy="274320"/>
          </a:xfrm>
          <a:prstGeom prst="rect">
            <a:avLst/>
          </a:prstGeom>
        </p:spPr>
      </p:pic>
      <p:sp>
        <p:nvSpPr>
          <p:cNvPr id="26" name="a6_timer_text"/>
          <p:cNvSpPr txBox="1"/>
          <p:nvPr/>
        </p:nvSpPr>
        <p:spPr>
          <a:xfrm>
            <a:off x="7589520" y="525780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What we learned today</a:t>
            </a:r>
            <a:endParaRPr lang="en-US" sz="3600" dirty="0"/>
          </a:p>
        </p:txBody>
      </p:sp>
      <p:pic>
        <p:nvPicPr>
          <p:cNvPr id="4" name="a1_ico_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4208"/>
            <a:ext cx="457200" cy="457200"/>
          </a:xfrm>
          <a:prstGeom prst="rect">
            <a:avLst/>
          </a:prstGeom>
        </p:spPr>
      </p:pic>
      <p:sp>
        <p:nvSpPr>
          <p:cNvPr id="5" name="a1_text"/>
          <p:cNvSpPr txBox="1"/>
          <p:nvPr/>
        </p:nvSpPr>
        <p:spPr>
          <a:xfrm>
            <a:off x="1234440" y="160020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= HyperText Markup Language. It gives a page its structure.</a:t>
            </a:r>
            <a:endParaRPr lang="en-US" sz="2000" dirty="0"/>
          </a:p>
        </p:txBody>
      </p:sp>
      <p:pic>
        <p:nvPicPr>
          <p:cNvPr id="6" name="a2_ico_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32888"/>
            <a:ext cx="457200" cy="457200"/>
          </a:xfrm>
          <a:prstGeom prst="rect">
            <a:avLst/>
          </a:prstGeom>
        </p:spPr>
      </p:pic>
      <p:sp>
        <p:nvSpPr>
          <p:cNvPr id="7" name="a2_text"/>
          <p:cNvSpPr txBox="1"/>
          <p:nvPr/>
        </p:nvSpPr>
        <p:spPr>
          <a:xfrm>
            <a:off x="1234440" y="246888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element is an opening tag, content and a closing tag.</a:t>
            </a:r>
            <a:endParaRPr lang="en-US" sz="2000" dirty="0"/>
          </a:p>
        </p:txBody>
      </p:sp>
      <p:pic>
        <p:nvPicPr>
          <p:cNvPr id="8" name="a3_ico_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401568"/>
            <a:ext cx="457200" cy="457200"/>
          </a:xfrm>
          <a:prstGeom prst="rect">
            <a:avLst/>
          </a:prstGeom>
        </p:spPr>
      </p:pic>
      <p:sp>
        <p:nvSpPr>
          <p:cNvPr id="9" name="a3_text"/>
          <p:cNvSpPr txBox="1"/>
          <p:nvPr/>
        </p:nvSpPr>
        <p:spPr>
          <a:xfrm>
            <a:off x="1234440" y="333756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page has html, head and body.</a:t>
            </a:r>
            <a:endParaRPr lang="en-US" sz="2000" dirty="0"/>
          </a:p>
        </p:txBody>
      </p:sp>
      <p:pic>
        <p:nvPicPr>
          <p:cNvPr id="10" name="a4_ico_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270248"/>
            <a:ext cx="457200" cy="457200"/>
          </a:xfrm>
          <a:prstGeom prst="rect">
            <a:avLst/>
          </a:prstGeom>
        </p:spPr>
      </p:pic>
      <p:sp>
        <p:nvSpPr>
          <p:cNvPr id="11" name="a4_text"/>
          <p:cNvSpPr txBox="1"/>
          <p:nvPr/>
        </p:nvSpPr>
        <p:spPr>
          <a:xfrm>
            <a:off x="1234440" y="420624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Headings are h1 to h6. Paragraphs use p.</a:t>
            </a:r>
            <a:endParaRPr lang="en-US" sz="2000" dirty="0"/>
          </a:p>
        </p:txBody>
      </p:sp>
      <p:pic>
        <p:nvPicPr>
          <p:cNvPr id="12" name="a5_ico_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138928"/>
            <a:ext cx="457200" cy="457200"/>
          </a:xfrm>
          <a:prstGeom prst="rect">
            <a:avLst/>
          </a:prstGeom>
        </p:spPr>
      </p:pic>
      <p:sp>
        <p:nvSpPr>
          <p:cNvPr id="13" name="a5_text"/>
          <p:cNvSpPr txBox="1"/>
          <p:nvPr/>
        </p:nvSpPr>
        <p:spPr>
          <a:xfrm>
            <a:off x="1234440" y="507492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files as .html and open them in a browser.</a:t>
            </a:r>
            <a:endParaRPr lang="en-US" sz="2000" dirty="0"/>
          </a:p>
        </p:txBody>
      </p:sp>
      <p:sp>
        <p:nvSpPr>
          <p:cNvPr id="14" name="a6_hw"/>
          <p:cNvSpPr/>
          <p:nvPr/>
        </p:nvSpPr>
        <p:spPr>
          <a:xfrm>
            <a:off x="8229600" y="1600200"/>
            <a:ext cx="3410712" cy="4343400"/>
          </a:xfrm>
          <a:prstGeom prst="roundRect">
            <a:avLst>
              <a:gd name="adj" fmla="val 5362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pic>
        <p:nvPicPr>
          <p:cNvPr id="15" name="a6_ico_hw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0" y="1920240"/>
            <a:ext cx="731520" cy="731520"/>
          </a:xfrm>
          <a:prstGeom prst="rect">
            <a:avLst/>
          </a:prstGeom>
        </p:spPr>
      </p:pic>
      <p:sp>
        <p:nvSpPr>
          <p:cNvPr id="16" name="a6_hw_label"/>
          <p:cNvSpPr txBox="1"/>
          <p:nvPr/>
        </p:nvSpPr>
        <p:spPr>
          <a:xfrm>
            <a:off x="859536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500" dirty="0"/>
          </a:p>
        </p:txBody>
      </p:sp>
      <p:sp>
        <p:nvSpPr>
          <p:cNvPr id="17" name="a6_hw_text"/>
          <p:cNvSpPr txBox="1"/>
          <p:nvPr/>
        </p:nvSpPr>
        <p:spPr>
          <a:xfrm>
            <a:off x="8595360" y="3291840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page about your favourite Egyptian city or player. Use 1 h1, 2 h2 and 3 paragraphs.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vortex dir="r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  <p:bldP spid="13" grpId="0" animBg="1"/>
      <p:bldP spid="14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Nile Code">
  <a:themeElements>
    <a:clrScheme name="Nile Code">
      <a:dk1>
        <a:srgbClr val="0B1B2E"/>
      </a:dk1>
      <a:lt1>
        <a:srgbClr val="FFFFFF"/>
      </a:lt1>
      <a:dk2>
        <a:srgbClr val="0F5F5A"/>
      </a:dk2>
      <a:lt2>
        <a:srgbClr val="E8F0EF"/>
      </a:lt2>
      <a:accent1>
        <a:srgbClr val="14B8A6"/>
      </a:accent1>
      <a:accent2>
        <a:srgbClr val="F5B301"/>
      </a:accent2>
      <a:accent3>
        <a:srgbClr val="FF6B4A"/>
      </a:accent3>
      <a:accent4>
        <a:srgbClr val="8C92FF"/>
      </a:accent4>
      <a:accent5>
        <a:srgbClr val="4ADE80"/>
      </a:accent5>
      <a:accent6>
        <a:srgbClr val="38BDF8"/>
      </a:accent6>
      <a:hlink>
        <a:srgbClr val="0F5F5A"/>
      </a:hlink>
      <a:folHlink>
        <a:srgbClr val="8C92FF"/>
      </a:folHlink>
    </a:clrScheme>
    <a:fontScheme name="Nile Cod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HTML Fundamentals - Lesson 1: Meet HTML</dc:title>
  <dc:subject>HTML for school students</dc:subject>
  <dc:creator>HTML Fundamentals Course</dc:creator>
  <cp:lastModifiedBy>HTML Fundamentals Course</cp:lastModifiedBy>
  <cp:revision>1</cp:revision>
  <dcterms:created xsi:type="dcterms:W3CDTF">2026-10-04T23:24:59Z</dcterms:created>
  <dcterms:modified xsi:type="dcterms:W3CDTF">2026-10-04T23:24:59Z</dcterms:modified>
</cp:coreProperties>
</file>