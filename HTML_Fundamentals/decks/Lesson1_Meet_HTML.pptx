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bcb4c19-03cc-5766-707c-46a1b84623d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Tags &amp; elements" id="{dd7cd387-661a-d25d-eb23-e11561cee08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Ask: who has visited a website today? Every one of those pages is written with HTML. Today everyone will build a real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goals aloud. Tell students the last 15 minutes are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house analogy. We start with HTML because you cannot paint a house that has no walls. CSS and JavaScript come in later courses.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another 'markup' they know: a teacher marking an exam paper with a red pen is adding markup.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that the browser, not the student, turns the tags into a visual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lab has no VS Code, Notepad is fine. Make sure 'Save as type' is All Files so Windows does not add 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Take a breath and ask if anything is unclear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&lt;p&gt;Hello Egypt&lt;/p&gt; on the board and have students point at each of the three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in front of the class. Point out: the title lives in head, the visible heading lives in body. Students often mix them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code live in a browser. Then add a blank line in the editor and refresh: nothing changes. That is the 'ignored spaces' 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a newspaper: big headline, then section titles, then small sub-titles.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Quick-fire: say a description, students shout the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20 seconds. Click once to reveal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The most common bug is a missing slash in a closing tag. Remind students to save (Ctrl+S) and refresh (F5).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row of students to tell you one thing they learned. Hand out the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1: Meet HTML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1: Meet HTML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ico_sun"/>
          <p:cNvSpPr/>
          <p:nvPr/>
        </p:nvSpPr>
        <p:spPr>
          <a:xfrm>
            <a:off x="9966960" y="822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a5_halo"/>
          <p:cNvSpPr/>
          <p:nvPr/>
        </p:nvSpPr>
        <p:spPr>
          <a:xfrm>
            <a:off x="8595360" y="-10972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a6_pyr1"/>
          <p:cNvSpPr/>
          <p:nvPr/>
        </p:nvSpPr>
        <p:spPr>
          <a:xfrm>
            <a:off x="7406640" y="4160520"/>
            <a:ext cx="2651760" cy="2240280"/>
          </a:xfrm>
          <a:prstGeom prst="triangl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6" name="a6_pyr2"/>
          <p:cNvSpPr/>
          <p:nvPr/>
        </p:nvSpPr>
        <p:spPr>
          <a:xfrm>
            <a:off x="8869680" y="2743200"/>
            <a:ext cx="3017520" cy="36576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7" name="a6_pyr3"/>
          <p:cNvSpPr/>
          <p:nvPr/>
        </p:nvSpPr>
        <p:spPr>
          <a:xfrm>
            <a:off x="10561320" y="4709160"/>
            <a:ext cx="1371600" cy="1691640"/>
          </a:xfrm>
          <a:prstGeom prst="triangl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8" name="a1_pill"/>
          <p:cNvSpPr/>
          <p:nvPr/>
        </p:nvSpPr>
        <p:spPr>
          <a:xfrm>
            <a:off x="73152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a1_pill_text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Meet HTML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Build your very first web page, step by step</a:t>
            </a:r>
            <a:endParaRPr lang="en-US" sz="2200" dirty="0"/>
          </a:p>
        </p:txBody>
      </p:sp>
      <p:sp>
        <p:nvSpPr>
          <p:cNvPr id="12" name="a4_ar"/>
          <p:cNvSpPr txBox="1"/>
          <p:nvPr/>
        </p:nvSpPr>
        <p:spPr>
          <a:xfrm>
            <a:off x="73152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الأول: صفحتك الأولى على الويب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will…</a:t>
            </a:r>
            <a:endParaRPr lang="en-US" sz="3600" dirty="0"/>
          </a:p>
        </p:txBody>
      </p:sp>
      <p:sp>
        <p:nvSpPr>
          <p:cNvPr id="4" name="a1_ico_bg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810055"/>
            <a:ext cx="357530" cy="357530"/>
          </a:xfrm>
          <a:prstGeom prst="rect">
            <a:avLst/>
          </a:prstGeom>
        </p:spPr>
      </p:pic>
      <p:sp>
        <p:nvSpPr>
          <p:cNvPr id="6" name="a1_text"/>
          <p:cNvSpPr txBox="1"/>
          <p:nvPr/>
        </p:nvSpPr>
        <p:spPr>
          <a:xfrm>
            <a:off x="16002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HTML is and why websites need it</a:t>
            </a:r>
            <a:endParaRPr lang="en-US" sz="2200" dirty="0"/>
          </a:p>
        </p:txBody>
      </p:sp>
      <p:sp>
        <p:nvSpPr>
          <p:cNvPr id="7" name="a2_ico_bg"/>
          <p:cNvSpPr/>
          <p:nvPr/>
        </p:nvSpPr>
        <p:spPr>
          <a:xfrm>
            <a:off x="548640" y="26791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2889047"/>
            <a:ext cx="357530" cy="357530"/>
          </a:xfrm>
          <a:prstGeom prst="rect">
            <a:avLst/>
          </a:prstGeom>
        </p:spPr>
      </p:pic>
      <p:sp>
        <p:nvSpPr>
          <p:cNvPr id="9" name="a2_text"/>
          <p:cNvSpPr txBox="1"/>
          <p:nvPr/>
        </p:nvSpPr>
        <p:spPr>
          <a:xfrm>
            <a:off x="1600200" y="2679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tags and elements</a:t>
            </a:r>
            <a:endParaRPr lang="en-US" sz="2200" dirty="0"/>
          </a:p>
        </p:txBody>
      </p:sp>
      <p:sp>
        <p:nvSpPr>
          <p:cNvPr id="10" name="a3_ico_bg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3968039"/>
            <a:ext cx="357530" cy="357530"/>
          </a:xfrm>
          <a:prstGeom prst="rect">
            <a:avLst/>
          </a:prstGeom>
        </p:spPr>
      </p:pic>
      <p:sp>
        <p:nvSpPr>
          <p:cNvPr id="12" name="a3_text"/>
          <p:cNvSpPr txBox="1"/>
          <p:nvPr/>
        </p:nvSpPr>
        <p:spPr>
          <a:xfrm>
            <a:off x="1600200" y="37581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skeleton every web page has</a:t>
            </a:r>
            <a:endParaRPr lang="en-US" sz="2200" dirty="0"/>
          </a:p>
        </p:txBody>
      </p:sp>
      <p:sp>
        <p:nvSpPr>
          <p:cNvPr id="13" name="a4_ico_bg"/>
          <p:cNvSpPr/>
          <p:nvPr/>
        </p:nvSpPr>
        <p:spPr>
          <a:xfrm>
            <a:off x="548640" y="48371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5" y="5047031"/>
            <a:ext cx="357530" cy="357530"/>
          </a:xfrm>
          <a:prstGeom prst="rect">
            <a:avLst/>
          </a:prstGeom>
        </p:spPr>
      </p:pic>
      <p:sp>
        <p:nvSpPr>
          <p:cNvPr id="15" name="a4_text"/>
          <p:cNvSpPr txBox="1"/>
          <p:nvPr/>
        </p:nvSpPr>
        <p:spPr>
          <a:xfrm>
            <a:off x="1600200" y="483717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headings and paragraphs to organise text</a:t>
            </a:r>
            <a:endParaRPr lang="en-US" sz="2200" dirty="0"/>
          </a:p>
        </p:txBody>
      </p:sp>
      <p:sp>
        <p:nvSpPr>
          <p:cNvPr id="16" name="a5_panel"/>
          <p:cNvSpPr/>
          <p:nvPr/>
        </p:nvSpPr>
        <p:spPr>
          <a:xfrm>
            <a:off x="8503920" y="1600200"/>
            <a:ext cx="3136392" cy="4251960"/>
          </a:xfrm>
          <a:prstGeom prst="roundRect">
            <a:avLst>
              <a:gd name="adj" fmla="val 58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7" name="a5_ico_pan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057400"/>
            <a:ext cx="914400" cy="914400"/>
          </a:xfrm>
          <a:prstGeom prst="rect">
            <a:avLst/>
          </a:prstGeom>
        </p:spPr>
      </p:pic>
      <p:sp>
        <p:nvSpPr>
          <p:cNvPr id="18" name="a5_panel_label"/>
          <p:cNvSpPr txBox="1"/>
          <p:nvPr/>
        </p:nvSpPr>
        <p:spPr>
          <a:xfrm>
            <a:off x="8823960" y="32461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400" dirty="0"/>
          </a:p>
        </p:txBody>
      </p:sp>
      <p:sp>
        <p:nvSpPr>
          <p:cNvPr id="19" name="a5_panel_text"/>
          <p:cNvSpPr txBox="1"/>
          <p:nvPr/>
        </p:nvSpPr>
        <p:spPr>
          <a:xfrm>
            <a:off x="8823960" y="36576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own About Me page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website is built from 3 layers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ico_bg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a1_chip"/>
          <p:cNvSpPr txBox="1"/>
          <p:nvPr/>
        </p:nvSpPr>
        <p:spPr>
          <a:xfrm>
            <a:off x="868680" y="20116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600" dirty="0"/>
          </a:p>
        </p:txBody>
      </p:sp>
      <p:sp>
        <p:nvSpPr>
          <p:cNvPr id="8" name="a1_head"/>
          <p:cNvSpPr txBox="1"/>
          <p:nvPr/>
        </p:nvSpPr>
        <p:spPr>
          <a:xfrm>
            <a:off x="868680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400" dirty="0"/>
          </a:p>
        </p:txBody>
      </p:sp>
      <p:sp>
        <p:nvSpPr>
          <p:cNvPr id="9" name="a1_body"/>
          <p:cNvSpPr txBox="1"/>
          <p:nvPr/>
        </p:nvSpPr>
        <p:spPr>
          <a:xfrm>
            <a:off x="868680" y="361188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structure. Like the walls and rooms of a house: it decides what is on the page.</a:t>
            </a:r>
            <a:endParaRPr lang="en-US" sz="1700" dirty="0"/>
          </a:p>
        </p:txBody>
      </p:sp>
      <p:sp>
        <p:nvSpPr>
          <p:cNvPr id="10" name="a1_ar"/>
          <p:cNvSpPr txBox="1"/>
          <p:nvPr/>
        </p:nvSpPr>
        <p:spPr>
          <a:xfrm>
            <a:off x="868680" y="52578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الهيكل</a:t>
            </a:r>
            <a:endParaRPr lang="ar-EG" sz="1800" dirty="0"/>
          </a:p>
        </p:txBody>
      </p:sp>
      <p:sp>
        <p:nvSpPr>
          <p:cNvPr id="11" name="a2_card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2" name="a2_ico_bg"/>
          <p:cNvSpPr/>
          <p:nvPr/>
        </p:nvSpPr>
        <p:spPr>
          <a:xfrm>
            <a:off x="4658258" y="192024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3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58" y="2142439"/>
            <a:ext cx="378562" cy="378562"/>
          </a:xfrm>
          <a:prstGeom prst="rect">
            <a:avLst/>
          </a:prstGeom>
        </p:spPr>
      </p:pic>
      <p:sp>
        <p:nvSpPr>
          <p:cNvPr id="14" name="a2_chip"/>
          <p:cNvSpPr txBox="1"/>
          <p:nvPr/>
        </p:nvSpPr>
        <p:spPr>
          <a:xfrm>
            <a:off x="4658258" y="20116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600" dirty="0"/>
          </a:p>
        </p:txBody>
      </p:sp>
      <p:sp>
        <p:nvSpPr>
          <p:cNvPr id="15" name="a2_head"/>
          <p:cNvSpPr txBox="1"/>
          <p:nvPr/>
        </p:nvSpPr>
        <p:spPr>
          <a:xfrm>
            <a:off x="4658258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400" dirty="0"/>
          </a:p>
        </p:txBody>
      </p:sp>
      <p:sp>
        <p:nvSpPr>
          <p:cNvPr id="16" name="a2_body"/>
          <p:cNvSpPr txBox="1"/>
          <p:nvPr/>
        </p:nvSpPr>
        <p:spPr>
          <a:xfrm>
            <a:off x="4658258" y="361188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style. Like the paint, furniture and decoration: colours, fonts and layout.</a:t>
            </a:r>
            <a:endParaRPr lang="en-US" sz="1700" dirty="0"/>
          </a:p>
        </p:txBody>
      </p:sp>
      <p:sp>
        <p:nvSpPr>
          <p:cNvPr id="17" name="a2_ar"/>
          <p:cNvSpPr txBox="1"/>
          <p:nvPr/>
        </p:nvSpPr>
        <p:spPr>
          <a:xfrm>
            <a:off x="4658258" y="52578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التصميم</a:t>
            </a:r>
            <a:endParaRPr lang="ar-EG" sz="1800" dirty="0"/>
          </a:p>
        </p:txBody>
      </p:sp>
      <p:sp>
        <p:nvSpPr>
          <p:cNvPr id="18" name="a3_card"/>
          <p:cNvSpPr/>
          <p:nvPr/>
        </p:nvSpPr>
        <p:spPr>
          <a:xfrm>
            <a:off x="8127797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9" name="a3_ico_bg"/>
          <p:cNvSpPr/>
          <p:nvPr/>
        </p:nvSpPr>
        <p:spPr>
          <a:xfrm>
            <a:off x="8447837" y="1920240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6" y="2142439"/>
            <a:ext cx="378562" cy="378562"/>
          </a:xfrm>
          <a:prstGeom prst="rect">
            <a:avLst/>
          </a:prstGeom>
        </p:spPr>
      </p:pic>
      <p:sp>
        <p:nvSpPr>
          <p:cNvPr id="21" name="a3_chip"/>
          <p:cNvSpPr txBox="1"/>
          <p:nvPr/>
        </p:nvSpPr>
        <p:spPr>
          <a:xfrm>
            <a:off x="8447837" y="20116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600" dirty="0"/>
          </a:p>
        </p:txBody>
      </p:sp>
      <p:sp>
        <p:nvSpPr>
          <p:cNvPr id="22" name="a3_head"/>
          <p:cNvSpPr txBox="1"/>
          <p:nvPr/>
        </p:nvSpPr>
        <p:spPr>
          <a:xfrm>
            <a:off x="8447837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23" name="a3_body"/>
          <p:cNvSpPr txBox="1"/>
          <p:nvPr/>
        </p:nvSpPr>
        <p:spPr>
          <a:xfrm>
            <a:off x="8447837" y="361188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behaviour. Like the electricity: menus, games and buttons that react to you.</a:t>
            </a:r>
            <a:endParaRPr lang="en-US" sz="1700" dirty="0"/>
          </a:p>
        </p:txBody>
      </p:sp>
      <p:sp>
        <p:nvSpPr>
          <p:cNvPr id="24" name="a3_ar"/>
          <p:cNvSpPr txBox="1"/>
          <p:nvPr/>
        </p:nvSpPr>
        <p:spPr>
          <a:xfrm>
            <a:off x="8447837" y="52578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التفاعل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does HTML stand for?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big_bg"/>
          <p:cNvSpPr/>
          <p:nvPr/>
        </p:nvSpPr>
        <p:spPr>
          <a:xfrm>
            <a:off x="822960" y="1920240"/>
            <a:ext cx="2966618" cy="1005840"/>
          </a:xfrm>
          <a:prstGeom prst="roundRect">
            <a:avLst>
              <a:gd name="adj" fmla="val 12727"/>
            </a:avLst>
          </a:prstGeom>
          <a:solidFill>
            <a:srgbClr val="14B8A6"/>
          </a:solidFill>
          <a:ln/>
        </p:spPr>
      </p:sp>
      <p:sp>
        <p:nvSpPr>
          <p:cNvPr id="6" name="a1_big"/>
          <p:cNvSpPr txBox="1"/>
          <p:nvPr/>
        </p:nvSpPr>
        <p:spPr>
          <a:xfrm>
            <a:off x="822960" y="19202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</a:t>
            </a:r>
            <a:endParaRPr lang="en-US" sz="3200" dirty="0"/>
          </a:p>
        </p:txBody>
      </p:sp>
      <p:sp>
        <p:nvSpPr>
          <p:cNvPr id="7" name="a1_head"/>
          <p:cNvSpPr txBox="1"/>
          <p:nvPr/>
        </p:nvSpPr>
        <p:spPr>
          <a:xfrm>
            <a:off x="868680" y="31546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text</a:t>
            </a:r>
            <a:endParaRPr lang="en-US" sz="24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79476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contains links. Click a link and jump to another page, anywhere in the world.</a:t>
            </a:r>
            <a:endParaRPr lang="en-US" sz="1700" dirty="0"/>
          </a:p>
        </p:txBody>
      </p:sp>
      <p:sp>
        <p:nvSpPr>
          <p:cNvPr id="9" name="a1_ar"/>
          <p:cNvSpPr txBox="1"/>
          <p:nvPr/>
        </p:nvSpPr>
        <p:spPr>
          <a:xfrm>
            <a:off x="868680" y="52578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 تشعبي</a:t>
            </a:r>
            <a:endParaRPr lang="ar-EG" sz="1800" dirty="0"/>
          </a:p>
        </p:txBody>
      </p:sp>
      <p:sp>
        <p:nvSpPr>
          <p:cNvPr id="10" name="a2_card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1" name="a2_big_bg"/>
          <p:cNvSpPr/>
          <p:nvPr/>
        </p:nvSpPr>
        <p:spPr>
          <a:xfrm>
            <a:off x="4612538" y="1920240"/>
            <a:ext cx="2966618" cy="1005840"/>
          </a:xfrm>
          <a:prstGeom prst="roundRect">
            <a:avLst>
              <a:gd name="adj" fmla="val 12727"/>
            </a:avLst>
          </a:prstGeom>
          <a:solidFill>
            <a:srgbClr val="F5B301"/>
          </a:solidFill>
          <a:ln/>
        </p:spPr>
      </p:sp>
      <p:sp>
        <p:nvSpPr>
          <p:cNvPr id="12" name="a2_big"/>
          <p:cNvSpPr txBox="1"/>
          <p:nvPr/>
        </p:nvSpPr>
        <p:spPr>
          <a:xfrm>
            <a:off x="4612538" y="19202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</a:t>
            </a:r>
            <a:endParaRPr lang="en-US" sz="3200" dirty="0"/>
          </a:p>
        </p:txBody>
      </p:sp>
      <p:sp>
        <p:nvSpPr>
          <p:cNvPr id="13" name="a2_head"/>
          <p:cNvSpPr txBox="1"/>
          <p:nvPr/>
        </p:nvSpPr>
        <p:spPr>
          <a:xfrm>
            <a:off x="4658258" y="31546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 content</a:t>
            </a:r>
            <a:endParaRPr lang="en-US" sz="2400" dirty="0"/>
          </a:p>
        </p:txBody>
      </p:sp>
      <p:sp>
        <p:nvSpPr>
          <p:cNvPr id="14" name="a2_body"/>
          <p:cNvSpPr txBox="1"/>
          <p:nvPr/>
        </p:nvSpPr>
        <p:spPr>
          <a:xfrm>
            <a:off x="4658258" y="379476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wrap content in tags that tell the browser what it is: a heading, a paragraph, an image…</a:t>
            </a:r>
            <a:endParaRPr lang="en-US" sz="1700" dirty="0"/>
          </a:p>
        </p:txBody>
      </p:sp>
      <p:sp>
        <p:nvSpPr>
          <p:cNvPr id="15" name="a2_ar"/>
          <p:cNvSpPr txBox="1"/>
          <p:nvPr/>
        </p:nvSpPr>
        <p:spPr>
          <a:xfrm>
            <a:off x="4658258" y="52578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ترميز</a:t>
            </a:r>
            <a:endParaRPr lang="ar-EG" sz="1800" dirty="0"/>
          </a:p>
        </p:txBody>
      </p:sp>
      <p:sp>
        <p:nvSpPr>
          <p:cNvPr id="16" name="a3_card"/>
          <p:cNvSpPr/>
          <p:nvPr/>
        </p:nvSpPr>
        <p:spPr>
          <a:xfrm>
            <a:off x="8127797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7" name="a3_big_bg"/>
          <p:cNvSpPr/>
          <p:nvPr/>
        </p:nvSpPr>
        <p:spPr>
          <a:xfrm>
            <a:off x="8402117" y="1920240"/>
            <a:ext cx="2966618" cy="1005840"/>
          </a:xfrm>
          <a:prstGeom prst="roundRect">
            <a:avLst>
              <a:gd name="adj" fmla="val 12727"/>
            </a:avLst>
          </a:prstGeom>
          <a:solidFill>
            <a:srgbClr val="38BDF8"/>
          </a:solidFill>
          <a:ln/>
        </p:spPr>
      </p:sp>
      <p:sp>
        <p:nvSpPr>
          <p:cNvPr id="18" name="a3_big"/>
          <p:cNvSpPr txBox="1"/>
          <p:nvPr/>
        </p:nvSpPr>
        <p:spPr>
          <a:xfrm>
            <a:off x="8402117" y="19202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3200" dirty="0"/>
          </a:p>
        </p:txBody>
      </p:sp>
      <p:sp>
        <p:nvSpPr>
          <p:cNvPr id="19" name="a3_head"/>
          <p:cNvSpPr txBox="1"/>
          <p:nvPr/>
        </p:nvSpPr>
        <p:spPr>
          <a:xfrm>
            <a:off x="8447837" y="31546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follow</a:t>
            </a:r>
            <a:endParaRPr lang="en-US" sz="2400" dirty="0"/>
          </a:p>
        </p:txBody>
      </p:sp>
      <p:sp>
        <p:nvSpPr>
          <p:cNvPr id="20" name="a3_body"/>
          <p:cNvSpPr txBox="1"/>
          <p:nvPr/>
        </p:nvSpPr>
        <p:spPr>
          <a:xfrm>
            <a:off x="8447837" y="379476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Arabic or English, HTML has rules. The browser reads them and draws the page.</a:t>
            </a:r>
            <a:endParaRPr lang="en-US" sz="1700" dirty="0"/>
          </a:p>
        </p:txBody>
      </p:sp>
      <p:sp>
        <p:nvSpPr>
          <p:cNvPr id="21" name="a3_ar"/>
          <p:cNvSpPr txBox="1"/>
          <p:nvPr/>
        </p:nvSpPr>
        <p:spPr>
          <a:xfrm>
            <a:off x="8447837" y="52578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لغة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a web page reaches your screen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175347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924" y="2100377"/>
            <a:ext cx="462686" cy="462686"/>
          </a:xfrm>
          <a:prstGeom prst="rect">
            <a:avLst/>
          </a:prstGeom>
        </p:spPr>
      </p:pic>
      <p:sp>
        <p:nvSpPr>
          <p:cNvPr id="7" name="a1_label"/>
          <p:cNvSpPr txBox="1"/>
          <p:nvPr/>
        </p:nvSpPr>
        <p:spPr>
          <a:xfrm>
            <a:off x="685800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type</a:t>
            </a:r>
            <a:endParaRPr lang="en-US" sz="1800" dirty="0"/>
          </a:p>
        </p:txBody>
      </p:sp>
      <p:sp>
        <p:nvSpPr>
          <p:cNvPr id="8" name="a1_sub"/>
          <p:cNvSpPr txBox="1"/>
          <p:nvPr/>
        </p:nvSpPr>
        <p:spPr>
          <a:xfrm>
            <a:off x="731520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address such as www.egypt.gov.eg</a:t>
            </a:r>
            <a:endParaRPr lang="en-US" sz="1600" dirty="0"/>
          </a:p>
        </p:txBody>
      </p:sp>
      <p:pic>
        <p:nvPicPr>
          <p:cNvPr id="9" name="a1_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2" y="2834640"/>
            <a:ext cx="365760" cy="365760"/>
          </a:xfrm>
          <a:prstGeom prst="rect">
            <a:avLst/>
          </a:prstGeom>
        </p:spPr>
      </p:pic>
      <p:sp>
        <p:nvSpPr>
          <p:cNvPr id="10" name="a2_card"/>
          <p:cNvSpPr/>
          <p:nvPr/>
        </p:nvSpPr>
        <p:spPr>
          <a:xfrm>
            <a:off x="3493694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11" name="a2_ico_bg"/>
          <p:cNvSpPr/>
          <p:nvPr/>
        </p:nvSpPr>
        <p:spPr>
          <a:xfrm>
            <a:off x="4120401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78" y="2100377"/>
            <a:ext cx="462686" cy="462686"/>
          </a:xfrm>
          <a:prstGeom prst="rect">
            <a:avLst/>
          </a:prstGeom>
        </p:spPr>
      </p:pic>
      <p:sp>
        <p:nvSpPr>
          <p:cNvPr id="13" name="a2_label"/>
          <p:cNvSpPr txBox="1"/>
          <p:nvPr/>
        </p:nvSpPr>
        <p:spPr>
          <a:xfrm>
            <a:off x="3630854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Browser asks</a:t>
            </a:r>
            <a:endParaRPr lang="en-US" sz="1800" dirty="0"/>
          </a:p>
        </p:txBody>
      </p:sp>
      <p:sp>
        <p:nvSpPr>
          <p:cNvPr id="14" name="a2_sub"/>
          <p:cNvSpPr txBox="1"/>
          <p:nvPr/>
        </p:nvSpPr>
        <p:spPr>
          <a:xfrm>
            <a:off x="3676574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a request to the web server</a:t>
            </a:r>
            <a:endParaRPr lang="en-US" sz="1600" dirty="0"/>
          </a:p>
        </p:txBody>
      </p:sp>
      <p:pic>
        <p:nvPicPr>
          <p:cNvPr id="15" name="a2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96" y="2834640"/>
            <a:ext cx="365760" cy="365760"/>
          </a:xfrm>
          <a:prstGeom prst="rect">
            <a:avLst/>
          </a:prstGeom>
        </p:spPr>
      </p:pic>
      <p:sp>
        <p:nvSpPr>
          <p:cNvPr id="16" name="a3_card"/>
          <p:cNvSpPr/>
          <p:nvPr/>
        </p:nvSpPr>
        <p:spPr>
          <a:xfrm>
            <a:off x="6438748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17" name="a3_ico_bg"/>
          <p:cNvSpPr/>
          <p:nvPr/>
        </p:nvSpPr>
        <p:spPr>
          <a:xfrm>
            <a:off x="7065455" y="1828800"/>
            <a:ext cx="1005840" cy="10058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031" y="2100377"/>
            <a:ext cx="462686" cy="462686"/>
          </a:xfrm>
          <a:prstGeom prst="rect">
            <a:avLst/>
          </a:prstGeom>
        </p:spPr>
      </p:pic>
      <p:sp>
        <p:nvSpPr>
          <p:cNvPr id="19" name="a3_label"/>
          <p:cNvSpPr txBox="1"/>
          <p:nvPr/>
        </p:nvSpPr>
        <p:spPr>
          <a:xfrm>
            <a:off x="6575908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Server replies</a:t>
            </a:r>
            <a:endParaRPr lang="en-US" sz="1800" dirty="0"/>
          </a:p>
        </p:txBody>
      </p:sp>
      <p:sp>
        <p:nvSpPr>
          <p:cNvPr id="20" name="a3_sub"/>
          <p:cNvSpPr txBox="1"/>
          <p:nvPr/>
        </p:nvSpPr>
        <p:spPr>
          <a:xfrm>
            <a:off x="6621628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back an HTML file</a:t>
            </a:r>
            <a:endParaRPr lang="en-US" sz="1600" dirty="0"/>
          </a:p>
        </p:txBody>
      </p:sp>
      <p:pic>
        <p:nvPicPr>
          <p:cNvPr id="21" name="a3_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449" y="2834640"/>
            <a:ext cx="365760" cy="365760"/>
          </a:xfrm>
          <a:prstGeom prst="rect">
            <a:avLst/>
          </a:prstGeom>
        </p:spPr>
      </p:pic>
      <p:sp>
        <p:nvSpPr>
          <p:cNvPr id="22" name="a4_card"/>
          <p:cNvSpPr/>
          <p:nvPr/>
        </p:nvSpPr>
        <p:spPr>
          <a:xfrm>
            <a:off x="9383801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23" name="a4_ico_bg"/>
          <p:cNvSpPr/>
          <p:nvPr/>
        </p:nvSpPr>
        <p:spPr>
          <a:xfrm>
            <a:off x="10010508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a4_ico_img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085" y="2100377"/>
            <a:ext cx="462686" cy="462686"/>
          </a:xfrm>
          <a:prstGeom prst="rect">
            <a:avLst/>
          </a:prstGeom>
        </p:spPr>
      </p:pic>
      <p:sp>
        <p:nvSpPr>
          <p:cNvPr id="25" name="a4_label"/>
          <p:cNvSpPr txBox="1"/>
          <p:nvPr/>
        </p:nvSpPr>
        <p:spPr>
          <a:xfrm>
            <a:off x="9520961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Browser draws</a:t>
            </a:r>
            <a:endParaRPr lang="en-US" sz="1800" dirty="0"/>
          </a:p>
        </p:txBody>
      </p:sp>
      <p:sp>
        <p:nvSpPr>
          <p:cNvPr id="26" name="a4_sub"/>
          <p:cNvSpPr txBox="1"/>
          <p:nvPr/>
        </p:nvSpPr>
        <p:spPr>
          <a:xfrm>
            <a:off x="9566681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tags and shows the page</a:t>
            </a:r>
            <a:endParaRPr lang="en-US" sz="1600" dirty="0"/>
          </a:p>
        </p:txBody>
      </p:sp>
      <p:sp>
        <p:nvSpPr>
          <p:cNvPr id="27" name="a5_note"/>
          <p:cNvSpPr/>
          <p:nvPr/>
        </p:nvSpPr>
        <p:spPr>
          <a:xfrm>
            <a:off x="548640" y="4983480"/>
            <a:ext cx="11094415" cy="9144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pic>
        <p:nvPicPr>
          <p:cNvPr id="28" name="a5_note_ic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29" name="a5_note_text"/>
          <p:cNvSpPr txBox="1"/>
          <p:nvPr/>
        </p:nvSpPr>
        <p:spPr>
          <a:xfrm>
            <a:off x="1463040" y="49834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(Chrome, Edge, Firefox) is a program that reads HTML and turns it into the page you see.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toolbox: two programs and one file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browser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or Firefox. You already have one.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editor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is best. Notepad works too.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called my-site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your files for the website inside it.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file as index.html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.html ending tells the computer it is a web page.</a:t>
            </a:r>
            <a:endParaRPr lang="en-US" sz="2100" dirty="0"/>
          </a:p>
        </p:txBody>
      </p:sp>
      <p:sp>
        <p:nvSpPr>
          <p:cNvPr id="16" name="a5_panel"/>
          <p:cNvSpPr/>
          <p:nvPr/>
        </p:nvSpPr>
        <p:spPr>
          <a:xfrm>
            <a:off x="7818120" y="1600200"/>
            <a:ext cx="3822192" cy="4297680"/>
          </a:xfrm>
          <a:prstGeom prst="roundRect">
            <a:avLst>
              <a:gd name="adj" fmla="val 478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7" name="a5_ico_pan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65960"/>
            <a:ext cx="731520" cy="731520"/>
          </a:xfrm>
          <a:prstGeom prst="rect">
            <a:avLst/>
          </a:prstGeom>
        </p:spPr>
      </p:pic>
      <p:sp>
        <p:nvSpPr>
          <p:cNvPr id="18" name="a5_panel_head"/>
          <p:cNvSpPr txBox="1"/>
          <p:nvPr/>
        </p:nvSpPr>
        <p:spPr>
          <a:xfrm>
            <a:off x="818388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2400" dirty="0"/>
          </a:p>
        </p:txBody>
      </p:sp>
      <p:sp>
        <p:nvSpPr>
          <p:cNvPr id="19" name="a5_panel_body"/>
          <p:cNvSpPr txBox="1"/>
          <p:nvPr/>
        </p:nvSpPr>
        <p:spPr>
          <a:xfrm>
            <a:off x="818388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Word! It adds hidden formatting. Web pages must be plain text files.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Tags &amp; elements</a:t>
            </a:r>
            <a:endParaRPr lang="en-US" sz="46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building blocks of every page</a:t>
            </a:r>
            <a:endParaRPr lang="en-US" sz="2200" dirty="0"/>
          </a:p>
        </p:txBody>
      </p:sp>
      <p:sp>
        <p:nvSpPr>
          <p:cNvPr id="8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الوسوم والعناصر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Anatomy of an HTML element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883768" y="1737360"/>
            <a:ext cx="3291840" cy="14630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text"/>
          <p:cNvSpPr txBox="1"/>
          <p:nvPr/>
        </p:nvSpPr>
        <p:spPr>
          <a:xfrm>
            <a:off x="883768" y="1737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3600" dirty="0"/>
          </a:p>
        </p:txBody>
      </p:sp>
      <p:sp>
        <p:nvSpPr>
          <p:cNvPr id="6" name="a1_pill"/>
          <p:cNvSpPr/>
          <p:nvPr/>
        </p:nvSpPr>
        <p:spPr>
          <a:xfrm>
            <a:off x="1112368" y="352044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a1_pill_text"/>
          <p:cNvSpPr txBox="1"/>
          <p:nvPr/>
        </p:nvSpPr>
        <p:spPr>
          <a:xfrm>
            <a:off x="1112368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</a:t>
            </a:r>
            <a:endParaRPr lang="en-US" sz="2000" dirty="0"/>
          </a:p>
        </p:txBody>
      </p:sp>
      <p:sp>
        <p:nvSpPr>
          <p:cNvPr id="8" name="a1_body"/>
          <p:cNvSpPr txBox="1"/>
          <p:nvPr/>
        </p:nvSpPr>
        <p:spPr>
          <a:xfrm>
            <a:off x="975208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element. Written inside angle brackets.</a:t>
            </a:r>
            <a:endParaRPr lang="en-US" sz="1600" dirty="0"/>
          </a:p>
        </p:txBody>
      </p:sp>
      <p:sp>
        <p:nvSpPr>
          <p:cNvPr id="9" name="a2_code"/>
          <p:cNvSpPr/>
          <p:nvPr/>
        </p:nvSpPr>
        <p:spPr>
          <a:xfrm>
            <a:off x="4449928" y="1737360"/>
            <a:ext cx="3291840" cy="14630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a2_code_text"/>
          <p:cNvSpPr txBox="1"/>
          <p:nvPr/>
        </p:nvSpPr>
        <p:spPr>
          <a:xfrm>
            <a:off x="4449928" y="1737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Egypt</a:t>
            </a:r>
            <a:endParaRPr lang="en-US" sz="3600" dirty="0"/>
          </a:p>
        </p:txBody>
      </p:sp>
      <p:sp>
        <p:nvSpPr>
          <p:cNvPr id="11" name="a2_pill"/>
          <p:cNvSpPr/>
          <p:nvPr/>
        </p:nvSpPr>
        <p:spPr>
          <a:xfrm>
            <a:off x="4678528" y="352044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a2_pill_text"/>
          <p:cNvSpPr txBox="1"/>
          <p:nvPr/>
        </p:nvSpPr>
        <p:spPr>
          <a:xfrm>
            <a:off x="4678528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2000" dirty="0"/>
          </a:p>
        </p:txBody>
      </p:sp>
      <p:sp>
        <p:nvSpPr>
          <p:cNvPr id="13" name="a2_body"/>
          <p:cNvSpPr txBox="1"/>
          <p:nvPr/>
        </p:nvSpPr>
        <p:spPr>
          <a:xfrm>
            <a:off x="4541368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see on the page.</a:t>
            </a:r>
            <a:endParaRPr lang="en-US" sz="1600" dirty="0"/>
          </a:p>
        </p:txBody>
      </p:sp>
      <p:sp>
        <p:nvSpPr>
          <p:cNvPr id="14" name="a3_code"/>
          <p:cNvSpPr/>
          <p:nvPr/>
        </p:nvSpPr>
        <p:spPr>
          <a:xfrm>
            <a:off x="8016088" y="1737360"/>
            <a:ext cx="3291840" cy="14630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a3_code_text"/>
          <p:cNvSpPr txBox="1"/>
          <p:nvPr/>
        </p:nvSpPr>
        <p:spPr>
          <a:xfrm>
            <a:off x="8016088" y="1737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3600" dirty="0"/>
          </a:p>
        </p:txBody>
      </p:sp>
      <p:sp>
        <p:nvSpPr>
          <p:cNvPr id="16" name="a3_pill"/>
          <p:cNvSpPr/>
          <p:nvPr/>
        </p:nvSpPr>
        <p:spPr>
          <a:xfrm>
            <a:off x="8244688" y="352044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7" name="a3_pill_text"/>
          <p:cNvSpPr txBox="1"/>
          <p:nvPr/>
        </p:nvSpPr>
        <p:spPr>
          <a:xfrm>
            <a:off x="8244688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</a:t>
            </a:r>
            <a:endParaRPr lang="en-US" sz="2000" dirty="0"/>
          </a:p>
        </p:txBody>
      </p:sp>
      <p:sp>
        <p:nvSpPr>
          <p:cNvPr id="18" name="a3_body"/>
          <p:cNvSpPr txBox="1"/>
          <p:nvPr/>
        </p:nvSpPr>
        <p:spPr>
          <a:xfrm>
            <a:off x="8107528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with a slash / in front.</a:t>
            </a:r>
            <a:endParaRPr lang="en-US" sz="1600" dirty="0"/>
          </a:p>
        </p:txBody>
      </p:sp>
      <p:sp>
        <p:nvSpPr>
          <p:cNvPr id="19" name="a4_formula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0" name="a4_formula_text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 =  opening tag  +  content  +  closing tag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skeleton of every web page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6309360" cy="4114800"/>
          </a:xfrm>
          <a:prstGeom prst="roundRect">
            <a:avLst>
              <a:gd name="adj" fmla="val 311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html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"en"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Page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Egypt!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a3_chip"/>
          <p:cNvSpPr/>
          <p:nvPr/>
        </p:nvSpPr>
        <p:spPr>
          <a:xfrm>
            <a:off x="7132320" y="1554480"/>
            <a:ext cx="14173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1" name="a3_chip_text"/>
          <p:cNvSpPr txBox="1"/>
          <p:nvPr/>
        </p:nvSpPr>
        <p:spPr>
          <a:xfrm>
            <a:off x="713232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500" dirty="0"/>
          </a:p>
        </p:txBody>
      </p:sp>
      <p:sp>
        <p:nvSpPr>
          <p:cNvPr id="12" name="a3_chip_desc"/>
          <p:cNvSpPr txBox="1"/>
          <p:nvPr/>
        </p:nvSpPr>
        <p:spPr>
          <a:xfrm>
            <a:off x="8732520" y="1554480"/>
            <a:ext cx="2910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whole page</a:t>
            </a:r>
            <a:endParaRPr lang="en-US" sz="1800" dirty="0"/>
          </a:p>
        </p:txBody>
      </p:sp>
      <p:sp>
        <p:nvSpPr>
          <p:cNvPr id="13" name="a4_chip"/>
          <p:cNvSpPr/>
          <p:nvPr/>
        </p:nvSpPr>
        <p:spPr>
          <a:xfrm>
            <a:off x="7132320" y="2450592"/>
            <a:ext cx="14173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a4_chip_text"/>
          <p:cNvSpPr txBox="1"/>
          <p:nvPr/>
        </p:nvSpPr>
        <p:spPr>
          <a:xfrm>
            <a:off x="7132320" y="24505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500" dirty="0"/>
          </a:p>
        </p:txBody>
      </p:sp>
      <p:sp>
        <p:nvSpPr>
          <p:cNvPr id="15" name="a4_chip_desc"/>
          <p:cNvSpPr txBox="1"/>
          <p:nvPr/>
        </p:nvSpPr>
        <p:spPr>
          <a:xfrm>
            <a:off x="8732520" y="2450592"/>
            <a:ext cx="2910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for the browser. Not shown on the page</a:t>
            </a:r>
            <a:endParaRPr lang="en-US" sz="1800" dirty="0"/>
          </a:p>
        </p:txBody>
      </p:sp>
      <p:sp>
        <p:nvSpPr>
          <p:cNvPr id="16" name="a5_chip"/>
          <p:cNvSpPr/>
          <p:nvPr/>
        </p:nvSpPr>
        <p:spPr>
          <a:xfrm>
            <a:off x="7132320" y="3346704"/>
            <a:ext cx="141732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7" name="a5_chip_text"/>
          <p:cNvSpPr txBox="1"/>
          <p:nvPr/>
        </p:nvSpPr>
        <p:spPr>
          <a:xfrm>
            <a:off x="7132320" y="33467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500" dirty="0"/>
          </a:p>
        </p:txBody>
      </p:sp>
      <p:sp>
        <p:nvSpPr>
          <p:cNvPr id="18" name="a5_chip_desc"/>
          <p:cNvSpPr txBox="1"/>
          <p:nvPr/>
        </p:nvSpPr>
        <p:spPr>
          <a:xfrm>
            <a:off x="8732520" y="3346704"/>
            <a:ext cx="2910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on the browser tab</a:t>
            </a:r>
            <a:endParaRPr lang="en-US" sz="1800" dirty="0"/>
          </a:p>
        </p:txBody>
      </p:sp>
      <p:sp>
        <p:nvSpPr>
          <p:cNvPr id="19" name="a6_chip"/>
          <p:cNvSpPr/>
          <p:nvPr/>
        </p:nvSpPr>
        <p:spPr>
          <a:xfrm>
            <a:off x="7132320" y="4242816"/>
            <a:ext cx="141732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0" name="a6_chip_text"/>
          <p:cNvSpPr txBox="1"/>
          <p:nvPr/>
        </p:nvSpPr>
        <p:spPr>
          <a:xfrm>
            <a:off x="7132320" y="424281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500" dirty="0"/>
          </a:p>
        </p:txBody>
      </p:sp>
      <p:sp>
        <p:nvSpPr>
          <p:cNvPr id="21" name="a6_chip_desc"/>
          <p:cNvSpPr txBox="1"/>
          <p:nvPr/>
        </p:nvSpPr>
        <p:spPr>
          <a:xfrm>
            <a:off x="8732520" y="4242816"/>
            <a:ext cx="2910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can see on the page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Hello, Egypt: headings and paragraphs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6309360" cy="2468880"/>
          </a:xfrm>
          <a:prstGeom prst="roundRect">
            <a:avLst>
              <a:gd name="adj" fmla="val 518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Egypt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Nile flows through Cairo.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Pyramids are in Giza.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a2_browser"/>
          <p:cNvSpPr/>
          <p:nvPr/>
        </p:nvSpPr>
        <p:spPr>
          <a:xfrm>
            <a:off x="7132320" y="1554480"/>
            <a:ext cx="4510735" cy="24688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7132320" y="1554480"/>
            <a:ext cx="45107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73334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5529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7724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8092440" y="1627632"/>
            <a:ext cx="32762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8229600" y="1627632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7452360" y="2176272"/>
            <a:ext cx="3870655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Egypt</a:t>
            </a:r>
            <a:endParaRPr lang="en-US" sz="3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Nile flows through Cairo.</a:t>
            </a:r>
            <a:endParaRPr lang="en-US" sz="3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Pyramids are in Giza.</a:t>
            </a:r>
            <a:endParaRPr lang="en-US" sz="3000" dirty="0"/>
          </a:p>
        </p:txBody>
      </p:sp>
      <p:sp>
        <p:nvSpPr>
          <p:cNvPr id="18" name="a3_chip"/>
          <p:cNvSpPr/>
          <p:nvPr/>
        </p:nvSpPr>
        <p:spPr>
          <a:xfrm>
            <a:off x="7132320" y="429768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713232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8412480" y="4297680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heading. Use it once per page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7132320" y="4956048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7132320" y="4956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8412480" y="4956048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of text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7132320" y="5614416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F5B301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7132320" y="56144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8412480" y="5614416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ignores extra spaces and blank lines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Six levels of headings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288036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headings.html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2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3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4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&lt;/h4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5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&lt;/h5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6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&lt;/h6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a2_browser"/>
          <p:cNvSpPr/>
          <p:nvPr/>
        </p:nvSpPr>
        <p:spPr>
          <a:xfrm>
            <a:off x="6675120" y="1554480"/>
            <a:ext cx="4967935" cy="28803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675120" y="1554480"/>
            <a:ext cx="49679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8762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0957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3152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635240" y="1627632"/>
            <a:ext cx="37334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772400" y="162763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headings.html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6995160" y="2176272"/>
            <a:ext cx="432785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1</a:t>
            </a:r>
            <a:endParaRPr lang="en-US" sz="30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2</a:t>
            </a:r>
            <a:endParaRPr lang="en-US" sz="30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3</a:t>
            </a:r>
            <a:endParaRPr lang="en-US" sz="30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4</a:t>
            </a:r>
            <a:endParaRPr lang="en-US" sz="3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5</a:t>
            </a:r>
            <a:endParaRPr lang="en-US" sz="30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6</a:t>
            </a:r>
            <a:endParaRPr lang="en-US" sz="3000" dirty="0"/>
          </a:p>
        </p:txBody>
      </p:sp>
      <p:sp>
        <p:nvSpPr>
          <p:cNvPr id="18" name="a3_chip"/>
          <p:cNvSpPr/>
          <p:nvPr/>
        </p:nvSpPr>
        <p:spPr>
          <a:xfrm>
            <a:off x="6675120" y="470916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6675120" y="4709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to h6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8321040" y="4709160"/>
            <a:ext cx="3322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is the most important, h6 the least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6675120" y="5367528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5B301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6675120" y="53675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8321040" y="5367528"/>
            <a:ext cx="3322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meaning, not by size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Tags you know now</a:t>
            </a:r>
            <a:endParaRPr lang="en-US" sz="3600" dirty="0"/>
          </a:p>
        </p:txBody>
      </p:sp>
      <p:sp>
        <p:nvSpPr>
          <p:cNvPr id="4" name="a1_pill"/>
          <p:cNvSpPr/>
          <p:nvPr/>
        </p:nvSpPr>
        <p:spPr>
          <a:xfrm>
            <a:off x="548640" y="1600200"/>
            <a:ext cx="219456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548640" y="1600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800" dirty="0"/>
          </a:p>
        </p:txBody>
      </p:sp>
      <p:sp>
        <p:nvSpPr>
          <p:cNvPr id="6" name="a1_desc"/>
          <p:cNvSpPr txBox="1"/>
          <p:nvPr/>
        </p:nvSpPr>
        <p:spPr>
          <a:xfrm>
            <a:off x="2971800" y="1563624"/>
            <a:ext cx="294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root: wraps the whole page</a:t>
            </a:r>
            <a:endParaRPr lang="en-US" sz="1800" dirty="0"/>
          </a:p>
        </p:txBody>
      </p:sp>
      <p:sp>
        <p:nvSpPr>
          <p:cNvPr id="7" name="a2_pill"/>
          <p:cNvSpPr/>
          <p:nvPr/>
        </p:nvSpPr>
        <p:spPr>
          <a:xfrm>
            <a:off x="548640" y="2514600"/>
            <a:ext cx="219456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8" name="a2_pill_text"/>
          <p:cNvSpPr txBox="1"/>
          <p:nvPr/>
        </p:nvSpPr>
        <p:spPr>
          <a:xfrm>
            <a:off x="548640" y="2514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800" dirty="0"/>
          </a:p>
        </p:txBody>
      </p:sp>
      <p:sp>
        <p:nvSpPr>
          <p:cNvPr id="9" name="a2_desc"/>
          <p:cNvSpPr txBox="1"/>
          <p:nvPr/>
        </p:nvSpPr>
        <p:spPr>
          <a:xfrm>
            <a:off x="2971800" y="2478024"/>
            <a:ext cx="294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the page</a:t>
            </a:r>
            <a:endParaRPr lang="en-US" sz="1800" dirty="0"/>
          </a:p>
        </p:txBody>
      </p:sp>
      <p:sp>
        <p:nvSpPr>
          <p:cNvPr id="10" name="a3_pill"/>
          <p:cNvSpPr/>
          <p:nvPr/>
        </p:nvSpPr>
        <p:spPr>
          <a:xfrm>
            <a:off x="548640" y="3429000"/>
            <a:ext cx="219456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1" name="a3_pill_text"/>
          <p:cNvSpPr txBox="1"/>
          <p:nvPr/>
        </p:nvSpPr>
        <p:spPr>
          <a:xfrm>
            <a:off x="548640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800" dirty="0"/>
          </a:p>
        </p:txBody>
      </p:sp>
      <p:sp>
        <p:nvSpPr>
          <p:cNvPr id="12" name="a3_desc"/>
          <p:cNvSpPr txBox="1"/>
          <p:nvPr/>
        </p:nvSpPr>
        <p:spPr>
          <a:xfrm>
            <a:off x="2971800" y="3392424"/>
            <a:ext cx="294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shown on the browser tab</a:t>
            </a:r>
            <a:endParaRPr lang="en-US" sz="1800" dirty="0"/>
          </a:p>
        </p:txBody>
      </p:sp>
      <p:sp>
        <p:nvSpPr>
          <p:cNvPr id="13" name="a4_pill"/>
          <p:cNvSpPr/>
          <p:nvPr/>
        </p:nvSpPr>
        <p:spPr>
          <a:xfrm>
            <a:off x="6278728" y="1600200"/>
            <a:ext cx="2194560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4" name="a4_pill_text"/>
          <p:cNvSpPr txBox="1"/>
          <p:nvPr/>
        </p:nvSpPr>
        <p:spPr>
          <a:xfrm>
            <a:off x="6278728" y="1600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800" dirty="0"/>
          </a:p>
        </p:txBody>
      </p:sp>
      <p:sp>
        <p:nvSpPr>
          <p:cNvPr id="15" name="a4_desc"/>
          <p:cNvSpPr txBox="1"/>
          <p:nvPr/>
        </p:nvSpPr>
        <p:spPr>
          <a:xfrm>
            <a:off x="8701888" y="1563624"/>
            <a:ext cx="294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visible on the page</a:t>
            </a:r>
            <a:endParaRPr lang="en-US" sz="1800" dirty="0"/>
          </a:p>
        </p:txBody>
      </p:sp>
      <p:sp>
        <p:nvSpPr>
          <p:cNvPr id="16" name="a5_pill"/>
          <p:cNvSpPr/>
          <p:nvPr/>
        </p:nvSpPr>
        <p:spPr>
          <a:xfrm>
            <a:off x="6278728" y="2514600"/>
            <a:ext cx="219456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7" name="a5_pill_text"/>
          <p:cNvSpPr txBox="1"/>
          <p:nvPr/>
        </p:nvSpPr>
        <p:spPr>
          <a:xfrm>
            <a:off x="6278728" y="2514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&lt;h1&gt;-&lt;h6&gt;</a:t>
            </a:r>
            <a:endParaRPr lang="en-US" sz="1800" dirty="0"/>
          </a:p>
        </p:txBody>
      </p:sp>
      <p:sp>
        <p:nvSpPr>
          <p:cNvPr id="18" name="a5_desc"/>
          <p:cNvSpPr txBox="1"/>
          <p:nvPr/>
        </p:nvSpPr>
        <p:spPr>
          <a:xfrm>
            <a:off x="8701888" y="2478024"/>
            <a:ext cx="294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big to small</a:t>
            </a:r>
            <a:endParaRPr lang="en-US" sz="1800" dirty="0"/>
          </a:p>
        </p:txBody>
      </p:sp>
      <p:sp>
        <p:nvSpPr>
          <p:cNvPr id="19" name="a6_pill"/>
          <p:cNvSpPr/>
          <p:nvPr/>
        </p:nvSpPr>
        <p:spPr>
          <a:xfrm>
            <a:off x="6278728" y="3429000"/>
            <a:ext cx="219456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0" name="a6_pill_text"/>
          <p:cNvSpPr txBox="1"/>
          <p:nvPr/>
        </p:nvSpPr>
        <p:spPr>
          <a:xfrm>
            <a:off x="6278728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800" dirty="0"/>
          </a:p>
        </p:txBody>
      </p:sp>
      <p:sp>
        <p:nvSpPr>
          <p:cNvPr id="21" name="a6_desc"/>
          <p:cNvSpPr txBox="1"/>
          <p:nvPr/>
        </p:nvSpPr>
        <p:spPr>
          <a:xfrm>
            <a:off x="8701888" y="3392424"/>
            <a:ext cx="294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of 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4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6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tag creates the biggest heading on a page?</a:t>
            </a:r>
            <a:endParaRPr lang="en-US" sz="2600" dirty="0"/>
          </a:p>
        </p:txBody>
      </p:sp>
      <p:sp>
        <p:nvSpPr>
          <p:cNvPr id="7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8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2000" dirty="0"/>
          </a:p>
        </p:txBody>
      </p:sp>
      <p:sp>
        <p:nvSpPr>
          <p:cNvPr id="11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2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2000" dirty="0"/>
          </a:p>
        </p:txBody>
      </p:sp>
      <p:sp>
        <p:nvSpPr>
          <p:cNvPr id="15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6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</a:t>
            </a:r>
            <a:endParaRPr lang="en-US" sz="2000" dirty="0"/>
          </a:p>
        </p:txBody>
      </p:sp>
      <p:sp>
        <p:nvSpPr>
          <p:cNvPr id="19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0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2000" dirty="0"/>
          </a:p>
        </p:txBody>
      </p:sp>
      <p:sp>
        <p:nvSpPr>
          <p:cNvPr id="23" name="k1_answer_ring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4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5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6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is the main heading. &lt;head&gt; is not shown on the page at all!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turn: build an About Me page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file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my-site/index.html in your editor.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skeleton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head, title and body, as on the earlier slide.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content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h1 with your name and a p about your city or hobby.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open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file to see it in your browser.</a:t>
            </a:r>
            <a:endParaRPr lang="en-US" sz="2100" dirty="0"/>
          </a:p>
        </p:txBody>
      </p:sp>
      <p:sp>
        <p:nvSpPr>
          <p:cNvPr id="16" name="a5_browser"/>
          <p:cNvSpPr/>
          <p:nvPr/>
        </p:nvSpPr>
        <p:spPr>
          <a:xfrm>
            <a:off x="6812280" y="1600200"/>
            <a:ext cx="4828032" cy="3383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5_browser_bar"/>
          <p:cNvSpPr/>
          <p:nvPr/>
        </p:nvSpPr>
        <p:spPr>
          <a:xfrm>
            <a:off x="6812280" y="1600200"/>
            <a:ext cx="4828032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a5_browser_dot"/>
          <p:cNvSpPr/>
          <p:nvPr/>
        </p:nvSpPr>
        <p:spPr>
          <a:xfrm>
            <a:off x="7013448" y="174650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a5_browser_dot"/>
          <p:cNvSpPr/>
          <p:nvPr/>
        </p:nvSpPr>
        <p:spPr>
          <a:xfrm>
            <a:off x="7232904" y="174650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a5_browser_dot"/>
          <p:cNvSpPr/>
          <p:nvPr/>
        </p:nvSpPr>
        <p:spPr>
          <a:xfrm>
            <a:off x="7452360" y="174650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a5_browser_url"/>
          <p:cNvSpPr/>
          <p:nvPr/>
        </p:nvSpPr>
        <p:spPr>
          <a:xfrm>
            <a:off x="7772400" y="1673352"/>
            <a:ext cx="3593592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2" name="a5_browser_urltext"/>
          <p:cNvSpPr txBox="1"/>
          <p:nvPr/>
        </p:nvSpPr>
        <p:spPr>
          <a:xfrm>
            <a:off x="7909560" y="16733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23" name="a5_browser_content"/>
          <p:cNvSpPr txBox="1"/>
          <p:nvPr/>
        </p:nvSpPr>
        <p:spPr>
          <a:xfrm>
            <a:off x="7132320" y="2221992"/>
            <a:ext cx="41879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Hassan</a:t>
            </a:r>
            <a:endParaRPr lang="en-US" sz="2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live in Alexandria.</a:t>
            </a:r>
            <a:endParaRPr lang="en-US" sz="2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 football and drawing.</a:t>
            </a:r>
            <a:endParaRPr lang="en-US" sz="2800" dirty="0"/>
          </a:p>
        </p:txBody>
      </p:sp>
      <p:sp>
        <p:nvSpPr>
          <p:cNvPr id="24" name="a6_timer"/>
          <p:cNvSpPr/>
          <p:nvPr/>
        </p:nvSpPr>
        <p:spPr>
          <a:xfrm>
            <a:off x="6812280" y="5257800"/>
            <a:ext cx="4828032" cy="594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5" name="a6_timer_i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5413248"/>
            <a:ext cx="274320" cy="274320"/>
          </a:xfrm>
          <a:prstGeom prst="rect">
            <a:avLst/>
          </a:prstGeom>
        </p:spPr>
      </p:pic>
      <p:sp>
        <p:nvSpPr>
          <p:cNvPr id="26" name="a6_timer_text"/>
          <p:cNvSpPr txBox="1"/>
          <p:nvPr/>
        </p:nvSpPr>
        <p:spPr>
          <a:xfrm>
            <a:off x="758952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4" name="a1_ico_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2344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HyperText Markup Language. It gives a page its structure.</a:t>
            </a:r>
            <a:endParaRPr lang="en-US" sz="2000" dirty="0"/>
          </a:p>
        </p:txBody>
      </p:sp>
      <p:pic>
        <p:nvPicPr>
          <p:cNvPr id="6" name="a2_ico_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457200" cy="457200"/>
          </a:xfrm>
          <a:prstGeom prst="rect">
            <a:avLst/>
          </a:prstGeom>
        </p:spPr>
      </p:pic>
      <p:sp>
        <p:nvSpPr>
          <p:cNvPr id="7" name="a2_text"/>
          <p:cNvSpPr txBox="1"/>
          <p:nvPr/>
        </p:nvSpPr>
        <p:spPr>
          <a:xfrm>
            <a:off x="123444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is an opening tag, content and a closing tag.</a:t>
            </a:r>
            <a:endParaRPr lang="en-US" sz="2000" dirty="0"/>
          </a:p>
        </p:txBody>
      </p:sp>
      <p:pic>
        <p:nvPicPr>
          <p:cNvPr id="8" name="a3_ico_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9" name="a3_text"/>
          <p:cNvSpPr txBox="1"/>
          <p:nvPr/>
        </p:nvSpPr>
        <p:spPr>
          <a:xfrm>
            <a:off x="1234440" y="3337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has html, head and body.</a:t>
            </a:r>
            <a:endParaRPr lang="en-US" sz="2000" dirty="0"/>
          </a:p>
        </p:txBody>
      </p:sp>
      <p:pic>
        <p:nvPicPr>
          <p:cNvPr id="10" name="a4_ico_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11" name="a4_text"/>
          <p:cNvSpPr txBox="1"/>
          <p:nvPr/>
        </p:nvSpPr>
        <p:spPr>
          <a:xfrm>
            <a:off x="1234440" y="4206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are h1 to h6. Paragraphs use p.</a:t>
            </a:r>
            <a:endParaRPr lang="en-US" sz="2000" dirty="0"/>
          </a:p>
        </p:txBody>
      </p:sp>
      <p:pic>
        <p:nvPicPr>
          <p:cNvPr id="12" name="a5_ico_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38928"/>
            <a:ext cx="457200" cy="457200"/>
          </a:xfrm>
          <a:prstGeom prst="rect">
            <a:avLst/>
          </a:prstGeom>
        </p:spPr>
      </p:pic>
      <p:sp>
        <p:nvSpPr>
          <p:cNvPr id="13" name="a5_text"/>
          <p:cNvSpPr txBox="1"/>
          <p:nvPr/>
        </p:nvSpPr>
        <p:spPr>
          <a:xfrm>
            <a:off x="123444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files as .html and open them in a browser.</a:t>
            </a:r>
            <a:endParaRPr lang="en-US" sz="2000" dirty="0"/>
          </a:p>
        </p:txBody>
      </p:sp>
      <p:sp>
        <p:nvSpPr>
          <p:cNvPr id="14" name="a6_hw"/>
          <p:cNvSpPr/>
          <p:nvPr/>
        </p:nvSpPr>
        <p:spPr>
          <a:xfrm>
            <a:off x="8229600" y="1600200"/>
            <a:ext cx="3410712" cy="4343400"/>
          </a:xfrm>
          <a:prstGeom prst="roundRect">
            <a:avLst>
              <a:gd name="adj" fmla="val 53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5" name="a6_ico_h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920240"/>
            <a:ext cx="731520" cy="731520"/>
          </a:xfrm>
          <a:prstGeom prst="rect">
            <a:avLst/>
          </a:prstGeom>
        </p:spPr>
      </p:pic>
      <p:sp>
        <p:nvSpPr>
          <p:cNvPr id="16" name="a6_hw_label"/>
          <p:cNvSpPr txBox="1"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17" name="a6_hw_text"/>
          <p:cNvSpPr txBox="1"/>
          <p:nvPr/>
        </p:nvSpPr>
        <p:spPr>
          <a:xfrm>
            <a:off x="859536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page about your favourite Egyptian city or player. Use 1 h1, 2 h2 and 3 paragraphs.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Nile Code">
  <a:themeElements>
    <a:clrScheme name="Nile Code">
      <a:dk1>
        <a:srgbClr val="0B1B2E"/>
      </a:dk1>
      <a:lt1>
        <a:srgbClr val="FFFFFF"/>
      </a:lt1>
      <a:dk2>
        <a:srgbClr val="0F5F5A"/>
      </a:dk2>
      <a:lt2>
        <a:srgbClr val="E8F0EF"/>
      </a:lt2>
      <a:accent1>
        <a:srgbClr val="14B8A6"/>
      </a:accent1>
      <a:accent2>
        <a:srgbClr val="F5B301"/>
      </a:accent2>
      <a:accent3>
        <a:srgbClr val="FF6B4A"/>
      </a:accent3>
      <a:accent4>
        <a:srgbClr val="8C92FF"/>
      </a:accent4>
      <a:accent5>
        <a:srgbClr val="4ADE80"/>
      </a:accent5>
      <a:accent6>
        <a:srgbClr val="38BDF8"/>
      </a:accent6>
      <a:hlink>
        <a:srgbClr val="0F5F5A"/>
      </a:hlink>
      <a:folHlink>
        <a:srgbClr val="8C92FF"/>
      </a:folHlink>
    </a:clrScheme>
    <a:fontScheme name="Nile Co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Fundamentals - Lesson 1: Meet HTML</dc:title>
  <dc:subject>HTML for school students</dc:subject>
  <dc:creator>HTML Fundamentals Course</dc:creator>
  <cp:lastModifiedBy>HTML Fundamentals Course</cp:lastModifiedBy>
  <cp:revision>1</cp:revision>
  <dcterms:created xsi:type="dcterms:W3CDTF">2026-10-04T23:07:35Z</dcterms:created>
  <dcterms:modified xsi:type="dcterms:W3CDTF">2026-10-04T23:07:35Z</dcterms:modified>
</cp:coreProperties>
</file>