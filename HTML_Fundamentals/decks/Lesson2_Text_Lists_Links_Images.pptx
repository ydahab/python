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c55021a-3b26-f141-f759-874a919bccfb}">
          <p14:sldIdLst>
            <p14:sldId id="256"/>
            <p14:sldId id="257"/>
            <p14:sldId id="258"/>
          </p14:sldIdLst>
        </p14:section>
        <p14:section name="Text &amp; lists" id="{37b7be24-5748-e015-129e-4601dbe6ded6}">
          <p14:sldIdLst>
            <p14:sldId id="259"/>
            <p14:sldId id="260"/>
            <p14:sldId id="261"/>
          </p14:sldIdLst>
        </p14:section>
        <p14:section name="Links &amp; images" id="{357d6177-64bb-c7fe-0936-76002d8bd76a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Start by asking two students to show their homework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last lesson: we built the skeleton, now we fill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retrieval of last lesson's key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strong and em carry meaning (screen readers change their voice) while b and i are only looks.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list would you use for a recipe? For a shopping list?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word attribute: extra information inside the opening tag, written name="value".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text is an accessibility rule: a blind student using a screen reader hears it. Ask what alt text they would write for a photo of the Nile.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folders on the board as boxes. A broken image is almost always a wrong path or a spelling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slide. Cover the right side and ask students to explain each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trap: students mix up href (links) and src (files that load into the page).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pick a place they have really visited. Pair students to review each other's alt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next lesson: tables and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2: Text, Links &amp; Images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2: Text, Links &amp; Images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ico_sun"/>
          <p:cNvSpPr/>
          <p:nvPr/>
        </p:nvSpPr>
        <p:spPr>
          <a:xfrm>
            <a:off x="9966960" y="822960"/>
            <a:ext cx="1371600" cy="137160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" name="a5_halo"/>
          <p:cNvSpPr/>
          <p:nvPr/>
        </p:nvSpPr>
        <p:spPr>
          <a:xfrm>
            <a:off x="8595360" y="-109728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a6_pyr1"/>
          <p:cNvSpPr/>
          <p:nvPr/>
        </p:nvSpPr>
        <p:spPr>
          <a:xfrm>
            <a:off x="7406640" y="4160520"/>
            <a:ext cx="2651760" cy="2240280"/>
          </a:xfrm>
          <a:prstGeom prst="triangl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6" name="a6_pyr2"/>
          <p:cNvSpPr/>
          <p:nvPr/>
        </p:nvSpPr>
        <p:spPr>
          <a:xfrm>
            <a:off x="8869680" y="2743200"/>
            <a:ext cx="3017520" cy="365760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7" name="a6_pyr3"/>
          <p:cNvSpPr/>
          <p:nvPr/>
        </p:nvSpPr>
        <p:spPr>
          <a:xfrm>
            <a:off x="10561320" y="4709160"/>
            <a:ext cx="1371600" cy="1691640"/>
          </a:xfrm>
          <a:prstGeom prst="triangle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8" name="a1_pill"/>
          <p:cNvSpPr/>
          <p:nvPr/>
        </p:nvSpPr>
        <p:spPr>
          <a:xfrm>
            <a:off x="73152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a1_pill_text"/>
          <p:cNvSpPr txBox="1"/>
          <p:nvPr/>
        </p:nvSpPr>
        <p:spPr>
          <a:xfrm>
            <a:off x="7315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Text, Lists, Links &amp; Images</a:t>
            </a:r>
            <a:endParaRPr lang="en-US" sz="5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Bring your page to life with content</a:t>
            </a:r>
            <a:endParaRPr lang="en-US" sz="2200" dirty="0"/>
          </a:p>
        </p:txBody>
      </p:sp>
      <p:sp>
        <p:nvSpPr>
          <p:cNvPr id="12" name="a4_ar"/>
          <p:cNvSpPr txBox="1"/>
          <p:nvPr/>
        </p:nvSpPr>
        <p:spPr>
          <a:xfrm>
            <a:off x="73152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الثاني: النصوص والقوائم والروابط والصور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of this lesson you will…</a:t>
            </a:r>
            <a:endParaRPr lang="en-US" sz="3600" dirty="0"/>
          </a:p>
        </p:txBody>
      </p:sp>
      <p:sp>
        <p:nvSpPr>
          <p:cNvPr id="4" name="a1_ico_bg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810055"/>
            <a:ext cx="357530" cy="357530"/>
          </a:xfrm>
          <a:prstGeom prst="rect">
            <a:avLst/>
          </a:prstGeom>
        </p:spPr>
      </p:pic>
      <p:sp>
        <p:nvSpPr>
          <p:cNvPr id="6" name="a1_text"/>
          <p:cNvSpPr txBox="1"/>
          <p:nvPr/>
        </p:nvSpPr>
        <p:spPr>
          <a:xfrm>
            <a:off x="16002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text bold or italic to show importance</a:t>
            </a:r>
            <a:endParaRPr lang="en-US" sz="2200" dirty="0"/>
          </a:p>
        </p:txBody>
      </p:sp>
      <p:sp>
        <p:nvSpPr>
          <p:cNvPr id="7" name="a2_ico_bg"/>
          <p:cNvSpPr/>
          <p:nvPr/>
        </p:nvSpPr>
        <p:spPr>
          <a:xfrm>
            <a:off x="548640" y="267919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5" y="2889047"/>
            <a:ext cx="357530" cy="357530"/>
          </a:xfrm>
          <a:prstGeom prst="rect">
            <a:avLst/>
          </a:prstGeom>
        </p:spPr>
      </p:pic>
      <p:sp>
        <p:nvSpPr>
          <p:cNvPr id="9" name="a2_text"/>
          <p:cNvSpPr txBox="1"/>
          <p:nvPr/>
        </p:nvSpPr>
        <p:spPr>
          <a:xfrm>
            <a:off x="1600200" y="26791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bulleted and numbered lists</a:t>
            </a:r>
            <a:endParaRPr lang="en-US" sz="2200" dirty="0"/>
          </a:p>
        </p:txBody>
      </p:sp>
      <p:sp>
        <p:nvSpPr>
          <p:cNvPr id="10" name="a3_ico_bg"/>
          <p:cNvSpPr/>
          <p:nvPr/>
        </p:nvSpPr>
        <p:spPr>
          <a:xfrm>
            <a:off x="548640" y="3758184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3968039"/>
            <a:ext cx="357530" cy="357530"/>
          </a:xfrm>
          <a:prstGeom prst="rect">
            <a:avLst/>
          </a:prstGeom>
        </p:spPr>
      </p:pic>
      <p:sp>
        <p:nvSpPr>
          <p:cNvPr id="12" name="a3_text"/>
          <p:cNvSpPr txBox="1"/>
          <p:nvPr/>
        </p:nvSpPr>
        <p:spPr>
          <a:xfrm>
            <a:off x="1600200" y="37581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one page to another</a:t>
            </a:r>
            <a:endParaRPr lang="en-US" sz="2200" dirty="0"/>
          </a:p>
        </p:txBody>
      </p:sp>
      <p:sp>
        <p:nvSpPr>
          <p:cNvPr id="13" name="a4_ico_bg"/>
          <p:cNvSpPr/>
          <p:nvPr/>
        </p:nvSpPr>
        <p:spPr>
          <a:xfrm>
            <a:off x="548640" y="4837176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5" y="5047031"/>
            <a:ext cx="357530" cy="357530"/>
          </a:xfrm>
          <a:prstGeom prst="rect">
            <a:avLst/>
          </a:prstGeom>
        </p:spPr>
      </p:pic>
      <p:sp>
        <p:nvSpPr>
          <p:cNvPr id="15" name="a4_text"/>
          <p:cNvSpPr txBox="1"/>
          <p:nvPr/>
        </p:nvSpPr>
        <p:spPr>
          <a:xfrm>
            <a:off x="1600200" y="483717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pictures with helpful descriptions</a:t>
            </a:r>
            <a:endParaRPr lang="en-US" sz="2200" dirty="0"/>
          </a:p>
        </p:txBody>
      </p:sp>
      <p:sp>
        <p:nvSpPr>
          <p:cNvPr id="16" name="a5_panel"/>
          <p:cNvSpPr/>
          <p:nvPr/>
        </p:nvSpPr>
        <p:spPr>
          <a:xfrm>
            <a:off x="8503920" y="1600200"/>
            <a:ext cx="3136392" cy="4251960"/>
          </a:xfrm>
          <a:prstGeom prst="roundRect">
            <a:avLst>
              <a:gd name="adj" fmla="val 58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7" name="a5_ico_pane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2057400"/>
            <a:ext cx="914400" cy="914400"/>
          </a:xfrm>
          <a:prstGeom prst="rect">
            <a:avLst/>
          </a:prstGeom>
        </p:spPr>
      </p:pic>
      <p:sp>
        <p:nvSpPr>
          <p:cNvPr id="18" name="a5_panel_label"/>
          <p:cNvSpPr txBox="1"/>
          <p:nvPr/>
        </p:nvSpPr>
        <p:spPr>
          <a:xfrm>
            <a:off x="8823960" y="32461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1400" dirty="0"/>
          </a:p>
        </p:txBody>
      </p:sp>
      <p:sp>
        <p:nvSpPr>
          <p:cNvPr id="19" name="a5_panel_text"/>
          <p:cNvSpPr txBox="1"/>
          <p:nvPr/>
        </p:nvSpPr>
        <p:spPr>
          <a:xfrm>
            <a:off x="8823960" y="3657600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about your favourite place in Egypt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4" name="a1_ico_q_bg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1_ico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420624" cy="420624"/>
          </a:xfrm>
          <a:prstGeom prst="rect">
            <a:avLst/>
          </a:prstGeom>
        </p:spPr>
      </p:pic>
      <p:sp>
        <p:nvSpPr>
          <p:cNvPr id="6" name="a1_question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what is wrong with  &lt;p&gt;Hello Egypt&lt;p&gt;  ?</a:t>
            </a:r>
            <a:endParaRPr lang="en-US" sz="2600" dirty="0"/>
          </a:p>
        </p:txBody>
      </p:sp>
      <p:sp>
        <p:nvSpPr>
          <p:cNvPr id="7" name="a2_opt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8" name="a2_ico_letter_bg"/>
          <p:cNvSpPr/>
          <p:nvPr/>
        </p:nvSpPr>
        <p:spPr>
          <a:xfrm>
            <a:off x="80467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2_ico_letter"/>
          <p:cNvSpPr txBox="1"/>
          <p:nvPr/>
        </p:nvSpPr>
        <p:spPr>
          <a:xfrm>
            <a:off x="804672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a2_opt_text"/>
          <p:cNvSpPr txBox="1"/>
          <p:nvPr/>
        </p:nvSpPr>
        <p:spPr>
          <a:xfrm>
            <a:off x="1645920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tag is missing its slash</a:t>
            </a:r>
            <a:endParaRPr lang="en-US" sz="2200" dirty="0"/>
          </a:p>
        </p:txBody>
      </p:sp>
      <p:sp>
        <p:nvSpPr>
          <p:cNvPr id="11" name="a3_opt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2" name="a3_ico_letter_bg"/>
          <p:cNvSpPr/>
          <p:nvPr/>
        </p:nvSpPr>
        <p:spPr>
          <a:xfrm>
            <a:off x="6455664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a3_ico_letter"/>
          <p:cNvSpPr txBox="1"/>
          <p:nvPr/>
        </p:nvSpPr>
        <p:spPr>
          <a:xfrm>
            <a:off x="6455664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a3_opt_text"/>
          <p:cNvSpPr txBox="1"/>
          <p:nvPr/>
        </p:nvSpPr>
        <p:spPr>
          <a:xfrm>
            <a:off x="7296912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not a real tag</a:t>
            </a:r>
            <a:endParaRPr lang="en-US" sz="2200" dirty="0"/>
          </a:p>
        </p:txBody>
      </p:sp>
      <p:sp>
        <p:nvSpPr>
          <p:cNvPr id="15" name="a4_opt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6" name="a4_ico_letter_bg"/>
          <p:cNvSpPr/>
          <p:nvPr/>
        </p:nvSpPr>
        <p:spPr>
          <a:xfrm>
            <a:off x="804672" y="4389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a4_ico_letter"/>
          <p:cNvSpPr txBox="1"/>
          <p:nvPr/>
        </p:nvSpPr>
        <p:spPr>
          <a:xfrm>
            <a:off x="80467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a4_opt_text"/>
          <p:cNvSpPr txBox="1"/>
          <p:nvPr/>
        </p:nvSpPr>
        <p:spPr>
          <a:xfrm>
            <a:off x="164592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an h1 first</a:t>
            </a:r>
            <a:endParaRPr lang="en-US" sz="2200" dirty="0"/>
          </a:p>
        </p:txBody>
      </p:sp>
      <p:sp>
        <p:nvSpPr>
          <p:cNvPr id="19" name="a5_opt"/>
          <p:cNvSpPr/>
          <p:nvPr/>
        </p:nvSpPr>
        <p:spPr>
          <a:xfrm>
            <a:off x="6199632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0" name="a5_ico_letter_bg"/>
          <p:cNvSpPr/>
          <p:nvPr/>
        </p:nvSpPr>
        <p:spPr>
          <a:xfrm>
            <a:off x="6455664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a5_ico_letter"/>
          <p:cNvSpPr txBox="1"/>
          <p:nvPr/>
        </p:nvSpPr>
        <p:spPr>
          <a:xfrm>
            <a:off x="645566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a5_opt_text"/>
          <p:cNvSpPr txBox="1"/>
          <p:nvPr/>
        </p:nvSpPr>
        <p:spPr>
          <a:xfrm>
            <a:off x="7296912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wrong</a:t>
            </a:r>
            <a:endParaRPr lang="en-US" sz="2200" dirty="0"/>
          </a:p>
        </p:txBody>
      </p:sp>
      <p:sp>
        <p:nvSpPr>
          <p:cNvPr id="23" name="k1_answer_ring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accent5">
              <a:alpha val="0"/>
            </a:schemeClr>
          </a:solidFill>
          <a:ln w="63500">
            <a:solidFill>
              <a:schemeClr val="accent5"/>
            </a:solidFill>
            <a:prstDash val="solid"/>
          </a:ln>
        </p:spPr>
      </p:sp>
      <p:sp>
        <p:nvSpPr>
          <p:cNvPr id="24" name="k1_answer_ba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5" name="k1_answer_ic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26" name="k1_answer_text"/>
          <p:cNvSpPr txBox="1"/>
          <p:nvPr/>
        </p:nvSpPr>
        <p:spPr>
          <a:xfrm>
            <a:off x="1417320" y="54864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tag must be &lt;/p&gt;, with a slash.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Text &amp; lists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Show what matters and organise ideas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تنسيق النصوص والقوائم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Make words stand out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6309360" cy="2377440"/>
          </a:xfrm>
          <a:prstGeom prst="roundRect">
            <a:avLst>
              <a:gd name="adj" fmla="val 538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Egypt is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very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old.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is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really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beautiful.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one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two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part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a2_browser"/>
          <p:cNvSpPr/>
          <p:nvPr/>
        </p:nvSpPr>
        <p:spPr>
          <a:xfrm>
            <a:off x="7132320" y="1554480"/>
            <a:ext cx="4510735" cy="23774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7132320" y="1554480"/>
            <a:ext cx="45107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73334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5529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7724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8092440" y="1627632"/>
            <a:ext cx="32762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8229600" y="1627632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text.html</a:t>
            </a:r>
            <a:endParaRPr lang="en-US" sz="1200" dirty="0"/>
          </a:p>
        </p:txBody>
      </p:sp>
      <p:sp>
        <p:nvSpPr>
          <p:cNvPr id="17" name="a2_browser_content"/>
          <p:cNvSpPr txBox="1"/>
          <p:nvPr/>
        </p:nvSpPr>
        <p:spPr>
          <a:xfrm>
            <a:off x="7452360" y="2176272"/>
            <a:ext cx="3870655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is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beautiful.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two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part</a:t>
            </a:r>
            <a:endParaRPr lang="en-US" sz="1600" dirty="0"/>
          </a:p>
        </p:txBody>
      </p:sp>
      <p:sp>
        <p:nvSpPr>
          <p:cNvPr id="18" name="a3_chip"/>
          <p:cNvSpPr/>
          <p:nvPr/>
        </p:nvSpPr>
        <p:spPr>
          <a:xfrm>
            <a:off x="7132320" y="420624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71323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8869680" y="4206240"/>
            <a:ext cx="2773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Bold: this is important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7132320" y="4864608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7132320" y="4864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8869680" y="4864608"/>
            <a:ext cx="2773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Italic: emphasis</a:t>
            </a:r>
            <a:endParaRPr lang="en-US" sz="1600" dirty="0"/>
          </a:p>
        </p:txBody>
      </p:sp>
      <p:sp>
        <p:nvSpPr>
          <p:cNvPr id="24" name="a5_chip"/>
          <p:cNvSpPr/>
          <p:nvPr/>
        </p:nvSpPr>
        <p:spPr>
          <a:xfrm>
            <a:off x="7132320" y="5522976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F5B301"/>
          </a:solidFill>
          <a:ln/>
        </p:spPr>
      </p:sp>
      <p:sp>
        <p:nvSpPr>
          <p:cNvPr id="25" name="a5_chip_text"/>
          <p:cNvSpPr txBox="1"/>
          <p:nvPr/>
        </p:nvSpPr>
        <p:spPr>
          <a:xfrm>
            <a:off x="7132320" y="55229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 &lt;hr&gt;</a:t>
            </a:r>
            <a:endParaRPr lang="en-US" sz="1500" dirty="0"/>
          </a:p>
        </p:txBody>
      </p:sp>
      <p:sp>
        <p:nvSpPr>
          <p:cNvPr id="26" name="a5_chip_desc"/>
          <p:cNvSpPr txBox="1"/>
          <p:nvPr/>
        </p:nvSpPr>
        <p:spPr>
          <a:xfrm>
            <a:off x="8869680" y="5522976"/>
            <a:ext cx="2773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line and a line across. No closing tag!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Lists: bullets and numbers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852160" cy="3291840"/>
          </a:xfrm>
          <a:prstGeom prst="roundRect">
            <a:avLst>
              <a:gd name="adj" fmla="val 388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Koshary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Boil water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tea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a2_browser"/>
          <p:cNvSpPr/>
          <p:nvPr/>
        </p:nvSpPr>
        <p:spPr>
          <a:xfrm>
            <a:off x="6675120" y="1554480"/>
            <a:ext cx="4967935" cy="24688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675120" y="1554480"/>
            <a:ext cx="49679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68762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0957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3152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635240" y="1627632"/>
            <a:ext cx="37334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7772400" y="162763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lists.html</a:t>
            </a:r>
            <a:endParaRPr lang="en-US" sz="1200" dirty="0"/>
          </a:p>
        </p:txBody>
      </p:sp>
      <p:sp>
        <p:nvSpPr>
          <p:cNvPr id="17" name="a2_browser_content"/>
          <p:cNvSpPr txBox="1"/>
          <p:nvPr/>
        </p:nvSpPr>
        <p:spPr>
          <a:xfrm>
            <a:off x="6995160" y="2176272"/>
            <a:ext cx="4327855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Koshary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water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</a:t>
            </a:r>
            <a:endParaRPr lang="en-US" sz="1600" dirty="0"/>
          </a:p>
        </p:txBody>
      </p:sp>
      <p:sp>
        <p:nvSpPr>
          <p:cNvPr id="18" name="a3_chip"/>
          <p:cNvSpPr/>
          <p:nvPr/>
        </p:nvSpPr>
        <p:spPr>
          <a:xfrm>
            <a:off x="6675120" y="4297680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667512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7955280" y="4297680"/>
            <a:ext cx="3687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list (bullets)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6675120" y="4956048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6675120" y="49560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7955280" y="4956048"/>
            <a:ext cx="3687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 (numbers)</a:t>
            </a:r>
            <a:endParaRPr lang="en-US" sz="1600" dirty="0"/>
          </a:p>
        </p:txBody>
      </p:sp>
      <p:sp>
        <p:nvSpPr>
          <p:cNvPr id="24" name="a5_chip"/>
          <p:cNvSpPr/>
          <p:nvPr/>
        </p:nvSpPr>
        <p:spPr>
          <a:xfrm>
            <a:off x="6675120" y="5614416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25" name="a5_chip_text"/>
          <p:cNvSpPr txBox="1"/>
          <p:nvPr/>
        </p:nvSpPr>
        <p:spPr>
          <a:xfrm>
            <a:off x="6675120" y="56144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1500" dirty="0"/>
          </a:p>
        </p:txBody>
      </p:sp>
      <p:sp>
        <p:nvSpPr>
          <p:cNvPr id="26" name="a5_chip_desc"/>
          <p:cNvSpPr txBox="1"/>
          <p:nvPr/>
        </p:nvSpPr>
        <p:spPr>
          <a:xfrm>
            <a:off x="7955280" y="5614416"/>
            <a:ext cx="3687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item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Links &amp; images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Connect pages and show pictures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الروابط والصور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Links: the anchor tag</a:t>
            </a:r>
            <a:endParaRPr lang="en-US" sz="3600" dirty="0"/>
          </a:p>
        </p:txBody>
      </p:sp>
      <p:sp>
        <p:nvSpPr>
          <p:cNvPr id="4" name="a1_tile"/>
          <p:cNvSpPr/>
          <p:nvPr/>
        </p:nvSpPr>
        <p:spPr>
          <a:xfrm>
            <a:off x="548640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tile_code"/>
          <p:cNvSpPr txBox="1"/>
          <p:nvPr/>
        </p:nvSpPr>
        <p:spPr>
          <a:xfrm>
            <a:off x="731520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endParaRPr lang="en-US" sz="2000" dirty="0"/>
          </a:p>
        </p:txBody>
      </p:sp>
      <p:sp>
        <p:nvSpPr>
          <p:cNvPr id="6" name="a1_tile_head"/>
          <p:cNvSpPr txBox="1"/>
          <p:nvPr/>
        </p:nvSpPr>
        <p:spPr>
          <a:xfrm>
            <a:off x="731520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name</a:t>
            </a:r>
            <a:endParaRPr lang="en-US" sz="1900" dirty="0"/>
          </a:p>
        </p:txBody>
      </p:sp>
      <p:sp>
        <p:nvSpPr>
          <p:cNvPr id="7" name="a1_tile_body"/>
          <p:cNvSpPr txBox="1"/>
          <p:nvPr/>
        </p:nvSpPr>
        <p:spPr>
          <a:xfrm>
            <a:off x="731520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stands for anchor. It makes a clickable link.</a:t>
            </a:r>
            <a:endParaRPr lang="en-US" sz="1500" dirty="0"/>
          </a:p>
        </p:txBody>
      </p:sp>
      <p:sp>
        <p:nvSpPr>
          <p:cNvPr id="8" name="a2_tile"/>
          <p:cNvSpPr/>
          <p:nvPr/>
        </p:nvSpPr>
        <p:spPr>
          <a:xfrm>
            <a:off x="3379394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2_tile_code"/>
          <p:cNvSpPr txBox="1"/>
          <p:nvPr/>
        </p:nvSpPr>
        <p:spPr>
          <a:xfrm>
            <a:off x="3562274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2000" dirty="0"/>
          </a:p>
        </p:txBody>
      </p:sp>
      <p:sp>
        <p:nvSpPr>
          <p:cNvPr id="10" name="a2_tile_head"/>
          <p:cNvSpPr txBox="1"/>
          <p:nvPr/>
        </p:nvSpPr>
        <p:spPr>
          <a:xfrm>
            <a:off x="3562274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name</a:t>
            </a:r>
            <a:endParaRPr lang="en-US" sz="1900" dirty="0"/>
          </a:p>
        </p:txBody>
      </p:sp>
      <p:sp>
        <p:nvSpPr>
          <p:cNvPr id="11" name="a2_tile_body"/>
          <p:cNvSpPr txBox="1"/>
          <p:nvPr/>
        </p:nvSpPr>
        <p:spPr>
          <a:xfrm>
            <a:off x="3562274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 hypertext reference: where the link goes.</a:t>
            </a:r>
            <a:endParaRPr lang="en-US" sz="1500" dirty="0"/>
          </a:p>
        </p:txBody>
      </p:sp>
      <p:sp>
        <p:nvSpPr>
          <p:cNvPr id="12" name="a3_tile"/>
          <p:cNvSpPr/>
          <p:nvPr/>
        </p:nvSpPr>
        <p:spPr>
          <a:xfrm>
            <a:off x="6210148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a3_tile_code"/>
          <p:cNvSpPr txBox="1"/>
          <p:nvPr/>
        </p:nvSpPr>
        <p:spPr>
          <a:xfrm>
            <a:off x="6393028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"https://..."</a:t>
            </a:r>
            <a:endParaRPr lang="en-US" sz="2000" dirty="0"/>
          </a:p>
        </p:txBody>
      </p:sp>
      <p:sp>
        <p:nvSpPr>
          <p:cNvPr id="14" name="a3_tile_head"/>
          <p:cNvSpPr txBox="1"/>
          <p:nvPr/>
        </p:nvSpPr>
        <p:spPr>
          <a:xfrm>
            <a:off x="6393028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value</a:t>
            </a:r>
            <a:endParaRPr lang="en-US" sz="1900" dirty="0"/>
          </a:p>
        </p:txBody>
      </p:sp>
      <p:sp>
        <p:nvSpPr>
          <p:cNvPr id="15" name="a3_tile_body"/>
          <p:cNvSpPr txBox="1"/>
          <p:nvPr/>
        </p:nvSpPr>
        <p:spPr>
          <a:xfrm>
            <a:off x="6393028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address, always inside quotation marks.</a:t>
            </a:r>
            <a:endParaRPr lang="en-US" sz="1500" dirty="0"/>
          </a:p>
        </p:txBody>
      </p:sp>
      <p:sp>
        <p:nvSpPr>
          <p:cNvPr id="16" name="a4_tile"/>
          <p:cNvSpPr/>
          <p:nvPr/>
        </p:nvSpPr>
        <p:spPr>
          <a:xfrm>
            <a:off x="9040901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a4_tile_code"/>
          <p:cNvSpPr txBox="1"/>
          <p:nvPr/>
        </p:nvSpPr>
        <p:spPr>
          <a:xfrm>
            <a:off x="9223781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Egypt</a:t>
            </a:r>
            <a:endParaRPr lang="en-US" sz="2000" dirty="0"/>
          </a:p>
        </p:txBody>
      </p:sp>
      <p:sp>
        <p:nvSpPr>
          <p:cNvPr id="18" name="a4_tile_head"/>
          <p:cNvSpPr txBox="1"/>
          <p:nvPr/>
        </p:nvSpPr>
        <p:spPr>
          <a:xfrm>
            <a:off x="9223781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</a:t>
            </a:r>
            <a:endParaRPr lang="en-US" sz="1900" dirty="0"/>
          </a:p>
        </p:txBody>
      </p:sp>
      <p:sp>
        <p:nvSpPr>
          <p:cNvPr id="19" name="a4_tile_body"/>
          <p:cNvSpPr txBox="1"/>
          <p:nvPr/>
        </p:nvSpPr>
        <p:spPr>
          <a:xfrm>
            <a:off x="9223781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visitor reads and clicks on.</a:t>
            </a:r>
            <a:endParaRPr lang="en-US" sz="1500" dirty="0"/>
          </a:p>
        </p:txBody>
      </p:sp>
      <p:sp>
        <p:nvSpPr>
          <p:cNvPr id="20" name="a5_code"/>
          <p:cNvSpPr/>
          <p:nvPr/>
        </p:nvSpPr>
        <p:spPr>
          <a:xfrm>
            <a:off x="548640" y="4297680"/>
            <a:ext cx="7498080" cy="1609344"/>
          </a:xfrm>
          <a:prstGeom prst="roundRect">
            <a:avLst>
              <a:gd name="adj" fmla="val 795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5_code_dot"/>
          <p:cNvSpPr/>
          <p:nvPr/>
        </p:nvSpPr>
        <p:spPr>
          <a:xfrm>
            <a:off x="804672" y="45171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a5_code_dot"/>
          <p:cNvSpPr/>
          <p:nvPr/>
        </p:nvSpPr>
        <p:spPr>
          <a:xfrm>
            <a:off x="1042416" y="45171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a5_code_dot"/>
          <p:cNvSpPr/>
          <p:nvPr/>
        </p:nvSpPr>
        <p:spPr>
          <a:xfrm>
            <a:off x="1280160" y="45171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a5_code_file"/>
          <p:cNvSpPr txBox="1"/>
          <p:nvPr/>
        </p:nvSpPr>
        <p:spPr>
          <a:xfrm>
            <a:off x="1645920" y="44439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5" name="a5_code_text"/>
          <p:cNvSpPr txBox="1"/>
          <p:nvPr/>
        </p:nvSpPr>
        <p:spPr>
          <a:xfrm>
            <a:off x="841248" y="4892040"/>
            <a:ext cx="7040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"https://www.egypt.gov.eg"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 Egypt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26" name="a6_result"/>
          <p:cNvSpPr/>
          <p:nvPr/>
        </p:nvSpPr>
        <p:spPr>
          <a:xfrm>
            <a:off x="8321040" y="4297680"/>
            <a:ext cx="3322015" cy="1609344"/>
          </a:xfrm>
          <a:prstGeom prst="roundRect">
            <a:avLst>
              <a:gd name="adj" fmla="val 7955"/>
            </a:avLst>
          </a:prstGeom>
          <a:solidFill>
            <a:schemeClr val="bg2"/>
          </a:solidFill>
          <a:ln/>
        </p:spPr>
      </p:sp>
      <p:sp>
        <p:nvSpPr>
          <p:cNvPr id="27" name="a6_result_label"/>
          <p:cNvSpPr txBox="1"/>
          <p:nvPr/>
        </p:nvSpPr>
        <p:spPr>
          <a:xfrm>
            <a:off x="85496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8" name="a6_result_text"/>
          <p:cNvSpPr txBox="1"/>
          <p:nvPr/>
        </p:nvSpPr>
        <p:spPr>
          <a:xfrm>
            <a:off x="8549640" y="4754880"/>
            <a:ext cx="286481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Egypt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Images: the img tag</a:t>
            </a:r>
            <a:endParaRPr lang="en-US" sz="3600" dirty="0"/>
          </a:p>
        </p:txBody>
      </p:sp>
      <p:sp>
        <p:nvSpPr>
          <p:cNvPr id="4" name="a1_tile"/>
          <p:cNvSpPr/>
          <p:nvPr/>
        </p:nvSpPr>
        <p:spPr>
          <a:xfrm>
            <a:off x="548640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tile_code"/>
          <p:cNvSpPr txBox="1"/>
          <p:nvPr/>
        </p:nvSpPr>
        <p:spPr>
          <a:xfrm>
            <a:off x="731520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2000" dirty="0"/>
          </a:p>
        </p:txBody>
      </p:sp>
      <p:sp>
        <p:nvSpPr>
          <p:cNvPr id="6" name="a1_tile_head"/>
          <p:cNvSpPr txBox="1"/>
          <p:nvPr/>
        </p:nvSpPr>
        <p:spPr>
          <a:xfrm>
            <a:off x="731520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</a:t>
            </a:r>
            <a:endParaRPr lang="en-US" sz="1900" dirty="0"/>
          </a:p>
        </p:txBody>
      </p:sp>
      <p:sp>
        <p:nvSpPr>
          <p:cNvPr id="7" name="a1_tile_body"/>
          <p:cNvSpPr txBox="1"/>
          <p:nvPr/>
        </p:nvSpPr>
        <p:spPr>
          <a:xfrm>
            <a:off x="731520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element: no closing tag needed.</a:t>
            </a:r>
            <a:endParaRPr lang="en-US" sz="1500" dirty="0"/>
          </a:p>
        </p:txBody>
      </p:sp>
      <p:sp>
        <p:nvSpPr>
          <p:cNvPr id="8" name="a2_tile"/>
          <p:cNvSpPr/>
          <p:nvPr/>
        </p:nvSpPr>
        <p:spPr>
          <a:xfrm>
            <a:off x="3379394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2_tile_code"/>
          <p:cNvSpPr txBox="1"/>
          <p:nvPr/>
        </p:nvSpPr>
        <p:spPr>
          <a:xfrm>
            <a:off x="3562274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2000" dirty="0"/>
          </a:p>
        </p:txBody>
      </p:sp>
      <p:sp>
        <p:nvSpPr>
          <p:cNvPr id="10" name="a2_tile_head"/>
          <p:cNvSpPr txBox="1"/>
          <p:nvPr/>
        </p:nvSpPr>
        <p:spPr>
          <a:xfrm>
            <a:off x="3562274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900" dirty="0"/>
          </a:p>
        </p:txBody>
      </p:sp>
      <p:sp>
        <p:nvSpPr>
          <p:cNvPr id="11" name="a2_tile_body"/>
          <p:cNvSpPr txBox="1"/>
          <p:nvPr/>
        </p:nvSpPr>
        <p:spPr>
          <a:xfrm>
            <a:off x="3562274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name or path of the picture.</a:t>
            </a:r>
            <a:endParaRPr lang="en-US" sz="1500" dirty="0"/>
          </a:p>
        </p:txBody>
      </p:sp>
      <p:sp>
        <p:nvSpPr>
          <p:cNvPr id="12" name="a3_tile"/>
          <p:cNvSpPr/>
          <p:nvPr/>
        </p:nvSpPr>
        <p:spPr>
          <a:xfrm>
            <a:off x="6210148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a3_tile_code"/>
          <p:cNvSpPr txBox="1"/>
          <p:nvPr/>
        </p:nvSpPr>
        <p:spPr>
          <a:xfrm>
            <a:off x="6393028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2000" dirty="0"/>
          </a:p>
        </p:txBody>
      </p:sp>
      <p:sp>
        <p:nvSpPr>
          <p:cNvPr id="14" name="a3_tile_head"/>
          <p:cNvSpPr txBox="1"/>
          <p:nvPr/>
        </p:nvSpPr>
        <p:spPr>
          <a:xfrm>
            <a:off x="6393028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text</a:t>
            </a:r>
            <a:endParaRPr lang="en-US" sz="1900" dirty="0"/>
          </a:p>
        </p:txBody>
      </p:sp>
      <p:sp>
        <p:nvSpPr>
          <p:cNvPr id="15" name="a3_tile_body"/>
          <p:cNvSpPr txBox="1"/>
          <p:nvPr/>
        </p:nvSpPr>
        <p:spPr>
          <a:xfrm>
            <a:off x="6393028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picture to screen readers and when it fails to load.</a:t>
            </a:r>
            <a:endParaRPr lang="en-US" sz="1500" dirty="0"/>
          </a:p>
        </p:txBody>
      </p:sp>
      <p:sp>
        <p:nvSpPr>
          <p:cNvPr id="16" name="a4_tile"/>
          <p:cNvSpPr/>
          <p:nvPr/>
        </p:nvSpPr>
        <p:spPr>
          <a:xfrm>
            <a:off x="9040901" y="1554480"/>
            <a:ext cx="2602154" cy="2423160"/>
          </a:xfrm>
          <a:prstGeom prst="roundRect">
            <a:avLst>
              <a:gd name="adj" fmla="val 603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a4_tile_code"/>
          <p:cNvSpPr txBox="1"/>
          <p:nvPr/>
        </p:nvSpPr>
        <p:spPr>
          <a:xfrm>
            <a:off x="9223781" y="169164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2000" dirty="0"/>
          </a:p>
        </p:txBody>
      </p:sp>
      <p:sp>
        <p:nvSpPr>
          <p:cNvPr id="18" name="a4_tile_head"/>
          <p:cNvSpPr txBox="1"/>
          <p:nvPr/>
        </p:nvSpPr>
        <p:spPr>
          <a:xfrm>
            <a:off x="9223781" y="2331720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900" dirty="0"/>
          </a:p>
        </p:txBody>
      </p:sp>
      <p:sp>
        <p:nvSpPr>
          <p:cNvPr id="19" name="a4_tile_body"/>
          <p:cNvSpPr txBox="1"/>
          <p:nvPr/>
        </p:nvSpPr>
        <p:spPr>
          <a:xfrm>
            <a:off x="9223781" y="278892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in pixels. The height adjusts by itself.</a:t>
            </a:r>
            <a:endParaRPr lang="en-US" sz="1500" dirty="0"/>
          </a:p>
        </p:txBody>
      </p:sp>
      <p:sp>
        <p:nvSpPr>
          <p:cNvPr id="20" name="a5_code"/>
          <p:cNvSpPr/>
          <p:nvPr/>
        </p:nvSpPr>
        <p:spPr>
          <a:xfrm>
            <a:off x="548640" y="4297680"/>
            <a:ext cx="7498080" cy="1609344"/>
          </a:xfrm>
          <a:prstGeom prst="roundRect">
            <a:avLst>
              <a:gd name="adj" fmla="val 795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5_code_dot"/>
          <p:cNvSpPr/>
          <p:nvPr/>
        </p:nvSpPr>
        <p:spPr>
          <a:xfrm>
            <a:off x="804672" y="45171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a5_code_dot"/>
          <p:cNvSpPr/>
          <p:nvPr/>
        </p:nvSpPr>
        <p:spPr>
          <a:xfrm>
            <a:off x="1042416" y="45171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a5_code_dot"/>
          <p:cNvSpPr/>
          <p:nvPr/>
        </p:nvSpPr>
        <p:spPr>
          <a:xfrm>
            <a:off x="1280160" y="45171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a5_code_file"/>
          <p:cNvSpPr txBox="1"/>
          <p:nvPr/>
        </p:nvSpPr>
        <p:spPr>
          <a:xfrm>
            <a:off x="1645920" y="44439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5" name="a5_code_text"/>
          <p:cNvSpPr txBox="1"/>
          <p:nvPr/>
        </p:nvSpPr>
        <p:spPr>
          <a:xfrm>
            <a:off x="841248" y="4892040"/>
            <a:ext cx="7040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"pyramids.jpg"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Pyramids of Giza"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"300"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26" name="a6_result"/>
          <p:cNvSpPr/>
          <p:nvPr/>
        </p:nvSpPr>
        <p:spPr>
          <a:xfrm>
            <a:off x="8321040" y="4297680"/>
            <a:ext cx="3322015" cy="1609344"/>
          </a:xfrm>
          <a:prstGeom prst="roundRect">
            <a:avLst>
              <a:gd name="adj" fmla="val 7955"/>
            </a:avLst>
          </a:prstGeom>
          <a:solidFill>
            <a:schemeClr val="bg2"/>
          </a:solidFill>
          <a:ln/>
        </p:spPr>
      </p:sp>
      <p:sp>
        <p:nvSpPr>
          <p:cNvPr id="27" name="a6_result_label"/>
          <p:cNvSpPr txBox="1"/>
          <p:nvPr/>
        </p:nvSpPr>
        <p:spPr>
          <a:xfrm>
            <a:off x="85496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8" name="a6_img_sky"/>
          <p:cNvSpPr/>
          <p:nvPr/>
        </p:nvSpPr>
        <p:spPr>
          <a:xfrm>
            <a:off x="8686800" y="4754880"/>
            <a:ext cx="2194560" cy="9144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9" name="a6_img_p1"/>
          <p:cNvSpPr/>
          <p:nvPr/>
        </p:nvSpPr>
        <p:spPr>
          <a:xfrm>
            <a:off x="9144000" y="4983480"/>
            <a:ext cx="1005840" cy="68580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30" name="a6_img_p2"/>
          <p:cNvSpPr/>
          <p:nvPr/>
        </p:nvSpPr>
        <p:spPr>
          <a:xfrm>
            <a:off x="9784080" y="5120640"/>
            <a:ext cx="731520" cy="54864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31" name="a6_img_sun"/>
          <p:cNvSpPr/>
          <p:nvPr/>
        </p:nvSpPr>
        <p:spPr>
          <a:xfrm>
            <a:off x="10332720" y="4828032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is my file? Paths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4937760" cy="3108960"/>
          </a:xfrm>
          <a:prstGeom prst="roundRect">
            <a:avLst>
              <a:gd name="adj" fmla="val 41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my-site/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about.html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pyramids.jpg</a:t>
            </a:r>
            <a:endParaRPr lang="en-US" sz="2000" dirty="0"/>
          </a:p>
        </p:txBody>
      </p:sp>
      <p:sp>
        <p:nvSpPr>
          <p:cNvPr id="10" name="a3_chip"/>
          <p:cNvSpPr/>
          <p:nvPr/>
        </p:nvSpPr>
        <p:spPr>
          <a:xfrm>
            <a:off x="5760720" y="155448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1" name="a3_chip_text"/>
          <p:cNvSpPr txBox="1"/>
          <p:nvPr/>
        </p:nvSpPr>
        <p:spPr>
          <a:xfrm>
            <a:off x="576072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500" dirty="0"/>
          </a:p>
        </p:txBody>
      </p:sp>
      <p:sp>
        <p:nvSpPr>
          <p:cNvPr id="12" name="a3_chip_desc"/>
          <p:cNvSpPr txBox="1"/>
          <p:nvPr/>
        </p:nvSpPr>
        <p:spPr>
          <a:xfrm>
            <a:off x="8412480" y="155448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folder as this page</a:t>
            </a:r>
            <a:endParaRPr lang="en-US" sz="1800" dirty="0"/>
          </a:p>
        </p:txBody>
      </p:sp>
      <p:sp>
        <p:nvSpPr>
          <p:cNvPr id="13" name="a4_chip"/>
          <p:cNvSpPr/>
          <p:nvPr/>
        </p:nvSpPr>
        <p:spPr>
          <a:xfrm>
            <a:off x="5760720" y="2450592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a4_chip_text"/>
          <p:cNvSpPr txBox="1"/>
          <p:nvPr/>
        </p:nvSpPr>
        <p:spPr>
          <a:xfrm>
            <a:off x="5760720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images/pyramids.jpg</a:t>
            </a:r>
            <a:endParaRPr lang="en-US" sz="1500" dirty="0"/>
          </a:p>
        </p:txBody>
      </p:sp>
      <p:sp>
        <p:nvSpPr>
          <p:cNvPr id="15" name="a4_chip_desc"/>
          <p:cNvSpPr txBox="1"/>
          <p:nvPr/>
        </p:nvSpPr>
        <p:spPr>
          <a:xfrm>
            <a:off x="8412480" y="245059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into the images folder first</a:t>
            </a:r>
            <a:endParaRPr lang="en-US" sz="1800" dirty="0"/>
          </a:p>
        </p:txBody>
      </p:sp>
      <p:sp>
        <p:nvSpPr>
          <p:cNvPr id="16" name="a5_chip"/>
          <p:cNvSpPr/>
          <p:nvPr/>
        </p:nvSpPr>
        <p:spPr>
          <a:xfrm>
            <a:off x="5760720" y="3346704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7" name="a5_chip_text"/>
          <p:cNvSpPr txBox="1"/>
          <p:nvPr/>
        </p:nvSpPr>
        <p:spPr>
          <a:xfrm>
            <a:off x="5760720" y="33467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../index.html</a:t>
            </a:r>
            <a:endParaRPr lang="en-US" sz="1500" dirty="0"/>
          </a:p>
        </p:txBody>
      </p:sp>
      <p:sp>
        <p:nvSpPr>
          <p:cNvPr id="18" name="a5_chip_desc"/>
          <p:cNvSpPr txBox="1"/>
          <p:nvPr/>
        </p:nvSpPr>
        <p:spPr>
          <a:xfrm>
            <a:off x="8412480" y="3346704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up one folder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New tags in your toolbox</a:t>
            </a:r>
            <a:endParaRPr lang="en-US" sz="3600" dirty="0"/>
          </a:p>
        </p:txBody>
      </p:sp>
      <p:sp>
        <p:nvSpPr>
          <p:cNvPr id="4" name="a1_pill"/>
          <p:cNvSpPr/>
          <p:nvPr/>
        </p:nvSpPr>
        <p:spPr>
          <a:xfrm>
            <a:off x="548640" y="16002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5" name="a1_pill_text"/>
          <p:cNvSpPr txBox="1"/>
          <p:nvPr/>
        </p:nvSpPr>
        <p:spPr>
          <a:xfrm>
            <a:off x="548640" y="1600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800" dirty="0"/>
          </a:p>
        </p:txBody>
      </p:sp>
      <p:sp>
        <p:nvSpPr>
          <p:cNvPr id="6" name="a1_desc"/>
          <p:cNvSpPr txBox="1"/>
          <p:nvPr/>
        </p:nvSpPr>
        <p:spPr>
          <a:xfrm>
            <a:off x="2880360" y="15636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text (bold)</a:t>
            </a:r>
            <a:endParaRPr lang="en-US" sz="1800" dirty="0"/>
          </a:p>
        </p:txBody>
      </p:sp>
      <p:sp>
        <p:nvSpPr>
          <p:cNvPr id="7" name="a2_pill"/>
          <p:cNvSpPr/>
          <p:nvPr/>
        </p:nvSpPr>
        <p:spPr>
          <a:xfrm>
            <a:off x="548640" y="25146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8" name="a2_pill_text"/>
          <p:cNvSpPr txBox="1"/>
          <p:nvPr/>
        </p:nvSpPr>
        <p:spPr>
          <a:xfrm>
            <a:off x="548640" y="2514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800" dirty="0"/>
          </a:p>
        </p:txBody>
      </p:sp>
      <p:sp>
        <p:nvSpPr>
          <p:cNvPr id="9" name="a2_desc"/>
          <p:cNvSpPr txBox="1"/>
          <p:nvPr/>
        </p:nvSpPr>
        <p:spPr>
          <a:xfrm>
            <a:off x="2880360" y="24780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Emphasised text (italic)</a:t>
            </a:r>
            <a:endParaRPr lang="en-US" sz="1800" dirty="0"/>
          </a:p>
        </p:txBody>
      </p:sp>
      <p:sp>
        <p:nvSpPr>
          <p:cNvPr id="10" name="a3_pill"/>
          <p:cNvSpPr/>
          <p:nvPr/>
        </p:nvSpPr>
        <p:spPr>
          <a:xfrm>
            <a:off x="548640" y="34290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11" name="a3_pill_text"/>
          <p:cNvSpPr txBox="1"/>
          <p:nvPr/>
        </p:nvSpPr>
        <p:spPr>
          <a:xfrm>
            <a:off x="548640" y="3429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 &lt;hr&gt;</a:t>
            </a:r>
            <a:endParaRPr lang="en-US" sz="1800" dirty="0"/>
          </a:p>
        </p:txBody>
      </p:sp>
      <p:sp>
        <p:nvSpPr>
          <p:cNvPr id="12" name="a3_desc"/>
          <p:cNvSpPr txBox="1"/>
          <p:nvPr/>
        </p:nvSpPr>
        <p:spPr>
          <a:xfrm>
            <a:off x="2880360" y="33924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break, horizontal line</a:t>
            </a:r>
            <a:endParaRPr lang="en-US" sz="1800" dirty="0"/>
          </a:p>
        </p:txBody>
      </p:sp>
      <p:sp>
        <p:nvSpPr>
          <p:cNvPr id="13" name="a4_pill"/>
          <p:cNvSpPr/>
          <p:nvPr/>
        </p:nvSpPr>
        <p:spPr>
          <a:xfrm>
            <a:off x="548640" y="43434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14" name="a4_pill_text"/>
          <p:cNvSpPr txBox="1"/>
          <p:nvPr/>
        </p:nvSpPr>
        <p:spPr>
          <a:xfrm>
            <a:off x="548640" y="4343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&lt;ol&gt;</a:t>
            </a:r>
            <a:endParaRPr lang="en-US" sz="1800" dirty="0"/>
          </a:p>
        </p:txBody>
      </p:sp>
      <p:sp>
        <p:nvSpPr>
          <p:cNvPr id="15" name="a4_desc"/>
          <p:cNvSpPr txBox="1"/>
          <p:nvPr/>
        </p:nvSpPr>
        <p:spPr>
          <a:xfrm>
            <a:off x="2880360" y="43068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list, numbered list</a:t>
            </a:r>
            <a:endParaRPr lang="en-US" sz="1800" dirty="0"/>
          </a:p>
        </p:txBody>
      </p:sp>
      <p:sp>
        <p:nvSpPr>
          <p:cNvPr id="16" name="a5_pill"/>
          <p:cNvSpPr/>
          <p:nvPr/>
        </p:nvSpPr>
        <p:spPr>
          <a:xfrm>
            <a:off x="6278728" y="16002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7" name="a5_pill_text"/>
          <p:cNvSpPr txBox="1"/>
          <p:nvPr/>
        </p:nvSpPr>
        <p:spPr>
          <a:xfrm>
            <a:off x="6278728" y="1600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1800" dirty="0"/>
          </a:p>
        </p:txBody>
      </p:sp>
      <p:sp>
        <p:nvSpPr>
          <p:cNvPr id="18" name="a5_desc"/>
          <p:cNvSpPr txBox="1"/>
          <p:nvPr/>
        </p:nvSpPr>
        <p:spPr>
          <a:xfrm>
            <a:off x="8610448" y="15636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 inside a list</a:t>
            </a:r>
            <a:endParaRPr lang="en-US" sz="1800" dirty="0"/>
          </a:p>
        </p:txBody>
      </p:sp>
      <p:sp>
        <p:nvSpPr>
          <p:cNvPr id="19" name="a6_pill"/>
          <p:cNvSpPr/>
          <p:nvPr/>
        </p:nvSpPr>
        <p:spPr>
          <a:xfrm>
            <a:off x="6278728" y="25146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20" name="a6_pill_text"/>
          <p:cNvSpPr txBox="1"/>
          <p:nvPr/>
        </p:nvSpPr>
        <p:spPr>
          <a:xfrm>
            <a:off x="6278728" y="2514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href&gt;</a:t>
            </a:r>
            <a:endParaRPr lang="en-US" sz="1800" dirty="0"/>
          </a:p>
        </p:txBody>
      </p:sp>
      <p:sp>
        <p:nvSpPr>
          <p:cNvPr id="21" name="a6_desc"/>
          <p:cNvSpPr txBox="1"/>
          <p:nvPr/>
        </p:nvSpPr>
        <p:spPr>
          <a:xfrm>
            <a:off x="8610448" y="24780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to another page</a:t>
            </a:r>
            <a:endParaRPr lang="en-US" sz="1800" dirty="0"/>
          </a:p>
        </p:txBody>
      </p:sp>
      <p:sp>
        <p:nvSpPr>
          <p:cNvPr id="22" name="a7_pill"/>
          <p:cNvSpPr/>
          <p:nvPr/>
        </p:nvSpPr>
        <p:spPr>
          <a:xfrm>
            <a:off x="6278728" y="3429000"/>
            <a:ext cx="210312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23" name="a7_pill_text"/>
          <p:cNvSpPr txBox="1"/>
          <p:nvPr/>
        </p:nvSpPr>
        <p:spPr>
          <a:xfrm>
            <a:off x="6278728" y="3429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1800" dirty="0"/>
          </a:p>
        </p:txBody>
      </p:sp>
      <p:sp>
        <p:nvSpPr>
          <p:cNvPr id="24" name="a7_desc"/>
          <p:cNvSpPr txBox="1"/>
          <p:nvPr/>
        </p:nvSpPr>
        <p:spPr>
          <a:xfrm>
            <a:off x="8610448" y="3392424"/>
            <a:ext cx="303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(src and alt)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4" name="a1_ico_q_bg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1_ico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420624" cy="420624"/>
          </a:xfrm>
          <a:prstGeom prst="rect">
            <a:avLst/>
          </a:prstGeom>
        </p:spPr>
      </p:pic>
      <p:sp>
        <p:nvSpPr>
          <p:cNvPr id="6" name="a1_question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code correctly shows a picture of a cat?</a:t>
            </a:r>
            <a:endParaRPr lang="en-US" sz="2600" dirty="0"/>
          </a:p>
        </p:txBody>
      </p:sp>
      <p:sp>
        <p:nvSpPr>
          <p:cNvPr id="7" name="a2_opt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8" name="a2_ico_letter_bg"/>
          <p:cNvSpPr/>
          <p:nvPr/>
        </p:nvSpPr>
        <p:spPr>
          <a:xfrm>
            <a:off x="80467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2_ico_letter"/>
          <p:cNvSpPr txBox="1"/>
          <p:nvPr/>
        </p:nvSpPr>
        <p:spPr>
          <a:xfrm>
            <a:off x="804672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a2_opt_text"/>
          <p:cNvSpPr txBox="1"/>
          <p:nvPr/>
        </p:nvSpPr>
        <p:spPr>
          <a:xfrm>
            <a:off x="1645920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src="cat.jpg"&gt;</a:t>
            </a:r>
            <a:endParaRPr lang="en-US" sz="2000" dirty="0"/>
          </a:p>
        </p:txBody>
      </p:sp>
      <p:sp>
        <p:nvSpPr>
          <p:cNvPr id="11" name="a3_opt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2" name="a3_ico_letter_bg"/>
          <p:cNvSpPr/>
          <p:nvPr/>
        </p:nvSpPr>
        <p:spPr>
          <a:xfrm>
            <a:off x="6455664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a3_ico_letter"/>
          <p:cNvSpPr txBox="1"/>
          <p:nvPr/>
        </p:nvSpPr>
        <p:spPr>
          <a:xfrm>
            <a:off x="6455664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a3_opt_text"/>
          <p:cNvSpPr txBox="1"/>
          <p:nvPr/>
        </p:nvSpPr>
        <p:spPr>
          <a:xfrm>
            <a:off x="7296912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href="cat.jpg"&gt;</a:t>
            </a:r>
            <a:endParaRPr lang="en-US" sz="2000" dirty="0"/>
          </a:p>
        </p:txBody>
      </p:sp>
      <p:sp>
        <p:nvSpPr>
          <p:cNvPr id="15" name="a4_opt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6" name="a4_ico_letter_bg"/>
          <p:cNvSpPr/>
          <p:nvPr/>
        </p:nvSpPr>
        <p:spPr>
          <a:xfrm>
            <a:off x="804672" y="4389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a4_ico_letter"/>
          <p:cNvSpPr txBox="1"/>
          <p:nvPr/>
        </p:nvSpPr>
        <p:spPr>
          <a:xfrm>
            <a:off x="80467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a4_opt_text"/>
          <p:cNvSpPr txBox="1"/>
          <p:nvPr/>
        </p:nvSpPr>
        <p:spPr>
          <a:xfrm>
            <a:off x="164592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src="cat.jpg" alt="Cat"&gt;</a:t>
            </a:r>
            <a:endParaRPr lang="en-US" sz="2000" dirty="0"/>
          </a:p>
        </p:txBody>
      </p:sp>
      <p:sp>
        <p:nvSpPr>
          <p:cNvPr id="19" name="a5_opt"/>
          <p:cNvSpPr/>
          <p:nvPr/>
        </p:nvSpPr>
        <p:spPr>
          <a:xfrm>
            <a:off x="6199632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0" name="a5_ico_letter_bg"/>
          <p:cNvSpPr/>
          <p:nvPr/>
        </p:nvSpPr>
        <p:spPr>
          <a:xfrm>
            <a:off x="6455664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a5_ico_letter"/>
          <p:cNvSpPr txBox="1"/>
          <p:nvPr/>
        </p:nvSpPr>
        <p:spPr>
          <a:xfrm>
            <a:off x="645566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a5_opt_text"/>
          <p:cNvSpPr txBox="1"/>
          <p:nvPr/>
        </p:nvSpPr>
        <p:spPr>
          <a:xfrm>
            <a:off x="7296912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&lt;image src="cat.jpg"&gt;</a:t>
            </a:r>
            <a:endParaRPr lang="en-US" sz="2000" dirty="0"/>
          </a:p>
        </p:txBody>
      </p:sp>
      <p:sp>
        <p:nvSpPr>
          <p:cNvPr id="23" name="k1_answer_ring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accent5">
              <a:alpha val="0"/>
            </a:schemeClr>
          </a:solidFill>
          <a:ln w="63500">
            <a:solidFill>
              <a:schemeClr val="accent5"/>
            </a:solidFill>
            <a:prstDash val="solid"/>
          </a:ln>
        </p:spPr>
      </p:sp>
      <p:sp>
        <p:nvSpPr>
          <p:cNvPr id="24" name="k1_answer_ba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5" name="k1_answer_ic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26" name="k1_answer_text"/>
          <p:cNvSpPr txBox="1"/>
          <p:nvPr/>
        </p:nvSpPr>
        <p:spPr>
          <a:xfrm>
            <a:off x="1417320" y="54864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uses src for the file and alt to describe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Your turn: my favourite place in Egypt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h1 with the place: Siwa, Luxor, Dahab…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6746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6746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61975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paragraphs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on the key words.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69417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do there, with ul and li.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82346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823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76859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and link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img with alt, and a link to a website.</a:t>
            </a:r>
            <a:endParaRPr lang="en-US" sz="2100" dirty="0"/>
          </a:p>
        </p:txBody>
      </p:sp>
      <p:sp>
        <p:nvSpPr>
          <p:cNvPr id="16" name="a5_browser"/>
          <p:cNvSpPr/>
          <p:nvPr/>
        </p:nvSpPr>
        <p:spPr>
          <a:xfrm>
            <a:off x="6812280" y="1600200"/>
            <a:ext cx="4828032" cy="3383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a5_browser_bar"/>
          <p:cNvSpPr/>
          <p:nvPr/>
        </p:nvSpPr>
        <p:spPr>
          <a:xfrm>
            <a:off x="6812280" y="1600200"/>
            <a:ext cx="4828032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a5_browser_dot"/>
          <p:cNvSpPr/>
          <p:nvPr/>
        </p:nvSpPr>
        <p:spPr>
          <a:xfrm>
            <a:off x="7013448" y="174650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a5_browser_dot"/>
          <p:cNvSpPr/>
          <p:nvPr/>
        </p:nvSpPr>
        <p:spPr>
          <a:xfrm>
            <a:off x="7232904" y="174650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a5_browser_dot"/>
          <p:cNvSpPr/>
          <p:nvPr/>
        </p:nvSpPr>
        <p:spPr>
          <a:xfrm>
            <a:off x="7452360" y="174650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a5_browser_url"/>
          <p:cNvSpPr/>
          <p:nvPr/>
        </p:nvSpPr>
        <p:spPr>
          <a:xfrm>
            <a:off x="7772400" y="1673352"/>
            <a:ext cx="3593592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2" name="a5_browser_urltext"/>
          <p:cNvSpPr txBox="1"/>
          <p:nvPr/>
        </p:nvSpPr>
        <p:spPr>
          <a:xfrm>
            <a:off x="7909560" y="167335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luxor.html</a:t>
            </a:r>
            <a:endParaRPr lang="en-US" sz="1200" dirty="0"/>
          </a:p>
        </p:txBody>
      </p:sp>
      <p:sp>
        <p:nvSpPr>
          <p:cNvPr id="23" name="a5_browser_content"/>
          <p:cNvSpPr txBox="1"/>
          <p:nvPr/>
        </p:nvSpPr>
        <p:spPr>
          <a:xfrm>
            <a:off x="7132320" y="2221992"/>
            <a:ext cx="418795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Luxor</a:t>
            </a:r>
            <a:endParaRPr lang="en-US" sz="2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Luxor has the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of the Kings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do: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Karnak Temple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a felucca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local food</a:t>
            </a:r>
            <a:endParaRPr lang="en-US" sz="2800" dirty="0"/>
          </a:p>
        </p:txBody>
      </p:sp>
      <p:sp>
        <p:nvSpPr>
          <p:cNvPr id="24" name="a6_timer"/>
          <p:cNvSpPr/>
          <p:nvPr/>
        </p:nvSpPr>
        <p:spPr>
          <a:xfrm>
            <a:off x="6812280" y="5257800"/>
            <a:ext cx="4828032" cy="594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25" name="a6_timer_ic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5413248"/>
            <a:ext cx="274320" cy="274320"/>
          </a:xfrm>
          <a:prstGeom prst="rect">
            <a:avLst/>
          </a:prstGeom>
        </p:spPr>
      </p:pic>
      <p:sp>
        <p:nvSpPr>
          <p:cNvPr id="26" name="a6_timer_text"/>
          <p:cNvSpPr txBox="1"/>
          <p:nvPr/>
        </p:nvSpPr>
        <p:spPr>
          <a:xfrm>
            <a:off x="758952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4" name="a1_ico_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457200" cy="45720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234440" y="1600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em show importance and emphasis.</a:t>
            </a:r>
            <a:endParaRPr lang="en-US" sz="2000" dirty="0"/>
          </a:p>
        </p:txBody>
      </p:sp>
      <p:pic>
        <p:nvPicPr>
          <p:cNvPr id="6" name="a2_ico_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2888"/>
            <a:ext cx="457200" cy="457200"/>
          </a:xfrm>
          <a:prstGeom prst="rect">
            <a:avLst/>
          </a:prstGeom>
        </p:spPr>
      </p:pic>
      <p:sp>
        <p:nvSpPr>
          <p:cNvPr id="7" name="a2_text"/>
          <p:cNvSpPr txBox="1"/>
          <p:nvPr/>
        </p:nvSpPr>
        <p:spPr>
          <a:xfrm>
            <a:off x="1234440" y="2468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ul, ol and li build lists.</a:t>
            </a:r>
            <a:endParaRPr lang="en-US" sz="2000" dirty="0"/>
          </a:p>
        </p:txBody>
      </p:sp>
      <p:pic>
        <p:nvPicPr>
          <p:cNvPr id="8" name="a3_ico_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457200" cy="457200"/>
          </a:xfrm>
          <a:prstGeom prst="rect">
            <a:avLst/>
          </a:prstGeom>
        </p:spPr>
      </p:pic>
      <p:sp>
        <p:nvSpPr>
          <p:cNvPr id="9" name="a3_text"/>
          <p:cNvSpPr txBox="1"/>
          <p:nvPr/>
        </p:nvSpPr>
        <p:spPr>
          <a:xfrm>
            <a:off x="1234440" y="3337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with href makes a link.</a:t>
            </a:r>
            <a:endParaRPr lang="en-US" sz="2000" dirty="0"/>
          </a:p>
        </p:txBody>
      </p:sp>
      <p:pic>
        <p:nvPicPr>
          <p:cNvPr id="10" name="a4_ico_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0248"/>
            <a:ext cx="457200" cy="457200"/>
          </a:xfrm>
          <a:prstGeom prst="rect">
            <a:avLst/>
          </a:prstGeom>
        </p:spPr>
      </p:pic>
      <p:sp>
        <p:nvSpPr>
          <p:cNvPr id="11" name="a4_text"/>
          <p:cNvSpPr txBox="1"/>
          <p:nvPr/>
        </p:nvSpPr>
        <p:spPr>
          <a:xfrm>
            <a:off x="1234440" y="4206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needs src and alt.</a:t>
            </a:r>
            <a:endParaRPr lang="en-US" sz="2000" dirty="0"/>
          </a:p>
        </p:txBody>
      </p:sp>
      <p:pic>
        <p:nvPicPr>
          <p:cNvPr id="12" name="a5_ico_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38928"/>
            <a:ext cx="457200" cy="457200"/>
          </a:xfrm>
          <a:prstGeom prst="rect">
            <a:avLst/>
          </a:prstGeom>
        </p:spPr>
      </p:pic>
      <p:sp>
        <p:nvSpPr>
          <p:cNvPr id="13" name="a5_text"/>
          <p:cNvSpPr txBox="1"/>
          <p:nvPr/>
        </p:nvSpPr>
        <p:spPr>
          <a:xfrm>
            <a:off x="123444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tell the browser where files live.</a:t>
            </a:r>
            <a:endParaRPr lang="en-US" sz="2000" dirty="0"/>
          </a:p>
        </p:txBody>
      </p:sp>
      <p:sp>
        <p:nvSpPr>
          <p:cNvPr id="14" name="a6_hw"/>
          <p:cNvSpPr/>
          <p:nvPr/>
        </p:nvSpPr>
        <p:spPr>
          <a:xfrm>
            <a:off x="8229600" y="1600200"/>
            <a:ext cx="3410712" cy="4343400"/>
          </a:xfrm>
          <a:prstGeom prst="roundRect">
            <a:avLst>
              <a:gd name="adj" fmla="val 536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5" name="a6_ico_h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920240"/>
            <a:ext cx="731520" cy="731520"/>
          </a:xfrm>
          <a:prstGeom prst="rect">
            <a:avLst/>
          </a:prstGeom>
        </p:spPr>
      </p:pic>
      <p:sp>
        <p:nvSpPr>
          <p:cNvPr id="16" name="a6_hw_label"/>
          <p:cNvSpPr txBox="1"/>
          <p:nvPr/>
        </p:nvSpPr>
        <p:spPr>
          <a:xfrm>
            <a:off x="85953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17" name="a6_hw_text"/>
          <p:cNvSpPr txBox="1"/>
          <p:nvPr/>
        </p:nvSpPr>
        <p:spPr>
          <a:xfrm>
            <a:off x="8595360" y="3291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page to your site and link both pages to each other.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Nile Code">
  <a:themeElements>
    <a:clrScheme name="Nile Code">
      <a:dk1>
        <a:srgbClr val="0B1B2E"/>
      </a:dk1>
      <a:lt1>
        <a:srgbClr val="FFFFFF"/>
      </a:lt1>
      <a:dk2>
        <a:srgbClr val="0F5F5A"/>
      </a:dk2>
      <a:lt2>
        <a:srgbClr val="E8F0EF"/>
      </a:lt2>
      <a:accent1>
        <a:srgbClr val="14B8A6"/>
      </a:accent1>
      <a:accent2>
        <a:srgbClr val="F5B301"/>
      </a:accent2>
      <a:accent3>
        <a:srgbClr val="FF6B4A"/>
      </a:accent3>
      <a:accent4>
        <a:srgbClr val="8C92FF"/>
      </a:accent4>
      <a:accent5>
        <a:srgbClr val="4ADE80"/>
      </a:accent5>
      <a:accent6>
        <a:srgbClr val="38BDF8"/>
      </a:accent6>
      <a:hlink>
        <a:srgbClr val="0F5F5A"/>
      </a:hlink>
      <a:folHlink>
        <a:srgbClr val="8C92FF"/>
      </a:folHlink>
    </a:clrScheme>
    <a:fontScheme name="Nile Co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Fundamentals - Lesson 2: Text, Links &amp; Images</dc:title>
  <dc:subject>HTML for school students</dc:subject>
  <dc:creator>HTML Fundamentals Course</dc:creator>
  <cp:lastModifiedBy>HTML Fundamentals Course</cp:lastModifiedBy>
  <cp:revision>1</cp:revision>
  <dcterms:created xsi:type="dcterms:W3CDTF">2026-10-04T23:07:36Z</dcterms:created>
  <dcterms:modified xsi:type="dcterms:W3CDTF">2026-10-04T23:07:36Z</dcterms:modified>
</cp:coreProperties>
</file>