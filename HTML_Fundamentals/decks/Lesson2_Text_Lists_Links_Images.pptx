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e3291b1-242a-821c-5fde-d2fb3000d0e3}">
          <p14:sldIdLst>
            <p14:sldId id="256"/>
            <p14:sldId id="257"/>
            <p14:sldId id="258"/>
          </p14:sldIdLst>
        </p14:section>
        <p14:section name="Text &amp; lists" id="{538150f2-5026-f8df-6435-426f2cee9b14}">
          <p14:sldIdLst>
            <p14:sldId id="259"/>
            <p14:sldId id="260"/>
            <p14:sldId id="261"/>
          </p14:sldIdLst>
        </p14:section>
        <p14:section name="Links &amp; images" id="{c99e9da5-93b4-f908-5290-aae404f31595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Start by asking two students to show their homework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last lesson: we built the skeleton, now we fill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quick retrieval of last lesson's key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strong and em carry meaning (screen readers change their voice) while b and i are only looks.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list would you use for a recipe? For a shopping list?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word attribute: extra information inside the opening tag, written name="value".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 text is an accessibility rule: a blind student using a screen reader hears it. Ask what alt text they would write for a photo of the Nile.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folders on the board as boxes. A broken image is almost always a wrong path or a spelling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Revision slide. Cover the right side and ask students to explain each 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trap: students mix up href (links) and src (files that load into the page).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pick a place they have really visited. Pair students to review each other's alt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next lesson: tables and forms.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57400"/>
            <a:ext cx="75895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69494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931920" y="36118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Fundamentals  |  Lesson 2: Text, Links &amp; Images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Fundamentals  |  Lesson 2: Text, Links &amp; Images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ico_sun"/>
          <p:cNvSpPr/>
          <p:nvPr/>
        </p:nvSpPr>
        <p:spPr>
          <a:xfrm>
            <a:off x="9966960" y="822960"/>
            <a:ext cx="1371600" cy="1371600"/>
          </a:xfrm>
          <a:prstGeom prst="ellipse">
            <a:avLst/>
          </a:prstGeom>
          <a:solidFill>
            <a:schemeClr val="accent2">
              <a:alpha val="90000"/>
            </a:schemeClr>
          </a:solidFill>
          <a:ln/>
        </p:spPr>
      </p:sp>
      <p:sp>
        <p:nvSpPr>
          <p:cNvPr id="4" name="a5_halo"/>
          <p:cNvSpPr/>
          <p:nvPr/>
        </p:nvSpPr>
        <p:spPr>
          <a:xfrm>
            <a:off x="8595360" y="-1097280"/>
            <a:ext cx="4206240" cy="42062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5" name="a6_pyr1"/>
          <p:cNvSpPr/>
          <p:nvPr/>
        </p:nvSpPr>
        <p:spPr>
          <a:xfrm>
            <a:off x="7406640" y="4160520"/>
            <a:ext cx="2651760" cy="2240280"/>
          </a:xfrm>
          <a:prstGeom prst="triangle">
            <a:avLst/>
          </a:prstGeom>
          <a:solidFill>
            <a:schemeClr val="accent1">
              <a:alpha val="75000"/>
            </a:schemeClr>
          </a:solidFill>
          <a:ln/>
        </p:spPr>
      </p:sp>
      <p:sp>
        <p:nvSpPr>
          <p:cNvPr id="6" name="a6_pyr2"/>
          <p:cNvSpPr/>
          <p:nvPr/>
        </p:nvSpPr>
        <p:spPr>
          <a:xfrm>
            <a:off x="8869680" y="2743200"/>
            <a:ext cx="3017520" cy="3657600"/>
          </a:xfrm>
          <a:prstGeom prst="triangle">
            <a:avLst/>
          </a:prstGeom>
          <a:solidFill>
            <a:schemeClr val="accent2"/>
          </a:solidFill>
          <a:ln/>
        </p:spPr>
      </p:sp>
      <p:sp>
        <p:nvSpPr>
          <p:cNvPr id="7" name="a6_pyr3"/>
          <p:cNvSpPr/>
          <p:nvPr/>
        </p:nvSpPr>
        <p:spPr>
          <a:xfrm>
            <a:off x="10561320" y="4709160"/>
            <a:ext cx="1371600" cy="1691640"/>
          </a:xfrm>
          <a:prstGeom prst="triangle">
            <a:avLst/>
          </a:prstGeom>
          <a:solidFill>
            <a:schemeClr val="accent3">
              <a:alpha val="85000"/>
            </a:schemeClr>
          </a:solidFill>
          <a:ln/>
        </p:spPr>
      </p:sp>
      <p:sp>
        <p:nvSpPr>
          <p:cNvPr id="8" name="a1_pill"/>
          <p:cNvSpPr/>
          <p:nvPr/>
        </p:nvSpPr>
        <p:spPr>
          <a:xfrm>
            <a:off x="731520" y="1325880"/>
            <a:ext cx="22860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9" name="a1_pill_text"/>
          <p:cNvSpPr txBox="1"/>
          <p:nvPr/>
        </p:nvSpPr>
        <p:spPr>
          <a:xfrm>
            <a:off x="73152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</a:t>
            </a:r>
            <a:endParaRPr lang="en-US" sz="14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731520" y="205740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Text, Lists, Links &amp; Images</a:t>
            </a:r>
            <a:endParaRPr lang="en-US" sz="5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31520" y="40233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Bring your page to life with content</a:t>
            </a:r>
            <a:endParaRPr lang="en-US" sz="2200" dirty="0"/>
          </a:p>
        </p:txBody>
      </p:sp>
      <p:sp>
        <p:nvSpPr>
          <p:cNvPr id="12" name="a4_ar"/>
          <p:cNvSpPr txBox="1"/>
          <p:nvPr/>
        </p:nvSpPr>
        <p:spPr>
          <a:xfrm>
            <a:off x="731520" y="49834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2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الدرس الثاني: النصوص والقوائم والروابط والصور</a:t>
            </a:r>
            <a:endParaRPr lang="ar-EG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rippl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By the end of this lesson you will…</a:t>
            </a:r>
            <a:endParaRPr lang="en-US" sz="3600" dirty="0"/>
          </a:p>
        </p:txBody>
      </p:sp>
      <p:sp>
        <p:nvSpPr>
          <p:cNvPr id="4" name="a1_ico_bg"/>
          <p:cNvSpPr/>
          <p:nvPr/>
        </p:nvSpPr>
        <p:spPr>
          <a:xfrm>
            <a:off x="548640" y="16002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95" y="1810055"/>
            <a:ext cx="357530" cy="357530"/>
          </a:xfrm>
          <a:prstGeom prst="rect">
            <a:avLst/>
          </a:prstGeom>
        </p:spPr>
      </p:pic>
      <p:sp>
        <p:nvSpPr>
          <p:cNvPr id="6" name="a1_text"/>
          <p:cNvSpPr txBox="1"/>
          <p:nvPr/>
        </p:nvSpPr>
        <p:spPr>
          <a:xfrm>
            <a:off x="1600200" y="16002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text bold or italic to show importance</a:t>
            </a:r>
            <a:endParaRPr lang="en-US" sz="2200" dirty="0"/>
          </a:p>
        </p:txBody>
      </p:sp>
      <p:sp>
        <p:nvSpPr>
          <p:cNvPr id="7" name="a2_ico_bg"/>
          <p:cNvSpPr/>
          <p:nvPr/>
        </p:nvSpPr>
        <p:spPr>
          <a:xfrm>
            <a:off x="548640" y="2679192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95" y="2889047"/>
            <a:ext cx="357530" cy="357530"/>
          </a:xfrm>
          <a:prstGeom prst="rect">
            <a:avLst/>
          </a:prstGeom>
        </p:spPr>
      </p:pic>
      <p:sp>
        <p:nvSpPr>
          <p:cNvPr id="9" name="a2_text"/>
          <p:cNvSpPr txBox="1"/>
          <p:nvPr/>
        </p:nvSpPr>
        <p:spPr>
          <a:xfrm>
            <a:off x="1600200" y="2679192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bulleted and numbered lists</a:t>
            </a:r>
            <a:endParaRPr lang="en-US" sz="2200" dirty="0"/>
          </a:p>
        </p:txBody>
      </p:sp>
      <p:sp>
        <p:nvSpPr>
          <p:cNvPr id="10" name="a3_ico_bg"/>
          <p:cNvSpPr/>
          <p:nvPr/>
        </p:nvSpPr>
        <p:spPr>
          <a:xfrm>
            <a:off x="548640" y="3758184"/>
            <a:ext cx="777240" cy="7772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95" y="3968039"/>
            <a:ext cx="357530" cy="357530"/>
          </a:xfrm>
          <a:prstGeom prst="rect">
            <a:avLst/>
          </a:prstGeom>
        </p:spPr>
      </p:pic>
      <p:sp>
        <p:nvSpPr>
          <p:cNvPr id="12" name="a3_text"/>
          <p:cNvSpPr txBox="1"/>
          <p:nvPr/>
        </p:nvSpPr>
        <p:spPr>
          <a:xfrm>
            <a:off x="1600200" y="3758184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one page to another</a:t>
            </a:r>
            <a:endParaRPr lang="en-US" sz="2200" dirty="0"/>
          </a:p>
        </p:txBody>
      </p:sp>
      <p:sp>
        <p:nvSpPr>
          <p:cNvPr id="13" name="a4_ico_bg"/>
          <p:cNvSpPr/>
          <p:nvPr/>
        </p:nvSpPr>
        <p:spPr>
          <a:xfrm>
            <a:off x="548640" y="4837176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95" y="5047031"/>
            <a:ext cx="357530" cy="357530"/>
          </a:xfrm>
          <a:prstGeom prst="rect">
            <a:avLst/>
          </a:prstGeom>
        </p:spPr>
      </p:pic>
      <p:sp>
        <p:nvSpPr>
          <p:cNvPr id="15" name="a4_text"/>
          <p:cNvSpPr txBox="1"/>
          <p:nvPr/>
        </p:nvSpPr>
        <p:spPr>
          <a:xfrm>
            <a:off x="1600200" y="4837176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pictures with helpful descriptions</a:t>
            </a:r>
            <a:endParaRPr lang="en-US" sz="2200" dirty="0"/>
          </a:p>
        </p:txBody>
      </p:sp>
      <p:sp>
        <p:nvSpPr>
          <p:cNvPr id="16" name="a5_panel"/>
          <p:cNvSpPr/>
          <p:nvPr/>
        </p:nvSpPr>
        <p:spPr>
          <a:xfrm>
            <a:off x="8503920" y="1600200"/>
            <a:ext cx="3136392" cy="4251960"/>
          </a:xfrm>
          <a:prstGeom prst="roundRect">
            <a:avLst>
              <a:gd name="adj" fmla="val 58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pic>
        <p:nvPicPr>
          <p:cNvPr id="17" name="a5_ico_pane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57400"/>
            <a:ext cx="914400" cy="914400"/>
          </a:xfrm>
          <a:prstGeom prst="rect">
            <a:avLst/>
          </a:prstGeom>
        </p:spPr>
      </p:pic>
      <p:sp>
        <p:nvSpPr>
          <p:cNvPr id="18" name="a5_panel_label"/>
          <p:cNvSpPr txBox="1"/>
          <p:nvPr/>
        </p:nvSpPr>
        <p:spPr>
          <a:xfrm>
            <a:off x="8823960" y="32461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GOAL</a:t>
            </a:r>
            <a:endParaRPr lang="en-US" sz="1400" dirty="0"/>
          </a:p>
        </p:txBody>
      </p:sp>
      <p:sp>
        <p:nvSpPr>
          <p:cNvPr id="19" name="a5_panel_text"/>
          <p:cNvSpPr txBox="1"/>
          <p:nvPr/>
        </p:nvSpPr>
        <p:spPr>
          <a:xfrm>
            <a:off x="8823960" y="3657600"/>
            <a:ext cx="24963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about your favourite place in Egypt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quiz</a:t>
            </a:r>
            <a:endParaRPr lang="en-US" sz="3600" dirty="0"/>
          </a:p>
        </p:txBody>
      </p:sp>
      <p:sp>
        <p:nvSpPr>
          <p:cNvPr id="4" name="a1_ico_q_bg"/>
          <p:cNvSpPr/>
          <p:nvPr/>
        </p:nvSpPr>
        <p:spPr>
          <a:xfrm>
            <a:off x="548640" y="15544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a1_ico_q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09928"/>
            <a:ext cx="420624" cy="420624"/>
          </a:xfrm>
          <a:prstGeom prst="rect">
            <a:avLst/>
          </a:prstGeom>
        </p:spPr>
      </p:pic>
      <p:sp>
        <p:nvSpPr>
          <p:cNvPr id="6" name="a1_question"/>
          <p:cNvSpPr txBox="1"/>
          <p:nvPr/>
        </p:nvSpPr>
        <p:spPr>
          <a:xfrm>
            <a:off x="1554480" y="1463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what is wrong with  &lt;p&gt;Hello Egypt&lt;p&gt;  ?</a:t>
            </a:r>
            <a:endParaRPr lang="en-US" sz="2600" dirty="0"/>
          </a:p>
        </p:txBody>
      </p:sp>
      <p:sp>
        <p:nvSpPr>
          <p:cNvPr id="7" name="a2_opt"/>
          <p:cNvSpPr/>
          <p:nvPr/>
        </p:nvSpPr>
        <p:spPr>
          <a:xfrm>
            <a:off x="548640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8" name="a2_ico_letter_bg"/>
          <p:cNvSpPr/>
          <p:nvPr/>
        </p:nvSpPr>
        <p:spPr>
          <a:xfrm>
            <a:off x="804672" y="2971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a2_ico_letter"/>
          <p:cNvSpPr txBox="1"/>
          <p:nvPr/>
        </p:nvSpPr>
        <p:spPr>
          <a:xfrm>
            <a:off x="804672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0" name="a2_opt_text"/>
          <p:cNvSpPr txBox="1"/>
          <p:nvPr/>
        </p:nvSpPr>
        <p:spPr>
          <a:xfrm>
            <a:off x="1645920" y="269748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tag is missing its slash</a:t>
            </a:r>
            <a:endParaRPr lang="en-US" sz="2200" dirty="0"/>
          </a:p>
        </p:txBody>
      </p:sp>
      <p:sp>
        <p:nvSpPr>
          <p:cNvPr id="11" name="a3_opt"/>
          <p:cNvSpPr/>
          <p:nvPr/>
        </p:nvSpPr>
        <p:spPr>
          <a:xfrm>
            <a:off x="6199632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2" name="a3_ico_letter_bg"/>
          <p:cNvSpPr/>
          <p:nvPr/>
        </p:nvSpPr>
        <p:spPr>
          <a:xfrm>
            <a:off x="6455664" y="2971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a3_ico_letter"/>
          <p:cNvSpPr txBox="1"/>
          <p:nvPr/>
        </p:nvSpPr>
        <p:spPr>
          <a:xfrm>
            <a:off x="6455664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4" name="a3_opt_text"/>
          <p:cNvSpPr txBox="1"/>
          <p:nvPr/>
        </p:nvSpPr>
        <p:spPr>
          <a:xfrm>
            <a:off x="7296912" y="269748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is not a real tag</a:t>
            </a:r>
            <a:endParaRPr lang="en-US" sz="2200" dirty="0"/>
          </a:p>
        </p:txBody>
      </p:sp>
      <p:sp>
        <p:nvSpPr>
          <p:cNvPr id="15" name="a4_opt"/>
          <p:cNvSpPr/>
          <p:nvPr/>
        </p:nvSpPr>
        <p:spPr>
          <a:xfrm>
            <a:off x="548640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6" name="a4_ico_letter_bg"/>
          <p:cNvSpPr/>
          <p:nvPr/>
        </p:nvSpPr>
        <p:spPr>
          <a:xfrm>
            <a:off x="804672" y="43891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7" name="a4_ico_letter"/>
          <p:cNvSpPr txBox="1"/>
          <p:nvPr/>
        </p:nvSpPr>
        <p:spPr>
          <a:xfrm>
            <a:off x="80467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18" name="a4_opt_text"/>
          <p:cNvSpPr txBox="1"/>
          <p:nvPr/>
        </p:nvSpPr>
        <p:spPr>
          <a:xfrm>
            <a:off x="1645920" y="41148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needs an h1 first</a:t>
            </a:r>
            <a:endParaRPr lang="en-US" sz="2200" dirty="0"/>
          </a:p>
        </p:txBody>
      </p:sp>
      <p:sp>
        <p:nvSpPr>
          <p:cNvPr id="19" name="a5_opt"/>
          <p:cNvSpPr/>
          <p:nvPr/>
        </p:nvSpPr>
        <p:spPr>
          <a:xfrm>
            <a:off x="6199632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20" name="a5_ico_letter_bg"/>
          <p:cNvSpPr/>
          <p:nvPr/>
        </p:nvSpPr>
        <p:spPr>
          <a:xfrm>
            <a:off x="6455664" y="43891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a5_ico_letter"/>
          <p:cNvSpPr txBox="1"/>
          <p:nvPr/>
        </p:nvSpPr>
        <p:spPr>
          <a:xfrm>
            <a:off x="645566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22" name="a5_opt_text"/>
          <p:cNvSpPr txBox="1"/>
          <p:nvPr/>
        </p:nvSpPr>
        <p:spPr>
          <a:xfrm>
            <a:off x="7296912" y="41148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wrong</a:t>
            </a:r>
            <a:endParaRPr lang="en-US" sz="2200" dirty="0"/>
          </a:p>
        </p:txBody>
      </p:sp>
      <p:sp>
        <p:nvSpPr>
          <p:cNvPr id="23" name="k1_answer_ring"/>
          <p:cNvSpPr/>
          <p:nvPr/>
        </p:nvSpPr>
        <p:spPr>
          <a:xfrm>
            <a:off x="548640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accent5">
              <a:alpha val="0"/>
            </a:schemeClr>
          </a:solidFill>
          <a:ln w="63500">
            <a:solidFill>
              <a:schemeClr val="accent5"/>
            </a:solidFill>
            <a:prstDash val="solid"/>
          </a:ln>
        </p:spPr>
      </p:sp>
      <p:sp>
        <p:nvSpPr>
          <p:cNvPr id="24" name="k1_answer_bar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pic>
        <p:nvPicPr>
          <p:cNvPr id="25" name="k1_answer_ic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669280"/>
            <a:ext cx="365760" cy="365760"/>
          </a:xfrm>
          <a:prstGeom prst="rect">
            <a:avLst/>
          </a:prstGeom>
        </p:spPr>
      </p:pic>
      <p:sp>
        <p:nvSpPr>
          <p:cNvPr id="26" name="k1_answer_text"/>
          <p:cNvSpPr txBox="1"/>
          <p:nvPr/>
        </p:nvSpPr>
        <p:spPr>
          <a:xfrm>
            <a:off x="1417320" y="548640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A.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tag must be &lt;/p&gt;, with a slash.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5_halo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3" name="a5_halo2"/>
          <p:cNvSpPr/>
          <p:nvPr/>
        </p:nvSpPr>
        <p:spPr>
          <a:xfrm>
            <a:off x="9875520" y="-1280160"/>
            <a:ext cx="3474720" cy="347472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4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Text &amp; lists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39319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Show what matters and organise ideas</a:t>
            </a:r>
            <a:endParaRPr lang="en-US" sz="2200" dirty="0"/>
          </a:p>
        </p:txBody>
      </p:sp>
      <p:sp>
        <p:nvSpPr>
          <p:cNvPr id="7" name="a4_ar"/>
          <p:cNvSpPr txBox="1"/>
          <p:nvPr/>
        </p:nvSpPr>
        <p:spPr>
          <a:xfrm>
            <a:off x="3931920" y="43434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24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تنسيق النصوص والقوائم</a:t>
            </a:r>
            <a:endParaRPr lang="ar-EG" sz="2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Make words stand out</a:t>
            </a:r>
            <a:endParaRPr lang="en-US" sz="3600" dirty="0"/>
          </a:p>
        </p:txBody>
      </p:sp>
      <p:sp>
        <p:nvSpPr>
          <p:cNvPr id="4" name="a1_code"/>
          <p:cNvSpPr/>
          <p:nvPr/>
        </p:nvSpPr>
        <p:spPr>
          <a:xfrm>
            <a:off x="548640" y="1554480"/>
            <a:ext cx="6309360" cy="2377440"/>
          </a:xfrm>
          <a:prstGeom prst="roundRect">
            <a:avLst>
              <a:gd name="adj" fmla="val 5385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code_dot"/>
          <p:cNvSpPr/>
          <p:nvPr/>
        </p:nvSpPr>
        <p:spPr>
          <a:xfrm>
            <a:off x="804672" y="17739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code_dot"/>
          <p:cNvSpPr/>
          <p:nvPr/>
        </p:nvSpPr>
        <p:spPr>
          <a:xfrm>
            <a:off x="1042416" y="17739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a1_code_dot"/>
          <p:cNvSpPr/>
          <p:nvPr/>
        </p:nvSpPr>
        <p:spPr>
          <a:xfrm>
            <a:off x="1280160" y="17739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file"/>
          <p:cNvSpPr txBox="1"/>
          <p:nvPr/>
        </p:nvSpPr>
        <p:spPr>
          <a:xfrm>
            <a:off x="1645920" y="17007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text.html</a:t>
            </a:r>
            <a:endParaRPr lang="en-US" sz="1300" dirty="0"/>
          </a:p>
        </p:txBody>
      </p:sp>
      <p:sp>
        <p:nvSpPr>
          <p:cNvPr id="9" name="a1_code_text"/>
          <p:cNvSpPr txBox="1"/>
          <p:nvPr/>
        </p:nvSpPr>
        <p:spPr>
          <a:xfrm>
            <a:off x="841248" y="2148840"/>
            <a:ext cx="5852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Egypt is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&lt;strong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very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&lt;/strong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old.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is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&lt;em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really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&lt;/em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beautiful.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one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&lt;br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two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&lt;hr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part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</p:txBody>
      </p:sp>
      <p:sp>
        <p:nvSpPr>
          <p:cNvPr id="10" name="a2_browser"/>
          <p:cNvSpPr/>
          <p:nvPr/>
        </p:nvSpPr>
        <p:spPr>
          <a:xfrm>
            <a:off x="7132320" y="1554480"/>
            <a:ext cx="4510735" cy="23774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1" name="a2_browser_bar"/>
          <p:cNvSpPr/>
          <p:nvPr/>
        </p:nvSpPr>
        <p:spPr>
          <a:xfrm>
            <a:off x="7132320" y="1554480"/>
            <a:ext cx="4510735" cy="420624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a2_browser_dot"/>
          <p:cNvSpPr/>
          <p:nvPr/>
        </p:nvSpPr>
        <p:spPr>
          <a:xfrm>
            <a:off x="7333488" y="1700784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a2_browser_dot"/>
          <p:cNvSpPr/>
          <p:nvPr/>
        </p:nvSpPr>
        <p:spPr>
          <a:xfrm>
            <a:off x="7552944" y="1700784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a2_browser_dot"/>
          <p:cNvSpPr/>
          <p:nvPr/>
        </p:nvSpPr>
        <p:spPr>
          <a:xfrm>
            <a:off x="7772400" y="1700784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a2_browser_url"/>
          <p:cNvSpPr/>
          <p:nvPr/>
        </p:nvSpPr>
        <p:spPr>
          <a:xfrm>
            <a:off x="8092440" y="1627632"/>
            <a:ext cx="327629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16" name="a2_browser_urltext"/>
          <p:cNvSpPr txBox="1"/>
          <p:nvPr/>
        </p:nvSpPr>
        <p:spPr>
          <a:xfrm>
            <a:off x="8229600" y="1627632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text.html</a:t>
            </a:r>
            <a:endParaRPr lang="en-US" sz="1200" dirty="0"/>
          </a:p>
        </p:txBody>
      </p:sp>
      <p:sp>
        <p:nvSpPr>
          <p:cNvPr id="17" name="a2_browser_content"/>
          <p:cNvSpPr txBox="1"/>
          <p:nvPr/>
        </p:nvSpPr>
        <p:spPr>
          <a:xfrm>
            <a:off x="7452360" y="2176272"/>
            <a:ext cx="3870655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 is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really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beautiful.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one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two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part</a:t>
            </a:r>
            <a:endParaRPr lang="en-US" sz="1600" dirty="0"/>
          </a:p>
        </p:txBody>
      </p:sp>
      <p:sp>
        <p:nvSpPr>
          <p:cNvPr id="18" name="a3_chip"/>
          <p:cNvSpPr/>
          <p:nvPr/>
        </p:nvSpPr>
        <p:spPr>
          <a:xfrm>
            <a:off x="7132320" y="4206240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9" name="a3_chip_text"/>
          <p:cNvSpPr txBox="1"/>
          <p:nvPr/>
        </p:nvSpPr>
        <p:spPr>
          <a:xfrm>
            <a:off x="71323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&lt;strong&gt;</a:t>
            </a:r>
            <a:endParaRPr lang="en-US" sz="1500" dirty="0"/>
          </a:p>
        </p:txBody>
      </p:sp>
      <p:sp>
        <p:nvSpPr>
          <p:cNvPr id="20" name="a3_chip_desc"/>
          <p:cNvSpPr txBox="1"/>
          <p:nvPr/>
        </p:nvSpPr>
        <p:spPr>
          <a:xfrm>
            <a:off x="8869680" y="4206240"/>
            <a:ext cx="2773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Bold: this is important</a:t>
            </a:r>
            <a:endParaRPr lang="en-US" sz="1600" dirty="0"/>
          </a:p>
        </p:txBody>
      </p:sp>
      <p:sp>
        <p:nvSpPr>
          <p:cNvPr id="21" name="a4_chip"/>
          <p:cNvSpPr/>
          <p:nvPr/>
        </p:nvSpPr>
        <p:spPr>
          <a:xfrm>
            <a:off x="7132320" y="4864608"/>
            <a:ext cx="155448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22" name="a4_chip_text"/>
          <p:cNvSpPr txBox="1"/>
          <p:nvPr/>
        </p:nvSpPr>
        <p:spPr>
          <a:xfrm>
            <a:off x="7132320" y="48646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&lt;em&gt;</a:t>
            </a:r>
            <a:endParaRPr lang="en-US" sz="1500" dirty="0"/>
          </a:p>
        </p:txBody>
      </p:sp>
      <p:sp>
        <p:nvSpPr>
          <p:cNvPr id="23" name="a4_chip_desc"/>
          <p:cNvSpPr txBox="1"/>
          <p:nvPr/>
        </p:nvSpPr>
        <p:spPr>
          <a:xfrm>
            <a:off x="8869680" y="4864608"/>
            <a:ext cx="2773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Italic: emphasis</a:t>
            </a:r>
            <a:endParaRPr lang="en-US" sz="1600" dirty="0"/>
          </a:p>
        </p:txBody>
      </p:sp>
      <p:sp>
        <p:nvSpPr>
          <p:cNvPr id="24" name="a5_chip"/>
          <p:cNvSpPr/>
          <p:nvPr/>
        </p:nvSpPr>
        <p:spPr>
          <a:xfrm>
            <a:off x="7132320" y="5522976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5B301"/>
          </a:solidFill>
          <a:ln/>
        </p:spPr>
      </p:sp>
      <p:sp>
        <p:nvSpPr>
          <p:cNvPr id="25" name="a5_chip_text"/>
          <p:cNvSpPr txBox="1"/>
          <p:nvPr/>
        </p:nvSpPr>
        <p:spPr>
          <a:xfrm>
            <a:off x="7132320" y="55229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&lt;br&gt; &lt;hr&gt;</a:t>
            </a:r>
            <a:endParaRPr lang="en-US" sz="1500" dirty="0"/>
          </a:p>
        </p:txBody>
      </p:sp>
      <p:sp>
        <p:nvSpPr>
          <p:cNvPr id="26" name="a5_chip_desc"/>
          <p:cNvSpPr txBox="1"/>
          <p:nvPr/>
        </p:nvSpPr>
        <p:spPr>
          <a:xfrm>
            <a:off x="8869680" y="5522976"/>
            <a:ext cx="2773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line and a line across. No closing tag!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Lists: bullets and numbers</a:t>
            </a:r>
            <a:endParaRPr lang="en-US" sz="3600" dirty="0"/>
          </a:p>
        </p:txBody>
      </p:sp>
      <p:sp>
        <p:nvSpPr>
          <p:cNvPr id="4" name="a1_code"/>
          <p:cNvSpPr/>
          <p:nvPr/>
        </p:nvSpPr>
        <p:spPr>
          <a:xfrm>
            <a:off x="548640" y="1554480"/>
            <a:ext cx="5852160" cy="3291840"/>
          </a:xfrm>
          <a:prstGeom prst="roundRect">
            <a:avLst>
              <a:gd name="adj" fmla="val 388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code_dot"/>
          <p:cNvSpPr/>
          <p:nvPr/>
        </p:nvSpPr>
        <p:spPr>
          <a:xfrm>
            <a:off x="804672" y="17739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code_dot"/>
          <p:cNvSpPr/>
          <p:nvPr/>
        </p:nvSpPr>
        <p:spPr>
          <a:xfrm>
            <a:off x="1042416" y="17739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a1_code_dot"/>
          <p:cNvSpPr/>
          <p:nvPr/>
        </p:nvSpPr>
        <p:spPr>
          <a:xfrm>
            <a:off x="1280160" y="17739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file"/>
          <p:cNvSpPr txBox="1"/>
          <p:nvPr/>
        </p:nvSpPr>
        <p:spPr>
          <a:xfrm>
            <a:off x="1645920" y="17007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lists.html</a:t>
            </a:r>
            <a:endParaRPr lang="en-US" sz="1300" dirty="0"/>
          </a:p>
        </p:txBody>
      </p:sp>
      <p:sp>
        <p:nvSpPr>
          <p:cNvPr id="9" name="a1_code_text"/>
          <p:cNvSpPr txBox="1"/>
          <p:nvPr/>
        </p:nvSpPr>
        <p:spPr>
          <a:xfrm>
            <a:off x="841248" y="2148840"/>
            <a:ext cx="5394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Koshary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&lt;/li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&lt;/li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&lt;/ul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&lt;ol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Boil water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&lt;/li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tea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&lt;/li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&lt;/ol</a:t>
            </a:r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800" dirty="0"/>
          </a:p>
        </p:txBody>
      </p:sp>
      <p:sp>
        <p:nvSpPr>
          <p:cNvPr id="10" name="a2_browser"/>
          <p:cNvSpPr/>
          <p:nvPr/>
        </p:nvSpPr>
        <p:spPr>
          <a:xfrm>
            <a:off x="6675120" y="1554480"/>
            <a:ext cx="4967935" cy="24688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1" name="a2_browser_bar"/>
          <p:cNvSpPr/>
          <p:nvPr/>
        </p:nvSpPr>
        <p:spPr>
          <a:xfrm>
            <a:off x="6675120" y="1554480"/>
            <a:ext cx="4967935" cy="420624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a2_browser_dot"/>
          <p:cNvSpPr/>
          <p:nvPr/>
        </p:nvSpPr>
        <p:spPr>
          <a:xfrm>
            <a:off x="6876288" y="1700784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a2_browser_dot"/>
          <p:cNvSpPr/>
          <p:nvPr/>
        </p:nvSpPr>
        <p:spPr>
          <a:xfrm>
            <a:off x="7095744" y="1700784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a2_browser_dot"/>
          <p:cNvSpPr/>
          <p:nvPr/>
        </p:nvSpPr>
        <p:spPr>
          <a:xfrm>
            <a:off x="7315200" y="1700784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a2_browser_url"/>
          <p:cNvSpPr/>
          <p:nvPr/>
        </p:nvSpPr>
        <p:spPr>
          <a:xfrm>
            <a:off x="7635240" y="1627632"/>
            <a:ext cx="373349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16" name="a2_browser_urltext"/>
          <p:cNvSpPr txBox="1"/>
          <p:nvPr/>
        </p:nvSpPr>
        <p:spPr>
          <a:xfrm>
            <a:off x="7772400" y="162763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lists.html</a:t>
            </a:r>
            <a:endParaRPr lang="en-US" sz="1200" dirty="0"/>
          </a:p>
        </p:txBody>
      </p:sp>
      <p:sp>
        <p:nvSpPr>
          <p:cNvPr id="17" name="a2_browser_content"/>
          <p:cNvSpPr txBox="1"/>
          <p:nvPr/>
        </p:nvSpPr>
        <p:spPr>
          <a:xfrm>
            <a:off x="6995160" y="2176272"/>
            <a:ext cx="4327855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Koshary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</a:t>
            </a:r>
            <a:endParaRPr lang="en-US" sz="16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 water</a:t>
            </a:r>
            <a:endParaRPr lang="en-US" sz="16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tea</a:t>
            </a:r>
            <a:endParaRPr lang="en-US" sz="1600" dirty="0"/>
          </a:p>
        </p:txBody>
      </p:sp>
      <p:sp>
        <p:nvSpPr>
          <p:cNvPr id="18" name="a3_chip"/>
          <p:cNvSpPr/>
          <p:nvPr/>
        </p:nvSpPr>
        <p:spPr>
          <a:xfrm>
            <a:off x="6675120" y="4297680"/>
            <a:ext cx="109728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9" name="a3_chip_text"/>
          <p:cNvSpPr txBox="1"/>
          <p:nvPr/>
        </p:nvSpPr>
        <p:spPr>
          <a:xfrm>
            <a:off x="6675120" y="42976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</a:t>
            </a:r>
            <a:endParaRPr lang="en-US" sz="1500" dirty="0"/>
          </a:p>
        </p:txBody>
      </p:sp>
      <p:sp>
        <p:nvSpPr>
          <p:cNvPr id="20" name="a3_chip_desc"/>
          <p:cNvSpPr txBox="1"/>
          <p:nvPr/>
        </p:nvSpPr>
        <p:spPr>
          <a:xfrm>
            <a:off x="7955280" y="4297680"/>
            <a:ext cx="3687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Unordered list (bullets)</a:t>
            </a:r>
            <a:endParaRPr lang="en-US" sz="1600" dirty="0"/>
          </a:p>
        </p:txBody>
      </p:sp>
      <p:sp>
        <p:nvSpPr>
          <p:cNvPr id="21" name="a4_chip"/>
          <p:cNvSpPr/>
          <p:nvPr/>
        </p:nvSpPr>
        <p:spPr>
          <a:xfrm>
            <a:off x="6675120" y="4956048"/>
            <a:ext cx="109728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22" name="a4_chip_text"/>
          <p:cNvSpPr txBox="1"/>
          <p:nvPr/>
        </p:nvSpPr>
        <p:spPr>
          <a:xfrm>
            <a:off x="6675120" y="495604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&lt;ol&gt;</a:t>
            </a:r>
            <a:endParaRPr lang="en-US" sz="1500" dirty="0"/>
          </a:p>
        </p:txBody>
      </p:sp>
      <p:sp>
        <p:nvSpPr>
          <p:cNvPr id="23" name="a4_chip_desc"/>
          <p:cNvSpPr txBox="1"/>
          <p:nvPr/>
        </p:nvSpPr>
        <p:spPr>
          <a:xfrm>
            <a:off x="7955280" y="4956048"/>
            <a:ext cx="3687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list (numbers)</a:t>
            </a:r>
            <a:endParaRPr lang="en-US" sz="1600" dirty="0"/>
          </a:p>
        </p:txBody>
      </p:sp>
      <p:sp>
        <p:nvSpPr>
          <p:cNvPr id="24" name="a5_chip"/>
          <p:cNvSpPr/>
          <p:nvPr/>
        </p:nvSpPr>
        <p:spPr>
          <a:xfrm>
            <a:off x="6675120" y="5614416"/>
            <a:ext cx="109728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25" name="a5_chip_text"/>
          <p:cNvSpPr txBox="1"/>
          <p:nvPr/>
        </p:nvSpPr>
        <p:spPr>
          <a:xfrm>
            <a:off x="6675120" y="561441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&lt;li&gt;</a:t>
            </a:r>
            <a:endParaRPr lang="en-US" sz="1500" dirty="0"/>
          </a:p>
        </p:txBody>
      </p:sp>
      <p:sp>
        <p:nvSpPr>
          <p:cNvPr id="26" name="a5_chip_desc"/>
          <p:cNvSpPr txBox="1"/>
          <p:nvPr/>
        </p:nvSpPr>
        <p:spPr>
          <a:xfrm>
            <a:off x="7955280" y="5614416"/>
            <a:ext cx="3687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list item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5_halo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3" name="a5_halo2"/>
          <p:cNvSpPr/>
          <p:nvPr/>
        </p:nvSpPr>
        <p:spPr>
          <a:xfrm>
            <a:off x="9875520" y="-1280160"/>
            <a:ext cx="3474720" cy="347472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4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Links &amp; images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39319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Connect pages and show pictures</a:t>
            </a:r>
            <a:endParaRPr lang="en-US" sz="2200" dirty="0"/>
          </a:p>
        </p:txBody>
      </p:sp>
      <p:sp>
        <p:nvSpPr>
          <p:cNvPr id="7" name="a4_ar"/>
          <p:cNvSpPr txBox="1"/>
          <p:nvPr/>
        </p:nvSpPr>
        <p:spPr>
          <a:xfrm>
            <a:off x="3931920" y="43434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24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الروابط والصور</a:t>
            </a:r>
            <a:endParaRPr lang="ar-EG" sz="2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Links: the anchor tag</a:t>
            </a:r>
            <a:endParaRPr lang="en-US" sz="3600" dirty="0"/>
          </a:p>
        </p:txBody>
      </p:sp>
      <p:sp>
        <p:nvSpPr>
          <p:cNvPr id="4" name="a1_tile"/>
          <p:cNvSpPr/>
          <p:nvPr/>
        </p:nvSpPr>
        <p:spPr>
          <a:xfrm>
            <a:off x="548640" y="1554480"/>
            <a:ext cx="2602154" cy="2423160"/>
          </a:xfrm>
          <a:prstGeom prst="roundRect">
            <a:avLst>
              <a:gd name="adj" fmla="val 6038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tile_code"/>
          <p:cNvSpPr txBox="1"/>
          <p:nvPr/>
        </p:nvSpPr>
        <p:spPr>
          <a:xfrm>
            <a:off x="731520" y="1691640"/>
            <a:ext cx="22363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</a:t>
            </a:r>
            <a:endParaRPr lang="en-US" sz="2000" dirty="0"/>
          </a:p>
        </p:txBody>
      </p:sp>
      <p:sp>
        <p:nvSpPr>
          <p:cNvPr id="6" name="a1_tile_head"/>
          <p:cNvSpPr txBox="1"/>
          <p:nvPr/>
        </p:nvSpPr>
        <p:spPr>
          <a:xfrm>
            <a:off x="731520" y="233172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name</a:t>
            </a:r>
            <a:endParaRPr lang="en-US" sz="1900" dirty="0"/>
          </a:p>
        </p:txBody>
      </p:sp>
      <p:sp>
        <p:nvSpPr>
          <p:cNvPr id="7" name="a1_tile_body"/>
          <p:cNvSpPr txBox="1"/>
          <p:nvPr/>
        </p:nvSpPr>
        <p:spPr>
          <a:xfrm>
            <a:off x="731520" y="2788920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stands for anchor. It makes a clickable link.</a:t>
            </a:r>
            <a:endParaRPr lang="en-US" sz="1500" dirty="0"/>
          </a:p>
        </p:txBody>
      </p:sp>
      <p:sp>
        <p:nvSpPr>
          <p:cNvPr id="8" name="a2_tile"/>
          <p:cNvSpPr/>
          <p:nvPr/>
        </p:nvSpPr>
        <p:spPr>
          <a:xfrm>
            <a:off x="3379394" y="1554480"/>
            <a:ext cx="2602154" cy="2423160"/>
          </a:xfrm>
          <a:prstGeom prst="roundRect">
            <a:avLst>
              <a:gd name="adj" fmla="val 6038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9" name="a2_tile_code"/>
          <p:cNvSpPr txBox="1"/>
          <p:nvPr/>
        </p:nvSpPr>
        <p:spPr>
          <a:xfrm>
            <a:off x="3562274" y="1691640"/>
            <a:ext cx="22363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href</a:t>
            </a:r>
            <a:endParaRPr lang="en-US" sz="2000" dirty="0"/>
          </a:p>
        </p:txBody>
      </p:sp>
      <p:sp>
        <p:nvSpPr>
          <p:cNvPr id="10" name="a2_tile_head"/>
          <p:cNvSpPr txBox="1"/>
          <p:nvPr/>
        </p:nvSpPr>
        <p:spPr>
          <a:xfrm>
            <a:off x="3562274" y="233172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name</a:t>
            </a:r>
            <a:endParaRPr lang="en-US" sz="1900" dirty="0"/>
          </a:p>
        </p:txBody>
      </p:sp>
      <p:sp>
        <p:nvSpPr>
          <p:cNvPr id="11" name="a2_tile_body"/>
          <p:cNvSpPr txBox="1"/>
          <p:nvPr/>
        </p:nvSpPr>
        <p:spPr>
          <a:xfrm>
            <a:off x="3562274" y="2788920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 hypertext reference: where the link goes.</a:t>
            </a:r>
            <a:endParaRPr lang="en-US" sz="1500" dirty="0"/>
          </a:p>
        </p:txBody>
      </p:sp>
      <p:sp>
        <p:nvSpPr>
          <p:cNvPr id="12" name="a3_tile"/>
          <p:cNvSpPr/>
          <p:nvPr/>
        </p:nvSpPr>
        <p:spPr>
          <a:xfrm>
            <a:off x="6210148" y="1554480"/>
            <a:ext cx="2602154" cy="2423160"/>
          </a:xfrm>
          <a:prstGeom prst="roundRect">
            <a:avLst>
              <a:gd name="adj" fmla="val 6038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3" name="a3_tile_code"/>
          <p:cNvSpPr txBox="1"/>
          <p:nvPr/>
        </p:nvSpPr>
        <p:spPr>
          <a:xfrm>
            <a:off x="6393028" y="1691640"/>
            <a:ext cx="22363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"https://..."</a:t>
            </a:r>
            <a:endParaRPr lang="en-US" sz="2000" dirty="0"/>
          </a:p>
        </p:txBody>
      </p:sp>
      <p:sp>
        <p:nvSpPr>
          <p:cNvPr id="14" name="a3_tile_head"/>
          <p:cNvSpPr txBox="1"/>
          <p:nvPr/>
        </p:nvSpPr>
        <p:spPr>
          <a:xfrm>
            <a:off x="6393028" y="233172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value</a:t>
            </a:r>
            <a:endParaRPr lang="en-US" sz="1900" dirty="0"/>
          </a:p>
        </p:txBody>
      </p:sp>
      <p:sp>
        <p:nvSpPr>
          <p:cNvPr id="15" name="a3_tile_body"/>
          <p:cNvSpPr txBox="1"/>
          <p:nvPr/>
        </p:nvSpPr>
        <p:spPr>
          <a:xfrm>
            <a:off x="6393028" y="2788920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address, always inside quotation marks.</a:t>
            </a:r>
            <a:endParaRPr lang="en-US" sz="1500" dirty="0"/>
          </a:p>
        </p:txBody>
      </p:sp>
      <p:sp>
        <p:nvSpPr>
          <p:cNvPr id="16" name="a4_tile"/>
          <p:cNvSpPr/>
          <p:nvPr/>
        </p:nvSpPr>
        <p:spPr>
          <a:xfrm>
            <a:off x="9040901" y="1554480"/>
            <a:ext cx="2602154" cy="2423160"/>
          </a:xfrm>
          <a:prstGeom prst="roundRect">
            <a:avLst>
              <a:gd name="adj" fmla="val 6038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7" name="a4_tile_code"/>
          <p:cNvSpPr txBox="1"/>
          <p:nvPr/>
        </p:nvSpPr>
        <p:spPr>
          <a:xfrm>
            <a:off x="9223781" y="1691640"/>
            <a:ext cx="22363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 Egypt</a:t>
            </a:r>
            <a:endParaRPr lang="en-US" sz="2000" dirty="0"/>
          </a:p>
        </p:txBody>
      </p:sp>
      <p:sp>
        <p:nvSpPr>
          <p:cNvPr id="18" name="a4_tile_head"/>
          <p:cNvSpPr txBox="1"/>
          <p:nvPr/>
        </p:nvSpPr>
        <p:spPr>
          <a:xfrm>
            <a:off x="9223781" y="233172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text</a:t>
            </a:r>
            <a:endParaRPr lang="en-US" sz="1900" dirty="0"/>
          </a:p>
        </p:txBody>
      </p:sp>
      <p:sp>
        <p:nvSpPr>
          <p:cNvPr id="19" name="a4_tile_body"/>
          <p:cNvSpPr txBox="1"/>
          <p:nvPr/>
        </p:nvSpPr>
        <p:spPr>
          <a:xfrm>
            <a:off x="9223781" y="2788920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visitor reads and clicks on.</a:t>
            </a:r>
            <a:endParaRPr lang="en-US" sz="1500" dirty="0"/>
          </a:p>
        </p:txBody>
      </p:sp>
      <p:sp>
        <p:nvSpPr>
          <p:cNvPr id="20" name="a5_code"/>
          <p:cNvSpPr/>
          <p:nvPr/>
        </p:nvSpPr>
        <p:spPr>
          <a:xfrm>
            <a:off x="548640" y="4297680"/>
            <a:ext cx="7498080" cy="1609344"/>
          </a:xfrm>
          <a:prstGeom prst="roundRect">
            <a:avLst>
              <a:gd name="adj" fmla="val 7955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21" name="a5_code_dot"/>
          <p:cNvSpPr/>
          <p:nvPr/>
        </p:nvSpPr>
        <p:spPr>
          <a:xfrm>
            <a:off x="804672" y="45171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2" name="a5_code_dot"/>
          <p:cNvSpPr/>
          <p:nvPr/>
        </p:nvSpPr>
        <p:spPr>
          <a:xfrm>
            <a:off x="1042416" y="45171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a5_code_dot"/>
          <p:cNvSpPr/>
          <p:nvPr/>
        </p:nvSpPr>
        <p:spPr>
          <a:xfrm>
            <a:off x="1280160" y="45171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4" name="a5_code_file"/>
          <p:cNvSpPr txBox="1"/>
          <p:nvPr/>
        </p:nvSpPr>
        <p:spPr>
          <a:xfrm>
            <a:off x="1645920" y="444398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25" name="a5_code_text"/>
          <p:cNvSpPr txBox="1"/>
          <p:nvPr/>
        </p:nvSpPr>
        <p:spPr>
          <a:xfrm>
            <a:off x="841248" y="4892040"/>
            <a:ext cx="7040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7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href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"https://www.egypt.gov.eg"</a:t>
            </a:r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Visit Egypt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&lt;/a</a:t>
            </a:r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700" dirty="0"/>
          </a:p>
        </p:txBody>
      </p:sp>
      <p:sp>
        <p:nvSpPr>
          <p:cNvPr id="26" name="a6_result"/>
          <p:cNvSpPr/>
          <p:nvPr/>
        </p:nvSpPr>
        <p:spPr>
          <a:xfrm>
            <a:off x="8321040" y="4297680"/>
            <a:ext cx="3322015" cy="1609344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/>
        </p:spPr>
      </p:sp>
      <p:sp>
        <p:nvSpPr>
          <p:cNvPr id="27" name="a6_result_label"/>
          <p:cNvSpPr txBox="1"/>
          <p:nvPr/>
        </p:nvSpPr>
        <p:spPr>
          <a:xfrm>
            <a:off x="8549640" y="44074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300" dirty="0"/>
          </a:p>
        </p:txBody>
      </p:sp>
      <p:sp>
        <p:nvSpPr>
          <p:cNvPr id="28" name="a6_result_text"/>
          <p:cNvSpPr txBox="1"/>
          <p:nvPr/>
        </p:nvSpPr>
        <p:spPr>
          <a:xfrm>
            <a:off x="8549640" y="4754880"/>
            <a:ext cx="286481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0F5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Egypt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Images: the img tag</a:t>
            </a:r>
            <a:endParaRPr lang="en-US" sz="3600" dirty="0"/>
          </a:p>
        </p:txBody>
      </p:sp>
      <p:sp>
        <p:nvSpPr>
          <p:cNvPr id="4" name="a1_tile"/>
          <p:cNvSpPr/>
          <p:nvPr/>
        </p:nvSpPr>
        <p:spPr>
          <a:xfrm>
            <a:off x="548640" y="1554480"/>
            <a:ext cx="2602154" cy="2423160"/>
          </a:xfrm>
          <a:prstGeom prst="roundRect">
            <a:avLst>
              <a:gd name="adj" fmla="val 6038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tile_code"/>
          <p:cNvSpPr txBox="1"/>
          <p:nvPr/>
        </p:nvSpPr>
        <p:spPr>
          <a:xfrm>
            <a:off x="731520" y="1691640"/>
            <a:ext cx="22363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&lt;img&gt;</a:t>
            </a:r>
            <a:endParaRPr lang="en-US" sz="2000" dirty="0"/>
          </a:p>
        </p:txBody>
      </p:sp>
      <p:sp>
        <p:nvSpPr>
          <p:cNvPr id="6" name="a1_tile_head"/>
          <p:cNvSpPr txBox="1"/>
          <p:nvPr/>
        </p:nvSpPr>
        <p:spPr>
          <a:xfrm>
            <a:off x="731520" y="233172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</a:t>
            </a:r>
            <a:endParaRPr lang="en-US" sz="1900" dirty="0"/>
          </a:p>
        </p:txBody>
      </p:sp>
      <p:sp>
        <p:nvSpPr>
          <p:cNvPr id="7" name="a1_tile_body"/>
          <p:cNvSpPr txBox="1"/>
          <p:nvPr/>
        </p:nvSpPr>
        <p:spPr>
          <a:xfrm>
            <a:off x="731520" y="2788920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element: no closing tag needed.</a:t>
            </a:r>
            <a:endParaRPr lang="en-US" sz="1500" dirty="0"/>
          </a:p>
        </p:txBody>
      </p:sp>
      <p:sp>
        <p:nvSpPr>
          <p:cNvPr id="8" name="a2_tile"/>
          <p:cNvSpPr/>
          <p:nvPr/>
        </p:nvSpPr>
        <p:spPr>
          <a:xfrm>
            <a:off x="3379394" y="1554480"/>
            <a:ext cx="2602154" cy="2423160"/>
          </a:xfrm>
          <a:prstGeom prst="roundRect">
            <a:avLst>
              <a:gd name="adj" fmla="val 6038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9" name="a2_tile_code"/>
          <p:cNvSpPr txBox="1"/>
          <p:nvPr/>
        </p:nvSpPr>
        <p:spPr>
          <a:xfrm>
            <a:off x="3562274" y="1691640"/>
            <a:ext cx="22363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endParaRPr lang="en-US" sz="2000" dirty="0"/>
          </a:p>
        </p:txBody>
      </p:sp>
      <p:sp>
        <p:nvSpPr>
          <p:cNvPr id="10" name="a2_tile_head"/>
          <p:cNvSpPr txBox="1"/>
          <p:nvPr/>
        </p:nvSpPr>
        <p:spPr>
          <a:xfrm>
            <a:off x="3562274" y="233172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900" dirty="0"/>
          </a:p>
        </p:txBody>
      </p:sp>
      <p:sp>
        <p:nvSpPr>
          <p:cNvPr id="11" name="a2_tile_body"/>
          <p:cNvSpPr txBox="1"/>
          <p:nvPr/>
        </p:nvSpPr>
        <p:spPr>
          <a:xfrm>
            <a:off x="3562274" y="2788920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name or path of the picture.</a:t>
            </a:r>
            <a:endParaRPr lang="en-US" sz="1500" dirty="0"/>
          </a:p>
        </p:txBody>
      </p:sp>
      <p:sp>
        <p:nvSpPr>
          <p:cNvPr id="12" name="a3_tile"/>
          <p:cNvSpPr/>
          <p:nvPr/>
        </p:nvSpPr>
        <p:spPr>
          <a:xfrm>
            <a:off x="6210148" y="1554480"/>
            <a:ext cx="2602154" cy="2423160"/>
          </a:xfrm>
          <a:prstGeom prst="roundRect">
            <a:avLst>
              <a:gd name="adj" fmla="val 6038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3" name="a3_tile_code"/>
          <p:cNvSpPr txBox="1"/>
          <p:nvPr/>
        </p:nvSpPr>
        <p:spPr>
          <a:xfrm>
            <a:off x="6393028" y="1691640"/>
            <a:ext cx="22363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</a:t>
            </a:r>
            <a:endParaRPr lang="en-US" sz="2000" dirty="0"/>
          </a:p>
        </p:txBody>
      </p:sp>
      <p:sp>
        <p:nvSpPr>
          <p:cNvPr id="14" name="a3_tile_head"/>
          <p:cNvSpPr txBox="1"/>
          <p:nvPr/>
        </p:nvSpPr>
        <p:spPr>
          <a:xfrm>
            <a:off x="6393028" y="233172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text</a:t>
            </a:r>
            <a:endParaRPr lang="en-US" sz="1900" dirty="0"/>
          </a:p>
        </p:txBody>
      </p:sp>
      <p:sp>
        <p:nvSpPr>
          <p:cNvPr id="15" name="a3_tile_body"/>
          <p:cNvSpPr txBox="1"/>
          <p:nvPr/>
        </p:nvSpPr>
        <p:spPr>
          <a:xfrm>
            <a:off x="6393028" y="2788920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the picture to screen readers and when it fails to load.</a:t>
            </a:r>
            <a:endParaRPr lang="en-US" sz="1500" dirty="0"/>
          </a:p>
        </p:txBody>
      </p:sp>
      <p:sp>
        <p:nvSpPr>
          <p:cNvPr id="16" name="a4_tile"/>
          <p:cNvSpPr/>
          <p:nvPr/>
        </p:nvSpPr>
        <p:spPr>
          <a:xfrm>
            <a:off x="9040901" y="1554480"/>
            <a:ext cx="2602154" cy="2423160"/>
          </a:xfrm>
          <a:prstGeom prst="roundRect">
            <a:avLst>
              <a:gd name="adj" fmla="val 6038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7" name="a4_tile_code"/>
          <p:cNvSpPr txBox="1"/>
          <p:nvPr/>
        </p:nvSpPr>
        <p:spPr>
          <a:xfrm>
            <a:off x="9223781" y="1691640"/>
            <a:ext cx="22363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width</a:t>
            </a:r>
            <a:endParaRPr lang="en-US" sz="2000" dirty="0"/>
          </a:p>
        </p:txBody>
      </p:sp>
      <p:sp>
        <p:nvSpPr>
          <p:cNvPr id="18" name="a4_tile_head"/>
          <p:cNvSpPr txBox="1"/>
          <p:nvPr/>
        </p:nvSpPr>
        <p:spPr>
          <a:xfrm>
            <a:off x="9223781" y="2331720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900" dirty="0"/>
          </a:p>
        </p:txBody>
      </p:sp>
      <p:sp>
        <p:nvSpPr>
          <p:cNvPr id="19" name="a4_tile_body"/>
          <p:cNvSpPr txBox="1"/>
          <p:nvPr/>
        </p:nvSpPr>
        <p:spPr>
          <a:xfrm>
            <a:off x="9223781" y="2788920"/>
            <a:ext cx="22363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in pixels. The height adjusts by itself.</a:t>
            </a:r>
            <a:endParaRPr lang="en-US" sz="1500" dirty="0"/>
          </a:p>
        </p:txBody>
      </p:sp>
      <p:sp>
        <p:nvSpPr>
          <p:cNvPr id="20" name="a5_code"/>
          <p:cNvSpPr/>
          <p:nvPr/>
        </p:nvSpPr>
        <p:spPr>
          <a:xfrm>
            <a:off x="548640" y="4297680"/>
            <a:ext cx="7498080" cy="1609344"/>
          </a:xfrm>
          <a:prstGeom prst="roundRect">
            <a:avLst>
              <a:gd name="adj" fmla="val 7955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21" name="a5_code_dot"/>
          <p:cNvSpPr/>
          <p:nvPr/>
        </p:nvSpPr>
        <p:spPr>
          <a:xfrm>
            <a:off x="804672" y="45171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2" name="a5_code_dot"/>
          <p:cNvSpPr/>
          <p:nvPr/>
        </p:nvSpPr>
        <p:spPr>
          <a:xfrm>
            <a:off x="1042416" y="45171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a5_code_dot"/>
          <p:cNvSpPr/>
          <p:nvPr/>
        </p:nvSpPr>
        <p:spPr>
          <a:xfrm>
            <a:off x="1280160" y="45171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4" name="a5_code_file"/>
          <p:cNvSpPr txBox="1"/>
          <p:nvPr/>
        </p:nvSpPr>
        <p:spPr>
          <a:xfrm>
            <a:off x="1645920" y="444398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25" name="a5_code_text"/>
          <p:cNvSpPr txBox="1"/>
          <p:nvPr/>
        </p:nvSpPr>
        <p:spPr>
          <a:xfrm>
            <a:off x="841248" y="4892040"/>
            <a:ext cx="7040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7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"pyramids.jpg"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7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"The Pyramids of Giza"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buNone/>
            </a:pPr>
            <a:r>
              <a:rPr lang="en-US" sz="17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width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"300"</a:t>
            </a:r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700" dirty="0"/>
          </a:p>
        </p:txBody>
      </p:sp>
      <p:sp>
        <p:nvSpPr>
          <p:cNvPr id="26" name="a6_result"/>
          <p:cNvSpPr/>
          <p:nvPr/>
        </p:nvSpPr>
        <p:spPr>
          <a:xfrm>
            <a:off x="8321040" y="4297680"/>
            <a:ext cx="3322015" cy="1609344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/>
        </p:spPr>
      </p:sp>
      <p:sp>
        <p:nvSpPr>
          <p:cNvPr id="27" name="a6_result_label"/>
          <p:cNvSpPr txBox="1"/>
          <p:nvPr/>
        </p:nvSpPr>
        <p:spPr>
          <a:xfrm>
            <a:off x="8549640" y="44074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300" dirty="0"/>
          </a:p>
        </p:txBody>
      </p:sp>
      <p:sp>
        <p:nvSpPr>
          <p:cNvPr id="28" name="a6_img_sky"/>
          <p:cNvSpPr/>
          <p:nvPr/>
        </p:nvSpPr>
        <p:spPr>
          <a:xfrm>
            <a:off x="8686800" y="4754880"/>
            <a:ext cx="2194560" cy="91440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9" name="a6_img_p1"/>
          <p:cNvSpPr/>
          <p:nvPr/>
        </p:nvSpPr>
        <p:spPr>
          <a:xfrm>
            <a:off x="9144000" y="4983480"/>
            <a:ext cx="1005840" cy="685800"/>
          </a:xfrm>
          <a:prstGeom prst="triangle">
            <a:avLst/>
          </a:prstGeom>
          <a:solidFill>
            <a:schemeClr val="accent2"/>
          </a:solidFill>
          <a:ln/>
        </p:spPr>
      </p:sp>
      <p:sp>
        <p:nvSpPr>
          <p:cNvPr id="30" name="a6_img_p2"/>
          <p:cNvSpPr/>
          <p:nvPr/>
        </p:nvSpPr>
        <p:spPr>
          <a:xfrm>
            <a:off x="9784080" y="5120640"/>
            <a:ext cx="731520" cy="548640"/>
          </a:xfrm>
          <a:prstGeom prst="triangle">
            <a:avLst/>
          </a:prstGeom>
          <a:solidFill>
            <a:schemeClr val="accent2"/>
          </a:solidFill>
          <a:ln/>
        </p:spPr>
      </p:sp>
      <p:sp>
        <p:nvSpPr>
          <p:cNvPr id="31" name="a6_img_sun"/>
          <p:cNvSpPr/>
          <p:nvPr/>
        </p:nvSpPr>
        <p:spPr>
          <a:xfrm>
            <a:off x="10332720" y="4828032"/>
            <a:ext cx="274320" cy="274320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Where is my file? Paths</a:t>
            </a:r>
            <a:endParaRPr lang="en-US" sz="3600" dirty="0"/>
          </a:p>
        </p:txBody>
      </p:sp>
      <p:sp>
        <p:nvSpPr>
          <p:cNvPr id="4" name="a1_code"/>
          <p:cNvSpPr/>
          <p:nvPr/>
        </p:nvSpPr>
        <p:spPr>
          <a:xfrm>
            <a:off x="548640" y="1554480"/>
            <a:ext cx="4937760" cy="3108960"/>
          </a:xfrm>
          <a:prstGeom prst="roundRect">
            <a:avLst>
              <a:gd name="adj" fmla="val 4118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code_dot"/>
          <p:cNvSpPr/>
          <p:nvPr/>
        </p:nvSpPr>
        <p:spPr>
          <a:xfrm>
            <a:off x="804672" y="17739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code_dot"/>
          <p:cNvSpPr/>
          <p:nvPr/>
        </p:nvSpPr>
        <p:spPr>
          <a:xfrm>
            <a:off x="1042416" y="17739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a1_code_dot"/>
          <p:cNvSpPr/>
          <p:nvPr/>
        </p:nvSpPr>
        <p:spPr>
          <a:xfrm>
            <a:off x="1280160" y="17739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file"/>
          <p:cNvSpPr txBox="1"/>
          <p:nvPr/>
        </p:nvSpPr>
        <p:spPr>
          <a:xfrm>
            <a:off x="1645920" y="17007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folder structure</a:t>
            </a:r>
            <a:endParaRPr lang="en-US" sz="1300" dirty="0"/>
          </a:p>
        </p:txBody>
      </p:sp>
      <p:sp>
        <p:nvSpPr>
          <p:cNvPr id="9" name="a1_code_text"/>
          <p:cNvSpPr txBox="1"/>
          <p:nvPr/>
        </p:nvSpPr>
        <p:spPr>
          <a:xfrm>
            <a:off x="841248" y="214884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my-site/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index.html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about.html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images/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pyramids.jpg</a:t>
            </a:r>
            <a:endParaRPr lang="en-US" sz="2000" dirty="0"/>
          </a:p>
        </p:txBody>
      </p:sp>
      <p:sp>
        <p:nvSpPr>
          <p:cNvPr id="10" name="a3_chip"/>
          <p:cNvSpPr/>
          <p:nvPr/>
        </p:nvSpPr>
        <p:spPr>
          <a:xfrm>
            <a:off x="5760720" y="1554480"/>
            <a:ext cx="246888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1" name="a3_chip_text"/>
          <p:cNvSpPr txBox="1"/>
          <p:nvPr/>
        </p:nvSpPr>
        <p:spPr>
          <a:xfrm>
            <a:off x="5760720" y="1554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about.html</a:t>
            </a:r>
            <a:endParaRPr lang="en-US" sz="1500" dirty="0"/>
          </a:p>
        </p:txBody>
      </p:sp>
      <p:sp>
        <p:nvSpPr>
          <p:cNvPr id="12" name="a3_chip_desc"/>
          <p:cNvSpPr txBox="1"/>
          <p:nvPr/>
        </p:nvSpPr>
        <p:spPr>
          <a:xfrm>
            <a:off x="8412480" y="1554480"/>
            <a:ext cx="3230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folder as this page</a:t>
            </a:r>
            <a:endParaRPr lang="en-US" sz="1800" dirty="0"/>
          </a:p>
        </p:txBody>
      </p:sp>
      <p:sp>
        <p:nvSpPr>
          <p:cNvPr id="13" name="a4_chip"/>
          <p:cNvSpPr/>
          <p:nvPr/>
        </p:nvSpPr>
        <p:spPr>
          <a:xfrm>
            <a:off x="5760720" y="2450592"/>
            <a:ext cx="246888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14" name="a4_chip_text"/>
          <p:cNvSpPr txBox="1"/>
          <p:nvPr/>
        </p:nvSpPr>
        <p:spPr>
          <a:xfrm>
            <a:off x="5760720" y="245059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images/pyramids.jpg</a:t>
            </a:r>
            <a:endParaRPr lang="en-US" sz="1500" dirty="0"/>
          </a:p>
        </p:txBody>
      </p:sp>
      <p:sp>
        <p:nvSpPr>
          <p:cNvPr id="15" name="a4_chip_desc"/>
          <p:cNvSpPr txBox="1"/>
          <p:nvPr/>
        </p:nvSpPr>
        <p:spPr>
          <a:xfrm>
            <a:off x="8412480" y="2450592"/>
            <a:ext cx="3230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into the images folder first</a:t>
            </a:r>
            <a:endParaRPr lang="en-US" sz="1800" dirty="0"/>
          </a:p>
        </p:txBody>
      </p:sp>
      <p:sp>
        <p:nvSpPr>
          <p:cNvPr id="16" name="a5_chip"/>
          <p:cNvSpPr/>
          <p:nvPr/>
        </p:nvSpPr>
        <p:spPr>
          <a:xfrm>
            <a:off x="5760720" y="3346704"/>
            <a:ext cx="246888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17" name="a5_chip_text"/>
          <p:cNvSpPr txBox="1"/>
          <p:nvPr/>
        </p:nvSpPr>
        <p:spPr>
          <a:xfrm>
            <a:off x="5760720" y="334670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../index.html</a:t>
            </a:r>
            <a:endParaRPr lang="en-US" sz="1500" dirty="0"/>
          </a:p>
        </p:txBody>
      </p:sp>
      <p:sp>
        <p:nvSpPr>
          <p:cNvPr id="18" name="a5_chip_desc"/>
          <p:cNvSpPr txBox="1"/>
          <p:nvPr/>
        </p:nvSpPr>
        <p:spPr>
          <a:xfrm>
            <a:off x="8412480" y="3346704"/>
            <a:ext cx="3230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up one folder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New tags in your toolbox</a:t>
            </a:r>
            <a:endParaRPr lang="en-US" sz="3600" dirty="0"/>
          </a:p>
        </p:txBody>
      </p:sp>
      <p:sp>
        <p:nvSpPr>
          <p:cNvPr id="4" name="a1_pill"/>
          <p:cNvSpPr/>
          <p:nvPr/>
        </p:nvSpPr>
        <p:spPr>
          <a:xfrm>
            <a:off x="548640" y="1600200"/>
            <a:ext cx="2103120" cy="566928"/>
          </a:xfrm>
          <a:prstGeom prst="roundRect">
            <a:avLst>
              <a:gd name="adj" fmla="val 19355"/>
            </a:avLst>
          </a:prstGeom>
          <a:solidFill>
            <a:schemeClr val="accent1"/>
          </a:solidFill>
          <a:ln/>
        </p:spPr>
      </p:sp>
      <p:sp>
        <p:nvSpPr>
          <p:cNvPr id="5" name="a1_pill_text"/>
          <p:cNvSpPr txBox="1"/>
          <p:nvPr/>
        </p:nvSpPr>
        <p:spPr>
          <a:xfrm>
            <a:off x="548640" y="16002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&lt;strong&gt;</a:t>
            </a:r>
            <a:endParaRPr lang="en-US" sz="1800" dirty="0"/>
          </a:p>
        </p:txBody>
      </p:sp>
      <p:sp>
        <p:nvSpPr>
          <p:cNvPr id="6" name="a1_desc"/>
          <p:cNvSpPr txBox="1"/>
          <p:nvPr/>
        </p:nvSpPr>
        <p:spPr>
          <a:xfrm>
            <a:off x="2880360" y="1563624"/>
            <a:ext cx="3032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text (bold)</a:t>
            </a:r>
            <a:endParaRPr lang="en-US" sz="1800" dirty="0"/>
          </a:p>
        </p:txBody>
      </p:sp>
      <p:sp>
        <p:nvSpPr>
          <p:cNvPr id="7" name="a2_pill"/>
          <p:cNvSpPr/>
          <p:nvPr/>
        </p:nvSpPr>
        <p:spPr>
          <a:xfrm>
            <a:off x="548640" y="2514600"/>
            <a:ext cx="2103120" cy="566928"/>
          </a:xfrm>
          <a:prstGeom prst="roundRect">
            <a:avLst>
              <a:gd name="adj" fmla="val 19355"/>
            </a:avLst>
          </a:prstGeom>
          <a:solidFill>
            <a:schemeClr val="accent2"/>
          </a:solidFill>
          <a:ln/>
        </p:spPr>
      </p:sp>
      <p:sp>
        <p:nvSpPr>
          <p:cNvPr id="8" name="a2_pill_text"/>
          <p:cNvSpPr txBox="1"/>
          <p:nvPr/>
        </p:nvSpPr>
        <p:spPr>
          <a:xfrm>
            <a:off x="548640" y="25146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&lt;em&gt;</a:t>
            </a:r>
            <a:endParaRPr lang="en-US" sz="1800" dirty="0"/>
          </a:p>
        </p:txBody>
      </p:sp>
      <p:sp>
        <p:nvSpPr>
          <p:cNvPr id="9" name="a2_desc"/>
          <p:cNvSpPr txBox="1"/>
          <p:nvPr/>
        </p:nvSpPr>
        <p:spPr>
          <a:xfrm>
            <a:off x="2880360" y="2478024"/>
            <a:ext cx="3032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Emphasised text (italic)</a:t>
            </a:r>
            <a:endParaRPr lang="en-US" sz="1800" dirty="0"/>
          </a:p>
        </p:txBody>
      </p:sp>
      <p:sp>
        <p:nvSpPr>
          <p:cNvPr id="10" name="a3_pill"/>
          <p:cNvSpPr/>
          <p:nvPr/>
        </p:nvSpPr>
        <p:spPr>
          <a:xfrm>
            <a:off x="548640" y="3429000"/>
            <a:ext cx="2103120" cy="566928"/>
          </a:xfrm>
          <a:prstGeom prst="roundRect">
            <a:avLst>
              <a:gd name="adj" fmla="val 19355"/>
            </a:avLst>
          </a:prstGeom>
          <a:solidFill>
            <a:schemeClr val="accent6"/>
          </a:solidFill>
          <a:ln/>
        </p:spPr>
      </p:sp>
      <p:sp>
        <p:nvSpPr>
          <p:cNvPr id="11" name="a3_pill_text"/>
          <p:cNvSpPr txBox="1"/>
          <p:nvPr/>
        </p:nvSpPr>
        <p:spPr>
          <a:xfrm>
            <a:off x="548640" y="34290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&lt;br&gt; &lt;hr&gt;</a:t>
            </a:r>
            <a:endParaRPr lang="en-US" sz="1800" dirty="0"/>
          </a:p>
        </p:txBody>
      </p:sp>
      <p:sp>
        <p:nvSpPr>
          <p:cNvPr id="12" name="a3_desc"/>
          <p:cNvSpPr txBox="1"/>
          <p:nvPr/>
        </p:nvSpPr>
        <p:spPr>
          <a:xfrm>
            <a:off x="2880360" y="3392424"/>
            <a:ext cx="3032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break, horizontal line</a:t>
            </a:r>
            <a:endParaRPr lang="en-US" sz="1800" dirty="0"/>
          </a:p>
        </p:txBody>
      </p:sp>
      <p:sp>
        <p:nvSpPr>
          <p:cNvPr id="13" name="a4_pill"/>
          <p:cNvSpPr/>
          <p:nvPr/>
        </p:nvSpPr>
        <p:spPr>
          <a:xfrm>
            <a:off x="548640" y="4343400"/>
            <a:ext cx="2103120" cy="566928"/>
          </a:xfrm>
          <a:prstGeom prst="roundRect">
            <a:avLst>
              <a:gd name="adj" fmla="val 19355"/>
            </a:avLst>
          </a:prstGeom>
          <a:solidFill>
            <a:schemeClr val="accent3"/>
          </a:solidFill>
          <a:ln/>
        </p:spPr>
      </p:sp>
      <p:sp>
        <p:nvSpPr>
          <p:cNvPr id="14" name="a4_pill_text"/>
          <p:cNvSpPr txBox="1"/>
          <p:nvPr/>
        </p:nvSpPr>
        <p:spPr>
          <a:xfrm>
            <a:off x="548640" y="43434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 &lt;ol&gt;</a:t>
            </a:r>
            <a:endParaRPr lang="en-US" sz="1800" dirty="0"/>
          </a:p>
        </p:txBody>
      </p:sp>
      <p:sp>
        <p:nvSpPr>
          <p:cNvPr id="15" name="a4_desc"/>
          <p:cNvSpPr txBox="1"/>
          <p:nvPr/>
        </p:nvSpPr>
        <p:spPr>
          <a:xfrm>
            <a:off x="2880360" y="4306824"/>
            <a:ext cx="3032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list, numbered list</a:t>
            </a:r>
            <a:endParaRPr lang="en-US" sz="1800" dirty="0"/>
          </a:p>
        </p:txBody>
      </p:sp>
      <p:sp>
        <p:nvSpPr>
          <p:cNvPr id="16" name="a5_pill"/>
          <p:cNvSpPr/>
          <p:nvPr/>
        </p:nvSpPr>
        <p:spPr>
          <a:xfrm>
            <a:off x="6278728" y="1600200"/>
            <a:ext cx="2103120" cy="566928"/>
          </a:xfrm>
          <a:prstGeom prst="roundRect">
            <a:avLst>
              <a:gd name="adj" fmla="val 19355"/>
            </a:avLst>
          </a:prstGeom>
          <a:solidFill>
            <a:schemeClr val="accent4"/>
          </a:solidFill>
          <a:ln/>
        </p:spPr>
      </p:sp>
      <p:sp>
        <p:nvSpPr>
          <p:cNvPr id="17" name="a5_pill_text"/>
          <p:cNvSpPr txBox="1"/>
          <p:nvPr/>
        </p:nvSpPr>
        <p:spPr>
          <a:xfrm>
            <a:off x="6278728" y="16002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&lt;li&gt;</a:t>
            </a:r>
            <a:endParaRPr lang="en-US" sz="1800" dirty="0"/>
          </a:p>
        </p:txBody>
      </p:sp>
      <p:sp>
        <p:nvSpPr>
          <p:cNvPr id="18" name="a5_desc"/>
          <p:cNvSpPr txBox="1"/>
          <p:nvPr/>
        </p:nvSpPr>
        <p:spPr>
          <a:xfrm>
            <a:off x="8610448" y="1563624"/>
            <a:ext cx="3032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item inside a list</a:t>
            </a:r>
            <a:endParaRPr lang="en-US" sz="1800" dirty="0"/>
          </a:p>
        </p:txBody>
      </p:sp>
      <p:sp>
        <p:nvSpPr>
          <p:cNvPr id="19" name="a6_pill"/>
          <p:cNvSpPr/>
          <p:nvPr/>
        </p:nvSpPr>
        <p:spPr>
          <a:xfrm>
            <a:off x="6278728" y="2514600"/>
            <a:ext cx="2103120" cy="566928"/>
          </a:xfrm>
          <a:prstGeom prst="roundRect">
            <a:avLst>
              <a:gd name="adj" fmla="val 19355"/>
            </a:avLst>
          </a:prstGeom>
          <a:solidFill>
            <a:schemeClr val="accent5"/>
          </a:solidFill>
          <a:ln/>
        </p:spPr>
      </p:sp>
      <p:sp>
        <p:nvSpPr>
          <p:cNvPr id="20" name="a6_pill_text"/>
          <p:cNvSpPr txBox="1"/>
          <p:nvPr/>
        </p:nvSpPr>
        <p:spPr>
          <a:xfrm>
            <a:off x="6278728" y="25146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href&gt;</a:t>
            </a:r>
            <a:endParaRPr lang="en-US" sz="1800" dirty="0"/>
          </a:p>
        </p:txBody>
      </p:sp>
      <p:sp>
        <p:nvSpPr>
          <p:cNvPr id="21" name="a6_desc"/>
          <p:cNvSpPr txBox="1"/>
          <p:nvPr/>
        </p:nvSpPr>
        <p:spPr>
          <a:xfrm>
            <a:off x="8610448" y="2478024"/>
            <a:ext cx="3032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to another page</a:t>
            </a:r>
            <a:endParaRPr lang="en-US" sz="1800" dirty="0"/>
          </a:p>
        </p:txBody>
      </p:sp>
      <p:sp>
        <p:nvSpPr>
          <p:cNvPr id="22" name="a7_pill"/>
          <p:cNvSpPr/>
          <p:nvPr/>
        </p:nvSpPr>
        <p:spPr>
          <a:xfrm>
            <a:off x="6278728" y="3429000"/>
            <a:ext cx="2103120" cy="566928"/>
          </a:xfrm>
          <a:prstGeom prst="roundRect">
            <a:avLst>
              <a:gd name="adj" fmla="val 19355"/>
            </a:avLst>
          </a:prstGeom>
          <a:solidFill>
            <a:schemeClr val="accent1"/>
          </a:solidFill>
          <a:ln/>
        </p:spPr>
      </p:sp>
      <p:sp>
        <p:nvSpPr>
          <p:cNvPr id="23" name="a7_pill_text"/>
          <p:cNvSpPr txBox="1"/>
          <p:nvPr/>
        </p:nvSpPr>
        <p:spPr>
          <a:xfrm>
            <a:off x="6278728" y="34290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&lt;img&gt;</a:t>
            </a:r>
            <a:endParaRPr lang="en-US" sz="1800" dirty="0"/>
          </a:p>
        </p:txBody>
      </p:sp>
      <p:sp>
        <p:nvSpPr>
          <p:cNvPr id="24" name="a7_desc"/>
          <p:cNvSpPr txBox="1"/>
          <p:nvPr/>
        </p:nvSpPr>
        <p:spPr>
          <a:xfrm>
            <a:off x="8610448" y="3392424"/>
            <a:ext cx="3032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(src and alt)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quiz</a:t>
            </a:r>
            <a:endParaRPr lang="en-US" sz="3600" dirty="0"/>
          </a:p>
        </p:txBody>
      </p:sp>
      <p:sp>
        <p:nvSpPr>
          <p:cNvPr id="4" name="a1_ico_q_bg"/>
          <p:cNvSpPr/>
          <p:nvPr/>
        </p:nvSpPr>
        <p:spPr>
          <a:xfrm>
            <a:off x="548640" y="15544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a1_ico_q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09928"/>
            <a:ext cx="420624" cy="420624"/>
          </a:xfrm>
          <a:prstGeom prst="rect">
            <a:avLst/>
          </a:prstGeom>
        </p:spPr>
      </p:pic>
      <p:sp>
        <p:nvSpPr>
          <p:cNvPr id="6" name="a1_question"/>
          <p:cNvSpPr txBox="1"/>
          <p:nvPr/>
        </p:nvSpPr>
        <p:spPr>
          <a:xfrm>
            <a:off x="1554480" y="1463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code correctly shows a picture of a cat?</a:t>
            </a:r>
            <a:endParaRPr lang="en-US" sz="2600" dirty="0"/>
          </a:p>
        </p:txBody>
      </p:sp>
      <p:sp>
        <p:nvSpPr>
          <p:cNvPr id="7" name="a2_opt"/>
          <p:cNvSpPr/>
          <p:nvPr/>
        </p:nvSpPr>
        <p:spPr>
          <a:xfrm>
            <a:off x="548640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8" name="a2_ico_letter_bg"/>
          <p:cNvSpPr/>
          <p:nvPr/>
        </p:nvSpPr>
        <p:spPr>
          <a:xfrm>
            <a:off x="804672" y="2971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a2_ico_letter"/>
          <p:cNvSpPr txBox="1"/>
          <p:nvPr/>
        </p:nvSpPr>
        <p:spPr>
          <a:xfrm>
            <a:off x="804672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0" name="a2_opt_text"/>
          <p:cNvSpPr txBox="1"/>
          <p:nvPr/>
        </p:nvSpPr>
        <p:spPr>
          <a:xfrm>
            <a:off x="1645920" y="269748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src="cat.jpg"&gt;</a:t>
            </a:r>
            <a:endParaRPr lang="en-US" sz="2000" dirty="0"/>
          </a:p>
        </p:txBody>
      </p:sp>
      <p:sp>
        <p:nvSpPr>
          <p:cNvPr id="11" name="a3_opt"/>
          <p:cNvSpPr/>
          <p:nvPr/>
        </p:nvSpPr>
        <p:spPr>
          <a:xfrm>
            <a:off x="6199632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2" name="a3_ico_letter_bg"/>
          <p:cNvSpPr/>
          <p:nvPr/>
        </p:nvSpPr>
        <p:spPr>
          <a:xfrm>
            <a:off x="6455664" y="2971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a3_ico_letter"/>
          <p:cNvSpPr txBox="1"/>
          <p:nvPr/>
        </p:nvSpPr>
        <p:spPr>
          <a:xfrm>
            <a:off x="6455664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4" name="a3_opt_text"/>
          <p:cNvSpPr txBox="1"/>
          <p:nvPr/>
        </p:nvSpPr>
        <p:spPr>
          <a:xfrm>
            <a:off x="7296912" y="269748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href="cat.jpg"&gt;</a:t>
            </a:r>
            <a:endParaRPr lang="en-US" sz="2000" dirty="0"/>
          </a:p>
        </p:txBody>
      </p:sp>
      <p:sp>
        <p:nvSpPr>
          <p:cNvPr id="15" name="a4_opt"/>
          <p:cNvSpPr/>
          <p:nvPr/>
        </p:nvSpPr>
        <p:spPr>
          <a:xfrm>
            <a:off x="548640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6" name="a4_ico_letter_bg"/>
          <p:cNvSpPr/>
          <p:nvPr/>
        </p:nvSpPr>
        <p:spPr>
          <a:xfrm>
            <a:off x="804672" y="43891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7" name="a4_ico_letter"/>
          <p:cNvSpPr txBox="1"/>
          <p:nvPr/>
        </p:nvSpPr>
        <p:spPr>
          <a:xfrm>
            <a:off x="80467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18" name="a4_opt_text"/>
          <p:cNvSpPr txBox="1"/>
          <p:nvPr/>
        </p:nvSpPr>
        <p:spPr>
          <a:xfrm>
            <a:off x="1645920" y="41148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src="cat.jpg" alt="Cat"&gt;</a:t>
            </a:r>
            <a:endParaRPr lang="en-US" sz="2000" dirty="0"/>
          </a:p>
        </p:txBody>
      </p:sp>
      <p:sp>
        <p:nvSpPr>
          <p:cNvPr id="19" name="a5_opt"/>
          <p:cNvSpPr/>
          <p:nvPr/>
        </p:nvSpPr>
        <p:spPr>
          <a:xfrm>
            <a:off x="6199632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20" name="a5_ico_letter_bg"/>
          <p:cNvSpPr/>
          <p:nvPr/>
        </p:nvSpPr>
        <p:spPr>
          <a:xfrm>
            <a:off x="6455664" y="43891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a5_ico_letter"/>
          <p:cNvSpPr txBox="1"/>
          <p:nvPr/>
        </p:nvSpPr>
        <p:spPr>
          <a:xfrm>
            <a:off x="645566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22" name="a5_opt_text"/>
          <p:cNvSpPr txBox="1"/>
          <p:nvPr/>
        </p:nvSpPr>
        <p:spPr>
          <a:xfrm>
            <a:off x="7296912" y="41148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&lt;image src="cat.jpg"&gt;</a:t>
            </a:r>
            <a:endParaRPr lang="en-US" sz="2000" dirty="0"/>
          </a:p>
        </p:txBody>
      </p:sp>
      <p:sp>
        <p:nvSpPr>
          <p:cNvPr id="23" name="k1_answer_ring"/>
          <p:cNvSpPr/>
          <p:nvPr/>
        </p:nvSpPr>
        <p:spPr>
          <a:xfrm>
            <a:off x="548640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accent5">
              <a:alpha val="0"/>
            </a:schemeClr>
          </a:solidFill>
          <a:ln w="63500">
            <a:solidFill>
              <a:schemeClr val="accent5"/>
            </a:solidFill>
            <a:prstDash val="solid"/>
          </a:ln>
        </p:spPr>
      </p:sp>
      <p:sp>
        <p:nvSpPr>
          <p:cNvPr id="24" name="k1_answer_bar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pic>
        <p:nvPicPr>
          <p:cNvPr id="25" name="k1_answer_ic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669280"/>
            <a:ext cx="365760" cy="365760"/>
          </a:xfrm>
          <a:prstGeom prst="rect">
            <a:avLst/>
          </a:prstGeom>
        </p:spPr>
      </p:pic>
      <p:sp>
        <p:nvSpPr>
          <p:cNvPr id="26" name="k1_answer_text"/>
          <p:cNvSpPr txBox="1"/>
          <p:nvPr/>
        </p:nvSpPr>
        <p:spPr>
          <a:xfrm>
            <a:off x="1417320" y="548640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 uses src for the file and alt to describe 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Your turn: my favourite place in Egypt</a:t>
            </a:r>
            <a:endParaRPr lang="en-US" sz="3600" dirty="0"/>
          </a:p>
        </p:txBody>
      </p:sp>
      <p:sp>
        <p:nvSpPr>
          <p:cNvPr id="4" name="a1_ico_num_bg"/>
          <p:cNvSpPr/>
          <p:nvPr/>
        </p:nvSpPr>
        <p:spPr>
          <a:xfrm>
            <a:off x="548640" y="160020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a1_ico_num"/>
          <p:cNvSpPr txBox="1"/>
          <p:nvPr/>
        </p:nvSpPr>
        <p:spPr>
          <a:xfrm>
            <a:off x="548640" y="1600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a1_text"/>
          <p:cNvSpPr txBox="1"/>
          <p:nvPr/>
        </p:nvSpPr>
        <p:spPr>
          <a:xfrm>
            <a:off x="1417320" y="1545336"/>
            <a:ext cx="502920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h1 with the place: Siwa, Luxor, Dahab…</a:t>
            </a:r>
            <a:endParaRPr lang="en-US" sz="2100" dirty="0"/>
          </a:p>
        </p:txBody>
      </p:sp>
      <p:sp>
        <p:nvSpPr>
          <p:cNvPr id="7" name="a2_ico_num_bg"/>
          <p:cNvSpPr/>
          <p:nvPr/>
        </p:nvSpPr>
        <p:spPr>
          <a:xfrm>
            <a:off x="548640" y="267462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a2_ico_num"/>
          <p:cNvSpPr txBox="1"/>
          <p:nvPr/>
        </p:nvSpPr>
        <p:spPr>
          <a:xfrm>
            <a:off x="548640" y="26746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a2_text"/>
          <p:cNvSpPr txBox="1"/>
          <p:nvPr/>
        </p:nvSpPr>
        <p:spPr>
          <a:xfrm>
            <a:off x="1417320" y="2619756"/>
            <a:ext cx="502920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paragraphs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strong on the key words.</a:t>
            </a:r>
            <a:endParaRPr lang="en-US" sz="2100" dirty="0"/>
          </a:p>
        </p:txBody>
      </p:sp>
      <p:sp>
        <p:nvSpPr>
          <p:cNvPr id="10" name="a3_ico_num_bg"/>
          <p:cNvSpPr/>
          <p:nvPr/>
        </p:nvSpPr>
        <p:spPr>
          <a:xfrm>
            <a:off x="548640" y="3749040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1" name="a3_ico_num"/>
          <p:cNvSpPr txBox="1"/>
          <p:nvPr/>
        </p:nvSpPr>
        <p:spPr>
          <a:xfrm>
            <a:off x="548640" y="37490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a3_text"/>
          <p:cNvSpPr txBox="1"/>
          <p:nvPr/>
        </p:nvSpPr>
        <p:spPr>
          <a:xfrm>
            <a:off x="1417320" y="3694176"/>
            <a:ext cx="502920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do there, with ul and li.</a:t>
            </a:r>
            <a:endParaRPr lang="en-US" sz="2100" dirty="0"/>
          </a:p>
        </p:txBody>
      </p:sp>
      <p:sp>
        <p:nvSpPr>
          <p:cNvPr id="13" name="a4_ico_num_bg"/>
          <p:cNvSpPr/>
          <p:nvPr/>
        </p:nvSpPr>
        <p:spPr>
          <a:xfrm>
            <a:off x="548640" y="482346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a4_ico_num"/>
          <p:cNvSpPr txBox="1"/>
          <p:nvPr/>
        </p:nvSpPr>
        <p:spPr>
          <a:xfrm>
            <a:off x="548640" y="48234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a4_text"/>
          <p:cNvSpPr txBox="1"/>
          <p:nvPr/>
        </p:nvSpPr>
        <p:spPr>
          <a:xfrm>
            <a:off x="1417320" y="4768596"/>
            <a:ext cx="502920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and link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img with alt, and a link to a website.</a:t>
            </a:r>
            <a:endParaRPr lang="en-US" sz="2100" dirty="0"/>
          </a:p>
        </p:txBody>
      </p:sp>
      <p:sp>
        <p:nvSpPr>
          <p:cNvPr id="16" name="a5_browser"/>
          <p:cNvSpPr/>
          <p:nvPr/>
        </p:nvSpPr>
        <p:spPr>
          <a:xfrm>
            <a:off x="6812280" y="1600200"/>
            <a:ext cx="4828032" cy="33832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7" name="a5_browser_bar"/>
          <p:cNvSpPr/>
          <p:nvPr/>
        </p:nvSpPr>
        <p:spPr>
          <a:xfrm>
            <a:off x="6812280" y="1600200"/>
            <a:ext cx="4828032" cy="420624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8" name="a5_browser_dot"/>
          <p:cNvSpPr/>
          <p:nvPr/>
        </p:nvSpPr>
        <p:spPr>
          <a:xfrm>
            <a:off x="7013448" y="1746504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a5_browser_dot"/>
          <p:cNvSpPr/>
          <p:nvPr/>
        </p:nvSpPr>
        <p:spPr>
          <a:xfrm>
            <a:off x="7232904" y="1746504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a5_browser_dot"/>
          <p:cNvSpPr/>
          <p:nvPr/>
        </p:nvSpPr>
        <p:spPr>
          <a:xfrm>
            <a:off x="7452360" y="1746504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1" name="a5_browser_url"/>
          <p:cNvSpPr/>
          <p:nvPr/>
        </p:nvSpPr>
        <p:spPr>
          <a:xfrm>
            <a:off x="7772400" y="1673352"/>
            <a:ext cx="3593592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22" name="a5_browser_urltext"/>
          <p:cNvSpPr txBox="1"/>
          <p:nvPr/>
        </p:nvSpPr>
        <p:spPr>
          <a:xfrm>
            <a:off x="7909560" y="16733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luxor.html</a:t>
            </a:r>
            <a:endParaRPr lang="en-US" sz="1200" dirty="0"/>
          </a:p>
        </p:txBody>
      </p:sp>
      <p:sp>
        <p:nvSpPr>
          <p:cNvPr id="23" name="a5_browser_content"/>
          <p:cNvSpPr txBox="1"/>
          <p:nvPr/>
        </p:nvSpPr>
        <p:spPr>
          <a:xfrm>
            <a:off x="7132320" y="2221992"/>
            <a:ext cx="4187952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Luxor</a:t>
            </a:r>
            <a:endParaRPr lang="en-US" sz="28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Luxor has the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Valley of the Kings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to do:</a:t>
            </a:r>
            <a:endParaRPr lang="en-US" sz="28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Karnak Temple</a:t>
            </a:r>
            <a:endParaRPr lang="en-US" sz="28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a felucca</a:t>
            </a:r>
            <a:endParaRPr lang="en-US" sz="28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local food</a:t>
            </a:r>
            <a:endParaRPr lang="en-US" sz="2800" dirty="0"/>
          </a:p>
        </p:txBody>
      </p:sp>
      <p:sp>
        <p:nvSpPr>
          <p:cNvPr id="24" name="a6_timer"/>
          <p:cNvSpPr/>
          <p:nvPr/>
        </p:nvSpPr>
        <p:spPr>
          <a:xfrm>
            <a:off x="6812280" y="5257800"/>
            <a:ext cx="4828032" cy="5943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25" name="a6_timer_ic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5413248"/>
            <a:ext cx="274320" cy="274320"/>
          </a:xfrm>
          <a:prstGeom prst="rect">
            <a:avLst/>
          </a:prstGeom>
        </p:spPr>
      </p:pic>
      <p:sp>
        <p:nvSpPr>
          <p:cNvPr id="26" name="a6_timer_text"/>
          <p:cNvSpPr txBox="1"/>
          <p:nvPr/>
        </p:nvSpPr>
        <p:spPr>
          <a:xfrm>
            <a:off x="7589520" y="52578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learned today</a:t>
            </a:r>
            <a:endParaRPr lang="en-US" sz="3600" dirty="0"/>
          </a:p>
        </p:txBody>
      </p:sp>
      <p:pic>
        <p:nvPicPr>
          <p:cNvPr id="4" name="a1_ico_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4208"/>
            <a:ext cx="457200" cy="457200"/>
          </a:xfrm>
          <a:prstGeom prst="rect">
            <a:avLst/>
          </a:prstGeom>
        </p:spPr>
      </p:pic>
      <p:sp>
        <p:nvSpPr>
          <p:cNvPr id="5" name="a1_text"/>
          <p:cNvSpPr txBox="1"/>
          <p:nvPr/>
        </p:nvSpPr>
        <p:spPr>
          <a:xfrm>
            <a:off x="1234440" y="160020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and em show importance and emphasis.</a:t>
            </a:r>
            <a:endParaRPr lang="en-US" sz="2000" dirty="0"/>
          </a:p>
        </p:txBody>
      </p:sp>
      <p:pic>
        <p:nvPicPr>
          <p:cNvPr id="6" name="a2_ico_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32888"/>
            <a:ext cx="457200" cy="457200"/>
          </a:xfrm>
          <a:prstGeom prst="rect">
            <a:avLst/>
          </a:prstGeom>
        </p:spPr>
      </p:pic>
      <p:sp>
        <p:nvSpPr>
          <p:cNvPr id="7" name="a2_text"/>
          <p:cNvSpPr txBox="1"/>
          <p:nvPr/>
        </p:nvSpPr>
        <p:spPr>
          <a:xfrm>
            <a:off x="1234440" y="24688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ul, ol and li build lists.</a:t>
            </a:r>
            <a:endParaRPr lang="en-US" sz="2000" dirty="0"/>
          </a:p>
        </p:txBody>
      </p:sp>
      <p:pic>
        <p:nvPicPr>
          <p:cNvPr id="8" name="a3_ico_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01568"/>
            <a:ext cx="457200" cy="457200"/>
          </a:xfrm>
          <a:prstGeom prst="rect">
            <a:avLst/>
          </a:prstGeom>
        </p:spPr>
      </p:pic>
      <p:sp>
        <p:nvSpPr>
          <p:cNvPr id="9" name="a3_text"/>
          <p:cNvSpPr txBox="1"/>
          <p:nvPr/>
        </p:nvSpPr>
        <p:spPr>
          <a:xfrm>
            <a:off x="1234440" y="333756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with href makes a link.</a:t>
            </a:r>
            <a:endParaRPr lang="en-US" sz="2000" dirty="0"/>
          </a:p>
        </p:txBody>
      </p:sp>
      <p:pic>
        <p:nvPicPr>
          <p:cNvPr id="10" name="a4_ico_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70248"/>
            <a:ext cx="457200" cy="457200"/>
          </a:xfrm>
          <a:prstGeom prst="rect">
            <a:avLst/>
          </a:prstGeom>
        </p:spPr>
      </p:pic>
      <p:sp>
        <p:nvSpPr>
          <p:cNvPr id="11" name="a4_text"/>
          <p:cNvSpPr txBox="1"/>
          <p:nvPr/>
        </p:nvSpPr>
        <p:spPr>
          <a:xfrm>
            <a:off x="1234440" y="420624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 needs src and alt.</a:t>
            </a:r>
            <a:endParaRPr lang="en-US" sz="2000" dirty="0"/>
          </a:p>
        </p:txBody>
      </p:sp>
      <p:pic>
        <p:nvPicPr>
          <p:cNvPr id="12" name="a5_ico_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138928"/>
            <a:ext cx="457200" cy="457200"/>
          </a:xfrm>
          <a:prstGeom prst="rect">
            <a:avLst/>
          </a:prstGeom>
        </p:spPr>
      </p:pic>
      <p:sp>
        <p:nvSpPr>
          <p:cNvPr id="13" name="a5_text"/>
          <p:cNvSpPr txBox="1"/>
          <p:nvPr/>
        </p:nvSpPr>
        <p:spPr>
          <a:xfrm>
            <a:off x="1234440" y="50749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tell the browser where files live.</a:t>
            </a:r>
            <a:endParaRPr lang="en-US" sz="2000" dirty="0"/>
          </a:p>
        </p:txBody>
      </p:sp>
      <p:sp>
        <p:nvSpPr>
          <p:cNvPr id="14" name="a6_hw"/>
          <p:cNvSpPr/>
          <p:nvPr/>
        </p:nvSpPr>
        <p:spPr>
          <a:xfrm>
            <a:off x="8229600" y="1600200"/>
            <a:ext cx="3410712" cy="4343400"/>
          </a:xfrm>
          <a:prstGeom prst="roundRect">
            <a:avLst>
              <a:gd name="adj" fmla="val 5362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pic>
        <p:nvPicPr>
          <p:cNvPr id="15" name="a6_ico_h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1920240"/>
            <a:ext cx="731520" cy="731520"/>
          </a:xfrm>
          <a:prstGeom prst="rect">
            <a:avLst/>
          </a:prstGeom>
        </p:spPr>
      </p:pic>
      <p:sp>
        <p:nvSpPr>
          <p:cNvPr id="16" name="a6_hw_label"/>
          <p:cNvSpPr txBox="1"/>
          <p:nvPr/>
        </p:nvSpPr>
        <p:spPr>
          <a:xfrm>
            <a:off x="859536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500" dirty="0"/>
          </a:p>
        </p:txBody>
      </p:sp>
      <p:sp>
        <p:nvSpPr>
          <p:cNvPr id="17" name="a6_hw_text"/>
          <p:cNvSpPr txBox="1"/>
          <p:nvPr/>
        </p:nvSpPr>
        <p:spPr>
          <a:xfrm>
            <a:off x="8595360" y="329184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page to your site and link both pages to each other.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Nile Code">
  <a:themeElements>
    <a:clrScheme name="Nile Code">
      <a:dk1>
        <a:srgbClr val="0B1B2E"/>
      </a:dk1>
      <a:lt1>
        <a:srgbClr val="FFFFFF"/>
      </a:lt1>
      <a:dk2>
        <a:srgbClr val="0F5F5A"/>
      </a:dk2>
      <a:lt2>
        <a:srgbClr val="E8F0EF"/>
      </a:lt2>
      <a:accent1>
        <a:srgbClr val="14B8A6"/>
      </a:accent1>
      <a:accent2>
        <a:srgbClr val="F5B301"/>
      </a:accent2>
      <a:accent3>
        <a:srgbClr val="FF6B4A"/>
      </a:accent3>
      <a:accent4>
        <a:srgbClr val="8C92FF"/>
      </a:accent4>
      <a:accent5>
        <a:srgbClr val="4ADE80"/>
      </a:accent5>
      <a:accent6>
        <a:srgbClr val="38BDF8"/>
      </a:accent6>
      <a:hlink>
        <a:srgbClr val="0F5F5A"/>
      </a:hlink>
      <a:folHlink>
        <a:srgbClr val="8C92FF"/>
      </a:folHlink>
    </a:clrScheme>
    <a:fontScheme name="Nile Cod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HTML Fundamentals - Lesson 2: Text, Links &amp; Images</dc:title>
  <dc:subject>HTML for school students</dc:subject>
  <dc:creator>HTML Fundamentals Course</dc:creator>
  <cp:lastModifiedBy>HTML Fundamentals Course</cp:lastModifiedBy>
  <cp:revision>1</cp:revision>
  <dcterms:created xsi:type="dcterms:W3CDTF">2026-10-04T23:24:59Z</dcterms:created>
  <dcterms:modified xsi:type="dcterms:W3CDTF">2026-10-04T23:24:59Z</dcterms:modified>
</cp:coreProperties>
</file>