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08e9b0e4-6754-4a41-3d9a-8d825218c1d4}">
          <p14:sldIdLst>
            <p14:sldId id="256"/>
            <p14:sldId id="257"/>
          </p14:sldIdLst>
        </p14:section>
        <p14:section name="Tables" id="{e27de3d3-5619-652c-a3ed-c4e4867694dd}">
          <p14:sldIdLst>
            <p14:sldId id="258"/>
            <p14:sldId id="259"/>
          </p14:sldIdLst>
        </p14:section>
        <p14:section name="Forms" id="{2a9b5aa6-ddd1-a9c5-612f-29e07dd9ab63}">
          <p14:sldIdLst>
            <p14:sldId id="260"/>
            <p14:sldId id="261"/>
            <p14:sldId id="262"/>
          </p14:sldIdLst>
        </p14:section>
        <p14:section name="Page layout" id="{b5b1bdca-0de7-2f7f-b78c-7ee9977cf423}">
          <p14:sldIdLst>
            <p14:sldId id="263"/>
            <p14:sldId id="264"/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lesson of the series: students finish with a mini-site.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Mnemonic: table row, table header, table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form without a server cannot really send data yet. That needs a back-end, which is a later topic. Today we focus on the building blocks.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 the type live and show how the field behaves differently.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Sites like news pages all follow this pattern. 'Semantic' means the tag name describes its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 messy page and a clean page side by side. Ask which one they would rather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Allow the full session. Have students bookmark their site in the school lab folder.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Celebrate! Next series: CSS.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57400"/>
            <a:ext cx="75895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23360"/>
            <a:ext cx="69494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931920" y="2103120"/>
            <a:ext cx="76809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3931920" y="3611880"/>
            <a:ext cx="76809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Fundamentals  |  Lesson 3: Tables, Forms &amp; Layout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CONTEN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Fundamentals  |  Lesson 3: Tables, Forms &amp; Layout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5_ico_sun"/>
          <p:cNvSpPr/>
          <p:nvPr/>
        </p:nvSpPr>
        <p:spPr>
          <a:xfrm>
            <a:off x="9966960" y="822960"/>
            <a:ext cx="1371600" cy="1371600"/>
          </a:xfrm>
          <a:prstGeom prst="ellipse">
            <a:avLst/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4" name="a5_halo"/>
          <p:cNvSpPr/>
          <p:nvPr/>
        </p:nvSpPr>
        <p:spPr>
          <a:xfrm>
            <a:off x="8595360" y="-1097280"/>
            <a:ext cx="4206240" cy="420624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5" name="a6_pyr1"/>
          <p:cNvSpPr/>
          <p:nvPr/>
        </p:nvSpPr>
        <p:spPr>
          <a:xfrm>
            <a:off x="7406640" y="4160520"/>
            <a:ext cx="2651760" cy="2240280"/>
          </a:xfrm>
          <a:prstGeom prst="triangle">
            <a:avLst/>
          </a:prstGeom>
          <a:solidFill>
            <a:schemeClr val="accent1">
              <a:alpha val="75000"/>
            </a:schemeClr>
          </a:solidFill>
          <a:ln/>
        </p:spPr>
      </p:sp>
      <p:sp>
        <p:nvSpPr>
          <p:cNvPr id="6" name="a6_pyr2"/>
          <p:cNvSpPr/>
          <p:nvPr/>
        </p:nvSpPr>
        <p:spPr>
          <a:xfrm>
            <a:off x="8869680" y="2743200"/>
            <a:ext cx="3017520" cy="3657600"/>
          </a:xfrm>
          <a:prstGeom prst="triangle">
            <a:avLst/>
          </a:prstGeom>
          <a:solidFill>
            <a:schemeClr val="accent2"/>
          </a:solidFill>
          <a:ln/>
        </p:spPr>
      </p:sp>
      <p:sp>
        <p:nvSpPr>
          <p:cNvPr id="7" name="a6_pyr3"/>
          <p:cNvSpPr/>
          <p:nvPr/>
        </p:nvSpPr>
        <p:spPr>
          <a:xfrm>
            <a:off x="10561320" y="4709160"/>
            <a:ext cx="1371600" cy="1691640"/>
          </a:xfrm>
          <a:prstGeom prst="triangle">
            <a:avLst/>
          </a:prstGeom>
          <a:solidFill>
            <a:schemeClr val="accent3">
              <a:alpha val="85000"/>
            </a:schemeClr>
          </a:solidFill>
          <a:ln/>
        </p:spPr>
      </p:sp>
      <p:sp>
        <p:nvSpPr>
          <p:cNvPr id="8" name="a1_pill"/>
          <p:cNvSpPr/>
          <p:nvPr/>
        </p:nvSpPr>
        <p:spPr>
          <a:xfrm>
            <a:off x="731520" y="1325880"/>
            <a:ext cx="228600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9" name="a1_pill_text"/>
          <p:cNvSpPr txBox="1"/>
          <p:nvPr/>
        </p:nvSpPr>
        <p:spPr>
          <a:xfrm>
            <a:off x="731520" y="1325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</a:t>
            </a:r>
            <a:endParaRPr lang="en-US" sz="1400" dirty="0"/>
          </a:p>
        </p:txBody>
      </p:sp>
      <p:sp>
        <p:nvSpPr>
          <p:cNvPr id="10" name="Text 0"/>
          <p:cNvSpPr/>
          <p:nvPr>
            <p:ph idx="100" type="title" hasCustomPrompt="1"/>
          </p:nvPr>
        </p:nvSpPr>
        <p:spPr>
          <a:xfrm>
            <a:off x="731520" y="2057400"/>
            <a:ext cx="7589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Tables, Forms &amp; Page Layout</a:t>
            </a:r>
            <a:endParaRPr lang="en-US" sz="5400" dirty="0"/>
          </a:p>
        </p:txBody>
      </p:sp>
      <p:sp>
        <p:nvSpPr>
          <p:cNvPr id="11" name="Text 0"/>
          <p:cNvSpPr/>
          <p:nvPr>
            <p:ph idx="101" type="body" hasCustomPrompt="1"/>
          </p:nvPr>
        </p:nvSpPr>
        <p:spPr>
          <a:xfrm>
            <a:off x="731520" y="402336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Organise data, collect answers and structure your site</a:t>
            </a:r>
            <a:endParaRPr lang="en-US" sz="2200" dirty="0"/>
          </a:p>
        </p:txBody>
      </p:sp>
      <p:sp>
        <p:nvSpPr>
          <p:cNvPr id="12" name="a4_ar"/>
          <p:cNvSpPr txBox="1"/>
          <p:nvPr/>
        </p:nvSpPr>
        <p:spPr>
          <a:xfrm>
            <a:off x="731520" y="49834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EG" altLang="en-US" sz="2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الدرس الثالث: الجداول والنماذج وتنظيم الصفحة</a:t>
            </a:r>
            <a:endParaRPr lang="ar-EG" sz="2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rippl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By the end of this lesson you will…</a:t>
            </a:r>
            <a:endParaRPr lang="en-US" sz="3600" dirty="0"/>
          </a:p>
        </p:txBody>
      </p:sp>
      <p:sp>
        <p:nvSpPr>
          <p:cNvPr id="3" name="a1_ico_bg"/>
          <p:cNvSpPr/>
          <p:nvPr/>
        </p:nvSpPr>
        <p:spPr>
          <a:xfrm>
            <a:off x="548640" y="160020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a1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495" y="1810055"/>
            <a:ext cx="357530" cy="357530"/>
          </a:xfrm>
          <a:prstGeom prst="rect">
            <a:avLst/>
          </a:prstGeom>
        </p:spPr>
      </p:pic>
      <p:sp>
        <p:nvSpPr>
          <p:cNvPr id="5" name="a1_text"/>
          <p:cNvSpPr txBox="1"/>
          <p:nvPr/>
        </p:nvSpPr>
        <p:spPr>
          <a:xfrm>
            <a:off x="1600200" y="160020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table with rows and cells</a:t>
            </a:r>
            <a:endParaRPr lang="en-US" sz="2200" dirty="0"/>
          </a:p>
        </p:txBody>
      </p:sp>
      <p:sp>
        <p:nvSpPr>
          <p:cNvPr id="6" name="a2_ico_bg"/>
          <p:cNvSpPr/>
          <p:nvPr/>
        </p:nvSpPr>
        <p:spPr>
          <a:xfrm>
            <a:off x="548640" y="2679192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a2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495" y="2889047"/>
            <a:ext cx="357530" cy="357530"/>
          </a:xfrm>
          <a:prstGeom prst="rect">
            <a:avLst/>
          </a:prstGeom>
        </p:spPr>
      </p:pic>
      <p:sp>
        <p:nvSpPr>
          <p:cNvPr id="8" name="a2_text"/>
          <p:cNvSpPr txBox="1"/>
          <p:nvPr/>
        </p:nvSpPr>
        <p:spPr>
          <a:xfrm>
            <a:off x="1600200" y="2679192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simple form with inputs</a:t>
            </a:r>
            <a:endParaRPr lang="en-US" sz="2200" dirty="0"/>
          </a:p>
        </p:txBody>
      </p:sp>
      <p:sp>
        <p:nvSpPr>
          <p:cNvPr id="9" name="a3_ico_bg"/>
          <p:cNvSpPr/>
          <p:nvPr/>
        </p:nvSpPr>
        <p:spPr>
          <a:xfrm>
            <a:off x="548640" y="3758184"/>
            <a:ext cx="777240" cy="77724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0" name="a3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495" y="3968039"/>
            <a:ext cx="357530" cy="357530"/>
          </a:xfrm>
          <a:prstGeom prst="rect">
            <a:avLst/>
          </a:prstGeom>
        </p:spPr>
      </p:pic>
      <p:sp>
        <p:nvSpPr>
          <p:cNvPr id="11" name="a3_text"/>
          <p:cNvSpPr txBox="1"/>
          <p:nvPr/>
        </p:nvSpPr>
        <p:spPr>
          <a:xfrm>
            <a:off x="1600200" y="3758184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a page with semantic tags</a:t>
            </a:r>
            <a:endParaRPr lang="en-US" sz="2200" dirty="0"/>
          </a:p>
        </p:txBody>
      </p:sp>
      <p:sp>
        <p:nvSpPr>
          <p:cNvPr id="12" name="a4_ico_bg"/>
          <p:cNvSpPr/>
          <p:nvPr/>
        </p:nvSpPr>
        <p:spPr>
          <a:xfrm>
            <a:off x="548640" y="4837176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3" name="a4_ico_im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495" y="5047031"/>
            <a:ext cx="357530" cy="357530"/>
          </a:xfrm>
          <a:prstGeom prst="rect">
            <a:avLst/>
          </a:prstGeom>
        </p:spPr>
      </p:pic>
      <p:sp>
        <p:nvSpPr>
          <p:cNvPr id="14" name="a4_text"/>
          <p:cNvSpPr txBox="1"/>
          <p:nvPr/>
        </p:nvSpPr>
        <p:spPr>
          <a:xfrm>
            <a:off x="1600200" y="4837176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clean-code habits</a:t>
            </a:r>
            <a:endParaRPr lang="en-US" sz="2200" dirty="0"/>
          </a:p>
        </p:txBody>
      </p:sp>
      <p:sp>
        <p:nvSpPr>
          <p:cNvPr id="15" name="a5_panel"/>
          <p:cNvSpPr/>
          <p:nvPr/>
        </p:nvSpPr>
        <p:spPr>
          <a:xfrm>
            <a:off x="8503920" y="1600200"/>
            <a:ext cx="3136392" cy="4251960"/>
          </a:xfrm>
          <a:prstGeom prst="roundRect">
            <a:avLst>
              <a:gd name="adj" fmla="val 5831"/>
            </a:avLst>
          </a:prstGeom>
          <a:solidFill>
            <a:schemeClr val="tx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pic>
        <p:nvPicPr>
          <p:cNvPr id="16" name="a5_ico_panel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0344" y="2057400"/>
            <a:ext cx="914400" cy="914400"/>
          </a:xfrm>
          <a:prstGeom prst="rect">
            <a:avLst/>
          </a:prstGeom>
        </p:spPr>
      </p:pic>
      <p:sp>
        <p:nvSpPr>
          <p:cNvPr id="17" name="a5_panel_label"/>
          <p:cNvSpPr txBox="1"/>
          <p:nvPr/>
        </p:nvSpPr>
        <p:spPr>
          <a:xfrm>
            <a:off x="8823960" y="3246120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GOAL</a:t>
            </a:r>
            <a:endParaRPr lang="en-US" sz="1400" dirty="0"/>
          </a:p>
        </p:txBody>
      </p:sp>
      <p:sp>
        <p:nvSpPr>
          <p:cNvPr id="18" name="a5_panel_text"/>
          <p:cNvSpPr txBox="1"/>
          <p:nvPr/>
        </p:nvSpPr>
        <p:spPr>
          <a:xfrm>
            <a:off x="8823960" y="3657600"/>
            <a:ext cx="249631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your Discover Egypt mini-site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53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5_halo"/>
          <p:cNvSpPr/>
          <p:nvPr/>
        </p:nvSpPr>
        <p:spPr>
          <a:xfrm>
            <a:off x="-1371600" y="4023360"/>
            <a:ext cx="4572000" cy="4572000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3" name="a5_halo2"/>
          <p:cNvSpPr/>
          <p:nvPr/>
        </p:nvSpPr>
        <p:spPr>
          <a:xfrm>
            <a:off x="9875520" y="-1280160"/>
            <a:ext cx="3474720" cy="3474720"/>
          </a:xfrm>
          <a:prstGeom prst="ellipse">
            <a:avLst/>
          </a:prstGeom>
          <a:solidFill>
            <a:schemeClr val="accent2">
              <a:alpha val="18000"/>
            </a:schemeClr>
          </a:solidFill>
          <a:ln/>
        </p:spPr>
      </p:sp>
      <p:sp>
        <p:nvSpPr>
          <p:cNvPr id="4" name="a1_num"/>
          <p:cNvSpPr txBox="1"/>
          <p:nvPr/>
        </p:nvSpPr>
        <p:spPr>
          <a:xfrm>
            <a:off x="640080" y="14630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931920" y="210312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Tables</a:t>
            </a:r>
            <a:endParaRPr lang="en-US" sz="46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3931920" y="36118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Show data in rows and columns</a:t>
            </a:r>
            <a:endParaRPr lang="en-US" sz="2200" dirty="0"/>
          </a:p>
        </p:txBody>
      </p:sp>
      <p:sp>
        <p:nvSpPr>
          <p:cNvPr id="7" name="a4_ar"/>
          <p:cNvSpPr txBox="1"/>
          <p:nvPr/>
        </p:nvSpPr>
        <p:spPr>
          <a:xfrm>
            <a:off x="3931920" y="43434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EG" altLang="en-US" sz="24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الجداول</a:t>
            </a:r>
            <a:endParaRPr lang="ar-EG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rism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Building a table</a:t>
            </a:r>
            <a:endParaRPr lang="en-US" sz="3600" dirty="0"/>
          </a:p>
        </p:txBody>
      </p:sp>
      <p:sp>
        <p:nvSpPr>
          <p:cNvPr id="4" name="a1_code"/>
          <p:cNvSpPr/>
          <p:nvPr/>
        </p:nvSpPr>
        <p:spPr>
          <a:xfrm>
            <a:off x="548640" y="1554480"/>
            <a:ext cx="5394960" cy="4114800"/>
          </a:xfrm>
          <a:prstGeom prst="roundRect">
            <a:avLst>
              <a:gd name="adj" fmla="val 3111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a1_code_dot"/>
          <p:cNvSpPr/>
          <p:nvPr/>
        </p:nvSpPr>
        <p:spPr>
          <a:xfrm>
            <a:off x="804672" y="1773936"/>
            <a:ext cx="137160" cy="1371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a1_code_dot"/>
          <p:cNvSpPr/>
          <p:nvPr/>
        </p:nvSpPr>
        <p:spPr>
          <a:xfrm>
            <a:off x="1042416" y="1773936"/>
            <a:ext cx="137160" cy="1371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a1_code_dot"/>
          <p:cNvSpPr/>
          <p:nvPr/>
        </p:nvSpPr>
        <p:spPr>
          <a:xfrm>
            <a:off x="1280160" y="1773936"/>
            <a:ext cx="137160" cy="13716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8" name="a1_code_file"/>
          <p:cNvSpPr txBox="1"/>
          <p:nvPr/>
        </p:nvSpPr>
        <p:spPr>
          <a:xfrm>
            <a:off x="1645920" y="170078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table.html</a:t>
            </a:r>
            <a:endParaRPr lang="en-US" sz="1300" dirty="0"/>
          </a:p>
        </p:txBody>
      </p:sp>
      <p:sp>
        <p:nvSpPr>
          <p:cNvPr id="9" name="a1_code_text"/>
          <p:cNvSpPr txBox="1"/>
          <p:nvPr/>
        </p:nvSpPr>
        <p:spPr>
          <a:xfrm>
            <a:off x="841248" y="2148840"/>
            <a:ext cx="4937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&lt;tr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&lt;th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&lt;/th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&lt;th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&lt;/th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&lt;/tr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&lt;tr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&lt;td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Ahmed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&lt;/td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&lt;td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Cairo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&lt;/td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&lt;/tr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&lt;/table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600" dirty="0"/>
          </a:p>
        </p:txBody>
      </p:sp>
      <p:sp>
        <p:nvSpPr>
          <p:cNvPr id="10" name="a2_browser"/>
          <p:cNvSpPr/>
          <p:nvPr/>
        </p:nvSpPr>
        <p:spPr>
          <a:xfrm>
            <a:off x="6217920" y="1554480"/>
            <a:ext cx="5425135" cy="2011680"/>
          </a:xfrm>
          <a:prstGeom prst="rect">
            <a:avLst/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a2_browser_bar"/>
          <p:cNvSpPr/>
          <p:nvPr/>
        </p:nvSpPr>
        <p:spPr>
          <a:xfrm>
            <a:off x="6217920" y="1554480"/>
            <a:ext cx="5425135" cy="42062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a2_browser_dot"/>
          <p:cNvSpPr/>
          <p:nvPr/>
        </p:nvSpPr>
        <p:spPr>
          <a:xfrm>
            <a:off x="6419088" y="1700784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3" name="a2_browser_dot"/>
          <p:cNvSpPr/>
          <p:nvPr/>
        </p:nvSpPr>
        <p:spPr>
          <a:xfrm>
            <a:off x="6638544" y="1700784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a2_browser_dot"/>
          <p:cNvSpPr/>
          <p:nvPr/>
        </p:nvSpPr>
        <p:spPr>
          <a:xfrm>
            <a:off x="6858000" y="1700784"/>
            <a:ext cx="128016" cy="12801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5" name="a2_browser_url"/>
          <p:cNvSpPr/>
          <p:nvPr/>
        </p:nvSpPr>
        <p:spPr>
          <a:xfrm>
            <a:off x="7178040" y="1627632"/>
            <a:ext cx="4190695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16" name="a2_browser_urltext"/>
          <p:cNvSpPr txBox="1"/>
          <p:nvPr/>
        </p:nvSpPr>
        <p:spPr>
          <a:xfrm>
            <a:off x="7315200" y="162763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table.html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2267712"/>
          <a:ext cx="4419295" cy="914400"/>
        </p:xfrm>
        <a:graphic>
          <a:graphicData uri="http://schemas.openxmlformats.org/drawingml/2006/table">
            <a:tbl>
              <a:tblPr/>
              <a:tblGrid>
                <a:gridCol w="2209648"/>
                <a:gridCol w="220964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F5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5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5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5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F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F5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5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5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5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F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Ahmed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F5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5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5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5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Cairo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F5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5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5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5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a3_chip"/>
          <p:cNvSpPr/>
          <p:nvPr/>
        </p:nvSpPr>
        <p:spPr>
          <a:xfrm>
            <a:off x="6217920" y="3840480"/>
            <a:ext cx="109728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</p:sp>
      <p:sp>
        <p:nvSpPr>
          <p:cNvPr id="19" name="a3_chip_text"/>
          <p:cNvSpPr txBox="1"/>
          <p:nvPr/>
        </p:nvSpPr>
        <p:spPr>
          <a:xfrm>
            <a:off x="6217920" y="38404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&lt;tr&gt;</a:t>
            </a:r>
            <a:endParaRPr lang="en-US" sz="1500" dirty="0"/>
          </a:p>
        </p:txBody>
      </p:sp>
      <p:sp>
        <p:nvSpPr>
          <p:cNvPr id="20" name="a3_chip_desc"/>
          <p:cNvSpPr txBox="1"/>
          <p:nvPr/>
        </p:nvSpPr>
        <p:spPr>
          <a:xfrm>
            <a:off x="7498080" y="3840480"/>
            <a:ext cx="4144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 row</a:t>
            </a:r>
            <a:endParaRPr lang="en-US" sz="1600" dirty="0"/>
          </a:p>
        </p:txBody>
      </p:sp>
      <p:sp>
        <p:nvSpPr>
          <p:cNvPr id="21" name="a4_chip"/>
          <p:cNvSpPr/>
          <p:nvPr/>
        </p:nvSpPr>
        <p:spPr>
          <a:xfrm>
            <a:off x="6217920" y="4498848"/>
            <a:ext cx="1097280" cy="54864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22" name="a4_chip_text"/>
          <p:cNvSpPr txBox="1"/>
          <p:nvPr/>
        </p:nvSpPr>
        <p:spPr>
          <a:xfrm>
            <a:off x="6217920" y="449884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&lt;th&gt;</a:t>
            </a:r>
            <a:endParaRPr lang="en-US" sz="1500" dirty="0"/>
          </a:p>
        </p:txBody>
      </p:sp>
      <p:sp>
        <p:nvSpPr>
          <p:cNvPr id="23" name="a4_chip_desc"/>
          <p:cNvSpPr txBox="1"/>
          <p:nvPr/>
        </p:nvSpPr>
        <p:spPr>
          <a:xfrm>
            <a:off x="7498080" y="4498848"/>
            <a:ext cx="4144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cell (bold, centred)</a:t>
            </a:r>
            <a:endParaRPr lang="en-US" sz="1600" dirty="0"/>
          </a:p>
        </p:txBody>
      </p:sp>
      <p:sp>
        <p:nvSpPr>
          <p:cNvPr id="24" name="a5_chip"/>
          <p:cNvSpPr/>
          <p:nvPr/>
        </p:nvSpPr>
        <p:spPr>
          <a:xfrm>
            <a:off x="6217920" y="5157216"/>
            <a:ext cx="1097280" cy="54864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/>
        </p:spPr>
      </p:sp>
      <p:sp>
        <p:nvSpPr>
          <p:cNvPr id="25" name="a5_chip_text"/>
          <p:cNvSpPr txBox="1"/>
          <p:nvPr/>
        </p:nvSpPr>
        <p:spPr>
          <a:xfrm>
            <a:off x="6217920" y="5157216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&lt;td&gt;</a:t>
            </a:r>
            <a:endParaRPr lang="en-US" sz="1500" dirty="0"/>
          </a:p>
        </p:txBody>
      </p:sp>
      <p:sp>
        <p:nvSpPr>
          <p:cNvPr id="26" name="a5_chip_desc"/>
          <p:cNvSpPr txBox="1"/>
          <p:nvPr/>
        </p:nvSpPr>
        <p:spPr>
          <a:xfrm>
            <a:off x="7498080" y="5157216"/>
            <a:ext cx="4144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cell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5_halo"/>
          <p:cNvSpPr/>
          <p:nvPr/>
        </p:nvSpPr>
        <p:spPr>
          <a:xfrm>
            <a:off x="-1371600" y="4023360"/>
            <a:ext cx="4572000" cy="4572000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3" name="a5_halo2"/>
          <p:cNvSpPr/>
          <p:nvPr/>
        </p:nvSpPr>
        <p:spPr>
          <a:xfrm>
            <a:off x="9875520" y="-1280160"/>
            <a:ext cx="3474720" cy="3474720"/>
          </a:xfrm>
          <a:prstGeom prst="ellipse">
            <a:avLst/>
          </a:prstGeom>
          <a:solidFill>
            <a:schemeClr val="accent2">
              <a:alpha val="18000"/>
            </a:schemeClr>
          </a:solidFill>
          <a:ln/>
        </p:spPr>
      </p:sp>
      <p:sp>
        <p:nvSpPr>
          <p:cNvPr id="4" name="a1_num"/>
          <p:cNvSpPr txBox="1"/>
          <p:nvPr/>
        </p:nvSpPr>
        <p:spPr>
          <a:xfrm>
            <a:off x="640080" y="14630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931920" y="210312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Forms</a:t>
            </a:r>
            <a:endParaRPr lang="en-US" sz="46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3931920" y="36118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Let visitors type and send information</a:t>
            </a:r>
            <a:endParaRPr lang="en-US" sz="2200" dirty="0"/>
          </a:p>
        </p:txBody>
      </p:sp>
      <p:sp>
        <p:nvSpPr>
          <p:cNvPr id="7" name="a4_ar"/>
          <p:cNvSpPr txBox="1"/>
          <p:nvPr/>
        </p:nvSpPr>
        <p:spPr>
          <a:xfrm>
            <a:off x="3931920" y="43434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EG" altLang="en-US" sz="24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النماذج</a:t>
            </a:r>
            <a:endParaRPr lang="ar-EG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rism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 simple contact form</a:t>
            </a:r>
            <a:endParaRPr lang="en-US" sz="3600" dirty="0"/>
          </a:p>
        </p:txBody>
      </p:sp>
      <p:sp>
        <p:nvSpPr>
          <p:cNvPr id="4" name="a1_code"/>
          <p:cNvSpPr/>
          <p:nvPr/>
        </p:nvSpPr>
        <p:spPr>
          <a:xfrm>
            <a:off x="548640" y="1554480"/>
            <a:ext cx="5394960" cy="3749040"/>
          </a:xfrm>
          <a:prstGeom prst="roundRect">
            <a:avLst>
              <a:gd name="adj" fmla="val 3415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a1_code_dot"/>
          <p:cNvSpPr/>
          <p:nvPr/>
        </p:nvSpPr>
        <p:spPr>
          <a:xfrm>
            <a:off x="804672" y="1773936"/>
            <a:ext cx="137160" cy="1371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a1_code_dot"/>
          <p:cNvSpPr/>
          <p:nvPr/>
        </p:nvSpPr>
        <p:spPr>
          <a:xfrm>
            <a:off x="1042416" y="1773936"/>
            <a:ext cx="137160" cy="1371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a1_code_dot"/>
          <p:cNvSpPr/>
          <p:nvPr/>
        </p:nvSpPr>
        <p:spPr>
          <a:xfrm>
            <a:off x="1280160" y="1773936"/>
            <a:ext cx="137160" cy="13716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8" name="a1_code_file"/>
          <p:cNvSpPr txBox="1"/>
          <p:nvPr/>
        </p:nvSpPr>
        <p:spPr>
          <a:xfrm>
            <a:off x="1645920" y="170078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contact.html</a:t>
            </a:r>
            <a:endParaRPr lang="en-US" sz="1300" dirty="0"/>
          </a:p>
        </p:txBody>
      </p:sp>
      <p:sp>
        <p:nvSpPr>
          <p:cNvPr id="9" name="a1_code_text"/>
          <p:cNvSpPr txBox="1"/>
          <p:nvPr/>
        </p:nvSpPr>
        <p:spPr>
          <a:xfrm>
            <a:off x="841248" y="2148840"/>
            <a:ext cx="4937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&lt;label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&lt;/label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"text"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&lt;label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Email: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&lt;/label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"email"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600" dirty="0"/>
          </a:p>
        </p:txBody>
      </p:sp>
      <p:sp>
        <p:nvSpPr>
          <p:cNvPr id="10" name="a2_browser"/>
          <p:cNvSpPr/>
          <p:nvPr/>
        </p:nvSpPr>
        <p:spPr>
          <a:xfrm>
            <a:off x="6217920" y="1554480"/>
            <a:ext cx="5425135" cy="3749040"/>
          </a:xfrm>
          <a:prstGeom prst="rect">
            <a:avLst/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a2_browser_bar"/>
          <p:cNvSpPr/>
          <p:nvPr/>
        </p:nvSpPr>
        <p:spPr>
          <a:xfrm>
            <a:off x="6217920" y="1554480"/>
            <a:ext cx="5425135" cy="42062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a2_browser_dot"/>
          <p:cNvSpPr/>
          <p:nvPr/>
        </p:nvSpPr>
        <p:spPr>
          <a:xfrm>
            <a:off x="6419088" y="1700784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3" name="a2_browser_dot"/>
          <p:cNvSpPr/>
          <p:nvPr/>
        </p:nvSpPr>
        <p:spPr>
          <a:xfrm>
            <a:off x="6638544" y="1700784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a2_browser_dot"/>
          <p:cNvSpPr/>
          <p:nvPr/>
        </p:nvSpPr>
        <p:spPr>
          <a:xfrm>
            <a:off x="6858000" y="1700784"/>
            <a:ext cx="128016" cy="12801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5" name="a2_browser_url"/>
          <p:cNvSpPr/>
          <p:nvPr/>
        </p:nvSpPr>
        <p:spPr>
          <a:xfrm>
            <a:off x="7178040" y="1627632"/>
            <a:ext cx="4190695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16" name="a2_browser_urltext"/>
          <p:cNvSpPr txBox="1"/>
          <p:nvPr/>
        </p:nvSpPr>
        <p:spPr>
          <a:xfrm>
            <a:off x="7315200" y="162763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contact.html</a:t>
            </a:r>
            <a:endParaRPr lang="en-US" sz="1200" dirty="0"/>
          </a:p>
        </p:txBody>
      </p:sp>
      <p:sp>
        <p:nvSpPr>
          <p:cNvPr id="17" name="a2_f1l"/>
          <p:cNvSpPr txBox="1"/>
          <p:nvPr/>
        </p:nvSpPr>
        <p:spPr>
          <a:xfrm>
            <a:off x="6537960" y="22219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Name:</a:t>
            </a:r>
            <a:endParaRPr lang="en-US" sz="1600" dirty="0"/>
          </a:p>
        </p:txBody>
      </p:sp>
      <p:sp>
        <p:nvSpPr>
          <p:cNvPr id="18" name="a2_f1i"/>
          <p:cNvSpPr/>
          <p:nvPr/>
        </p:nvSpPr>
        <p:spPr>
          <a:xfrm>
            <a:off x="6537960" y="2587752"/>
            <a:ext cx="4785055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19" name="a2_f2l"/>
          <p:cNvSpPr txBox="1"/>
          <p:nvPr/>
        </p:nvSpPr>
        <p:spPr>
          <a:xfrm>
            <a:off x="6537960" y="31821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Email:</a:t>
            </a:r>
            <a:endParaRPr lang="en-US" sz="1600" dirty="0"/>
          </a:p>
        </p:txBody>
      </p:sp>
      <p:sp>
        <p:nvSpPr>
          <p:cNvPr id="20" name="a2_f2i"/>
          <p:cNvSpPr/>
          <p:nvPr/>
        </p:nvSpPr>
        <p:spPr>
          <a:xfrm>
            <a:off x="6537960" y="3547872"/>
            <a:ext cx="4785055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21" name="a2_btn"/>
          <p:cNvSpPr/>
          <p:nvPr/>
        </p:nvSpPr>
        <p:spPr>
          <a:xfrm>
            <a:off x="6537960" y="4279392"/>
            <a:ext cx="146304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22" name="a2_btn_t"/>
          <p:cNvSpPr txBox="1"/>
          <p:nvPr/>
        </p:nvSpPr>
        <p:spPr>
          <a:xfrm>
            <a:off x="6537960" y="427939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Send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Form tags and input types</a:t>
            </a:r>
            <a:endParaRPr lang="en-US" sz="3600" dirty="0"/>
          </a:p>
        </p:txBody>
      </p:sp>
      <p:sp>
        <p:nvSpPr>
          <p:cNvPr id="4" name="a1_pill"/>
          <p:cNvSpPr/>
          <p:nvPr/>
        </p:nvSpPr>
        <p:spPr>
          <a:xfrm>
            <a:off x="548640" y="1600200"/>
            <a:ext cx="2468880" cy="566928"/>
          </a:xfrm>
          <a:prstGeom prst="roundRect">
            <a:avLst>
              <a:gd name="adj" fmla="val 19355"/>
            </a:avLst>
          </a:prstGeom>
          <a:solidFill>
            <a:schemeClr val="accent1"/>
          </a:solidFill>
          <a:ln/>
        </p:spPr>
      </p:sp>
      <p:sp>
        <p:nvSpPr>
          <p:cNvPr id="5" name="a1_pill_text"/>
          <p:cNvSpPr txBox="1"/>
          <p:nvPr/>
        </p:nvSpPr>
        <p:spPr>
          <a:xfrm>
            <a:off x="548640" y="160020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&lt;form&gt;</a:t>
            </a:r>
            <a:endParaRPr lang="en-US" sz="1800" dirty="0"/>
          </a:p>
        </p:txBody>
      </p:sp>
      <p:sp>
        <p:nvSpPr>
          <p:cNvPr id="6" name="a1_desc"/>
          <p:cNvSpPr txBox="1"/>
          <p:nvPr/>
        </p:nvSpPr>
        <p:spPr>
          <a:xfrm>
            <a:off x="3246120" y="1563624"/>
            <a:ext cx="2666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the whole form</a:t>
            </a:r>
            <a:endParaRPr lang="en-US" sz="1800" dirty="0"/>
          </a:p>
        </p:txBody>
      </p:sp>
      <p:sp>
        <p:nvSpPr>
          <p:cNvPr id="7" name="a2_pill"/>
          <p:cNvSpPr/>
          <p:nvPr/>
        </p:nvSpPr>
        <p:spPr>
          <a:xfrm>
            <a:off x="548640" y="2514600"/>
            <a:ext cx="2468880" cy="566928"/>
          </a:xfrm>
          <a:prstGeom prst="roundRect">
            <a:avLst>
              <a:gd name="adj" fmla="val 19355"/>
            </a:avLst>
          </a:prstGeom>
          <a:solidFill>
            <a:schemeClr val="accent2"/>
          </a:solidFill>
          <a:ln/>
        </p:spPr>
      </p:sp>
      <p:sp>
        <p:nvSpPr>
          <p:cNvPr id="8" name="a2_pill_text"/>
          <p:cNvSpPr txBox="1"/>
          <p:nvPr/>
        </p:nvSpPr>
        <p:spPr>
          <a:xfrm>
            <a:off x="548640" y="251460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&lt;label&gt;</a:t>
            </a:r>
            <a:endParaRPr lang="en-US" sz="1800" dirty="0"/>
          </a:p>
        </p:txBody>
      </p:sp>
      <p:sp>
        <p:nvSpPr>
          <p:cNvPr id="9" name="a2_desc"/>
          <p:cNvSpPr txBox="1"/>
          <p:nvPr/>
        </p:nvSpPr>
        <p:spPr>
          <a:xfrm>
            <a:off x="3246120" y="2478024"/>
            <a:ext cx="2666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a field</a:t>
            </a:r>
            <a:endParaRPr lang="en-US" sz="1800" dirty="0"/>
          </a:p>
        </p:txBody>
      </p:sp>
      <p:sp>
        <p:nvSpPr>
          <p:cNvPr id="10" name="a3_pill"/>
          <p:cNvSpPr/>
          <p:nvPr/>
        </p:nvSpPr>
        <p:spPr>
          <a:xfrm>
            <a:off x="548640" y="3429000"/>
            <a:ext cx="2468880" cy="566928"/>
          </a:xfrm>
          <a:prstGeom prst="roundRect">
            <a:avLst>
              <a:gd name="adj" fmla="val 19355"/>
            </a:avLst>
          </a:prstGeom>
          <a:solidFill>
            <a:schemeClr val="accent6"/>
          </a:solidFill>
          <a:ln/>
        </p:spPr>
      </p:sp>
      <p:sp>
        <p:nvSpPr>
          <p:cNvPr id="11" name="a3_pill_text"/>
          <p:cNvSpPr txBox="1"/>
          <p:nvPr/>
        </p:nvSpPr>
        <p:spPr>
          <a:xfrm>
            <a:off x="548640" y="342900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&lt;input&gt;</a:t>
            </a:r>
            <a:endParaRPr lang="en-US" sz="1800" dirty="0"/>
          </a:p>
        </p:txBody>
      </p:sp>
      <p:sp>
        <p:nvSpPr>
          <p:cNvPr id="12" name="a3_desc"/>
          <p:cNvSpPr txBox="1"/>
          <p:nvPr/>
        </p:nvSpPr>
        <p:spPr>
          <a:xfrm>
            <a:off x="3246120" y="3392424"/>
            <a:ext cx="2666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user types</a:t>
            </a:r>
            <a:endParaRPr lang="en-US" sz="1800" dirty="0"/>
          </a:p>
        </p:txBody>
      </p:sp>
      <p:sp>
        <p:nvSpPr>
          <p:cNvPr id="13" name="a4_pill"/>
          <p:cNvSpPr/>
          <p:nvPr/>
        </p:nvSpPr>
        <p:spPr>
          <a:xfrm>
            <a:off x="548640" y="4343400"/>
            <a:ext cx="2468880" cy="566928"/>
          </a:xfrm>
          <a:prstGeom prst="roundRect">
            <a:avLst>
              <a:gd name="adj" fmla="val 19355"/>
            </a:avLst>
          </a:prstGeom>
          <a:solidFill>
            <a:schemeClr val="accent3"/>
          </a:solidFill>
          <a:ln/>
        </p:spPr>
      </p:sp>
      <p:sp>
        <p:nvSpPr>
          <p:cNvPr id="14" name="a4_pill_text"/>
          <p:cNvSpPr txBox="1"/>
          <p:nvPr/>
        </p:nvSpPr>
        <p:spPr>
          <a:xfrm>
            <a:off x="548640" y="434340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&lt;button&gt;</a:t>
            </a:r>
            <a:endParaRPr lang="en-US" sz="1800" dirty="0"/>
          </a:p>
        </p:txBody>
      </p:sp>
      <p:sp>
        <p:nvSpPr>
          <p:cNvPr id="15" name="a4_desc"/>
          <p:cNvSpPr txBox="1"/>
          <p:nvPr/>
        </p:nvSpPr>
        <p:spPr>
          <a:xfrm>
            <a:off x="3246120" y="4306824"/>
            <a:ext cx="2666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the form</a:t>
            </a:r>
            <a:endParaRPr lang="en-US" sz="1800" dirty="0"/>
          </a:p>
        </p:txBody>
      </p:sp>
      <p:sp>
        <p:nvSpPr>
          <p:cNvPr id="16" name="a5_pill"/>
          <p:cNvSpPr/>
          <p:nvPr/>
        </p:nvSpPr>
        <p:spPr>
          <a:xfrm>
            <a:off x="6278728" y="1600200"/>
            <a:ext cx="2468880" cy="566928"/>
          </a:xfrm>
          <a:prstGeom prst="roundRect">
            <a:avLst>
              <a:gd name="adj" fmla="val 19355"/>
            </a:avLst>
          </a:prstGeom>
          <a:solidFill>
            <a:schemeClr val="accent4"/>
          </a:solidFill>
          <a:ln/>
        </p:spPr>
      </p:sp>
      <p:sp>
        <p:nvSpPr>
          <p:cNvPr id="17" name="a5_pill_text"/>
          <p:cNvSpPr txBox="1"/>
          <p:nvPr/>
        </p:nvSpPr>
        <p:spPr>
          <a:xfrm>
            <a:off x="6278728" y="160020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type="text"</a:t>
            </a:r>
            <a:endParaRPr lang="en-US" sz="1800" dirty="0"/>
          </a:p>
        </p:txBody>
      </p:sp>
      <p:sp>
        <p:nvSpPr>
          <p:cNvPr id="18" name="a5_desc"/>
          <p:cNvSpPr txBox="1"/>
          <p:nvPr/>
        </p:nvSpPr>
        <p:spPr>
          <a:xfrm>
            <a:off x="8976208" y="1563624"/>
            <a:ext cx="2666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short text</a:t>
            </a:r>
            <a:endParaRPr lang="en-US" sz="1800" dirty="0"/>
          </a:p>
        </p:txBody>
      </p:sp>
      <p:sp>
        <p:nvSpPr>
          <p:cNvPr id="19" name="a6_pill"/>
          <p:cNvSpPr/>
          <p:nvPr/>
        </p:nvSpPr>
        <p:spPr>
          <a:xfrm>
            <a:off x="6278728" y="2514600"/>
            <a:ext cx="2468880" cy="566928"/>
          </a:xfrm>
          <a:prstGeom prst="roundRect">
            <a:avLst>
              <a:gd name="adj" fmla="val 19355"/>
            </a:avLst>
          </a:prstGeom>
          <a:solidFill>
            <a:schemeClr val="accent5"/>
          </a:solidFill>
          <a:ln/>
        </p:spPr>
      </p:sp>
      <p:sp>
        <p:nvSpPr>
          <p:cNvPr id="20" name="a6_pill_text"/>
          <p:cNvSpPr txBox="1"/>
          <p:nvPr/>
        </p:nvSpPr>
        <p:spPr>
          <a:xfrm>
            <a:off x="6278728" y="251460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type="email"</a:t>
            </a:r>
            <a:endParaRPr lang="en-US" sz="1800" dirty="0"/>
          </a:p>
        </p:txBody>
      </p:sp>
      <p:sp>
        <p:nvSpPr>
          <p:cNvPr id="21" name="a6_desc"/>
          <p:cNvSpPr txBox="1"/>
          <p:nvPr/>
        </p:nvSpPr>
        <p:spPr>
          <a:xfrm>
            <a:off x="8976208" y="2478024"/>
            <a:ext cx="2666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email address</a:t>
            </a:r>
            <a:endParaRPr lang="en-US" sz="1800" dirty="0"/>
          </a:p>
        </p:txBody>
      </p:sp>
      <p:sp>
        <p:nvSpPr>
          <p:cNvPr id="22" name="a7_pill"/>
          <p:cNvSpPr/>
          <p:nvPr/>
        </p:nvSpPr>
        <p:spPr>
          <a:xfrm>
            <a:off x="6278728" y="3429000"/>
            <a:ext cx="2468880" cy="566928"/>
          </a:xfrm>
          <a:prstGeom prst="roundRect">
            <a:avLst>
              <a:gd name="adj" fmla="val 19355"/>
            </a:avLst>
          </a:prstGeom>
          <a:solidFill>
            <a:schemeClr val="accent1"/>
          </a:solidFill>
          <a:ln/>
        </p:spPr>
      </p:sp>
      <p:sp>
        <p:nvSpPr>
          <p:cNvPr id="23" name="a7_pill_text"/>
          <p:cNvSpPr txBox="1"/>
          <p:nvPr/>
        </p:nvSpPr>
        <p:spPr>
          <a:xfrm>
            <a:off x="6278728" y="342900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type="password"</a:t>
            </a:r>
            <a:endParaRPr lang="en-US" sz="1800" dirty="0"/>
          </a:p>
        </p:txBody>
      </p:sp>
      <p:sp>
        <p:nvSpPr>
          <p:cNvPr id="24" name="a7_desc"/>
          <p:cNvSpPr txBox="1"/>
          <p:nvPr/>
        </p:nvSpPr>
        <p:spPr>
          <a:xfrm>
            <a:off x="8976208" y="3392424"/>
            <a:ext cx="2666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Hides the characters</a:t>
            </a:r>
            <a:endParaRPr lang="en-US" sz="1800" dirty="0"/>
          </a:p>
        </p:txBody>
      </p:sp>
      <p:sp>
        <p:nvSpPr>
          <p:cNvPr id="25" name="a8_pill"/>
          <p:cNvSpPr/>
          <p:nvPr/>
        </p:nvSpPr>
        <p:spPr>
          <a:xfrm>
            <a:off x="6278728" y="4343400"/>
            <a:ext cx="2468880" cy="566928"/>
          </a:xfrm>
          <a:prstGeom prst="roundRect">
            <a:avLst>
              <a:gd name="adj" fmla="val 19355"/>
            </a:avLst>
          </a:prstGeom>
          <a:solidFill>
            <a:schemeClr val="accent2"/>
          </a:solidFill>
          <a:ln/>
        </p:spPr>
      </p:sp>
      <p:sp>
        <p:nvSpPr>
          <p:cNvPr id="26" name="a8_pill_text"/>
          <p:cNvSpPr txBox="1"/>
          <p:nvPr/>
        </p:nvSpPr>
        <p:spPr>
          <a:xfrm>
            <a:off x="6278728" y="434340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type="checkbox"</a:t>
            </a:r>
            <a:endParaRPr lang="en-US" sz="1800" dirty="0"/>
          </a:p>
        </p:txBody>
      </p:sp>
      <p:sp>
        <p:nvSpPr>
          <p:cNvPr id="27" name="a8_desc"/>
          <p:cNvSpPr txBox="1"/>
          <p:nvPr/>
        </p:nvSpPr>
        <p:spPr>
          <a:xfrm>
            <a:off x="8976208" y="4306824"/>
            <a:ext cx="2666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tick box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5_halo"/>
          <p:cNvSpPr/>
          <p:nvPr/>
        </p:nvSpPr>
        <p:spPr>
          <a:xfrm>
            <a:off x="-1371600" y="4023360"/>
            <a:ext cx="4572000" cy="4572000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3" name="a5_halo2"/>
          <p:cNvSpPr/>
          <p:nvPr/>
        </p:nvSpPr>
        <p:spPr>
          <a:xfrm>
            <a:off x="9875520" y="-1280160"/>
            <a:ext cx="3474720" cy="3474720"/>
          </a:xfrm>
          <a:prstGeom prst="ellipse">
            <a:avLst/>
          </a:prstGeom>
          <a:solidFill>
            <a:schemeClr val="accent2">
              <a:alpha val="18000"/>
            </a:schemeClr>
          </a:solidFill>
          <a:ln/>
        </p:spPr>
      </p:sp>
      <p:sp>
        <p:nvSpPr>
          <p:cNvPr id="4" name="a1_num"/>
          <p:cNvSpPr txBox="1"/>
          <p:nvPr/>
        </p:nvSpPr>
        <p:spPr>
          <a:xfrm>
            <a:off x="640080" y="14630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931920" y="210312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Page layout</a:t>
            </a:r>
            <a:endParaRPr lang="en-US" sz="46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3931920" y="36118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Give every part of the page a meaningful name</a:t>
            </a:r>
            <a:endParaRPr lang="en-US" sz="2200" dirty="0"/>
          </a:p>
        </p:txBody>
      </p:sp>
      <p:sp>
        <p:nvSpPr>
          <p:cNvPr id="7" name="a4_ar"/>
          <p:cNvSpPr txBox="1"/>
          <p:nvPr/>
        </p:nvSpPr>
        <p:spPr>
          <a:xfrm>
            <a:off x="3931920" y="43434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EG" altLang="en-US" sz="24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تنظيم الصفحة</a:t>
            </a:r>
            <a:endParaRPr lang="ar-EG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rism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Semantic tags: name the parts</a:t>
            </a:r>
            <a:endParaRPr lang="en-US" sz="3600" dirty="0"/>
          </a:p>
        </p:txBody>
      </p:sp>
      <p:sp>
        <p:nvSpPr>
          <p:cNvPr id="4" name="a1_frame"/>
          <p:cNvSpPr/>
          <p:nvPr/>
        </p:nvSpPr>
        <p:spPr>
          <a:xfrm>
            <a:off x="548640" y="1554480"/>
            <a:ext cx="6126480" cy="4434840"/>
          </a:xfrm>
          <a:prstGeom prst="rect">
            <a:avLst/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a2_box"/>
          <p:cNvSpPr/>
          <p:nvPr/>
        </p:nvSpPr>
        <p:spPr>
          <a:xfrm>
            <a:off x="731520" y="1737360"/>
            <a:ext cx="5760720" cy="685800"/>
          </a:xfrm>
          <a:prstGeom prst="roundRect">
            <a:avLst>
              <a:gd name="adj" fmla="val 10667"/>
            </a:avLst>
          </a:prstGeom>
          <a:solidFill>
            <a:schemeClr val="accent6"/>
          </a:solidFill>
          <a:ln/>
        </p:spPr>
      </p:sp>
      <p:sp>
        <p:nvSpPr>
          <p:cNvPr id="6" name="a2_box_text"/>
          <p:cNvSpPr txBox="1"/>
          <p:nvPr/>
        </p:nvSpPr>
        <p:spPr>
          <a:xfrm>
            <a:off x="731520" y="173736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endParaRPr lang="en-US" sz="1600" dirty="0"/>
          </a:p>
        </p:txBody>
      </p:sp>
      <p:sp>
        <p:nvSpPr>
          <p:cNvPr id="7" name="a3_box"/>
          <p:cNvSpPr/>
          <p:nvPr/>
        </p:nvSpPr>
        <p:spPr>
          <a:xfrm>
            <a:off x="731520" y="2560320"/>
            <a:ext cx="5760720" cy="50292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/>
        </p:spPr>
      </p:sp>
      <p:sp>
        <p:nvSpPr>
          <p:cNvPr id="8" name="a3_box_text"/>
          <p:cNvSpPr txBox="1"/>
          <p:nvPr/>
        </p:nvSpPr>
        <p:spPr>
          <a:xfrm>
            <a:off x="731520" y="256032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&lt;nav&gt;</a:t>
            </a:r>
            <a:endParaRPr lang="en-US" sz="1600" dirty="0"/>
          </a:p>
        </p:txBody>
      </p:sp>
      <p:sp>
        <p:nvSpPr>
          <p:cNvPr id="9" name="a4_main_bg"/>
          <p:cNvSpPr/>
          <p:nvPr/>
        </p:nvSpPr>
        <p:spPr>
          <a:xfrm>
            <a:off x="731520" y="3200400"/>
            <a:ext cx="5760720" cy="201168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/>
        </p:spPr>
      </p:sp>
      <p:sp>
        <p:nvSpPr>
          <p:cNvPr id="10" name="a4_main_label"/>
          <p:cNvSpPr txBox="1"/>
          <p:nvPr/>
        </p:nvSpPr>
        <p:spPr>
          <a:xfrm>
            <a:off x="868680" y="32461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&lt;main&gt;</a:t>
            </a:r>
            <a:endParaRPr lang="en-US" sz="1400" dirty="0"/>
          </a:p>
        </p:txBody>
      </p:sp>
      <p:sp>
        <p:nvSpPr>
          <p:cNvPr id="11" name="a5_box"/>
          <p:cNvSpPr/>
          <p:nvPr/>
        </p:nvSpPr>
        <p:spPr>
          <a:xfrm>
            <a:off x="868680" y="3611880"/>
            <a:ext cx="2743200" cy="146304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/>
        </p:spPr>
      </p:sp>
      <p:sp>
        <p:nvSpPr>
          <p:cNvPr id="12" name="a5_box_text"/>
          <p:cNvSpPr txBox="1"/>
          <p:nvPr/>
        </p:nvSpPr>
        <p:spPr>
          <a:xfrm>
            <a:off x="868680" y="36118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&lt;section&gt;</a:t>
            </a:r>
            <a:endParaRPr lang="en-US" sz="1600" dirty="0"/>
          </a:p>
        </p:txBody>
      </p:sp>
      <p:sp>
        <p:nvSpPr>
          <p:cNvPr id="13" name="a6_box"/>
          <p:cNvSpPr/>
          <p:nvPr/>
        </p:nvSpPr>
        <p:spPr>
          <a:xfrm>
            <a:off x="3749040" y="3611880"/>
            <a:ext cx="2423160" cy="14630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14" name="a6_box_text"/>
          <p:cNvSpPr txBox="1"/>
          <p:nvPr/>
        </p:nvSpPr>
        <p:spPr>
          <a:xfrm>
            <a:off x="3749040" y="361188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&lt;aside&gt;</a:t>
            </a:r>
            <a:endParaRPr lang="en-US" sz="1600" dirty="0"/>
          </a:p>
        </p:txBody>
      </p:sp>
      <p:sp>
        <p:nvSpPr>
          <p:cNvPr id="15" name="a7_box"/>
          <p:cNvSpPr/>
          <p:nvPr/>
        </p:nvSpPr>
        <p:spPr>
          <a:xfrm>
            <a:off x="731520" y="5349240"/>
            <a:ext cx="5760720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/>
        </p:spPr>
      </p:sp>
      <p:sp>
        <p:nvSpPr>
          <p:cNvPr id="16" name="a7_box_text"/>
          <p:cNvSpPr txBox="1"/>
          <p:nvPr/>
        </p:nvSpPr>
        <p:spPr>
          <a:xfrm>
            <a:off x="731520" y="53492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</a:t>
            </a:r>
            <a:endParaRPr lang="en-US" sz="1600" dirty="0"/>
          </a:p>
        </p:txBody>
      </p:sp>
      <p:sp>
        <p:nvSpPr>
          <p:cNvPr id="17" name="a2_chip"/>
          <p:cNvSpPr/>
          <p:nvPr/>
        </p:nvSpPr>
        <p:spPr>
          <a:xfrm>
            <a:off x="6949440" y="1554480"/>
            <a:ext cx="146304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</p:sp>
      <p:sp>
        <p:nvSpPr>
          <p:cNvPr id="18" name="a2_chip_text"/>
          <p:cNvSpPr txBox="1"/>
          <p:nvPr/>
        </p:nvSpPr>
        <p:spPr>
          <a:xfrm>
            <a:off x="6949440" y="15544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endParaRPr lang="en-US" sz="1500" dirty="0"/>
          </a:p>
        </p:txBody>
      </p:sp>
      <p:sp>
        <p:nvSpPr>
          <p:cNvPr id="19" name="a2_chip_desc"/>
          <p:cNvSpPr txBox="1"/>
          <p:nvPr/>
        </p:nvSpPr>
        <p:spPr>
          <a:xfrm>
            <a:off x="8595360" y="1554480"/>
            <a:ext cx="30476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of the page: logo and title</a:t>
            </a:r>
            <a:endParaRPr lang="en-US" sz="1600" dirty="0"/>
          </a:p>
        </p:txBody>
      </p:sp>
      <p:sp>
        <p:nvSpPr>
          <p:cNvPr id="20" name="a3_chip"/>
          <p:cNvSpPr/>
          <p:nvPr/>
        </p:nvSpPr>
        <p:spPr>
          <a:xfrm>
            <a:off x="6949440" y="2304288"/>
            <a:ext cx="1463040" cy="54864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21" name="a3_chip_text"/>
          <p:cNvSpPr txBox="1"/>
          <p:nvPr/>
        </p:nvSpPr>
        <p:spPr>
          <a:xfrm>
            <a:off x="6949440" y="230428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&lt;nav&gt;</a:t>
            </a:r>
            <a:endParaRPr lang="en-US" sz="1500" dirty="0"/>
          </a:p>
        </p:txBody>
      </p:sp>
      <p:sp>
        <p:nvSpPr>
          <p:cNvPr id="22" name="a3_chip_desc"/>
          <p:cNvSpPr txBox="1"/>
          <p:nvPr/>
        </p:nvSpPr>
        <p:spPr>
          <a:xfrm>
            <a:off x="8595360" y="2304288"/>
            <a:ext cx="30476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of links</a:t>
            </a:r>
            <a:endParaRPr lang="en-US" sz="1600" dirty="0"/>
          </a:p>
        </p:txBody>
      </p:sp>
      <p:sp>
        <p:nvSpPr>
          <p:cNvPr id="23" name="a4_chip"/>
          <p:cNvSpPr/>
          <p:nvPr/>
        </p:nvSpPr>
        <p:spPr>
          <a:xfrm>
            <a:off x="6949440" y="3054096"/>
            <a:ext cx="1463040" cy="54864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/>
        </p:spPr>
      </p:sp>
      <p:sp>
        <p:nvSpPr>
          <p:cNvPr id="24" name="a4_chip_text"/>
          <p:cNvSpPr txBox="1"/>
          <p:nvPr/>
        </p:nvSpPr>
        <p:spPr>
          <a:xfrm>
            <a:off x="6949440" y="305409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&lt;main&gt;</a:t>
            </a:r>
            <a:endParaRPr lang="en-US" sz="1500" dirty="0"/>
          </a:p>
        </p:txBody>
      </p:sp>
      <p:sp>
        <p:nvSpPr>
          <p:cNvPr id="25" name="a4_chip_desc"/>
          <p:cNvSpPr txBox="1"/>
          <p:nvPr/>
        </p:nvSpPr>
        <p:spPr>
          <a:xfrm>
            <a:off x="8595360" y="3054096"/>
            <a:ext cx="30476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content</a:t>
            </a:r>
            <a:endParaRPr lang="en-US" sz="1600" dirty="0"/>
          </a:p>
        </p:txBody>
      </p:sp>
      <p:sp>
        <p:nvSpPr>
          <p:cNvPr id="26" name="a5_chip"/>
          <p:cNvSpPr/>
          <p:nvPr/>
        </p:nvSpPr>
        <p:spPr>
          <a:xfrm>
            <a:off x="6949440" y="3803904"/>
            <a:ext cx="1463040" cy="54864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/>
        </p:spPr>
      </p:sp>
      <p:sp>
        <p:nvSpPr>
          <p:cNvPr id="27" name="a5_chip_text"/>
          <p:cNvSpPr txBox="1"/>
          <p:nvPr/>
        </p:nvSpPr>
        <p:spPr>
          <a:xfrm>
            <a:off x="6949440" y="380390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&lt;section&gt;</a:t>
            </a:r>
            <a:endParaRPr lang="en-US" sz="1500" dirty="0"/>
          </a:p>
        </p:txBody>
      </p:sp>
      <p:sp>
        <p:nvSpPr>
          <p:cNvPr id="28" name="a5_chip_desc"/>
          <p:cNvSpPr txBox="1"/>
          <p:nvPr/>
        </p:nvSpPr>
        <p:spPr>
          <a:xfrm>
            <a:off x="8595360" y="3803904"/>
            <a:ext cx="30476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topic inside the page</a:t>
            </a:r>
            <a:endParaRPr lang="en-US" sz="1600" dirty="0"/>
          </a:p>
        </p:txBody>
      </p:sp>
      <p:sp>
        <p:nvSpPr>
          <p:cNvPr id="29" name="a6_chip"/>
          <p:cNvSpPr/>
          <p:nvPr/>
        </p:nvSpPr>
        <p:spPr>
          <a:xfrm>
            <a:off x="6949440" y="4553712"/>
            <a:ext cx="1463040" cy="54864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/>
        </p:spPr>
      </p:sp>
      <p:sp>
        <p:nvSpPr>
          <p:cNvPr id="30" name="a6_chip_text"/>
          <p:cNvSpPr txBox="1"/>
          <p:nvPr/>
        </p:nvSpPr>
        <p:spPr>
          <a:xfrm>
            <a:off x="6949440" y="455371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&lt;aside&gt;</a:t>
            </a:r>
            <a:endParaRPr lang="en-US" sz="1500" dirty="0"/>
          </a:p>
        </p:txBody>
      </p:sp>
      <p:sp>
        <p:nvSpPr>
          <p:cNvPr id="31" name="a6_chip_desc"/>
          <p:cNvSpPr txBox="1"/>
          <p:nvPr/>
        </p:nvSpPr>
        <p:spPr>
          <a:xfrm>
            <a:off x="8595360" y="4553712"/>
            <a:ext cx="30476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notes and extras</a:t>
            </a:r>
            <a:endParaRPr lang="en-US" sz="1600" dirty="0"/>
          </a:p>
        </p:txBody>
      </p:sp>
      <p:sp>
        <p:nvSpPr>
          <p:cNvPr id="32" name="a7_chip"/>
          <p:cNvSpPr/>
          <p:nvPr/>
        </p:nvSpPr>
        <p:spPr>
          <a:xfrm>
            <a:off x="6949440" y="5303520"/>
            <a:ext cx="1463040" cy="54864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/>
        </p:spPr>
      </p:sp>
      <p:sp>
        <p:nvSpPr>
          <p:cNvPr id="33" name="a7_chip_text"/>
          <p:cNvSpPr txBox="1"/>
          <p:nvPr/>
        </p:nvSpPr>
        <p:spPr>
          <a:xfrm>
            <a:off x="6949440" y="53035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</a:t>
            </a:r>
            <a:endParaRPr lang="en-US" sz="1500" dirty="0"/>
          </a:p>
        </p:txBody>
      </p:sp>
      <p:sp>
        <p:nvSpPr>
          <p:cNvPr id="34" name="a7_chip_desc"/>
          <p:cNvSpPr txBox="1"/>
          <p:nvPr/>
        </p:nvSpPr>
        <p:spPr>
          <a:xfrm>
            <a:off x="8595360" y="5303520"/>
            <a:ext cx="30476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Bottom: contact and copyright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window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4 habits of clean code</a:t>
            </a:r>
            <a:endParaRPr lang="en-US" sz="3600" dirty="0"/>
          </a:p>
        </p:txBody>
      </p:sp>
      <p:sp>
        <p:nvSpPr>
          <p:cNvPr id="4" name="a1_card"/>
          <p:cNvSpPr/>
          <p:nvPr/>
        </p:nvSpPr>
        <p:spPr>
          <a:xfrm>
            <a:off x="548640" y="1600200"/>
            <a:ext cx="2602154" cy="4297680"/>
          </a:xfrm>
          <a:prstGeom prst="roundRect">
            <a:avLst>
              <a:gd name="adj" fmla="val 6325"/>
            </a:avLst>
          </a:prstGeom>
          <a:solidFill>
            <a:schemeClr val="bg2"/>
          </a:solidFill>
          <a:ln/>
        </p:spPr>
      </p:sp>
      <p:sp>
        <p:nvSpPr>
          <p:cNvPr id="5" name="a1_ico_bg"/>
          <p:cNvSpPr/>
          <p:nvPr/>
        </p:nvSpPr>
        <p:spPr>
          <a:xfrm>
            <a:off x="868680" y="19202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a1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" y="2142439"/>
            <a:ext cx="378562" cy="378562"/>
          </a:xfrm>
          <a:prstGeom prst="rect">
            <a:avLst/>
          </a:prstGeom>
        </p:spPr>
      </p:pic>
      <p:sp>
        <p:nvSpPr>
          <p:cNvPr id="7" name="a1_head"/>
          <p:cNvSpPr txBox="1"/>
          <p:nvPr/>
        </p:nvSpPr>
        <p:spPr>
          <a:xfrm>
            <a:off x="868680" y="2971800"/>
            <a:ext cx="19620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Indent</a:t>
            </a:r>
            <a:endParaRPr lang="en-US" sz="2200" dirty="0"/>
          </a:p>
        </p:txBody>
      </p:sp>
      <p:sp>
        <p:nvSpPr>
          <p:cNvPr id="8" name="a1_body"/>
          <p:cNvSpPr txBox="1"/>
          <p:nvPr/>
        </p:nvSpPr>
        <p:spPr>
          <a:xfrm>
            <a:off x="868680" y="3611880"/>
            <a:ext cx="196207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inner tags 2 spaces to the right so you can see the structure.</a:t>
            </a:r>
            <a:endParaRPr lang="en-US" sz="1600" dirty="0"/>
          </a:p>
        </p:txBody>
      </p:sp>
      <p:sp>
        <p:nvSpPr>
          <p:cNvPr id="9" name="a2_card"/>
          <p:cNvSpPr/>
          <p:nvPr/>
        </p:nvSpPr>
        <p:spPr>
          <a:xfrm>
            <a:off x="3379394" y="1600200"/>
            <a:ext cx="2602154" cy="4297680"/>
          </a:xfrm>
          <a:prstGeom prst="roundRect">
            <a:avLst>
              <a:gd name="adj" fmla="val 6325"/>
            </a:avLst>
          </a:prstGeom>
          <a:solidFill>
            <a:schemeClr val="bg2"/>
          </a:solidFill>
          <a:ln/>
        </p:spPr>
      </p:sp>
      <p:sp>
        <p:nvSpPr>
          <p:cNvPr id="10" name="a2_ico_bg"/>
          <p:cNvSpPr/>
          <p:nvPr/>
        </p:nvSpPr>
        <p:spPr>
          <a:xfrm>
            <a:off x="3699434" y="192024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a2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1633" y="2142439"/>
            <a:ext cx="378562" cy="378562"/>
          </a:xfrm>
          <a:prstGeom prst="rect">
            <a:avLst/>
          </a:prstGeom>
        </p:spPr>
      </p:pic>
      <p:sp>
        <p:nvSpPr>
          <p:cNvPr id="12" name="a2_head"/>
          <p:cNvSpPr txBox="1"/>
          <p:nvPr/>
        </p:nvSpPr>
        <p:spPr>
          <a:xfrm>
            <a:off x="3699434" y="2971800"/>
            <a:ext cx="19620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tags</a:t>
            </a:r>
            <a:endParaRPr lang="en-US" sz="2200" dirty="0"/>
          </a:p>
        </p:txBody>
      </p:sp>
      <p:sp>
        <p:nvSpPr>
          <p:cNvPr id="13" name="a2_body"/>
          <p:cNvSpPr txBox="1"/>
          <p:nvPr/>
        </p:nvSpPr>
        <p:spPr>
          <a:xfrm>
            <a:off x="3699434" y="3611880"/>
            <a:ext cx="196207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opening tag needs its closing tag, in the right order.</a:t>
            </a:r>
            <a:endParaRPr lang="en-US" sz="1600" dirty="0"/>
          </a:p>
        </p:txBody>
      </p:sp>
      <p:sp>
        <p:nvSpPr>
          <p:cNvPr id="14" name="a3_card"/>
          <p:cNvSpPr/>
          <p:nvPr/>
        </p:nvSpPr>
        <p:spPr>
          <a:xfrm>
            <a:off x="6210148" y="1600200"/>
            <a:ext cx="2602154" cy="4297680"/>
          </a:xfrm>
          <a:prstGeom prst="roundRect">
            <a:avLst>
              <a:gd name="adj" fmla="val 6325"/>
            </a:avLst>
          </a:prstGeom>
          <a:solidFill>
            <a:schemeClr val="bg2"/>
          </a:solidFill>
          <a:ln/>
        </p:spPr>
      </p:sp>
      <p:sp>
        <p:nvSpPr>
          <p:cNvPr id="15" name="a3_ico_bg"/>
          <p:cNvSpPr/>
          <p:nvPr/>
        </p:nvSpPr>
        <p:spPr>
          <a:xfrm>
            <a:off x="6530188" y="1920240"/>
            <a:ext cx="822960" cy="82296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6" name="a3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2387" y="2142439"/>
            <a:ext cx="378562" cy="378562"/>
          </a:xfrm>
          <a:prstGeom prst="rect">
            <a:avLst/>
          </a:prstGeom>
        </p:spPr>
      </p:pic>
      <p:sp>
        <p:nvSpPr>
          <p:cNvPr id="17" name="a3_head"/>
          <p:cNvSpPr txBox="1"/>
          <p:nvPr/>
        </p:nvSpPr>
        <p:spPr>
          <a:xfrm>
            <a:off x="6530188" y="2971800"/>
            <a:ext cx="19620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alt</a:t>
            </a:r>
            <a:endParaRPr lang="en-US" sz="2200" dirty="0"/>
          </a:p>
        </p:txBody>
      </p:sp>
      <p:sp>
        <p:nvSpPr>
          <p:cNvPr id="18" name="a3_body"/>
          <p:cNvSpPr txBox="1"/>
          <p:nvPr/>
        </p:nvSpPr>
        <p:spPr>
          <a:xfrm>
            <a:off x="6530188" y="3611880"/>
            <a:ext cx="196207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image gets alt text so everyone can understand it.</a:t>
            </a:r>
            <a:endParaRPr lang="en-US" sz="1600" dirty="0"/>
          </a:p>
        </p:txBody>
      </p:sp>
      <p:sp>
        <p:nvSpPr>
          <p:cNvPr id="19" name="a4_card"/>
          <p:cNvSpPr/>
          <p:nvPr/>
        </p:nvSpPr>
        <p:spPr>
          <a:xfrm>
            <a:off x="9040901" y="1600200"/>
            <a:ext cx="2602154" cy="4297680"/>
          </a:xfrm>
          <a:prstGeom prst="roundRect">
            <a:avLst>
              <a:gd name="adj" fmla="val 6325"/>
            </a:avLst>
          </a:prstGeom>
          <a:solidFill>
            <a:schemeClr val="bg2"/>
          </a:solidFill>
          <a:ln/>
        </p:spPr>
      </p:sp>
      <p:sp>
        <p:nvSpPr>
          <p:cNvPr id="20" name="a4_ico_bg"/>
          <p:cNvSpPr/>
          <p:nvPr/>
        </p:nvSpPr>
        <p:spPr>
          <a:xfrm>
            <a:off x="9360941" y="1920240"/>
            <a:ext cx="822960" cy="8229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1" name="a4_ico_im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3141" y="2142439"/>
            <a:ext cx="378562" cy="378562"/>
          </a:xfrm>
          <a:prstGeom prst="rect">
            <a:avLst/>
          </a:prstGeom>
        </p:spPr>
      </p:pic>
      <p:sp>
        <p:nvSpPr>
          <p:cNvPr id="22" name="a4_head"/>
          <p:cNvSpPr txBox="1"/>
          <p:nvPr/>
        </p:nvSpPr>
        <p:spPr>
          <a:xfrm>
            <a:off x="9360941" y="2971800"/>
            <a:ext cx="19620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</a:t>
            </a:r>
            <a:endParaRPr lang="en-US" sz="2200" dirty="0"/>
          </a:p>
        </p:txBody>
      </p:sp>
      <p:sp>
        <p:nvSpPr>
          <p:cNvPr id="23" name="a4_body"/>
          <p:cNvSpPr txBox="1"/>
          <p:nvPr/>
        </p:nvSpPr>
        <p:spPr>
          <a:xfrm>
            <a:off x="9360941" y="3611880"/>
            <a:ext cx="196207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&lt;!-- Notes to yourself --&gt; are not shown on the page.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Quick quiz</a:t>
            </a:r>
            <a:endParaRPr lang="en-US" sz="3600" dirty="0"/>
          </a:p>
        </p:txBody>
      </p:sp>
      <p:sp>
        <p:nvSpPr>
          <p:cNvPr id="3" name="a1_ico_q_bg"/>
          <p:cNvSpPr/>
          <p:nvPr/>
        </p:nvSpPr>
        <p:spPr>
          <a:xfrm>
            <a:off x="548640" y="155448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" name="a1_ico_q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709928"/>
            <a:ext cx="420624" cy="420624"/>
          </a:xfrm>
          <a:prstGeom prst="rect">
            <a:avLst/>
          </a:prstGeom>
        </p:spPr>
      </p:pic>
      <p:sp>
        <p:nvSpPr>
          <p:cNvPr id="5" name="a1_question"/>
          <p:cNvSpPr txBox="1"/>
          <p:nvPr/>
        </p:nvSpPr>
        <p:spPr>
          <a:xfrm>
            <a:off x="1554480" y="14630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tag creates ONE ROW of a table?</a:t>
            </a:r>
            <a:endParaRPr lang="en-US" sz="2600" dirty="0"/>
          </a:p>
        </p:txBody>
      </p:sp>
      <p:sp>
        <p:nvSpPr>
          <p:cNvPr id="6" name="a2_opt"/>
          <p:cNvSpPr/>
          <p:nvPr/>
        </p:nvSpPr>
        <p:spPr>
          <a:xfrm>
            <a:off x="548640" y="2697480"/>
            <a:ext cx="5440680" cy="118872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</p:sp>
      <p:sp>
        <p:nvSpPr>
          <p:cNvPr id="7" name="a2_ico_letter_bg"/>
          <p:cNvSpPr/>
          <p:nvPr/>
        </p:nvSpPr>
        <p:spPr>
          <a:xfrm>
            <a:off x="804672" y="2971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a2_ico_letter"/>
          <p:cNvSpPr txBox="1"/>
          <p:nvPr/>
        </p:nvSpPr>
        <p:spPr>
          <a:xfrm>
            <a:off x="804672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a2_opt_text"/>
          <p:cNvSpPr txBox="1"/>
          <p:nvPr/>
        </p:nvSpPr>
        <p:spPr>
          <a:xfrm>
            <a:off x="1645920" y="2697480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&lt;td&gt;</a:t>
            </a:r>
            <a:endParaRPr lang="en-US" sz="2000" dirty="0"/>
          </a:p>
        </p:txBody>
      </p:sp>
      <p:sp>
        <p:nvSpPr>
          <p:cNvPr id="10" name="a3_opt"/>
          <p:cNvSpPr/>
          <p:nvPr/>
        </p:nvSpPr>
        <p:spPr>
          <a:xfrm>
            <a:off x="6199632" y="2697480"/>
            <a:ext cx="5440680" cy="118872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</p:sp>
      <p:sp>
        <p:nvSpPr>
          <p:cNvPr id="11" name="a3_ico_letter_bg"/>
          <p:cNvSpPr/>
          <p:nvPr/>
        </p:nvSpPr>
        <p:spPr>
          <a:xfrm>
            <a:off x="6455664" y="29718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a3_ico_letter"/>
          <p:cNvSpPr txBox="1"/>
          <p:nvPr/>
        </p:nvSpPr>
        <p:spPr>
          <a:xfrm>
            <a:off x="6455664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400" dirty="0"/>
          </a:p>
        </p:txBody>
      </p:sp>
      <p:sp>
        <p:nvSpPr>
          <p:cNvPr id="13" name="a3_opt_text"/>
          <p:cNvSpPr txBox="1"/>
          <p:nvPr/>
        </p:nvSpPr>
        <p:spPr>
          <a:xfrm>
            <a:off x="7296912" y="2697480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&lt;th&gt;</a:t>
            </a:r>
            <a:endParaRPr lang="en-US" sz="2000" dirty="0"/>
          </a:p>
        </p:txBody>
      </p:sp>
      <p:sp>
        <p:nvSpPr>
          <p:cNvPr id="14" name="a4_opt"/>
          <p:cNvSpPr/>
          <p:nvPr/>
        </p:nvSpPr>
        <p:spPr>
          <a:xfrm>
            <a:off x="548640" y="4114800"/>
            <a:ext cx="5440680" cy="118872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</p:sp>
      <p:sp>
        <p:nvSpPr>
          <p:cNvPr id="15" name="a4_ico_letter_bg"/>
          <p:cNvSpPr/>
          <p:nvPr/>
        </p:nvSpPr>
        <p:spPr>
          <a:xfrm>
            <a:off x="804672" y="438912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6" name="a4_ico_letter"/>
          <p:cNvSpPr txBox="1"/>
          <p:nvPr/>
        </p:nvSpPr>
        <p:spPr>
          <a:xfrm>
            <a:off x="804672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400" dirty="0"/>
          </a:p>
        </p:txBody>
      </p:sp>
      <p:sp>
        <p:nvSpPr>
          <p:cNvPr id="17" name="a4_opt_text"/>
          <p:cNvSpPr txBox="1"/>
          <p:nvPr/>
        </p:nvSpPr>
        <p:spPr>
          <a:xfrm>
            <a:off x="1645920" y="4114800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&lt;tr&gt;</a:t>
            </a:r>
            <a:endParaRPr lang="en-US" sz="2000" dirty="0"/>
          </a:p>
        </p:txBody>
      </p:sp>
      <p:sp>
        <p:nvSpPr>
          <p:cNvPr id="18" name="a5_opt"/>
          <p:cNvSpPr/>
          <p:nvPr/>
        </p:nvSpPr>
        <p:spPr>
          <a:xfrm>
            <a:off x="6199632" y="4114800"/>
            <a:ext cx="5440680" cy="118872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</p:sp>
      <p:sp>
        <p:nvSpPr>
          <p:cNvPr id="19" name="a5_ico_letter_bg"/>
          <p:cNvSpPr/>
          <p:nvPr/>
        </p:nvSpPr>
        <p:spPr>
          <a:xfrm>
            <a:off x="6455664" y="43891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0" name="a5_ico_letter"/>
          <p:cNvSpPr txBox="1"/>
          <p:nvPr/>
        </p:nvSpPr>
        <p:spPr>
          <a:xfrm>
            <a:off x="6455664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400" dirty="0"/>
          </a:p>
        </p:txBody>
      </p:sp>
      <p:sp>
        <p:nvSpPr>
          <p:cNvPr id="21" name="a5_opt_text"/>
          <p:cNvSpPr txBox="1"/>
          <p:nvPr/>
        </p:nvSpPr>
        <p:spPr>
          <a:xfrm>
            <a:off x="7296912" y="4114800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&lt;table&gt;</a:t>
            </a:r>
            <a:endParaRPr lang="en-US" sz="2000" dirty="0"/>
          </a:p>
        </p:txBody>
      </p:sp>
      <p:sp>
        <p:nvSpPr>
          <p:cNvPr id="22" name="k1_answer_ring"/>
          <p:cNvSpPr/>
          <p:nvPr/>
        </p:nvSpPr>
        <p:spPr>
          <a:xfrm>
            <a:off x="548640" y="4114800"/>
            <a:ext cx="5440680" cy="1188720"/>
          </a:xfrm>
          <a:prstGeom prst="roundRect">
            <a:avLst>
              <a:gd name="adj" fmla="val 12308"/>
            </a:avLst>
          </a:prstGeom>
          <a:solidFill>
            <a:schemeClr val="accent5">
              <a:alpha val="0"/>
            </a:schemeClr>
          </a:solidFill>
          <a:ln w="63500">
            <a:solidFill>
              <a:schemeClr val="accent5"/>
            </a:solidFill>
            <a:prstDash val="solid"/>
          </a:ln>
        </p:spPr>
      </p:sp>
      <p:sp>
        <p:nvSpPr>
          <p:cNvPr id="23" name="k1_answer_bar"/>
          <p:cNvSpPr/>
          <p:nvPr/>
        </p:nvSpPr>
        <p:spPr>
          <a:xfrm>
            <a:off x="548640" y="5486400"/>
            <a:ext cx="11094415" cy="73152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pic>
        <p:nvPicPr>
          <p:cNvPr id="24" name="k1_answer_ic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669280"/>
            <a:ext cx="365760" cy="365760"/>
          </a:xfrm>
          <a:prstGeom prst="rect">
            <a:avLst/>
          </a:prstGeom>
        </p:spPr>
      </p:pic>
      <p:sp>
        <p:nvSpPr>
          <p:cNvPr id="25" name="k1_answer_text"/>
          <p:cNvSpPr txBox="1"/>
          <p:nvPr/>
        </p:nvSpPr>
        <p:spPr>
          <a:xfrm>
            <a:off x="1417320" y="5486400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C.  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 = table row. td and th are the cells inside it.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doors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53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53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Final project: Discover Egypt</a:t>
            </a:r>
            <a:endParaRPr lang="en-US" sz="3600" dirty="0"/>
          </a:p>
        </p:txBody>
      </p:sp>
      <p:sp>
        <p:nvSpPr>
          <p:cNvPr id="4" name="a1_ico_num_bg"/>
          <p:cNvSpPr/>
          <p:nvPr/>
        </p:nvSpPr>
        <p:spPr>
          <a:xfrm>
            <a:off x="548640" y="1600200"/>
            <a:ext cx="658368" cy="6583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a1_ico_num"/>
          <p:cNvSpPr txBox="1"/>
          <p:nvPr/>
        </p:nvSpPr>
        <p:spPr>
          <a:xfrm>
            <a:off x="548640" y="1600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a1_text"/>
          <p:cNvSpPr txBox="1"/>
          <p:nvPr/>
        </p:nvSpPr>
        <p:spPr>
          <a:xfrm>
            <a:off x="1417320" y="1545336"/>
            <a:ext cx="603504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structure</a:t>
            </a:r>
            <a:endParaRPr lang="en-US" sz="21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header, nav, main and footer.</a:t>
            </a:r>
            <a:endParaRPr lang="en-US" sz="2100" dirty="0"/>
          </a:p>
        </p:txBody>
      </p:sp>
      <p:sp>
        <p:nvSpPr>
          <p:cNvPr id="7" name="a2_ico_num_bg"/>
          <p:cNvSpPr/>
          <p:nvPr/>
        </p:nvSpPr>
        <p:spPr>
          <a:xfrm>
            <a:off x="548640" y="2674620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a2_ico_num"/>
          <p:cNvSpPr txBox="1"/>
          <p:nvPr/>
        </p:nvSpPr>
        <p:spPr>
          <a:xfrm>
            <a:off x="548640" y="26746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a2_text"/>
          <p:cNvSpPr txBox="1"/>
          <p:nvPr/>
        </p:nvSpPr>
        <p:spPr>
          <a:xfrm>
            <a:off x="1417320" y="2619756"/>
            <a:ext cx="603504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landmarks table</a:t>
            </a:r>
            <a:endParaRPr lang="en-US" sz="21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and city for three places.</a:t>
            </a:r>
            <a:endParaRPr lang="en-US" sz="2100" dirty="0"/>
          </a:p>
        </p:txBody>
      </p:sp>
      <p:sp>
        <p:nvSpPr>
          <p:cNvPr id="10" name="a3_ico_num_bg"/>
          <p:cNvSpPr/>
          <p:nvPr/>
        </p:nvSpPr>
        <p:spPr>
          <a:xfrm>
            <a:off x="548640" y="3749040"/>
            <a:ext cx="658368" cy="658368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1" name="a3_ico_num"/>
          <p:cNvSpPr txBox="1"/>
          <p:nvPr/>
        </p:nvSpPr>
        <p:spPr>
          <a:xfrm>
            <a:off x="548640" y="37490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a3_text"/>
          <p:cNvSpPr txBox="1"/>
          <p:nvPr/>
        </p:nvSpPr>
        <p:spPr>
          <a:xfrm>
            <a:off x="1417320" y="3694176"/>
            <a:ext cx="603504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contact form</a:t>
            </a:r>
            <a:endParaRPr lang="en-US" sz="21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email and a send button.</a:t>
            </a:r>
            <a:endParaRPr lang="en-US" sz="2100" dirty="0"/>
          </a:p>
        </p:txBody>
      </p:sp>
      <p:sp>
        <p:nvSpPr>
          <p:cNvPr id="13" name="a4_ico_num_bg"/>
          <p:cNvSpPr/>
          <p:nvPr/>
        </p:nvSpPr>
        <p:spPr>
          <a:xfrm>
            <a:off x="548640" y="4823460"/>
            <a:ext cx="658368" cy="6583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a4_ico_num"/>
          <p:cNvSpPr txBox="1"/>
          <p:nvPr/>
        </p:nvSpPr>
        <p:spPr>
          <a:xfrm>
            <a:off x="548640" y="48234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a4_text"/>
          <p:cNvSpPr txBox="1"/>
          <p:nvPr/>
        </p:nvSpPr>
        <p:spPr>
          <a:xfrm>
            <a:off x="1417320" y="4768596"/>
            <a:ext cx="603504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Pictures and links</a:t>
            </a:r>
            <a:endParaRPr lang="en-US" sz="21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alt text and link to a second page.</a:t>
            </a:r>
            <a:endParaRPr lang="en-US" sz="2100" dirty="0"/>
          </a:p>
        </p:txBody>
      </p:sp>
      <p:sp>
        <p:nvSpPr>
          <p:cNvPr id="16" name="a5_panel"/>
          <p:cNvSpPr/>
          <p:nvPr/>
        </p:nvSpPr>
        <p:spPr>
          <a:xfrm>
            <a:off x="7818120" y="1600200"/>
            <a:ext cx="3822192" cy="4297680"/>
          </a:xfrm>
          <a:prstGeom prst="roundRect">
            <a:avLst>
              <a:gd name="adj" fmla="val 478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pic>
        <p:nvPicPr>
          <p:cNvPr id="17" name="a5_ico_panel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1965960"/>
            <a:ext cx="731520" cy="731520"/>
          </a:xfrm>
          <a:prstGeom prst="rect">
            <a:avLst/>
          </a:prstGeom>
        </p:spPr>
      </p:pic>
      <p:sp>
        <p:nvSpPr>
          <p:cNvPr id="18" name="a5_panel_head"/>
          <p:cNvSpPr txBox="1"/>
          <p:nvPr/>
        </p:nvSpPr>
        <p:spPr>
          <a:xfrm>
            <a:off x="8183880" y="2926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and tell</a:t>
            </a:r>
            <a:endParaRPr lang="en-US" sz="2400" dirty="0"/>
          </a:p>
        </p:txBody>
      </p:sp>
      <p:sp>
        <p:nvSpPr>
          <p:cNvPr id="19" name="a5_panel_body"/>
          <p:cNvSpPr txBox="1"/>
          <p:nvPr/>
        </p:nvSpPr>
        <p:spPr>
          <a:xfrm>
            <a:off x="8183880" y="356616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seats with a classmate. Open their site and give one compliment and one tip.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53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You can build web pages!</a:t>
            </a:r>
            <a:endParaRPr lang="en-US" sz="3600" dirty="0"/>
          </a:p>
        </p:txBody>
      </p:sp>
      <p:pic>
        <p:nvPicPr>
          <p:cNvPr id="4" name="a1_ico_chec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64208"/>
            <a:ext cx="457200" cy="457200"/>
          </a:xfrm>
          <a:prstGeom prst="rect">
            <a:avLst/>
          </a:prstGeom>
        </p:spPr>
      </p:pic>
      <p:sp>
        <p:nvSpPr>
          <p:cNvPr id="5" name="a1_text"/>
          <p:cNvSpPr txBox="1"/>
          <p:nvPr/>
        </p:nvSpPr>
        <p:spPr>
          <a:xfrm>
            <a:off x="1234440" y="160020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table, tr, th and td make tables.</a:t>
            </a:r>
            <a:endParaRPr lang="en-US" sz="2000" dirty="0"/>
          </a:p>
        </p:txBody>
      </p:sp>
      <p:pic>
        <p:nvPicPr>
          <p:cNvPr id="6" name="a2_ico_che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32888"/>
            <a:ext cx="457200" cy="457200"/>
          </a:xfrm>
          <a:prstGeom prst="rect">
            <a:avLst/>
          </a:prstGeom>
        </p:spPr>
      </p:pic>
      <p:sp>
        <p:nvSpPr>
          <p:cNvPr id="7" name="a2_text"/>
          <p:cNvSpPr txBox="1"/>
          <p:nvPr/>
        </p:nvSpPr>
        <p:spPr>
          <a:xfrm>
            <a:off x="1234440" y="246888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form, label, input and button make forms.</a:t>
            </a:r>
            <a:endParaRPr lang="en-US" sz="2000" dirty="0"/>
          </a:p>
        </p:txBody>
      </p:sp>
      <p:pic>
        <p:nvPicPr>
          <p:cNvPr id="8" name="a3_ico_chec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401568"/>
            <a:ext cx="457200" cy="457200"/>
          </a:xfrm>
          <a:prstGeom prst="rect">
            <a:avLst/>
          </a:prstGeom>
        </p:spPr>
      </p:pic>
      <p:sp>
        <p:nvSpPr>
          <p:cNvPr id="9" name="a3_text"/>
          <p:cNvSpPr txBox="1"/>
          <p:nvPr/>
        </p:nvSpPr>
        <p:spPr>
          <a:xfrm>
            <a:off x="1234440" y="333756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header, nav, main and footer organise a page.</a:t>
            </a:r>
            <a:endParaRPr lang="en-US" sz="2000" dirty="0"/>
          </a:p>
        </p:txBody>
      </p:sp>
      <p:pic>
        <p:nvPicPr>
          <p:cNvPr id="10" name="a4_ico_che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270248"/>
            <a:ext cx="457200" cy="457200"/>
          </a:xfrm>
          <a:prstGeom prst="rect">
            <a:avLst/>
          </a:prstGeom>
        </p:spPr>
      </p:pic>
      <p:sp>
        <p:nvSpPr>
          <p:cNvPr id="11" name="a4_text"/>
          <p:cNvSpPr txBox="1"/>
          <p:nvPr/>
        </p:nvSpPr>
        <p:spPr>
          <a:xfrm>
            <a:off x="1234440" y="420624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code: indent, close tags, write alt text, add comments.</a:t>
            </a:r>
            <a:endParaRPr lang="en-US" sz="2000" dirty="0"/>
          </a:p>
        </p:txBody>
      </p:sp>
      <p:pic>
        <p:nvPicPr>
          <p:cNvPr id="12" name="a5_ico_check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138928"/>
            <a:ext cx="457200" cy="457200"/>
          </a:xfrm>
          <a:prstGeom prst="rect">
            <a:avLst/>
          </a:prstGeom>
        </p:spPr>
      </p:pic>
      <p:sp>
        <p:nvSpPr>
          <p:cNvPr id="13" name="a5_text"/>
          <p:cNvSpPr txBox="1"/>
          <p:nvPr/>
        </p:nvSpPr>
        <p:spPr>
          <a:xfrm>
            <a:off x="1234440" y="507492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make it beautiful with CSS!</a:t>
            </a:r>
            <a:endParaRPr lang="en-US" sz="2000" dirty="0"/>
          </a:p>
        </p:txBody>
      </p:sp>
      <p:sp>
        <p:nvSpPr>
          <p:cNvPr id="14" name="a6_hw"/>
          <p:cNvSpPr/>
          <p:nvPr/>
        </p:nvSpPr>
        <p:spPr>
          <a:xfrm>
            <a:off x="8229600" y="1600200"/>
            <a:ext cx="3410712" cy="4343400"/>
          </a:xfrm>
          <a:prstGeom prst="roundRect">
            <a:avLst>
              <a:gd name="adj" fmla="val 5362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pic>
        <p:nvPicPr>
          <p:cNvPr id="15" name="a6_ico_hw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0" y="1920240"/>
            <a:ext cx="731520" cy="731520"/>
          </a:xfrm>
          <a:prstGeom prst="rect">
            <a:avLst/>
          </a:prstGeom>
        </p:spPr>
      </p:pic>
      <p:sp>
        <p:nvSpPr>
          <p:cNvPr id="16" name="a6_hw_label"/>
          <p:cNvSpPr txBox="1"/>
          <p:nvPr/>
        </p:nvSpPr>
        <p:spPr>
          <a:xfrm>
            <a:off x="859536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500" dirty="0"/>
          </a:p>
        </p:txBody>
      </p:sp>
      <p:sp>
        <p:nvSpPr>
          <p:cNvPr id="17" name="a6_hw_text"/>
          <p:cNvSpPr txBox="1"/>
          <p:nvPr/>
        </p:nvSpPr>
        <p:spPr>
          <a:xfrm>
            <a:off x="8595360" y="3291840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new section to your Discover Egypt site about your own city, with a table and a picture.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vortex dir="r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53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53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>
</file>

<file path=ppt/theme/theme1.xml><?xml version="1.0" encoding="utf-8"?>
<a:theme xmlns:a="http://schemas.openxmlformats.org/drawingml/2006/main" name="Nile Code">
  <a:themeElements>
    <a:clrScheme name="Nile Code">
      <a:dk1>
        <a:srgbClr val="0B1B2E"/>
      </a:dk1>
      <a:lt1>
        <a:srgbClr val="FFFFFF"/>
      </a:lt1>
      <a:dk2>
        <a:srgbClr val="0F5F5A"/>
      </a:dk2>
      <a:lt2>
        <a:srgbClr val="E8F0EF"/>
      </a:lt2>
      <a:accent1>
        <a:srgbClr val="14B8A6"/>
      </a:accent1>
      <a:accent2>
        <a:srgbClr val="F5B301"/>
      </a:accent2>
      <a:accent3>
        <a:srgbClr val="FF6B4A"/>
      </a:accent3>
      <a:accent4>
        <a:srgbClr val="8C92FF"/>
      </a:accent4>
      <a:accent5>
        <a:srgbClr val="4ADE80"/>
      </a:accent5>
      <a:accent6>
        <a:srgbClr val="38BDF8"/>
      </a:accent6>
      <a:hlink>
        <a:srgbClr val="0F5F5A"/>
      </a:hlink>
      <a:folHlink>
        <a:srgbClr val="8C92FF"/>
      </a:folHlink>
    </a:clrScheme>
    <a:fontScheme name="Nile Cod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Fundamentals - Lesson 3: Tables, Forms &amp; Layout</dc:title>
  <dc:subject>HTML for school students</dc:subject>
  <dc:creator>HTML Fundamentals Course</dc:creator>
  <cp:lastModifiedBy>HTML Fundamentals Course</cp:lastModifiedBy>
  <cp:revision>1</cp:revision>
  <dcterms:created xsi:type="dcterms:W3CDTF">2026-10-04T23:25:00Z</dcterms:created>
  <dcterms:modified xsi:type="dcterms:W3CDTF">2026-10-04T23:25:00Z</dcterms:modified>
</cp:coreProperties>
</file>