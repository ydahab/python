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eb98bda-d759-978d-1d7c-465d5c7153d2}">
          <p14:sldIdLst>
            <p14:sldId id="256"/>
            <p14:sldId id="257"/>
          </p14:sldIdLst>
        </p14:section>
        <p14:section name="Tables" id="{6ab8491d-25c6-ffa6-8937-708d7bc243e1}">
          <p14:sldIdLst>
            <p14:sldId id="258"/>
            <p14:sldId id="259"/>
          </p14:sldIdLst>
        </p14:section>
        <p14:section name="Forms" id="{1c38edbd-e217-a41d-a7da-43e5be62ce33}">
          <p14:sldIdLst>
            <p14:sldId id="260"/>
            <p14:sldId id="261"/>
            <p14:sldId id="262"/>
          </p14:sldIdLst>
        </p14:section>
        <p14:section name="Page layout" id="{7cfb26e6-d7ed-b825-b40b-939a10231cd0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lesson of the series: students finish with a mini-site.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Mnemonic: table row, table header, table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form without a server cannot really send data yet. That needs a back-end, which is a later topic. Today we focus on the building blocks.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 the type live and show how the field behaves differently.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Sites like news pages all follow this pattern. 'Semantic' means the tag name describes its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messy page and a clean page side by side. Ask which one they would rather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the full session. Have students bookmark their site in the school lab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Celebrate! Next series: CSS.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3: Tables, Forms &amp; Layout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Fundamentals  |  Lesson 3: Tables, Forms &amp; Layout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5_ico_sun"/>
          <p:cNvSpPr/>
          <p:nvPr/>
        </p:nvSpPr>
        <p:spPr>
          <a:xfrm>
            <a:off x="9966960" y="822960"/>
            <a:ext cx="1371600" cy="1371600"/>
          </a:xfrm>
          <a:prstGeom prst="ellipse">
            <a:avLst/>
          </a:prstGeom>
          <a:solidFill>
            <a:schemeClr val="accent2">
              <a:alpha val="90000"/>
            </a:schemeClr>
          </a:solidFill>
          <a:ln/>
        </p:spPr>
      </p:sp>
      <p:sp>
        <p:nvSpPr>
          <p:cNvPr id="4" name="a5_halo"/>
          <p:cNvSpPr/>
          <p:nvPr/>
        </p:nvSpPr>
        <p:spPr>
          <a:xfrm>
            <a:off x="8595360" y="-1097280"/>
            <a:ext cx="4206240" cy="4206240"/>
          </a:xfrm>
          <a:prstGeom prst="ellipse">
            <a:avLst/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5" name="a6_pyr1"/>
          <p:cNvSpPr/>
          <p:nvPr/>
        </p:nvSpPr>
        <p:spPr>
          <a:xfrm>
            <a:off x="7406640" y="4160520"/>
            <a:ext cx="2651760" cy="2240280"/>
          </a:xfrm>
          <a:prstGeom prst="triangle">
            <a:avLst/>
          </a:prstGeom>
          <a:solidFill>
            <a:schemeClr val="accent1">
              <a:alpha val="75000"/>
            </a:schemeClr>
          </a:solidFill>
          <a:ln/>
        </p:spPr>
      </p:sp>
      <p:sp>
        <p:nvSpPr>
          <p:cNvPr id="6" name="a6_pyr2"/>
          <p:cNvSpPr/>
          <p:nvPr/>
        </p:nvSpPr>
        <p:spPr>
          <a:xfrm>
            <a:off x="8869680" y="2743200"/>
            <a:ext cx="3017520" cy="3657600"/>
          </a:xfrm>
          <a:prstGeom prst="triangle">
            <a:avLst/>
          </a:prstGeom>
          <a:solidFill>
            <a:schemeClr val="accent2"/>
          </a:solidFill>
          <a:ln/>
        </p:spPr>
      </p:sp>
      <p:sp>
        <p:nvSpPr>
          <p:cNvPr id="7" name="a6_pyr3"/>
          <p:cNvSpPr/>
          <p:nvPr/>
        </p:nvSpPr>
        <p:spPr>
          <a:xfrm>
            <a:off x="10561320" y="4709160"/>
            <a:ext cx="1371600" cy="1691640"/>
          </a:xfrm>
          <a:prstGeom prst="triangle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8" name="a1_pill"/>
          <p:cNvSpPr/>
          <p:nvPr/>
        </p:nvSpPr>
        <p:spPr>
          <a:xfrm>
            <a:off x="731520" y="1325880"/>
            <a:ext cx="22860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a1_pill_text"/>
          <p:cNvSpPr txBox="1"/>
          <p:nvPr/>
        </p:nvSpPr>
        <p:spPr>
          <a:xfrm>
            <a:off x="7315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1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05740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Tables, Forms &amp; Page Layout</a:t>
            </a:r>
            <a:endParaRPr lang="en-US" sz="5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40233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Organise data, collect answers and structure your site</a:t>
            </a:r>
            <a:endParaRPr lang="en-US" sz="2200" dirty="0"/>
          </a:p>
        </p:txBody>
      </p:sp>
      <p:sp>
        <p:nvSpPr>
          <p:cNvPr id="12" name="a4_ar"/>
          <p:cNvSpPr txBox="1"/>
          <p:nvPr/>
        </p:nvSpPr>
        <p:spPr>
          <a:xfrm>
            <a:off x="731520" y="49834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2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الدرس الثالث: الجداول والنماذج وتنظيم الصفحة</a:t>
            </a:r>
            <a:endParaRPr lang="ar-EG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rippl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By the end of this lesson you will…</a:t>
            </a:r>
            <a:endParaRPr lang="en-US" sz="3600" dirty="0"/>
          </a:p>
        </p:txBody>
      </p:sp>
      <p:sp>
        <p:nvSpPr>
          <p:cNvPr id="3" name="a1_ico_bg"/>
          <p:cNvSpPr/>
          <p:nvPr/>
        </p:nvSpPr>
        <p:spPr>
          <a:xfrm>
            <a:off x="548640" y="16002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495" y="1810055"/>
            <a:ext cx="357530" cy="357530"/>
          </a:xfrm>
          <a:prstGeom prst="rect">
            <a:avLst/>
          </a:prstGeom>
        </p:spPr>
      </p:pic>
      <p:sp>
        <p:nvSpPr>
          <p:cNvPr id="5" name="a1_text"/>
          <p:cNvSpPr txBox="1"/>
          <p:nvPr/>
        </p:nvSpPr>
        <p:spPr>
          <a:xfrm>
            <a:off x="1600200" y="160020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table with rows and cells</a:t>
            </a:r>
            <a:endParaRPr lang="en-US" sz="2200" dirty="0"/>
          </a:p>
        </p:txBody>
      </p:sp>
      <p:sp>
        <p:nvSpPr>
          <p:cNvPr id="6" name="a2_ico_bg"/>
          <p:cNvSpPr/>
          <p:nvPr/>
        </p:nvSpPr>
        <p:spPr>
          <a:xfrm>
            <a:off x="548640" y="2679192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495" y="2889047"/>
            <a:ext cx="357530" cy="357530"/>
          </a:xfrm>
          <a:prstGeom prst="rect">
            <a:avLst/>
          </a:prstGeom>
        </p:spPr>
      </p:pic>
      <p:sp>
        <p:nvSpPr>
          <p:cNvPr id="8" name="a2_text"/>
          <p:cNvSpPr txBox="1"/>
          <p:nvPr/>
        </p:nvSpPr>
        <p:spPr>
          <a:xfrm>
            <a:off x="1600200" y="2679192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simple form with inputs</a:t>
            </a:r>
            <a:endParaRPr lang="en-US" sz="2200" dirty="0"/>
          </a:p>
        </p:txBody>
      </p:sp>
      <p:sp>
        <p:nvSpPr>
          <p:cNvPr id="9" name="a3_ico_bg"/>
          <p:cNvSpPr/>
          <p:nvPr/>
        </p:nvSpPr>
        <p:spPr>
          <a:xfrm>
            <a:off x="548640" y="3758184"/>
            <a:ext cx="777240" cy="77724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0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495" y="3968039"/>
            <a:ext cx="357530" cy="357530"/>
          </a:xfrm>
          <a:prstGeom prst="rect">
            <a:avLst/>
          </a:prstGeom>
        </p:spPr>
      </p:pic>
      <p:sp>
        <p:nvSpPr>
          <p:cNvPr id="11" name="a3_text"/>
          <p:cNvSpPr txBox="1"/>
          <p:nvPr/>
        </p:nvSpPr>
        <p:spPr>
          <a:xfrm>
            <a:off x="1600200" y="3758184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 page with semantic tags</a:t>
            </a:r>
            <a:endParaRPr lang="en-US" sz="2200" dirty="0"/>
          </a:p>
        </p:txBody>
      </p:sp>
      <p:sp>
        <p:nvSpPr>
          <p:cNvPr id="12" name="a4_ico_bg"/>
          <p:cNvSpPr/>
          <p:nvPr/>
        </p:nvSpPr>
        <p:spPr>
          <a:xfrm>
            <a:off x="548640" y="4837176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95" y="5047031"/>
            <a:ext cx="357530" cy="357530"/>
          </a:xfrm>
          <a:prstGeom prst="rect">
            <a:avLst/>
          </a:prstGeom>
        </p:spPr>
      </p:pic>
      <p:sp>
        <p:nvSpPr>
          <p:cNvPr id="14" name="a4_text"/>
          <p:cNvSpPr txBox="1"/>
          <p:nvPr/>
        </p:nvSpPr>
        <p:spPr>
          <a:xfrm>
            <a:off x="1600200" y="4837176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clean-code habits</a:t>
            </a:r>
            <a:endParaRPr lang="en-US" sz="2200" dirty="0"/>
          </a:p>
        </p:txBody>
      </p:sp>
      <p:sp>
        <p:nvSpPr>
          <p:cNvPr id="15" name="a5_panel"/>
          <p:cNvSpPr/>
          <p:nvPr/>
        </p:nvSpPr>
        <p:spPr>
          <a:xfrm>
            <a:off x="8503920" y="1600200"/>
            <a:ext cx="3136392" cy="4251960"/>
          </a:xfrm>
          <a:prstGeom prst="roundRect">
            <a:avLst>
              <a:gd name="adj" fmla="val 583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6" name="a5_ico_pane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57400"/>
            <a:ext cx="914400" cy="914400"/>
          </a:xfrm>
          <a:prstGeom prst="rect">
            <a:avLst/>
          </a:prstGeom>
        </p:spPr>
      </p:pic>
      <p:sp>
        <p:nvSpPr>
          <p:cNvPr id="17" name="a5_panel_label"/>
          <p:cNvSpPr txBox="1"/>
          <p:nvPr/>
        </p:nvSpPr>
        <p:spPr>
          <a:xfrm>
            <a:off x="8823960" y="324612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GOAL</a:t>
            </a:r>
            <a:endParaRPr lang="en-US" sz="1400" dirty="0"/>
          </a:p>
        </p:txBody>
      </p:sp>
      <p:sp>
        <p:nvSpPr>
          <p:cNvPr id="18" name="a5_panel_text"/>
          <p:cNvSpPr txBox="1"/>
          <p:nvPr/>
        </p:nvSpPr>
        <p:spPr>
          <a:xfrm>
            <a:off x="8823960" y="3657600"/>
            <a:ext cx="24963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your Discover Egypt mini-site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4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Tables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Show data in rows and columns</a:t>
            </a:r>
            <a:endParaRPr lang="en-US" sz="2200" dirty="0"/>
          </a:p>
        </p:txBody>
      </p:sp>
      <p:sp>
        <p:nvSpPr>
          <p:cNvPr id="7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الجداول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Building a table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5394960" cy="4114800"/>
          </a:xfrm>
          <a:prstGeom prst="roundRect">
            <a:avLst>
              <a:gd name="adj" fmla="val 311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&lt;/th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&lt;/th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Ahmed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Cairo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&lt;/tr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</p:txBody>
      </p:sp>
      <p:sp>
        <p:nvSpPr>
          <p:cNvPr id="10" name="a2_browser"/>
          <p:cNvSpPr/>
          <p:nvPr/>
        </p:nvSpPr>
        <p:spPr>
          <a:xfrm>
            <a:off x="6217920" y="1554480"/>
            <a:ext cx="5425135" cy="20116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6217920" y="1554480"/>
            <a:ext cx="54251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64190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66385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68580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7178040" y="1627632"/>
            <a:ext cx="41906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7315200" y="162763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table.html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2267712"/>
          <a:ext cx="4419295" cy="914400"/>
        </p:xfrm>
        <a:graphic>
          <a:graphicData uri="http://schemas.openxmlformats.org/drawingml/2006/table">
            <a:tbl>
              <a:tblPr/>
              <a:tblGrid>
                <a:gridCol w="2209648"/>
                <a:gridCol w="22096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F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Ahmed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5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a3_chip"/>
          <p:cNvSpPr/>
          <p:nvPr/>
        </p:nvSpPr>
        <p:spPr>
          <a:xfrm>
            <a:off x="6217920" y="3840480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9" name="a3_chip_text"/>
          <p:cNvSpPr txBox="1"/>
          <p:nvPr/>
        </p:nvSpPr>
        <p:spPr>
          <a:xfrm>
            <a:off x="6217920" y="3840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&lt;tr&gt;</a:t>
            </a:r>
            <a:endParaRPr lang="en-US" sz="1500" dirty="0"/>
          </a:p>
        </p:txBody>
      </p:sp>
      <p:sp>
        <p:nvSpPr>
          <p:cNvPr id="20" name="a3_chip_desc"/>
          <p:cNvSpPr txBox="1"/>
          <p:nvPr/>
        </p:nvSpPr>
        <p:spPr>
          <a:xfrm>
            <a:off x="7498080" y="3840480"/>
            <a:ext cx="4144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row</a:t>
            </a:r>
            <a:endParaRPr lang="en-US" sz="1600" dirty="0"/>
          </a:p>
        </p:txBody>
      </p:sp>
      <p:sp>
        <p:nvSpPr>
          <p:cNvPr id="21" name="a4_chip"/>
          <p:cNvSpPr/>
          <p:nvPr/>
        </p:nvSpPr>
        <p:spPr>
          <a:xfrm>
            <a:off x="6217920" y="4498848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22" name="a4_chip_text"/>
          <p:cNvSpPr txBox="1"/>
          <p:nvPr/>
        </p:nvSpPr>
        <p:spPr>
          <a:xfrm>
            <a:off x="6217920" y="449884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&lt;th&gt;</a:t>
            </a:r>
            <a:endParaRPr lang="en-US" sz="1500" dirty="0"/>
          </a:p>
        </p:txBody>
      </p:sp>
      <p:sp>
        <p:nvSpPr>
          <p:cNvPr id="23" name="a4_chip_desc"/>
          <p:cNvSpPr txBox="1"/>
          <p:nvPr/>
        </p:nvSpPr>
        <p:spPr>
          <a:xfrm>
            <a:off x="7498080" y="4498848"/>
            <a:ext cx="4144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cell (bold, centred)</a:t>
            </a:r>
            <a:endParaRPr lang="en-US" sz="1600" dirty="0"/>
          </a:p>
        </p:txBody>
      </p:sp>
      <p:sp>
        <p:nvSpPr>
          <p:cNvPr id="24" name="a5_chip"/>
          <p:cNvSpPr/>
          <p:nvPr/>
        </p:nvSpPr>
        <p:spPr>
          <a:xfrm>
            <a:off x="6217920" y="5157216"/>
            <a:ext cx="109728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25" name="a5_chip_text"/>
          <p:cNvSpPr txBox="1"/>
          <p:nvPr/>
        </p:nvSpPr>
        <p:spPr>
          <a:xfrm>
            <a:off x="6217920" y="515721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&lt;td&gt;</a:t>
            </a:r>
            <a:endParaRPr lang="en-US" sz="1500" dirty="0"/>
          </a:p>
        </p:txBody>
      </p:sp>
      <p:sp>
        <p:nvSpPr>
          <p:cNvPr id="26" name="a5_chip_desc"/>
          <p:cNvSpPr txBox="1"/>
          <p:nvPr/>
        </p:nvSpPr>
        <p:spPr>
          <a:xfrm>
            <a:off x="7498080" y="5157216"/>
            <a:ext cx="4144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4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Forms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Let visitors type and send information</a:t>
            </a:r>
            <a:endParaRPr lang="en-US" sz="2200" dirty="0"/>
          </a:p>
        </p:txBody>
      </p:sp>
      <p:sp>
        <p:nvSpPr>
          <p:cNvPr id="7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النماذج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simple contact form</a:t>
            </a:r>
            <a:endParaRPr lang="en-US" sz="3600" dirty="0"/>
          </a:p>
        </p:txBody>
      </p:sp>
      <p:sp>
        <p:nvSpPr>
          <p:cNvPr id="4" name="a1_code"/>
          <p:cNvSpPr/>
          <p:nvPr/>
        </p:nvSpPr>
        <p:spPr>
          <a:xfrm>
            <a:off x="548640" y="1554480"/>
            <a:ext cx="5394960" cy="3749040"/>
          </a:xfrm>
          <a:prstGeom prst="roundRect">
            <a:avLst>
              <a:gd name="adj" fmla="val 3415"/>
            </a:avLst>
          </a:prstGeom>
          <a:solidFill>
            <a:schemeClr val="tx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1_code_dot"/>
          <p:cNvSpPr/>
          <p:nvPr/>
        </p:nvSpPr>
        <p:spPr>
          <a:xfrm>
            <a:off x="804672" y="1773936"/>
            <a:ext cx="137160" cy="137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a1_code_dot"/>
          <p:cNvSpPr/>
          <p:nvPr/>
        </p:nvSpPr>
        <p:spPr>
          <a:xfrm>
            <a:off x="1042416" y="1773936"/>
            <a:ext cx="137160" cy="1371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a1_code_dot"/>
          <p:cNvSpPr/>
          <p:nvPr/>
        </p:nvSpPr>
        <p:spPr>
          <a:xfrm>
            <a:off x="1280160" y="1773936"/>
            <a:ext cx="137160" cy="1371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a1_code_file"/>
          <p:cNvSpPr txBox="1"/>
          <p:nvPr/>
        </p:nvSpPr>
        <p:spPr>
          <a:xfrm>
            <a:off x="1645920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contact.html</a:t>
            </a:r>
            <a:endParaRPr lang="en-US" sz="1300" dirty="0"/>
          </a:p>
        </p:txBody>
      </p:sp>
      <p:sp>
        <p:nvSpPr>
          <p:cNvPr id="9" name="a1_code_text"/>
          <p:cNvSpPr txBox="1"/>
          <p:nvPr/>
        </p:nvSpPr>
        <p:spPr>
          <a:xfrm>
            <a:off x="841248" y="2148840"/>
            <a:ext cx="49377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&lt;label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&lt;/label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"text"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&lt;label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Email: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&lt;/label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"email"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</a:t>
            </a:r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600" dirty="0"/>
          </a:p>
        </p:txBody>
      </p:sp>
      <p:sp>
        <p:nvSpPr>
          <p:cNvPr id="10" name="a2_browser"/>
          <p:cNvSpPr/>
          <p:nvPr/>
        </p:nvSpPr>
        <p:spPr>
          <a:xfrm>
            <a:off x="6217920" y="1554480"/>
            <a:ext cx="5425135" cy="37490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11" name="a2_browser_bar"/>
          <p:cNvSpPr/>
          <p:nvPr/>
        </p:nvSpPr>
        <p:spPr>
          <a:xfrm>
            <a:off x="6217920" y="1554480"/>
            <a:ext cx="5425135" cy="420624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a2_browser_dot"/>
          <p:cNvSpPr/>
          <p:nvPr/>
        </p:nvSpPr>
        <p:spPr>
          <a:xfrm>
            <a:off x="6419088" y="1700784"/>
            <a:ext cx="128016" cy="128016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3" name="a2_browser_dot"/>
          <p:cNvSpPr/>
          <p:nvPr/>
        </p:nvSpPr>
        <p:spPr>
          <a:xfrm>
            <a:off x="6638544" y="1700784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a2_browser_dot"/>
          <p:cNvSpPr/>
          <p:nvPr/>
        </p:nvSpPr>
        <p:spPr>
          <a:xfrm>
            <a:off x="6858000" y="1700784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a2_browser_url"/>
          <p:cNvSpPr/>
          <p:nvPr/>
        </p:nvSpPr>
        <p:spPr>
          <a:xfrm>
            <a:off x="7178040" y="1627632"/>
            <a:ext cx="4190695" cy="274320"/>
          </a:xfrm>
          <a:prstGeom prst="roundRect">
            <a:avLst>
              <a:gd name="adj" fmla="val 33333"/>
            </a:avLst>
          </a:prstGeom>
          <a:solidFill>
            <a:schemeClr val="bg1"/>
          </a:solidFill>
          <a:ln/>
        </p:spPr>
      </p:sp>
      <p:sp>
        <p:nvSpPr>
          <p:cNvPr id="16" name="a2_browser_urltext"/>
          <p:cNvSpPr txBox="1"/>
          <p:nvPr/>
        </p:nvSpPr>
        <p:spPr>
          <a:xfrm>
            <a:off x="7315200" y="162763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contact.html</a:t>
            </a:r>
            <a:endParaRPr lang="en-US" sz="1200" dirty="0"/>
          </a:p>
        </p:txBody>
      </p:sp>
      <p:sp>
        <p:nvSpPr>
          <p:cNvPr id="17" name="a2_f1l"/>
          <p:cNvSpPr txBox="1"/>
          <p:nvPr/>
        </p:nvSpPr>
        <p:spPr>
          <a:xfrm>
            <a:off x="6537960" y="2221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Name:</a:t>
            </a:r>
            <a:endParaRPr lang="en-US" sz="1600" dirty="0"/>
          </a:p>
        </p:txBody>
      </p:sp>
      <p:sp>
        <p:nvSpPr>
          <p:cNvPr id="18" name="a2_f1i"/>
          <p:cNvSpPr/>
          <p:nvPr/>
        </p:nvSpPr>
        <p:spPr>
          <a:xfrm>
            <a:off x="6537960" y="2587752"/>
            <a:ext cx="4785055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9" name="a2_f2l"/>
          <p:cNvSpPr txBox="1"/>
          <p:nvPr/>
        </p:nvSpPr>
        <p:spPr>
          <a:xfrm>
            <a:off x="6537960" y="31821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Email:</a:t>
            </a:r>
            <a:endParaRPr lang="en-US" sz="1600" dirty="0"/>
          </a:p>
        </p:txBody>
      </p:sp>
      <p:sp>
        <p:nvSpPr>
          <p:cNvPr id="20" name="a2_f2i"/>
          <p:cNvSpPr/>
          <p:nvPr/>
        </p:nvSpPr>
        <p:spPr>
          <a:xfrm>
            <a:off x="6537960" y="3547872"/>
            <a:ext cx="4785055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1" name="a2_btn"/>
          <p:cNvSpPr/>
          <p:nvPr/>
        </p:nvSpPr>
        <p:spPr>
          <a:xfrm>
            <a:off x="6537960" y="4279392"/>
            <a:ext cx="146304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22" name="a2_btn_t"/>
          <p:cNvSpPr txBox="1"/>
          <p:nvPr/>
        </p:nvSpPr>
        <p:spPr>
          <a:xfrm>
            <a:off x="6537960" y="427939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Send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Form tags and input types</a:t>
            </a:r>
            <a:endParaRPr lang="en-US" sz="3600" dirty="0"/>
          </a:p>
        </p:txBody>
      </p:sp>
      <p:sp>
        <p:nvSpPr>
          <p:cNvPr id="4" name="a1_pill"/>
          <p:cNvSpPr/>
          <p:nvPr/>
        </p:nvSpPr>
        <p:spPr>
          <a:xfrm>
            <a:off x="548640" y="16002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5" name="a1_pill_text"/>
          <p:cNvSpPr txBox="1"/>
          <p:nvPr/>
        </p:nvSpPr>
        <p:spPr>
          <a:xfrm>
            <a:off x="548640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&lt;form&gt;</a:t>
            </a:r>
            <a:endParaRPr lang="en-US" sz="1800" dirty="0"/>
          </a:p>
        </p:txBody>
      </p:sp>
      <p:sp>
        <p:nvSpPr>
          <p:cNvPr id="6" name="a1_desc"/>
          <p:cNvSpPr txBox="1"/>
          <p:nvPr/>
        </p:nvSpPr>
        <p:spPr>
          <a:xfrm>
            <a:off x="3246120" y="15636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the whole form</a:t>
            </a:r>
            <a:endParaRPr lang="en-US" sz="1800" dirty="0"/>
          </a:p>
        </p:txBody>
      </p:sp>
      <p:sp>
        <p:nvSpPr>
          <p:cNvPr id="7" name="a2_pill"/>
          <p:cNvSpPr/>
          <p:nvPr/>
        </p:nvSpPr>
        <p:spPr>
          <a:xfrm>
            <a:off x="548640" y="25146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2"/>
          </a:solidFill>
          <a:ln/>
        </p:spPr>
      </p:sp>
      <p:sp>
        <p:nvSpPr>
          <p:cNvPr id="8" name="a2_pill_text"/>
          <p:cNvSpPr txBox="1"/>
          <p:nvPr/>
        </p:nvSpPr>
        <p:spPr>
          <a:xfrm>
            <a:off x="548640" y="25146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&lt;label&gt;</a:t>
            </a:r>
            <a:endParaRPr lang="en-US" sz="1800" dirty="0"/>
          </a:p>
        </p:txBody>
      </p:sp>
      <p:sp>
        <p:nvSpPr>
          <p:cNvPr id="9" name="a2_desc"/>
          <p:cNvSpPr txBox="1"/>
          <p:nvPr/>
        </p:nvSpPr>
        <p:spPr>
          <a:xfrm>
            <a:off x="3246120" y="24780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 field</a:t>
            </a:r>
            <a:endParaRPr lang="en-US" sz="1800" dirty="0"/>
          </a:p>
        </p:txBody>
      </p:sp>
      <p:sp>
        <p:nvSpPr>
          <p:cNvPr id="10" name="a3_pill"/>
          <p:cNvSpPr/>
          <p:nvPr/>
        </p:nvSpPr>
        <p:spPr>
          <a:xfrm>
            <a:off x="548640" y="34290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6"/>
          </a:solidFill>
          <a:ln/>
        </p:spPr>
      </p:sp>
      <p:sp>
        <p:nvSpPr>
          <p:cNvPr id="11" name="a3_pill_text"/>
          <p:cNvSpPr txBox="1"/>
          <p:nvPr/>
        </p:nvSpPr>
        <p:spPr>
          <a:xfrm>
            <a:off x="548640" y="34290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&lt;input&gt;</a:t>
            </a:r>
            <a:endParaRPr lang="en-US" sz="1800" dirty="0"/>
          </a:p>
        </p:txBody>
      </p:sp>
      <p:sp>
        <p:nvSpPr>
          <p:cNvPr id="12" name="a3_desc"/>
          <p:cNvSpPr txBox="1"/>
          <p:nvPr/>
        </p:nvSpPr>
        <p:spPr>
          <a:xfrm>
            <a:off x="3246120" y="33924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user types</a:t>
            </a:r>
            <a:endParaRPr lang="en-US" sz="1800" dirty="0"/>
          </a:p>
        </p:txBody>
      </p:sp>
      <p:sp>
        <p:nvSpPr>
          <p:cNvPr id="13" name="a4_pill"/>
          <p:cNvSpPr/>
          <p:nvPr/>
        </p:nvSpPr>
        <p:spPr>
          <a:xfrm>
            <a:off x="548640" y="43434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3"/>
          </a:solidFill>
          <a:ln/>
        </p:spPr>
      </p:sp>
      <p:sp>
        <p:nvSpPr>
          <p:cNvPr id="14" name="a4_pill_text"/>
          <p:cNvSpPr txBox="1"/>
          <p:nvPr/>
        </p:nvSpPr>
        <p:spPr>
          <a:xfrm>
            <a:off x="548640" y="4343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&lt;button&gt;</a:t>
            </a:r>
            <a:endParaRPr lang="en-US" sz="1800" dirty="0"/>
          </a:p>
        </p:txBody>
      </p:sp>
      <p:sp>
        <p:nvSpPr>
          <p:cNvPr id="15" name="a4_desc"/>
          <p:cNvSpPr txBox="1"/>
          <p:nvPr/>
        </p:nvSpPr>
        <p:spPr>
          <a:xfrm>
            <a:off x="3246120" y="43068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the form</a:t>
            </a:r>
            <a:endParaRPr lang="en-US" sz="1800" dirty="0"/>
          </a:p>
        </p:txBody>
      </p:sp>
      <p:sp>
        <p:nvSpPr>
          <p:cNvPr id="16" name="a5_pill"/>
          <p:cNvSpPr/>
          <p:nvPr/>
        </p:nvSpPr>
        <p:spPr>
          <a:xfrm>
            <a:off x="6278728" y="16002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4"/>
          </a:solidFill>
          <a:ln/>
        </p:spPr>
      </p:sp>
      <p:sp>
        <p:nvSpPr>
          <p:cNvPr id="17" name="a5_pill_text"/>
          <p:cNvSpPr txBox="1"/>
          <p:nvPr/>
        </p:nvSpPr>
        <p:spPr>
          <a:xfrm>
            <a:off x="6278728" y="16002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type="text"</a:t>
            </a:r>
            <a:endParaRPr lang="en-US" sz="1800" dirty="0"/>
          </a:p>
        </p:txBody>
      </p:sp>
      <p:sp>
        <p:nvSpPr>
          <p:cNvPr id="18" name="a5_desc"/>
          <p:cNvSpPr txBox="1"/>
          <p:nvPr/>
        </p:nvSpPr>
        <p:spPr>
          <a:xfrm>
            <a:off x="8976208" y="15636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short text</a:t>
            </a:r>
            <a:endParaRPr lang="en-US" sz="1800" dirty="0"/>
          </a:p>
        </p:txBody>
      </p:sp>
      <p:sp>
        <p:nvSpPr>
          <p:cNvPr id="19" name="a6_pill"/>
          <p:cNvSpPr/>
          <p:nvPr/>
        </p:nvSpPr>
        <p:spPr>
          <a:xfrm>
            <a:off x="6278728" y="25146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5"/>
          </a:solidFill>
          <a:ln/>
        </p:spPr>
      </p:sp>
      <p:sp>
        <p:nvSpPr>
          <p:cNvPr id="20" name="a6_pill_text"/>
          <p:cNvSpPr txBox="1"/>
          <p:nvPr/>
        </p:nvSpPr>
        <p:spPr>
          <a:xfrm>
            <a:off x="6278728" y="25146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type="email"</a:t>
            </a:r>
            <a:endParaRPr lang="en-US" sz="1800" dirty="0"/>
          </a:p>
        </p:txBody>
      </p:sp>
      <p:sp>
        <p:nvSpPr>
          <p:cNvPr id="21" name="a6_desc"/>
          <p:cNvSpPr txBox="1"/>
          <p:nvPr/>
        </p:nvSpPr>
        <p:spPr>
          <a:xfrm>
            <a:off x="8976208" y="24780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 address</a:t>
            </a:r>
            <a:endParaRPr lang="en-US" sz="1800" dirty="0"/>
          </a:p>
        </p:txBody>
      </p:sp>
      <p:sp>
        <p:nvSpPr>
          <p:cNvPr id="22" name="a7_pill"/>
          <p:cNvSpPr/>
          <p:nvPr/>
        </p:nvSpPr>
        <p:spPr>
          <a:xfrm>
            <a:off x="6278728" y="34290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1"/>
          </a:solidFill>
          <a:ln/>
        </p:spPr>
      </p:sp>
      <p:sp>
        <p:nvSpPr>
          <p:cNvPr id="23" name="a7_pill_text"/>
          <p:cNvSpPr txBox="1"/>
          <p:nvPr/>
        </p:nvSpPr>
        <p:spPr>
          <a:xfrm>
            <a:off x="6278728" y="34290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type="password"</a:t>
            </a:r>
            <a:endParaRPr lang="en-US" sz="1800" dirty="0"/>
          </a:p>
        </p:txBody>
      </p:sp>
      <p:sp>
        <p:nvSpPr>
          <p:cNvPr id="24" name="a7_desc"/>
          <p:cNvSpPr txBox="1"/>
          <p:nvPr/>
        </p:nvSpPr>
        <p:spPr>
          <a:xfrm>
            <a:off x="8976208" y="33924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Hides the characters</a:t>
            </a:r>
            <a:endParaRPr lang="en-US" sz="1800" dirty="0"/>
          </a:p>
        </p:txBody>
      </p:sp>
      <p:sp>
        <p:nvSpPr>
          <p:cNvPr id="25" name="a8_pill"/>
          <p:cNvSpPr/>
          <p:nvPr/>
        </p:nvSpPr>
        <p:spPr>
          <a:xfrm>
            <a:off x="6278728" y="4343400"/>
            <a:ext cx="2468880" cy="566928"/>
          </a:xfrm>
          <a:prstGeom prst="roundRect">
            <a:avLst>
              <a:gd name="adj" fmla="val 19355"/>
            </a:avLst>
          </a:prstGeom>
          <a:solidFill>
            <a:schemeClr val="accent2"/>
          </a:solidFill>
          <a:ln/>
        </p:spPr>
      </p:sp>
      <p:sp>
        <p:nvSpPr>
          <p:cNvPr id="26" name="a8_pill_text"/>
          <p:cNvSpPr txBox="1"/>
          <p:nvPr/>
        </p:nvSpPr>
        <p:spPr>
          <a:xfrm>
            <a:off x="6278728" y="4343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type="checkbox"</a:t>
            </a:r>
            <a:endParaRPr lang="en-US" sz="1800" dirty="0"/>
          </a:p>
        </p:txBody>
      </p:sp>
      <p:sp>
        <p:nvSpPr>
          <p:cNvPr id="27" name="a8_desc"/>
          <p:cNvSpPr txBox="1"/>
          <p:nvPr/>
        </p:nvSpPr>
        <p:spPr>
          <a:xfrm>
            <a:off x="8976208" y="4306824"/>
            <a:ext cx="2666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 box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5_halo"/>
          <p:cNvSpPr/>
          <p:nvPr/>
        </p:nvSpPr>
        <p:spPr>
          <a:xfrm>
            <a:off x="-1371600" y="4023360"/>
            <a:ext cx="4572000" cy="4572000"/>
          </a:xfrm>
          <a:prstGeom prst="ellipse">
            <a:avLst/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3" name="a5_halo2"/>
          <p:cNvSpPr/>
          <p:nvPr/>
        </p:nvSpPr>
        <p:spPr>
          <a:xfrm>
            <a:off x="9875520" y="-1280160"/>
            <a:ext cx="3474720" cy="34747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sp>
        <p:nvSpPr>
          <p:cNvPr id="4" name="a1_num"/>
          <p:cNvSpPr txBox="1"/>
          <p:nvPr/>
        </p:nvSpPr>
        <p:spPr>
          <a:xfrm>
            <a:off x="640080" y="146304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931920" y="210312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Page layout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39319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Give every part of the page a meaningful name</a:t>
            </a:r>
            <a:endParaRPr lang="en-US" sz="2200" dirty="0"/>
          </a:p>
        </p:txBody>
      </p:sp>
      <p:sp>
        <p:nvSpPr>
          <p:cNvPr id="7" name="a4_ar"/>
          <p:cNvSpPr txBox="1"/>
          <p:nvPr/>
        </p:nvSpPr>
        <p:spPr>
          <a:xfrm>
            <a:off x="3931920" y="43434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EG" altLang="en-US" sz="2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تنظيم الصفحة</a:t>
            </a:r>
            <a:endParaRPr lang="ar-EG" sz="24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rism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Semantic tags: name the parts</a:t>
            </a:r>
            <a:endParaRPr lang="en-US" sz="3600" dirty="0"/>
          </a:p>
        </p:txBody>
      </p:sp>
      <p:sp>
        <p:nvSpPr>
          <p:cNvPr id="4" name="a1_frame"/>
          <p:cNvSpPr/>
          <p:nvPr/>
        </p:nvSpPr>
        <p:spPr>
          <a:xfrm>
            <a:off x="548640" y="1554480"/>
            <a:ext cx="6126480" cy="4434840"/>
          </a:xfrm>
          <a:prstGeom prst="rect">
            <a:avLst/>
          </a:prstGeom>
          <a:solidFill>
            <a:schemeClr val="bg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sp>
        <p:nvSpPr>
          <p:cNvPr id="5" name="a2_box"/>
          <p:cNvSpPr/>
          <p:nvPr/>
        </p:nvSpPr>
        <p:spPr>
          <a:xfrm>
            <a:off x="731520" y="1737360"/>
            <a:ext cx="576072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/>
        </p:spPr>
      </p:sp>
      <p:sp>
        <p:nvSpPr>
          <p:cNvPr id="6" name="a2_box_text"/>
          <p:cNvSpPr txBox="1"/>
          <p:nvPr/>
        </p:nvSpPr>
        <p:spPr>
          <a:xfrm>
            <a:off x="731520" y="17373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&lt;header&gt;</a:t>
            </a:r>
            <a:endParaRPr lang="en-US" sz="1600" dirty="0"/>
          </a:p>
        </p:txBody>
      </p:sp>
      <p:sp>
        <p:nvSpPr>
          <p:cNvPr id="7" name="a3_box"/>
          <p:cNvSpPr/>
          <p:nvPr/>
        </p:nvSpPr>
        <p:spPr>
          <a:xfrm>
            <a:off x="731520" y="2560320"/>
            <a:ext cx="57607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8" name="a3_box_text"/>
          <p:cNvSpPr txBox="1"/>
          <p:nvPr/>
        </p:nvSpPr>
        <p:spPr>
          <a:xfrm>
            <a:off x="731520" y="256032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&lt;nav&gt;</a:t>
            </a:r>
            <a:endParaRPr lang="en-US" sz="1600" dirty="0"/>
          </a:p>
        </p:txBody>
      </p:sp>
      <p:sp>
        <p:nvSpPr>
          <p:cNvPr id="9" name="a4_main_bg"/>
          <p:cNvSpPr/>
          <p:nvPr/>
        </p:nvSpPr>
        <p:spPr>
          <a:xfrm>
            <a:off x="731520" y="3200400"/>
            <a:ext cx="57607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</p:spPr>
      </p:sp>
      <p:sp>
        <p:nvSpPr>
          <p:cNvPr id="10" name="a4_main_label"/>
          <p:cNvSpPr txBox="1"/>
          <p:nvPr/>
        </p:nvSpPr>
        <p:spPr>
          <a:xfrm>
            <a:off x="868680" y="32461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&lt;main&gt;</a:t>
            </a:r>
            <a:endParaRPr lang="en-US" sz="1400" dirty="0"/>
          </a:p>
        </p:txBody>
      </p:sp>
      <p:sp>
        <p:nvSpPr>
          <p:cNvPr id="11" name="a5_box"/>
          <p:cNvSpPr/>
          <p:nvPr/>
        </p:nvSpPr>
        <p:spPr>
          <a:xfrm>
            <a:off x="868680" y="3611880"/>
            <a:ext cx="27432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</p:sp>
      <p:sp>
        <p:nvSpPr>
          <p:cNvPr id="12" name="a5_box_text"/>
          <p:cNvSpPr txBox="1"/>
          <p:nvPr/>
        </p:nvSpPr>
        <p:spPr>
          <a:xfrm>
            <a:off x="868680" y="36118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&lt;section&gt;</a:t>
            </a:r>
            <a:endParaRPr lang="en-US" sz="1600" dirty="0"/>
          </a:p>
        </p:txBody>
      </p:sp>
      <p:sp>
        <p:nvSpPr>
          <p:cNvPr id="13" name="a6_box"/>
          <p:cNvSpPr/>
          <p:nvPr/>
        </p:nvSpPr>
        <p:spPr>
          <a:xfrm>
            <a:off x="3749040" y="3611880"/>
            <a:ext cx="2423160" cy="146304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/>
        </p:spPr>
      </p:sp>
      <p:sp>
        <p:nvSpPr>
          <p:cNvPr id="14" name="a6_box_text"/>
          <p:cNvSpPr txBox="1"/>
          <p:nvPr/>
        </p:nvSpPr>
        <p:spPr>
          <a:xfrm>
            <a:off x="3749040" y="361188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&lt;aside&gt;</a:t>
            </a:r>
            <a:endParaRPr lang="en-US" sz="1600" dirty="0"/>
          </a:p>
        </p:txBody>
      </p:sp>
      <p:sp>
        <p:nvSpPr>
          <p:cNvPr id="15" name="a7_box"/>
          <p:cNvSpPr/>
          <p:nvPr/>
        </p:nvSpPr>
        <p:spPr>
          <a:xfrm>
            <a:off x="731520" y="5349240"/>
            <a:ext cx="576072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/>
        </p:spPr>
      </p:sp>
      <p:sp>
        <p:nvSpPr>
          <p:cNvPr id="16" name="a7_box_text"/>
          <p:cNvSpPr txBox="1"/>
          <p:nvPr/>
        </p:nvSpPr>
        <p:spPr>
          <a:xfrm>
            <a:off x="731520" y="53492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&lt;footer&gt;</a:t>
            </a:r>
            <a:endParaRPr lang="en-US" sz="1600" dirty="0"/>
          </a:p>
        </p:txBody>
      </p:sp>
      <p:sp>
        <p:nvSpPr>
          <p:cNvPr id="17" name="a2_chip"/>
          <p:cNvSpPr/>
          <p:nvPr/>
        </p:nvSpPr>
        <p:spPr>
          <a:xfrm>
            <a:off x="6949440" y="1554480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8" name="a2_chip_text"/>
          <p:cNvSpPr txBox="1"/>
          <p:nvPr/>
        </p:nvSpPr>
        <p:spPr>
          <a:xfrm>
            <a:off x="6949440" y="1554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&lt;header&gt;</a:t>
            </a:r>
            <a:endParaRPr lang="en-US" sz="1500" dirty="0"/>
          </a:p>
        </p:txBody>
      </p:sp>
      <p:sp>
        <p:nvSpPr>
          <p:cNvPr id="19" name="a2_chip_desc"/>
          <p:cNvSpPr txBox="1"/>
          <p:nvPr/>
        </p:nvSpPr>
        <p:spPr>
          <a:xfrm>
            <a:off x="8595360" y="1554480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page: logo and title</a:t>
            </a:r>
            <a:endParaRPr lang="en-US" sz="1600" dirty="0"/>
          </a:p>
        </p:txBody>
      </p:sp>
      <p:sp>
        <p:nvSpPr>
          <p:cNvPr id="20" name="a3_chip"/>
          <p:cNvSpPr/>
          <p:nvPr/>
        </p:nvSpPr>
        <p:spPr>
          <a:xfrm>
            <a:off x="6949440" y="2304288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/>
        </p:spPr>
      </p:sp>
      <p:sp>
        <p:nvSpPr>
          <p:cNvPr id="21" name="a3_chip_text"/>
          <p:cNvSpPr txBox="1"/>
          <p:nvPr/>
        </p:nvSpPr>
        <p:spPr>
          <a:xfrm>
            <a:off x="6949440" y="230428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&lt;nav&gt;</a:t>
            </a:r>
            <a:endParaRPr lang="en-US" sz="1500" dirty="0"/>
          </a:p>
        </p:txBody>
      </p:sp>
      <p:sp>
        <p:nvSpPr>
          <p:cNvPr id="22" name="a3_chip_desc"/>
          <p:cNvSpPr txBox="1"/>
          <p:nvPr/>
        </p:nvSpPr>
        <p:spPr>
          <a:xfrm>
            <a:off x="8595360" y="2304288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of links</a:t>
            </a:r>
            <a:endParaRPr lang="en-US" sz="1600" dirty="0"/>
          </a:p>
        </p:txBody>
      </p:sp>
      <p:sp>
        <p:nvSpPr>
          <p:cNvPr id="23" name="a4_chip"/>
          <p:cNvSpPr/>
          <p:nvPr/>
        </p:nvSpPr>
        <p:spPr>
          <a:xfrm>
            <a:off x="6949440" y="3054096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/>
        </p:spPr>
      </p:sp>
      <p:sp>
        <p:nvSpPr>
          <p:cNvPr id="24" name="a4_chip_text"/>
          <p:cNvSpPr txBox="1"/>
          <p:nvPr/>
        </p:nvSpPr>
        <p:spPr>
          <a:xfrm>
            <a:off x="6949440" y="30540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&lt;main&gt;</a:t>
            </a:r>
            <a:endParaRPr lang="en-US" sz="1500" dirty="0"/>
          </a:p>
        </p:txBody>
      </p:sp>
      <p:sp>
        <p:nvSpPr>
          <p:cNvPr id="25" name="a4_chip_desc"/>
          <p:cNvSpPr txBox="1"/>
          <p:nvPr/>
        </p:nvSpPr>
        <p:spPr>
          <a:xfrm>
            <a:off x="8595360" y="3054096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content</a:t>
            </a:r>
            <a:endParaRPr lang="en-US" sz="1600" dirty="0"/>
          </a:p>
        </p:txBody>
      </p:sp>
      <p:sp>
        <p:nvSpPr>
          <p:cNvPr id="26" name="a5_chip"/>
          <p:cNvSpPr/>
          <p:nvPr/>
        </p:nvSpPr>
        <p:spPr>
          <a:xfrm>
            <a:off x="6949440" y="3803904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/>
        </p:spPr>
      </p:sp>
      <p:sp>
        <p:nvSpPr>
          <p:cNvPr id="27" name="a5_chip_text"/>
          <p:cNvSpPr txBox="1"/>
          <p:nvPr/>
        </p:nvSpPr>
        <p:spPr>
          <a:xfrm>
            <a:off x="6949440" y="380390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&lt;section&gt;</a:t>
            </a:r>
            <a:endParaRPr lang="en-US" sz="1500" dirty="0"/>
          </a:p>
        </p:txBody>
      </p:sp>
      <p:sp>
        <p:nvSpPr>
          <p:cNvPr id="28" name="a5_chip_desc"/>
          <p:cNvSpPr txBox="1"/>
          <p:nvPr/>
        </p:nvSpPr>
        <p:spPr>
          <a:xfrm>
            <a:off x="8595360" y="3803904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topic inside the page</a:t>
            </a:r>
            <a:endParaRPr lang="en-US" sz="1600" dirty="0"/>
          </a:p>
        </p:txBody>
      </p:sp>
      <p:sp>
        <p:nvSpPr>
          <p:cNvPr id="29" name="a6_chip"/>
          <p:cNvSpPr/>
          <p:nvPr/>
        </p:nvSpPr>
        <p:spPr>
          <a:xfrm>
            <a:off x="6949440" y="4553712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0" name="a6_chip_text"/>
          <p:cNvSpPr txBox="1"/>
          <p:nvPr/>
        </p:nvSpPr>
        <p:spPr>
          <a:xfrm>
            <a:off x="6949440" y="45537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&lt;aside&gt;</a:t>
            </a:r>
            <a:endParaRPr lang="en-US" sz="1500" dirty="0"/>
          </a:p>
        </p:txBody>
      </p:sp>
      <p:sp>
        <p:nvSpPr>
          <p:cNvPr id="31" name="a6_chip_desc"/>
          <p:cNvSpPr txBox="1"/>
          <p:nvPr/>
        </p:nvSpPr>
        <p:spPr>
          <a:xfrm>
            <a:off x="8595360" y="4553712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notes and extras</a:t>
            </a:r>
            <a:endParaRPr lang="en-US" sz="1600" dirty="0"/>
          </a:p>
        </p:txBody>
      </p:sp>
      <p:sp>
        <p:nvSpPr>
          <p:cNvPr id="32" name="a7_chip"/>
          <p:cNvSpPr/>
          <p:nvPr/>
        </p:nvSpPr>
        <p:spPr>
          <a:xfrm>
            <a:off x="6949440" y="5303520"/>
            <a:ext cx="1463040" cy="54864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/>
        </p:spPr>
      </p:sp>
      <p:sp>
        <p:nvSpPr>
          <p:cNvPr id="33" name="a7_chip_text"/>
          <p:cNvSpPr txBox="1"/>
          <p:nvPr/>
        </p:nvSpPr>
        <p:spPr>
          <a:xfrm>
            <a:off x="6949440" y="53035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&lt;footer&gt;</a:t>
            </a:r>
            <a:endParaRPr lang="en-US" sz="1500" dirty="0"/>
          </a:p>
        </p:txBody>
      </p:sp>
      <p:sp>
        <p:nvSpPr>
          <p:cNvPr id="34" name="a7_chip_desc"/>
          <p:cNvSpPr txBox="1"/>
          <p:nvPr/>
        </p:nvSpPr>
        <p:spPr>
          <a:xfrm>
            <a:off x="8595360" y="5303520"/>
            <a:ext cx="30476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Bottom: contact and copyright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window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6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6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6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6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6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 habits of clean code</a:t>
            </a:r>
            <a:endParaRPr lang="en-US" sz="3600" dirty="0"/>
          </a:p>
        </p:txBody>
      </p:sp>
      <p:sp>
        <p:nvSpPr>
          <p:cNvPr id="4" name="a1_card"/>
          <p:cNvSpPr/>
          <p:nvPr/>
        </p:nvSpPr>
        <p:spPr>
          <a:xfrm>
            <a:off x="548640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5" name="a1_ico_bg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1_ico_im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879" y="2142439"/>
            <a:ext cx="378562" cy="378562"/>
          </a:xfrm>
          <a:prstGeom prst="rect">
            <a:avLst/>
          </a:prstGeom>
        </p:spPr>
      </p:pic>
      <p:sp>
        <p:nvSpPr>
          <p:cNvPr id="7" name="a1_head"/>
          <p:cNvSpPr txBox="1"/>
          <p:nvPr/>
        </p:nvSpPr>
        <p:spPr>
          <a:xfrm>
            <a:off x="868680" y="2971800"/>
            <a:ext cx="196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</a:t>
            </a:r>
            <a:endParaRPr lang="en-US" sz="2200" dirty="0"/>
          </a:p>
        </p:txBody>
      </p:sp>
      <p:sp>
        <p:nvSpPr>
          <p:cNvPr id="8" name="a1_body"/>
          <p:cNvSpPr txBox="1"/>
          <p:nvPr/>
        </p:nvSpPr>
        <p:spPr>
          <a:xfrm>
            <a:off x="868680" y="3611880"/>
            <a:ext cx="196207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inner tags 2 spaces to the right so you can see the structure.</a:t>
            </a:r>
            <a:endParaRPr lang="en-US" sz="1600" dirty="0"/>
          </a:p>
        </p:txBody>
      </p:sp>
      <p:sp>
        <p:nvSpPr>
          <p:cNvPr id="9" name="a2_card"/>
          <p:cNvSpPr/>
          <p:nvPr/>
        </p:nvSpPr>
        <p:spPr>
          <a:xfrm>
            <a:off x="3379394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0" name="a2_ico_bg"/>
          <p:cNvSpPr/>
          <p:nvPr/>
        </p:nvSpPr>
        <p:spPr>
          <a:xfrm>
            <a:off x="3699434" y="192024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a2_ico_im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633" y="2142439"/>
            <a:ext cx="378562" cy="378562"/>
          </a:xfrm>
          <a:prstGeom prst="rect">
            <a:avLst/>
          </a:prstGeom>
        </p:spPr>
      </p:pic>
      <p:sp>
        <p:nvSpPr>
          <p:cNvPr id="12" name="a2_head"/>
          <p:cNvSpPr txBox="1"/>
          <p:nvPr/>
        </p:nvSpPr>
        <p:spPr>
          <a:xfrm>
            <a:off x="3699434" y="2971800"/>
            <a:ext cx="196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tags</a:t>
            </a:r>
            <a:endParaRPr lang="en-US" sz="2200" dirty="0"/>
          </a:p>
        </p:txBody>
      </p:sp>
      <p:sp>
        <p:nvSpPr>
          <p:cNvPr id="13" name="a2_body"/>
          <p:cNvSpPr txBox="1"/>
          <p:nvPr/>
        </p:nvSpPr>
        <p:spPr>
          <a:xfrm>
            <a:off x="3699434" y="3611880"/>
            <a:ext cx="196207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opening tag needs its closing tag, in the right order.</a:t>
            </a:r>
            <a:endParaRPr lang="en-US" sz="1600" dirty="0"/>
          </a:p>
        </p:txBody>
      </p:sp>
      <p:sp>
        <p:nvSpPr>
          <p:cNvPr id="14" name="a3_card"/>
          <p:cNvSpPr/>
          <p:nvPr/>
        </p:nvSpPr>
        <p:spPr>
          <a:xfrm>
            <a:off x="6210148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15" name="a3_ico_bg"/>
          <p:cNvSpPr/>
          <p:nvPr/>
        </p:nvSpPr>
        <p:spPr>
          <a:xfrm>
            <a:off x="6530188" y="1920240"/>
            <a:ext cx="822960" cy="8229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a3_ico_img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387" y="2142439"/>
            <a:ext cx="378562" cy="378562"/>
          </a:xfrm>
          <a:prstGeom prst="rect">
            <a:avLst/>
          </a:prstGeom>
        </p:spPr>
      </p:pic>
      <p:sp>
        <p:nvSpPr>
          <p:cNvPr id="17" name="a3_head"/>
          <p:cNvSpPr txBox="1"/>
          <p:nvPr/>
        </p:nvSpPr>
        <p:spPr>
          <a:xfrm>
            <a:off x="6530188" y="2971800"/>
            <a:ext cx="196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alt</a:t>
            </a:r>
            <a:endParaRPr lang="en-US" sz="2200" dirty="0"/>
          </a:p>
        </p:txBody>
      </p:sp>
      <p:sp>
        <p:nvSpPr>
          <p:cNvPr id="18" name="a3_body"/>
          <p:cNvSpPr txBox="1"/>
          <p:nvPr/>
        </p:nvSpPr>
        <p:spPr>
          <a:xfrm>
            <a:off x="6530188" y="3611880"/>
            <a:ext cx="196207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gets alt text so everyone can understand it.</a:t>
            </a:r>
            <a:endParaRPr lang="en-US" sz="1600" dirty="0"/>
          </a:p>
        </p:txBody>
      </p:sp>
      <p:sp>
        <p:nvSpPr>
          <p:cNvPr id="19" name="a4_card"/>
          <p:cNvSpPr/>
          <p:nvPr/>
        </p:nvSpPr>
        <p:spPr>
          <a:xfrm>
            <a:off x="9040901" y="1600200"/>
            <a:ext cx="2602154" cy="4297680"/>
          </a:xfrm>
          <a:prstGeom prst="roundRect">
            <a:avLst>
              <a:gd name="adj" fmla="val 6325"/>
            </a:avLst>
          </a:prstGeom>
          <a:solidFill>
            <a:schemeClr val="bg2"/>
          </a:solidFill>
          <a:ln/>
        </p:spPr>
      </p:sp>
      <p:sp>
        <p:nvSpPr>
          <p:cNvPr id="20" name="a4_ico_bg"/>
          <p:cNvSpPr/>
          <p:nvPr/>
        </p:nvSpPr>
        <p:spPr>
          <a:xfrm>
            <a:off x="9360941" y="19202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1" name="a4_ico_img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3141" y="2142439"/>
            <a:ext cx="378562" cy="378562"/>
          </a:xfrm>
          <a:prstGeom prst="rect">
            <a:avLst/>
          </a:prstGeom>
        </p:spPr>
      </p:pic>
      <p:sp>
        <p:nvSpPr>
          <p:cNvPr id="22" name="a4_head"/>
          <p:cNvSpPr txBox="1"/>
          <p:nvPr/>
        </p:nvSpPr>
        <p:spPr>
          <a:xfrm>
            <a:off x="9360941" y="2971800"/>
            <a:ext cx="19620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2200" dirty="0"/>
          </a:p>
        </p:txBody>
      </p:sp>
      <p:sp>
        <p:nvSpPr>
          <p:cNvPr id="23" name="a4_body"/>
          <p:cNvSpPr txBox="1"/>
          <p:nvPr/>
        </p:nvSpPr>
        <p:spPr>
          <a:xfrm>
            <a:off x="9360941" y="3611880"/>
            <a:ext cx="196207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&lt;!-- Notes to yourself --&gt; are not shown on the page.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Quick quiz</a:t>
            </a:r>
            <a:endParaRPr lang="en-US" sz="3600" dirty="0"/>
          </a:p>
        </p:txBody>
      </p:sp>
      <p:sp>
        <p:nvSpPr>
          <p:cNvPr id="3" name="a1_ico_q_bg"/>
          <p:cNvSpPr/>
          <p:nvPr/>
        </p:nvSpPr>
        <p:spPr>
          <a:xfrm>
            <a:off x="548640" y="15544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a1_ico_q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709928"/>
            <a:ext cx="420624" cy="420624"/>
          </a:xfrm>
          <a:prstGeom prst="rect">
            <a:avLst/>
          </a:prstGeom>
        </p:spPr>
      </p:pic>
      <p:sp>
        <p:nvSpPr>
          <p:cNvPr id="5" name="a1_question"/>
          <p:cNvSpPr txBox="1"/>
          <p:nvPr/>
        </p:nvSpPr>
        <p:spPr>
          <a:xfrm>
            <a:off x="1554480" y="1463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tag creates ONE ROW of a table?</a:t>
            </a:r>
            <a:endParaRPr lang="en-US" sz="2600" dirty="0"/>
          </a:p>
        </p:txBody>
      </p:sp>
      <p:sp>
        <p:nvSpPr>
          <p:cNvPr id="6" name="a2_opt"/>
          <p:cNvSpPr/>
          <p:nvPr/>
        </p:nvSpPr>
        <p:spPr>
          <a:xfrm>
            <a:off x="548640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7" name="a2_ico_letter_bg"/>
          <p:cNvSpPr/>
          <p:nvPr/>
        </p:nvSpPr>
        <p:spPr>
          <a:xfrm>
            <a:off x="804672" y="2971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a2_ico_letter"/>
          <p:cNvSpPr txBox="1"/>
          <p:nvPr/>
        </p:nvSpPr>
        <p:spPr>
          <a:xfrm>
            <a:off x="804672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a2_opt_text"/>
          <p:cNvSpPr txBox="1"/>
          <p:nvPr/>
        </p:nvSpPr>
        <p:spPr>
          <a:xfrm>
            <a:off x="1645920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&lt;td&gt;</a:t>
            </a:r>
            <a:endParaRPr lang="en-US" sz="2000" dirty="0"/>
          </a:p>
        </p:txBody>
      </p:sp>
      <p:sp>
        <p:nvSpPr>
          <p:cNvPr id="10" name="a3_opt"/>
          <p:cNvSpPr/>
          <p:nvPr/>
        </p:nvSpPr>
        <p:spPr>
          <a:xfrm>
            <a:off x="6199632" y="269748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1" name="a3_ico_letter_bg"/>
          <p:cNvSpPr/>
          <p:nvPr/>
        </p:nvSpPr>
        <p:spPr>
          <a:xfrm>
            <a:off x="6455664" y="2971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a3_ico_letter"/>
          <p:cNvSpPr txBox="1"/>
          <p:nvPr/>
        </p:nvSpPr>
        <p:spPr>
          <a:xfrm>
            <a:off x="6455664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a3_opt_text"/>
          <p:cNvSpPr txBox="1"/>
          <p:nvPr/>
        </p:nvSpPr>
        <p:spPr>
          <a:xfrm>
            <a:off x="7296912" y="269748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&lt;th&gt;</a:t>
            </a:r>
            <a:endParaRPr lang="en-US" sz="2000" dirty="0"/>
          </a:p>
        </p:txBody>
      </p:sp>
      <p:sp>
        <p:nvSpPr>
          <p:cNvPr id="14" name="a4_opt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5" name="a4_ico_letter_bg"/>
          <p:cNvSpPr/>
          <p:nvPr/>
        </p:nvSpPr>
        <p:spPr>
          <a:xfrm>
            <a:off x="804672" y="438912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a4_ico_letter"/>
          <p:cNvSpPr txBox="1"/>
          <p:nvPr/>
        </p:nvSpPr>
        <p:spPr>
          <a:xfrm>
            <a:off x="80467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17" name="a4_opt_text"/>
          <p:cNvSpPr txBox="1"/>
          <p:nvPr/>
        </p:nvSpPr>
        <p:spPr>
          <a:xfrm>
            <a:off x="1645920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&lt;tr&gt;</a:t>
            </a:r>
            <a:endParaRPr lang="en-US" sz="2000" dirty="0"/>
          </a:p>
        </p:txBody>
      </p:sp>
      <p:sp>
        <p:nvSpPr>
          <p:cNvPr id="18" name="a5_opt"/>
          <p:cNvSpPr/>
          <p:nvPr/>
        </p:nvSpPr>
        <p:spPr>
          <a:xfrm>
            <a:off x="6199632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</p:sp>
      <p:sp>
        <p:nvSpPr>
          <p:cNvPr id="19" name="a5_ico_letter_bg"/>
          <p:cNvSpPr/>
          <p:nvPr/>
        </p:nvSpPr>
        <p:spPr>
          <a:xfrm>
            <a:off x="6455664" y="43891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0" name="a5_ico_letter"/>
          <p:cNvSpPr txBox="1"/>
          <p:nvPr/>
        </p:nvSpPr>
        <p:spPr>
          <a:xfrm>
            <a:off x="645566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21" name="a5_opt_text"/>
          <p:cNvSpPr txBox="1"/>
          <p:nvPr/>
        </p:nvSpPr>
        <p:spPr>
          <a:xfrm>
            <a:off x="7296912" y="41148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2000" dirty="0"/>
          </a:p>
        </p:txBody>
      </p:sp>
      <p:sp>
        <p:nvSpPr>
          <p:cNvPr id="22" name="k1_answer_ring"/>
          <p:cNvSpPr/>
          <p:nvPr/>
        </p:nvSpPr>
        <p:spPr>
          <a:xfrm>
            <a:off x="548640" y="4114800"/>
            <a:ext cx="5440680" cy="1188720"/>
          </a:xfrm>
          <a:prstGeom prst="roundRect">
            <a:avLst>
              <a:gd name="adj" fmla="val 12308"/>
            </a:avLst>
          </a:prstGeom>
          <a:solidFill>
            <a:schemeClr val="accent5">
              <a:alpha val="0"/>
            </a:schemeClr>
          </a:solidFill>
          <a:ln w="63500">
            <a:solidFill>
              <a:schemeClr val="accent5"/>
            </a:solidFill>
            <a:prstDash val="solid"/>
          </a:ln>
        </p:spPr>
      </p:sp>
      <p:sp>
        <p:nvSpPr>
          <p:cNvPr id="23" name="k1_answer_bar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pic>
        <p:nvPicPr>
          <p:cNvPr id="24" name="k1_answer_ic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669280"/>
            <a:ext cx="365760" cy="365760"/>
          </a:xfrm>
          <a:prstGeom prst="rect">
            <a:avLst/>
          </a:prstGeom>
        </p:spPr>
      </p:pic>
      <p:sp>
        <p:nvSpPr>
          <p:cNvPr id="25" name="k1_answer_text"/>
          <p:cNvSpPr txBox="1"/>
          <p:nvPr/>
        </p:nvSpPr>
        <p:spPr>
          <a:xfrm>
            <a:off x="1417320" y="5486400"/>
            <a:ext cx="99971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table row. td and th are the cells inside 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100">
        <p14:doors dir="ver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53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6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6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6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6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6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Final project: Discover Egypt</a:t>
            </a:r>
            <a:endParaRPr lang="en-US" sz="3600" dirty="0"/>
          </a:p>
        </p:txBody>
      </p:sp>
      <p:sp>
        <p:nvSpPr>
          <p:cNvPr id="4" name="a1_ico_num_bg"/>
          <p:cNvSpPr/>
          <p:nvPr/>
        </p:nvSpPr>
        <p:spPr>
          <a:xfrm>
            <a:off x="548640" y="1600200"/>
            <a:ext cx="658368" cy="65836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a1_ico_num"/>
          <p:cNvSpPr txBox="1"/>
          <p:nvPr/>
        </p:nvSpPr>
        <p:spPr>
          <a:xfrm>
            <a:off x="548640" y="160020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a1_text"/>
          <p:cNvSpPr txBox="1"/>
          <p:nvPr/>
        </p:nvSpPr>
        <p:spPr>
          <a:xfrm>
            <a:off x="1417320" y="154533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structure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header, nav, main and footer.</a:t>
            </a:r>
            <a:endParaRPr lang="en-US" sz="2100" dirty="0"/>
          </a:p>
        </p:txBody>
      </p:sp>
      <p:sp>
        <p:nvSpPr>
          <p:cNvPr id="7" name="a2_ico_num_bg"/>
          <p:cNvSpPr/>
          <p:nvPr/>
        </p:nvSpPr>
        <p:spPr>
          <a:xfrm>
            <a:off x="548640" y="267462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a2_ico_num"/>
          <p:cNvSpPr txBox="1"/>
          <p:nvPr/>
        </p:nvSpPr>
        <p:spPr>
          <a:xfrm>
            <a:off x="548640" y="26746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a2_text"/>
          <p:cNvSpPr txBox="1"/>
          <p:nvPr/>
        </p:nvSpPr>
        <p:spPr>
          <a:xfrm>
            <a:off x="1417320" y="261975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landmarks table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and city for three places.</a:t>
            </a:r>
            <a:endParaRPr lang="en-US" sz="2100" dirty="0"/>
          </a:p>
        </p:txBody>
      </p:sp>
      <p:sp>
        <p:nvSpPr>
          <p:cNvPr id="10" name="a3_ico_num_bg"/>
          <p:cNvSpPr/>
          <p:nvPr/>
        </p:nvSpPr>
        <p:spPr>
          <a:xfrm>
            <a:off x="548640" y="3749040"/>
            <a:ext cx="658368" cy="65836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a3_ico_num"/>
          <p:cNvSpPr txBox="1"/>
          <p:nvPr/>
        </p:nvSpPr>
        <p:spPr>
          <a:xfrm>
            <a:off x="548640" y="37490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a3_text"/>
          <p:cNvSpPr txBox="1"/>
          <p:nvPr/>
        </p:nvSpPr>
        <p:spPr>
          <a:xfrm>
            <a:off x="1417320" y="369417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contact form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a send button.</a:t>
            </a:r>
            <a:endParaRPr lang="en-US" sz="2100" dirty="0"/>
          </a:p>
        </p:txBody>
      </p:sp>
      <p:sp>
        <p:nvSpPr>
          <p:cNvPr id="13" name="a4_ico_num_bg"/>
          <p:cNvSpPr/>
          <p:nvPr/>
        </p:nvSpPr>
        <p:spPr>
          <a:xfrm>
            <a:off x="548640" y="482346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a4_ico_num"/>
          <p:cNvSpPr txBox="1"/>
          <p:nvPr/>
        </p:nvSpPr>
        <p:spPr>
          <a:xfrm>
            <a:off x="548640" y="48234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5" name="a4_text"/>
          <p:cNvSpPr txBox="1"/>
          <p:nvPr/>
        </p:nvSpPr>
        <p:spPr>
          <a:xfrm>
            <a:off x="1417320" y="4768596"/>
            <a:ext cx="60350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and links</a:t>
            </a:r>
            <a:endParaRPr lang="en-US" sz="21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alt text and link to a second page.</a:t>
            </a:r>
            <a:endParaRPr lang="en-US" sz="2100" dirty="0"/>
          </a:p>
        </p:txBody>
      </p:sp>
      <p:sp>
        <p:nvSpPr>
          <p:cNvPr id="16" name="a5_panel"/>
          <p:cNvSpPr/>
          <p:nvPr/>
        </p:nvSpPr>
        <p:spPr>
          <a:xfrm>
            <a:off x="7818120" y="1600200"/>
            <a:ext cx="3822192" cy="4297680"/>
          </a:xfrm>
          <a:prstGeom prst="roundRect">
            <a:avLst>
              <a:gd name="adj" fmla="val 478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7" name="a5_ico_pane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965960"/>
            <a:ext cx="731520" cy="731520"/>
          </a:xfrm>
          <a:prstGeom prst="rect">
            <a:avLst/>
          </a:prstGeom>
        </p:spPr>
      </p:pic>
      <p:sp>
        <p:nvSpPr>
          <p:cNvPr id="18" name="a5_panel_head"/>
          <p:cNvSpPr txBox="1"/>
          <p:nvPr/>
        </p:nvSpPr>
        <p:spPr>
          <a:xfrm>
            <a:off x="8183880" y="2926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and tell</a:t>
            </a:r>
            <a:endParaRPr lang="en-US" sz="2400" dirty="0"/>
          </a:p>
        </p:txBody>
      </p:sp>
      <p:sp>
        <p:nvSpPr>
          <p:cNvPr id="19" name="a5_panel_body"/>
          <p:cNvSpPr txBox="1"/>
          <p:nvPr/>
        </p:nvSpPr>
        <p:spPr>
          <a:xfrm>
            <a:off x="8183880" y="3566160"/>
            <a:ext cx="3108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seats with a classmate. Open their site and give one compliment and one tip.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6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53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6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6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6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657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You can build web pages!</a:t>
            </a:r>
            <a:endParaRPr lang="en-US" sz="3600" dirty="0"/>
          </a:p>
        </p:txBody>
      </p:sp>
      <p:pic>
        <p:nvPicPr>
          <p:cNvPr id="4" name="a1_ico_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4208"/>
            <a:ext cx="457200" cy="457200"/>
          </a:xfrm>
          <a:prstGeom prst="rect">
            <a:avLst/>
          </a:prstGeom>
        </p:spPr>
      </p:pic>
      <p:sp>
        <p:nvSpPr>
          <p:cNvPr id="5" name="a1_text"/>
          <p:cNvSpPr txBox="1"/>
          <p:nvPr/>
        </p:nvSpPr>
        <p:spPr>
          <a:xfrm>
            <a:off x="1234440" y="160020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tr, th and td make tables.</a:t>
            </a:r>
            <a:endParaRPr lang="en-US" sz="2000" dirty="0"/>
          </a:p>
        </p:txBody>
      </p:sp>
      <p:pic>
        <p:nvPicPr>
          <p:cNvPr id="6" name="a2_ico_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32888"/>
            <a:ext cx="457200" cy="457200"/>
          </a:xfrm>
          <a:prstGeom prst="rect">
            <a:avLst/>
          </a:prstGeom>
        </p:spPr>
      </p:pic>
      <p:sp>
        <p:nvSpPr>
          <p:cNvPr id="7" name="a2_text"/>
          <p:cNvSpPr txBox="1"/>
          <p:nvPr/>
        </p:nvSpPr>
        <p:spPr>
          <a:xfrm>
            <a:off x="1234440" y="24688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form, label, input and button make forms.</a:t>
            </a:r>
            <a:endParaRPr lang="en-US" sz="2000" dirty="0"/>
          </a:p>
        </p:txBody>
      </p:sp>
      <p:pic>
        <p:nvPicPr>
          <p:cNvPr id="8" name="a3_ico_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01568"/>
            <a:ext cx="457200" cy="457200"/>
          </a:xfrm>
          <a:prstGeom prst="rect">
            <a:avLst/>
          </a:prstGeom>
        </p:spPr>
      </p:pic>
      <p:sp>
        <p:nvSpPr>
          <p:cNvPr id="9" name="a3_text"/>
          <p:cNvSpPr txBox="1"/>
          <p:nvPr/>
        </p:nvSpPr>
        <p:spPr>
          <a:xfrm>
            <a:off x="1234440" y="333756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header, nav, main and footer organise a page.</a:t>
            </a:r>
            <a:endParaRPr lang="en-US" sz="2000" dirty="0"/>
          </a:p>
        </p:txBody>
      </p:sp>
      <p:pic>
        <p:nvPicPr>
          <p:cNvPr id="10" name="a4_ico_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70248"/>
            <a:ext cx="457200" cy="457200"/>
          </a:xfrm>
          <a:prstGeom prst="rect">
            <a:avLst/>
          </a:prstGeom>
        </p:spPr>
      </p:pic>
      <p:sp>
        <p:nvSpPr>
          <p:cNvPr id="11" name="a4_text"/>
          <p:cNvSpPr txBox="1"/>
          <p:nvPr/>
        </p:nvSpPr>
        <p:spPr>
          <a:xfrm>
            <a:off x="1234440" y="420624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code: indent, close tags, write alt text, add comments.</a:t>
            </a:r>
            <a:endParaRPr lang="en-US" sz="2000" dirty="0"/>
          </a:p>
        </p:txBody>
      </p:sp>
      <p:pic>
        <p:nvPicPr>
          <p:cNvPr id="12" name="a5_ico_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138928"/>
            <a:ext cx="457200" cy="457200"/>
          </a:xfrm>
          <a:prstGeom prst="rect">
            <a:avLst/>
          </a:prstGeom>
        </p:spPr>
      </p:pic>
      <p:sp>
        <p:nvSpPr>
          <p:cNvPr id="13" name="a5_text"/>
          <p:cNvSpPr txBox="1"/>
          <p:nvPr/>
        </p:nvSpPr>
        <p:spPr>
          <a:xfrm>
            <a:off x="1234440" y="50749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make it beautiful with CSS!</a:t>
            </a:r>
            <a:endParaRPr lang="en-US" sz="2000" dirty="0"/>
          </a:p>
        </p:txBody>
      </p:sp>
      <p:sp>
        <p:nvSpPr>
          <p:cNvPr id="14" name="a6_hw"/>
          <p:cNvSpPr/>
          <p:nvPr/>
        </p:nvSpPr>
        <p:spPr>
          <a:xfrm>
            <a:off x="8229600" y="1600200"/>
            <a:ext cx="3410712" cy="4343400"/>
          </a:xfrm>
          <a:prstGeom prst="roundRect">
            <a:avLst>
              <a:gd name="adj" fmla="val 5362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38100" dir="5400000">
              <a:srgbClr val="000000">
                <a:alpha val="14000"/>
              </a:srgbClr>
            </a:outerShdw>
          </a:effectLst>
        </p:spPr>
      </p:sp>
      <p:pic>
        <p:nvPicPr>
          <p:cNvPr id="15" name="a6_ico_h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1920240"/>
            <a:ext cx="731520" cy="731520"/>
          </a:xfrm>
          <a:prstGeom prst="rect">
            <a:avLst/>
          </a:prstGeom>
        </p:spPr>
      </p:pic>
      <p:sp>
        <p:nvSpPr>
          <p:cNvPr id="16" name="a6_hw_label"/>
          <p:cNvSpPr txBox="1"/>
          <p:nvPr/>
        </p:nvSpPr>
        <p:spPr>
          <a:xfrm>
            <a:off x="859536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500" dirty="0"/>
          </a:p>
        </p:txBody>
      </p:sp>
      <p:sp>
        <p:nvSpPr>
          <p:cNvPr id="17" name="a6_hw_text"/>
          <p:cNvSpPr txBox="1"/>
          <p:nvPr/>
        </p:nvSpPr>
        <p:spPr>
          <a:xfrm>
            <a:off x="8595360" y="32918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section to your Discover Egypt site about your own city, with a table and a picture.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6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53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6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6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53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6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6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Nile Code">
  <a:themeElements>
    <a:clrScheme name="Nile Code">
      <a:dk1>
        <a:srgbClr val="0B1B2E"/>
      </a:dk1>
      <a:lt1>
        <a:srgbClr val="FFFFFF"/>
      </a:lt1>
      <a:dk2>
        <a:srgbClr val="0F5F5A"/>
      </a:dk2>
      <a:lt2>
        <a:srgbClr val="E8F0EF"/>
      </a:lt2>
      <a:accent1>
        <a:srgbClr val="14B8A6"/>
      </a:accent1>
      <a:accent2>
        <a:srgbClr val="F5B301"/>
      </a:accent2>
      <a:accent3>
        <a:srgbClr val="FF6B4A"/>
      </a:accent3>
      <a:accent4>
        <a:srgbClr val="8C92FF"/>
      </a:accent4>
      <a:accent5>
        <a:srgbClr val="4ADE80"/>
      </a:accent5>
      <a:accent6>
        <a:srgbClr val="38BDF8"/>
      </a:accent6>
      <a:hlink>
        <a:srgbClr val="0F5F5A"/>
      </a:hlink>
      <a:folHlink>
        <a:srgbClr val="8C92FF"/>
      </a:folHlink>
    </a:clrScheme>
    <a:fontScheme name="Nile Co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HTML Fundamentals - Lesson 3: Tables, Forms &amp; Layout</dc:title>
  <dc:subject>HTML for school students</dc:subject>
  <dc:creator>HTML Fundamentals Course</dc:creator>
  <cp:lastModifiedBy>HTML Fundamentals Course</cp:lastModifiedBy>
  <cp:revision>1</cp:revision>
  <dcterms:created xsi:type="dcterms:W3CDTF">2026-10-04T23:07:36Z</dcterms:created>
  <dcterms:modified xsi:type="dcterms:W3CDTF">2026-10-04T23:07:36Z</dcterms:modified>
</cp:coreProperties>
</file>