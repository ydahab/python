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04ee278-8e40-acf0-590f-bd94b2870008}">
          <p14:sldIdLst>
            <p14:sldId id="256"/>
            <p14:sldId id="257"/>
            <p14:sldId id="258"/>
            <p14:sldId id="259"/>
          </p14:sldIdLst>
        </p14:section>
        <p14:section name="Containers" id="{0e38467c-2ebc-b0aa-e3d9-0e3fab157a69}">
          <p14:sldIdLst>
            <p14:sldId id="260"/>
            <p14:sldId id="261"/>
            <p14:sldId id="262"/>
            <p14:sldId id="263"/>
          </p14:sldIdLst>
        </p14:section>
        <p14:section name="Special characters &amp; Arabic" id="{9797a754-ecf1-4ab0-d9e4-69b1f4956fbe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Review: ask students to name five tags from the first three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goal is special: our own language on the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Attributes always live in the opening tag, never in the closing tag. We already used href, src and 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attributes from earlier lessons plus the new ones: id, class, lang,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 and span do not change how the page looks by themselves. They are labelled boxes waiting for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block elements are like rows of benches in a class; inline elements are students sitting side by side on one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national-ID analogy works well here. Show that the link #top scrolls up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 we need these? If you type &lt; the browser thinks a tag is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Arabic-speaking students read the heading aloud. Remove dir=rtl live to show punctuation jumping to the wrong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use real photos or personal data of students. Use a placeholder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lesson: audio, video and smarter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4: Attributes &amp; Containers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4: Attributes &amp; Containers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ico_sun"/>
          <p:cNvSpPr/>
          <p:nvPr/>
        </p:nvSpPr>
        <p:spPr>
          <a:xfrm>
            <a:off x="9966960" y="822960"/>
            <a:ext cx="1371600" cy="137160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" name="a5_halo"/>
          <p:cNvSpPr/>
          <p:nvPr/>
        </p:nvSpPr>
        <p:spPr>
          <a:xfrm>
            <a:off x="8595360" y="-109728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a6_pyr1"/>
          <p:cNvSpPr/>
          <p:nvPr/>
        </p:nvSpPr>
        <p:spPr>
          <a:xfrm>
            <a:off x="7406640" y="4160520"/>
            <a:ext cx="2651760" cy="2240280"/>
          </a:xfrm>
          <a:prstGeom prst="triangl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6" name="a6_pyr2"/>
          <p:cNvSpPr/>
          <p:nvPr/>
        </p:nvSpPr>
        <p:spPr>
          <a:xfrm>
            <a:off x="8869680" y="2743200"/>
            <a:ext cx="3017520" cy="365760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7" name="a6_pyr3"/>
          <p:cNvSpPr/>
          <p:nvPr/>
        </p:nvSpPr>
        <p:spPr>
          <a:xfrm>
            <a:off x="10561320" y="4709160"/>
            <a:ext cx="1371600" cy="1691640"/>
          </a:xfrm>
          <a:prstGeom prst="triangle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8" name="a1_pill"/>
          <p:cNvSpPr/>
          <p:nvPr/>
        </p:nvSpPr>
        <p:spPr>
          <a:xfrm>
            <a:off x="73152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a1_pill_text"/>
          <p:cNvSpPr txBox="1"/>
          <p:nvPr/>
        </p:nvSpPr>
        <p:spPr>
          <a:xfrm>
            <a:off x="7315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Attributes &amp; Containers</a:t>
            </a:r>
            <a:endParaRPr lang="en-US" sz="5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Add details to tags and group your content</a:t>
            </a:r>
            <a:endParaRPr lang="en-US" sz="2200" dirty="0"/>
          </a:p>
        </p:txBody>
      </p:sp>
      <p:sp>
        <p:nvSpPr>
          <p:cNvPr id="12" name="a4_ar"/>
          <p:cNvSpPr txBox="1"/>
          <p:nvPr/>
        </p:nvSpPr>
        <p:spPr>
          <a:xfrm>
            <a:off x="73152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الرابع: السمات والحاويات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of this lesson you will…</a:t>
            </a:r>
            <a:endParaRPr lang="en-US" sz="3600" dirty="0"/>
          </a:p>
        </p:txBody>
      </p:sp>
      <p:sp>
        <p:nvSpPr>
          <p:cNvPr id="4" name="a1_ico_bg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810055"/>
            <a:ext cx="357530" cy="357530"/>
          </a:xfrm>
          <a:prstGeom prst="rect">
            <a:avLst/>
          </a:prstGeom>
        </p:spPr>
      </p:pic>
      <p:sp>
        <p:nvSpPr>
          <p:cNvPr id="6" name="a1_text"/>
          <p:cNvSpPr txBox="1"/>
          <p:nvPr/>
        </p:nvSpPr>
        <p:spPr>
          <a:xfrm>
            <a:off x="16002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attributes to give tags extra information</a:t>
            </a:r>
            <a:endParaRPr lang="en-US" sz="2200" dirty="0"/>
          </a:p>
        </p:txBody>
      </p:sp>
      <p:sp>
        <p:nvSpPr>
          <p:cNvPr id="7" name="a2_ico_bg"/>
          <p:cNvSpPr/>
          <p:nvPr/>
        </p:nvSpPr>
        <p:spPr>
          <a:xfrm>
            <a:off x="548640" y="267919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5" y="2889047"/>
            <a:ext cx="357530" cy="357530"/>
          </a:xfrm>
          <a:prstGeom prst="rect">
            <a:avLst/>
          </a:prstGeom>
        </p:spPr>
      </p:pic>
      <p:sp>
        <p:nvSpPr>
          <p:cNvPr id="9" name="a2_text"/>
          <p:cNvSpPr txBox="1"/>
          <p:nvPr/>
        </p:nvSpPr>
        <p:spPr>
          <a:xfrm>
            <a:off x="1600200" y="26791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content with div and span</a:t>
            </a:r>
            <a:endParaRPr lang="en-US" sz="2200" dirty="0"/>
          </a:p>
        </p:txBody>
      </p:sp>
      <p:sp>
        <p:nvSpPr>
          <p:cNvPr id="10" name="a3_ico_bg"/>
          <p:cNvSpPr/>
          <p:nvPr/>
        </p:nvSpPr>
        <p:spPr>
          <a:xfrm>
            <a:off x="548640" y="3758184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3968039"/>
            <a:ext cx="357530" cy="357530"/>
          </a:xfrm>
          <a:prstGeom prst="rect">
            <a:avLst/>
          </a:prstGeom>
        </p:spPr>
      </p:pic>
      <p:sp>
        <p:nvSpPr>
          <p:cNvPr id="12" name="a3_text"/>
          <p:cNvSpPr txBox="1"/>
          <p:nvPr/>
        </p:nvSpPr>
        <p:spPr>
          <a:xfrm>
            <a:off x="1600200" y="37581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difference between id and class</a:t>
            </a:r>
            <a:endParaRPr lang="en-US" sz="2200" dirty="0"/>
          </a:p>
        </p:txBody>
      </p:sp>
      <p:sp>
        <p:nvSpPr>
          <p:cNvPr id="13" name="a4_ico_bg"/>
          <p:cNvSpPr/>
          <p:nvPr/>
        </p:nvSpPr>
        <p:spPr>
          <a:xfrm>
            <a:off x="548640" y="4837176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5" y="5047031"/>
            <a:ext cx="357530" cy="357530"/>
          </a:xfrm>
          <a:prstGeom prst="rect">
            <a:avLst/>
          </a:prstGeom>
        </p:spPr>
      </p:pic>
      <p:sp>
        <p:nvSpPr>
          <p:cNvPr id="15" name="a4_text"/>
          <p:cNvSpPr txBox="1"/>
          <p:nvPr/>
        </p:nvSpPr>
        <p:spPr>
          <a:xfrm>
            <a:off x="1600200" y="483717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page in Arabic, right to left</a:t>
            </a:r>
            <a:endParaRPr lang="en-US" sz="2200" dirty="0"/>
          </a:p>
        </p:txBody>
      </p:sp>
      <p:sp>
        <p:nvSpPr>
          <p:cNvPr id="16" name="a5_panel"/>
          <p:cNvSpPr/>
          <p:nvPr/>
        </p:nvSpPr>
        <p:spPr>
          <a:xfrm>
            <a:off x="8503920" y="1600200"/>
            <a:ext cx="3136392" cy="4251960"/>
          </a:xfrm>
          <a:prstGeom prst="roundRect">
            <a:avLst>
              <a:gd name="adj" fmla="val 58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7" name="a5_ico_pane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2057400"/>
            <a:ext cx="914400" cy="914400"/>
          </a:xfrm>
          <a:prstGeom prst="rect">
            <a:avLst/>
          </a:prstGeom>
        </p:spPr>
      </p:pic>
      <p:sp>
        <p:nvSpPr>
          <p:cNvPr id="18" name="a5_panel_label"/>
          <p:cNvSpPr txBox="1"/>
          <p:nvPr/>
        </p:nvSpPr>
        <p:spPr>
          <a:xfrm>
            <a:off x="8823960" y="32461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1400" dirty="0"/>
          </a:p>
        </p:txBody>
      </p:sp>
      <p:sp>
        <p:nvSpPr>
          <p:cNvPr id="19" name="a5_panel_text"/>
          <p:cNvSpPr txBox="1"/>
          <p:nvPr/>
        </p:nvSpPr>
        <p:spPr>
          <a:xfrm>
            <a:off x="8823960" y="3657600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student ID card page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Attributes: extra details inside a tag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883768" y="1737360"/>
            <a:ext cx="3291840" cy="14630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text"/>
          <p:cNvSpPr txBox="1"/>
          <p:nvPr/>
        </p:nvSpPr>
        <p:spPr>
          <a:xfrm>
            <a:off x="883768" y="17373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3600" dirty="0"/>
          </a:p>
        </p:txBody>
      </p:sp>
      <p:sp>
        <p:nvSpPr>
          <p:cNvPr id="6" name="a1_pill"/>
          <p:cNvSpPr/>
          <p:nvPr/>
        </p:nvSpPr>
        <p:spPr>
          <a:xfrm>
            <a:off x="1112368" y="352044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a1_pill_text"/>
          <p:cNvSpPr txBox="1"/>
          <p:nvPr/>
        </p:nvSpPr>
        <p:spPr>
          <a:xfrm>
            <a:off x="1112368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2000" dirty="0"/>
          </a:p>
        </p:txBody>
      </p:sp>
      <p:sp>
        <p:nvSpPr>
          <p:cNvPr id="8" name="a1_body"/>
          <p:cNvSpPr txBox="1"/>
          <p:nvPr/>
        </p:nvSpPr>
        <p:spPr>
          <a:xfrm>
            <a:off x="975208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kind of detail this is.</a:t>
            </a:r>
            <a:endParaRPr lang="en-US" sz="1600" dirty="0"/>
          </a:p>
        </p:txBody>
      </p:sp>
      <p:sp>
        <p:nvSpPr>
          <p:cNvPr id="9" name="a2_code"/>
          <p:cNvSpPr/>
          <p:nvPr/>
        </p:nvSpPr>
        <p:spPr>
          <a:xfrm>
            <a:off x="4449928" y="1737360"/>
            <a:ext cx="3291840" cy="14630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0" name="a2_code_text"/>
          <p:cNvSpPr txBox="1"/>
          <p:nvPr/>
        </p:nvSpPr>
        <p:spPr>
          <a:xfrm>
            <a:off x="4449928" y="17373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3600" dirty="0"/>
          </a:p>
        </p:txBody>
      </p:sp>
      <p:sp>
        <p:nvSpPr>
          <p:cNvPr id="11" name="a2_pill"/>
          <p:cNvSpPr/>
          <p:nvPr/>
        </p:nvSpPr>
        <p:spPr>
          <a:xfrm>
            <a:off x="4678528" y="352044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2" name="a2_pill_text"/>
          <p:cNvSpPr txBox="1"/>
          <p:nvPr/>
        </p:nvSpPr>
        <p:spPr>
          <a:xfrm>
            <a:off x="4678528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sign</a:t>
            </a:r>
            <a:endParaRPr lang="en-US" sz="2000" dirty="0"/>
          </a:p>
        </p:txBody>
      </p:sp>
      <p:sp>
        <p:nvSpPr>
          <p:cNvPr id="13" name="a2_body"/>
          <p:cNvSpPr txBox="1"/>
          <p:nvPr/>
        </p:nvSpPr>
        <p:spPr>
          <a:xfrm>
            <a:off x="4541368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name to the value.</a:t>
            </a:r>
            <a:endParaRPr lang="en-US" sz="1600" dirty="0"/>
          </a:p>
        </p:txBody>
      </p:sp>
      <p:sp>
        <p:nvSpPr>
          <p:cNvPr id="14" name="a3_code"/>
          <p:cNvSpPr/>
          <p:nvPr/>
        </p:nvSpPr>
        <p:spPr>
          <a:xfrm>
            <a:off x="8016088" y="1737360"/>
            <a:ext cx="3291840" cy="14630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a3_code_text"/>
          <p:cNvSpPr txBox="1"/>
          <p:nvPr/>
        </p:nvSpPr>
        <p:spPr>
          <a:xfrm>
            <a:off x="8016088" y="17373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"intro"</a:t>
            </a:r>
            <a:endParaRPr lang="en-US" sz="3600" dirty="0"/>
          </a:p>
        </p:txBody>
      </p:sp>
      <p:sp>
        <p:nvSpPr>
          <p:cNvPr id="16" name="a3_pill"/>
          <p:cNvSpPr/>
          <p:nvPr/>
        </p:nvSpPr>
        <p:spPr>
          <a:xfrm>
            <a:off x="8244688" y="3520440"/>
            <a:ext cx="2834640" cy="54864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7" name="a3_pill_text"/>
          <p:cNvSpPr txBox="1"/>
          <p:nvPr/>
        </p:nvSpPr>
        <p:spPr>
          <a:xfrm>
            <a:off x="8244688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2000" dirty="0"/>
          </a:p>
        </p:txBody>
      </p:sp>
      <p:sp>
        <p:nvSpPr>
          <p:cNvPr id="18" name="a3_body"/>
          <p:cNvSpPr txBox="1"/>
          <p:nvPr/>
        </p:nvSpPr>
        <p:spPr>
          <a:xfrm>
            <a:off x="8107528" y="4206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inside quotation marks.</a:t>
            </a:r>
            <a:endParaRPr lang="en-US" sz="1600" dirty="0"/>
          </a:p>
        </p:txBody>
      </p:sp>
      <p:sp>
        <p:nvSpPr>
          <p:cNvPr id="19" name="a4_formula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sp>
        <p:nvSpPr>
          <p:cNvPr id="20" name="a4_formula_text"/>
          <p:cNvSpPr txBox="1"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 =  name  +  =  +  "value"      e.g.  &lt;p class="intro"&gt;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Attributes you will use all the time</a:t>
            </a:r>
            <a:endParaRPr lang="en-US" sz="3600" dirty="0"/>
          </a:p>
        </p:txBody>
      </p:sp>
      <p:sp>
        <p:nvSpPr>
          <p:cNvPr id="4" name="a1_pill"/>
          <p:cNvSpPr/>
          <p:nvPr/>
        </p:nvSpPr>
        <p:spPr>
          <a:xfrm>
            <a:off x="548640" y="16002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5" name="a1_pill_text"/>
          <p:cNvSpPr txBox="1"/>
          <p:nvPr/>
        </p:nvSpPr>
        <p:spPr>
          <a:xfrm>
            <a:off x="548640" y="1600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800" dirty="0"/>
          </a:p>
        </p:txBody>
      </p:sp>
      <p:sp>
        <p:nvSpPr>
          <p:cNvPr id="6" name="a1_desc"/>
          <p:cNvSpPr txBox="1"/>
          <p:nvPr/>
        </p:nvSpPr>
        <p:spPr>
          <a:xfrm>
            <a:off x="2606040" y="15636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name for ONE element</a:t>
            </a:r>
            <a:endParaRPr lang="en-US" sz="1800" dirty="0"/>
          </a:p>
        </p:txBody>
      </p:sp>
      <p:sp>
        <p:nvSpPr>
          <p:cNvPr id="7" name="a2_pill"/>
          <p:cNvSpPr/>
          <p:nvPr/>
        </p:nvSpPr>
        <p:spPr>
          <a:xfrm>
            <a:off x="548640" y="25146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8" name="a2_pill_text"/>
          <p:cNvSpPr txBox="1"/>
          <p:nvPr/>
        </p:nvSpPr>
        <p:spPr>
          <a:xfrm>
            <a:off x="548640" y="2514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800" dirty="0"/>
          </a:p>
        </p:txBody>
      </p:sp>
      <p:sp>
        <p:nvSpPr>
          <p:cNvPr id="9" name="a2_desc"/>
          <p:cNvSpPr txBox="1"/>
          <p:nvPr/>
        </p:nvSpPr>
        <p:spPr>
          <a:xfrm>
            <a:off x="2606040" y="24780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name for a group</a:t>
            </a:r>
            <a:endParaRPr lang="en-US" sz="1800" dirty="0"/>
          </a:p>
        </p:txBody>
      </p:sp>
      <p:sp>
        <p:nvSpPr>
          <p:cNvPr id="10" name="a3_pill"/>
          <p:cNvSpPr/>
          <p:nvPr/>
        </p:nvSpPr>
        <p:spPr>
          <a:xfrm>
            <a:off x="548640" y="34290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11" name="a3_pill_text"/>
          <p:cNvSpPr txBox="1"/>
          <p:nvPr/>
        </p:nvSpPr>
        <p:spPr>
          <a:xfrm>
            <a:off x="548640" y="3429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800" dirty="0"/>
          </a:p>
        </p:txBody>
      </p:sp>
      <p:sp>
        <p:nvSpPr>
          <p:cNvPr id="12" name="a3_desc"/>
          <p:cNvSpPr txBox="1"/>
          <p:nvPr/>
        </p:nvSpPr>
        <p:spPr>
          <a:xfrm>
            <a:off x="2606040" y="33924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link goes</a:t>
            </a:r>
            <a:endParaRPr lang="en-US" sz="1800" dirty="0"/>
          </a:p>
        </p:txBody>
      </p:sp>
      <p:sp>
        <p:nvSpPr>
          <p:cNvPr id="13" name="a4_pill"/>
          <p:cNvSpPr/>
          <p:nvPr/>
        </p:nvSpPr>
        <p:spPr>
          <a:xfrm>
            <a:off x="548640" y="43434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14" name="a4_pill_text"/>
          <p:cNvSpPr txBox="1"/>
          <p:nvPr/>
        </p:nvSpPr>
        <p:spPr>
          <a:xfrm>
            <a:off x="548640" y="43434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800" dirty="0"/>
          </a:p>
        </p:txBody>
      </p:sp>
      <p:sp>
        <p:nvSpPr>
          <p:cNvPr id="15" name="a4_desc"/>
          <p:cNvSpPr txBox="1"/>
          <p:nvPr/>
        </p:nvSpPr>
        <p:spPr>
          <a:xfrm>
            <a:off x="2606040" y="43068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to load</a:t>
            </a:r>
            <a:endParaRPr lang="en-US" sz="1800" dirty="0"/>
          </a:p>
        </p:txBody>
      </p:sp>
      <p:sp>
        <p:nvSpPr>
          <p:cNvPr id="16" name="a5_pill"/>
          <p:cNvSpPr/>
          <p:nvPr/>
        </p:nvSpPr>
        <p:spPr>
          <a:xfrm>
            <a:off x="6278728" y="16002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7" name="a5_pill_text"/>
          <p:cNvSpPr txBox="1"/>
          <p:nvPr/>
        </p:nvSpPr>
        <p:spPr>
          <a:xfrm>
            <a:off x="6278728" y="1600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1800" dirty="0"/>
          </a:p>
        </p:txBody>
      </p:sp>
      <p:sp>
        <p:nvSpPr>
          <p:cNvPr id="18" name="a5_desc"/>
          <p:cNvSpPr txBox="1"/>
          <p:nvPr/>
        </p:nvSpPr>
        <p:spPr>
          <a:xfrm>
            <a:off x="8336128" y="15636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an image</a:t>
            </a:r>
            <a:endParaRPr lang="en-US" sz="1800" dirty="0"/>
          </a:p>
        </p:txBody>
      </p:sp>
      <p:sp>
        <p:nvSpPr>
          <p:cNvPr id="19" name="a6_pill"/>
          <p:cNvSpPr/>
          <p:nvPr/>
        </p:nvSpPr>
        <p:spPr>
          <a:xfrm>
            <a:off x="6278728" y="25146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20" name="a6_pill_text"/>
          <p:cNvSpPr txBox="1"/>
          <p:nvPr/>
        </p:nvSpPr>
        <p:spPr>
          <a:xfrm>
            <a:off x="6278728" y="2514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endParaRPr lang="en-US" sz="1800" dirty="0"/>
          </a:p>
        </p:txBody>
      </p:sp>
      <p:sp>
        <p:nvSpPr>
          <p:cNvPr id="21" name="a6_desc"/>
          <p:cNvSpPr txBox="1"/>
          <p:nvPr/>
        </p:nvSpPr>
        <p:spPr>
          <a:xfrm>
            <a:off x="8336128" y="24780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of the page</a:t>
            </a:r>
            <a:endParaRPr lang="en-US" sz="1800" dirty="0"/>
          </a:p>
        </p:txBody>
      </p:sp>
      <p:sp>
        <p:nvSpPr>
          <p:cNvPr id="22" name="a7_pill"/>
          <p:cNvSpPr/>
          <p:nvPr/>
        </p:nvSpPr>
        <p:spPr>
          <a:xfrm>
            <a:off x="6278728" y="34290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23" name="a7_pill_text"/>
          <p:cNvSpPr txBox="1"/>
          <p:nvPr/>
        </p:nvSpPr>
        <p:spPr>
          <a:xfrm>
            <a:off x="6278728" y="3429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800" dirty="0"/>
          </a:p>
        </p:txBody>
      </p:sp>
      <p:sp>
        <p:nvSpPr>
          <p:cNvPr id="24" name="a7_desc"/>
          <p:cNvSpPr txBox="1"/>
          <p:nvPr/>
        </p:nvSpPr>
        <p:spPr>
          <a:xfrm>
            <a:off x="8336128" y="33924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when you hover</a:t>
            </a:r>
            <a:endParaRPr lang="en-US" sz="1800" dirty="0"/>
          </a:p>
        </p:txBody>
      </p:sp>
      <p:sp>
        <p:nvSpPr>
          <p:cNvPr id="25" name="a8_pill"/>
          <p:cNvSpPr/>
          <p:nvPr/>
        </p:nvSpPr>
        <p:spPr>
          <a:xfrm>
            <a:off x="6278728" y="4343400"/>
            <a:ext cx="182880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26" name="a8_pill_text"/>
          <p:cNvSpPr txBox="1"/>
          <p:nvPr/>
        </p:nvSpPr>
        <p:spPr>
          <a:xfrm>
            <a:off x="6278728" y="43434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800" dirty="0"/>
          </a:p>
        </p:txBody>
      </p:sp>
      <p:sp>
        <p:nvSpPr>
          <p:cNvPr id="27" name="a8_desc"/>
          <p:cNvSpPr txBox="1"/>
          <p:nvPr/>
        </p:nvSpPr>
        <p:spPr>
          <a:xfrm>
            <a:off x="8336128" y="4306824"/>
            <a:ext cx="3306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an image or video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Containers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Group content so it is easy to manage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الحاويات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div and span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852160" cy="2377440"/>
          </a:xfrm>
          <a:prstGeom prst="roundRect">
            <a:avLst>
              <a:gd name="adj" fmla="val 538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Cairo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 of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Egypt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10" name="a2_browser"/>
          <p:cNvSpPr/>
          <p:nvPr/>
        </p:nvSpPr>
        <p:spPr>
          <a:xfrm>
            <a:off x="6675120" y="1554480"/>
            <a:ext cx="4967935" cy="23774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675120" y="1554480"/>
            <a:ext cx="49679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68762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0957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3152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635240" y="1627632"/>
            <a:ext cx="37334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7772400" y="162763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card.html</a:t>
            </a:r>
            <a:endParaRPr lang="en-US" sz="1200" dirty="0"/>
          </a:p>
        </p:txBody>
      </p:sp>
      <p:sp>
        <p:nvSpPr>
          <p:cNvPr id="17" name="a2_browser_content"/>
          <p:cNvSpPr txBox="1"/>
          <p:nvPr/>
        </p:nvSpPr>
        <p:spPr>
          <a:xfrm>
            <a:off x="6995160" y="2176272"/>
            <a:ext cx="4327855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</a:t>
            </a:r>
            <a:endParaRPr lang="en-US" sz="24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of </a:t>
            </a:r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18" name="a3_chip"/>
          <p:cNvSpPr/>
          <p:nvPr/>
        </p:nvSpPr>
        <p:spPr>
          <a:xfrm>
            <a:off x="6675120" y="420624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6675120" y="42062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8229600" y="4206240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that groups blocks of content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6675120" y="4864608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6675120" y="48646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8229600" y="4864608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few words inside a line</a:t>
            </a:r>
            <a:endParaRPr lang="en-US" sz="1600" dirty="0"/>
          </a:p>
        </p:txBody>
      </p:sp>
      <p:sp>
        <p:nvSpPr>
          <p:cNvPr id="24" name="a5_chip"/>
          <p:cNvSpPr/>
          <p:nvPr/>
        </p:nvSpPr>
        <p:spPr>
          <a:xfrm>
            <a:off x="6675120" y="5522976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5B301"/>
          </a:solidFill>
          <a:ln/>
        </p:spPr>
      </p:sp>
      <p:sp>
        <p:nvSpPr>
          <p:cNvPr id="25" name="a5_chip_text"/>
          <p:cNvSpPr txBox="1"/>
          <p:nvPr/>
        </p:nvSpPr>
        <p:spPr>
          <a:xfrm>
            <a:off x="6675120" y="55229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500" dirty="0"/>
          </a:p>
        </p:txBody>
      </p:sp>
      <p:sp>
        <p:nvSpPr>
          <p:cNvPr id="26" name="a5_chip_desc"/>
          <p:cNvSpPr txBox="1"/>
          <p:nvPr/>
        </p:nvSpPr>
        <p:spPr>
          <a:xfrm>
            <a:off x="8229600" y="5522976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so CSS can style the group later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Block or inline?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5410048" cy="4297680"/>
          </a:xfrm>
          <a:prstGeom prst="roundRect">
            <a:avLst>
              <a:gd name="adj" fmla="val 3830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142439"/>
            <a:ext cx="378562" cy="378562"/>
          </a:xfrm>
          <a:prstGeom prst="rect">
            <a:avLst/>
          </a:prstGeom>
        </p:spPr>
      </p:pic>
      <p:sp>
        <p:nvSpPr>
          <p:cNvPr id="7" name="a1_chip"/>
          <p:cNvSpPr txBox="1"/>
          <p:nvPr/>
        </p:nvSpPr>
        <p:spPr>
          <a:xfrm>
            <a:off x="868680" y="20116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stacked</a:t>
            </a:r>
            <a:endParaRPr lang="en-US" sz="1600" dirty="0"/>
          </a:p>
        </p:txBody>
      </p:sp>
      <p:sp>
        <p:nvSpPr>
          <p:cNvPr id="8" name="a1_head"/>
          <p:cNvSpPr txBox="1"/>
          <p:nvPr/>
        </p:nvSpPr>
        <p:spPr>
          <a:xfrm>
            <a:off x="868680" y="297180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elements</a:t>
            </a:r>
            <a:endParaRPr lang="en-US" sz="2400" dirty="0"/>
          </a:p>
        </p:txBody>
      </p:sp>
      <p:sp>
        <p:nvSpPr>
          <p:cNvPr id="9" name="a1_body"/>
          <p:cNvSpPr txBox="1"/>
          <p:nvPr/>
        </p:nvSpPr>
        <p:spPr>
          <a:xfrm>
            <a:off x="868680" y="36118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a new line and take the full width.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p, h1 to h6, ul, ol, table</a:t>
            </a:r>
            <a:endParaRPr lang="en-US" sz="1700" dirty="0"/>
          </a:p>
        </p:txBody>
      </p:sp>
      <p:sp>
        <p:nvSpPr>
          <p:cNvPr id="10" name="a2_card"/>
          <p:cNvSpPr/>
          <p:nvPr/>
        </p:nvSpPr>
        <p:spPr>
          <a:xfrm>
            <a:off x="6233008" y="1600200"/>
            <a:ext cx="5410048" cy="4297680"/>
          </a:xfrm>
          <a:prstGeom prst="roundRect">
            <a:avLst>
              <a:gd name="adj" fmla="val 3830"/>
            </a:avLst>
          </a:prstGeom>
          <a:solidFill>
            <a:schemeClr val="bg2"/>
          </a:solidFill>
          <a:ln/>
        </p:spPr>
      </p:sp>
      <p:sp>
        <p:nvSpPr>
          <p:cNvPr id="11" name="a2_ico_bg"/>
          <p:cNvSpPr/>
          <p:nvPr/>
        </p:nvSpPr>
        <p:spPr>
          <a:xfrm>
            <a:off x="6553048" y="1920240"/>
            <a:ext cx="822960" cy="82296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247" y="2142439"/>
            <a:ext cx="378562" cy="378562"/>
          </a:xfrm>
          <a:prstGeom prst="rect">
            <a:avLst/>
          </a:prstGeom>
        </p:spPr>
      </p:pic>
      <p:sp>
        <p:nvSpPr>
          <p:cNvPr id="13" name="a2_chip"/>
          <p:cNvSpPr txBox="1"/>
          <p:nvPr/>
        </p:nvSpPr>
        <p:spPr>
          <a:xfrm>
            <a:off x="6553048" y="201168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by side</a:t>
            </a:r>
            <a:endParaRPr lang="en-US" sz="1600" dirty="0"/>
          </a:p>
        </p:txBody>
      </p:sp>
      <p:sp>
        <p:nvSpPr>
          <p:cNvPr id="14" name="a2_head"/>
          <p:cNvSpPr txBox="1"/>
          <p:nvPr/>
        </p:nvSpPr>
        <p:spPr>
          <a:xfrm>
            <a:off x="6553048" y="297180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elements</a:t>
            </a:r>
            <a:endParaRPr lang="en-US" sz="2400" dirty="0"/>
          </a:p>
        </p:txBody>
      </p:sp>
      <p:sp>
        <p:nvSpPr>
          <p:cNvPr id="15" name="a2_body"/>
          <p:cNvSpPr txBox="1"/>
          <p:nvPr/>
        </p:nvSpPr>
        <p:spPr>
          <a:xfrm>
            <a:off x="6553048" y="36118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inside a line and take only the space they need.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span, a, strong, em, img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id is unique, class is shared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852160" cy="3108960"/>
          </a:xfrm>
          <a:prstGeom prst="roundRect">
            <a:avLst>
              <a:gd name="adj" fmla="val 41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"top"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Site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"note"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"note"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Salam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"#top"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to top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10" name="a3_chip"/>
          <p:cNvSpPr/>
          <p:nvPr/>
        </p:nvSpPr>
        <p:spPr>
          <a:xfrm>
            <a:off x="6675120" y="1554480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1" name="a3_chip_text"/>
          <p:cNvSpPr txBox="1"/>
          <p:nvPr/>
        </p:nvSpPr>
        <p:spPr>
          <a:xfrm>
            <a:off x="667512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500" dirty="0"/>
          </a:p>
        </p:txBody>
      </p:sp>
      <p:sp>
        <p:nvSpPr>
          <p:cNvPr id="12" name="a3_chip_desc"/>
          <p:cNvSpPr txBox="1"/>
          <p:nvPr/>
        </p:nvSpPr>
        <p:spPr>
          <a:xfrm>
            <a:off x="8046720" y="1554480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your national ID number: no two people share it</a:t>
            </a:r>
            <a:endParaRPr lang="en-US" sz="1800" dirty="0"/>
          </a:p>
        </p:txBody>
      </p:sp>
      <p:sp>
        <p:nvSpPr>
          <p:cNvPr id="13" name="a4_chip"/>
          <p:cNvSpPr/>
          <p:nvPr/>
        </p:nvSpPr>
        <p:spPr>
          <a:xfrm>
            <a:off x="6675120" y="2450592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a4_chip_text"/>
          <p:cNvSpPr txBox="1"/>
          <p:nvPr/>
        </p:nvSpPr>
        <p:spPr>
          <a:xfrm>
            <a:off x="6675120" y="245059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500" dirty="0"/>
          </a:p>
        </p:txBody>
      </p:sp>
      <p:sp>
        <p:nvSpPr>
          <p:cNvPr id="15" name="a4_chip_desc"/>
          <p:cNvSpPr txBox="1"/>
          <p:nvPr/>
        </p:nvSpPr>
        <p:spPr>
          <a:xfrm>
            <a:off x="8046720" y="2450592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school uniform: many students wear the same one</a:t>
            </a:r>
            <a:endParaRPr lang="en-US" sz="1800" dirty="0"/>
          </a:p>
        </p:txBody>
      </p:sp>
      <p:sp>
        <p:nvSpPr>
          <p:cNvPr id="16" name="a5_chip"/>
          <p:cNvSpPr/>
          <p:nvPr/>
        </p:nvSpPr>
        <p:spPr>
          <a:xfrm>
            <a:off x="6675120" y="3346704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7" name="a5_chip_text"/>
          <p:cNvSpPr txBox="1"/>
          <p:nvPr/>
        </p:nvSpPr>
        <p:spPr>
          <a:xfrm>
            <a:off x="6675120" y="33467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#top</a:t>
            </a:r>
            <a:endParaRPr lang="en-US" sz="1500" dirty="0"/>
          </a:p>
        </p:txBody>
      </p:sp>
      <p:sp>
        <p:nvSpPr>
          <p:cNvPr id="18" name="a5_chip_desc"/>
          <p:cNvSpPr txBox="1"/>
          <p:nvPr/>
        </p:nvSpPr>
        <p:spPr>
          <a:xfrm>
            <a:off x="8046720" y="3346704"/>
            <a:ext cx="3596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that jumps to the element with that id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Special characters &amp; Arabic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Show symbols and write in our own language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الرموز الخاصة والعربية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Special characters (entities)</a:t>
            </a:r>
            <a:endParaRPr lang="en-US" sz="3600" dirty="0"/>
          </a:p>
        </p:txBody>
      </p:sp>
      <p:sp>
        <p:nvSpPr>
          <p:cNvPr id="4" name="a1_pill"/>
          <p:cNvSpPr/>
          <p:nvPr/>
        </p:nvSpPr>
        <p:spPr>
          <a:xfrm>
            <a:off x="548640" y="160020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accent1"/>
          </a:solidFill>
          <a:ln/>
        </p:spPr>
      </p:sp>
      <p:sp>
        <p:nvSpPr>
          <p:cNvPr id="5" name="a1_pill_text"/>
          <p:cNvSpPr txBox="1"/>
          <p:nvPr/>
        </p:nvSpPr>
        <p:spPr>
          <a:xfrm>
            <a:off x="548640" y="1600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&amp;lt;</a:t>
            </a:r>
            <a:endParaRPr lang="en-US" sz="1800" dirty="0"/>
          </a:p>
        </p:txBody>
      </p:sp>
      <p:sp>
        <p:nvSpPr>
          <p:cNvPr id="6" name="a1_desc"/>
          <p:cNvSpPr txBox="1"/>
          <p:nvPr/>
        </p:nvSpPr>
        <p:spPr>
          <a:xfrm>
            <a:off x="2788920" y="1563624"/>
            <a:ext cx="312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symbol &lt;</a:t>
            </a:r>
            <a:endParaRPr lang="en-US" sz="1800" dirty="0"/>
          </a:p>
        </p:txBody>
      </p:sp>
      <p:sp>
        <p:nvSpPr>
          <p:cNvPr id="7" name="a2_pill"/>
          <p:cNvSpPr/>
          <p:nvPr/>
        </p:nvSpPr>
        <p:spPr>
          <a:xfrm>
            <a:off x="548640" y="251460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/>
        </p:spPr>
      </p:sp>
      <p:sp>
        <p:nvSpPr>
          <p:cNvPr id="8" name="a2_pill_text"/>
          <p:cNvSpPr txBox="1"/>
          <p:nvPr/>
        </p:nvSpPr>
        <p:spPr>
          <a:xfrm>
            <a:off x="548640" y="2514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&amp;gt;</a:t>
            </a:r>
            <a:endParaRPr lang="en-US" sz="1800" dirty="0"/>
          </a:p>
        </p:txBody>
      </p:sp>
      <p:sp>
        <p:nvSpPr>
          <p:cNvPr id="9" name="a2_desc"/>
          <p:cNvSpPr txBox="1"/>
          <p:nvPr/>
        </p:nvSpPr>
        <p:spPr>
          <a:xfrm>
            <a:off x="2788920" y="2478024"/>
            <a:ext cx="312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symbol &gt;</a:t>
            </a:r>
            <a:endParaRPr lang="en-US" sz="1800" dirty="0"/>
          </a:p>
        </p:txBody>
      </p:sp>
      <p:sp>
        <p:nvSpPr>
          <p:cNvPr id="10" name="a3_pill"/>
          <p:cNvSpPr/>
          <p:nvPr/>
        </p:nvSpPr>
        <p:spPr>
          <a:xfrm>
            <a:off x="548640" y="342900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11" name="a3_pill_text"/>
          <p:cNvSpPr txBox="1"/>
          <p:nvPr/>
        </p:nvSpPr>
        <p:spPr>
          <a:xfrm>
            <a:off x="548640" y="3429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&amp;amp;</a:t>
            </a:r>
            <a:endParaRPr lang="en-US" sz="1800" dirty="0"/>
          </a:p>
        </p:txBody>
      </p:sp>
      <p:sp>
        <p:nvSpPr>
          <p:cNvPr id="12" name="a3_desc"/>
          <p:cNvSpPr txBox="1"/>
          <p:nvPr/>
        </p:nvSpPr>
        <p:spPr>
          <a:xfrm>
            <a:off x="2788920" y="3392424"/>
            <a:ext cx="312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symbol &amp;</a:t>
            </a:r>
            <a:endParaRPr lang="en-US" sz="1800" dirty="0"/>
          </a:p>
        </p:txBody>
      </p:sp>
      <p:sp>
        <p:nvSpPr>
          <p:cNvPr id="13" name="a4_pill"/>
          <p:cNvSpPr/>
          <p:nvPr/>
        </p:nvSpPr>
        <p:spPr>
          <a:xfrm>
            <a:off x="6278728" y="160020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accent3"/>
          </a:solidFill>
          <a:ln/>
        </p:spPr>
      </p:sp>
      <p:sp>
        <p:nvSpPr>
          <p:cNvPr id="14" name="a4_pill_text"/>
          <p:cNvSpPr txBox="1"/>
          <p:nvPr/>
        </p:nvSpPr>
        <p:spPr>
          <a:xfrm>
            <a:off x="6278728" y="1600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&amp;quot;</a:t>
            </a:r>
            <a:endParaRPr lang="en-US" sz="1800" dirty="0"/>
          </a:p>
        </p:txBody>
      </p:sp>
      <p:sp>
        <p:nvSpPr>
          <p:cNvPr id="15" name="a4_desc"/>
          <p:cNvSpPr txBox="1"/>
          <p:nvPr/>
        </p:nvSpPr>
        <p:spPr>
          <a:xfrm>
            <a:off x="8519008" y="1563624"/>
            <a:ext cx="312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quotation mark "</a:t>
            </a:r>
            <a:endParaRPr lang="en-US" sz="1800" dirty="0"/>
          </a:p>
        </p:txBody>
      </p:sp>
      <p:sp>
        <p:nvSpPr>
          <p:cNvPr id="16" name="a5_pill"/>
          <p:cNvSpPr/>
          <p:nvPr/>
        </p:nvSpPr>
        <p:spPr>
          <a:xfrm>
            <a:off x="6278728" y="251460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accent4"/>
          </a:solidFill>
          <a:ln/>
        </p:spPr>
      </p:sp>
      <p:sp>
        <p:nvSpPr>
          <p:cNvPr id="17" name="a5_pill_text"/>
          <p:cNvSpPr txBox="1"/>
          <p:nvPr/>
        </p:nvSpPr>
        <p:spPr>
          <a:xfrm>
            <a:off x="6278728" y="2514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&amp;nbsp;</a:t>
            </a:r>
            <a:endParaRPr lang="en-US" sz="1800" dirty="0"/>
          </a:p>
        </p:txBody>
      </p:sp>
      <p:sp>
        <p:nvSpPr>
          <p:cNvPr id="18" name="a5_desc"/>
          <p:cNvSpPr txBox="1"/>
          <p:nvPr/>
        </p:nvSpPr>
        <p:spPr>
          <a:xfrm>
            <a:off x="8519008" y="2478024"/>
            <a:ext cx="312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 that never breaks</a:t>
            </a:r>
            <a:endParaRPr lang="en-US" sz="1800" dirty="0"/>
          </a:p>
        </p:txBody>
      </p:sp>
      <p:sp>
        <p:nvSpPr>
          <p:cNvPr id="19" name="a6_pill"/>
          <p:cNvSpPr/>
          <p:nvPr/>
        </p:nvSpPr>
        <p:spPr>
          <a:xfrm>
            <a:off x="6278728" y="3429000"/>
            <a:ext cx="2011680" cy="566928"/>
          </a:xfrm>
          <a:prstGeom prst="roundRect">
            <a:avLst>
              <a:gd name="adj" fmla="val 19355"/>
            </a:avLst>
          </a:prstGeom>
          <a:solidFill>
            <a:schemeClr val="accent5"/>
          </a:solidFill>
          <a:ln/>
        </p:spPr>
      </p:sp>
      <p:sp>
        <p:nvSpPr>
          <p:cNvPr id="20" name="a6_pill_text"/>
          <p:cNvSpPr txBox="1"/>
          <p:nvPr/>
        </p:nvSpPr>
        <p:spPr>
          <a:xfrm>
            <a:off x="6278728" y="3429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&amp;copy;</a:t>
            </a:r>
            <a:endParaRPr lang="en-US" sz="1800" dirty="0"/>
          </a:p>
        </p:txBody>
      </p:sp>
      <p:sp>
        <p:nvSpPr>
          <p:cNvPr id="21" name="a6_desc"/>
          <p:cNvSpPr txBox="1"/>
          <p:nvPr/>
        </p:nvSpPr>
        <p:spPr>
          <a:xfrm>
            <a:off x="8519008" y="3392424"/>
            <a:ext cx="312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copyright sign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Writing an Arabic page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6126480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masr.html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html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"rtl"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مصر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أهلاً بكم في مصر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</a:t>
            </a:r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a2_browser"/>
          <p:cNvSpPr/>
          <p:nvPr/>
        </p:nvSpPr>
        <p:spPr>
          <a:xfrm>
            <a:off x="6949440" y="1554480"/>
            <a:ext cx="4693615" cy="173736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949440" y="1554480"/>
            <a:ext cx="469361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715060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37006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58952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909560" y="1627632"/>
            <a:ext cx="34591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8046720" y="1627632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masr.html</a:t>
            </a:r>
            <a:endParaRPr lang="en-US" sz="1200" dirty="0"/>
          </a:p>
        </p:txBody>
      </p:sp>
      <p:sp>
        <p:nvSpPr>
          <p:cNvPr id="17" name="a2_browser_content"/>
          <p:cNvSpPr txBox="1"/>
          <p:nvPr/>
        </p:nvSpPr>
        <p:spPr>
          <a:xfrm>
            <a:off x="7269480" y="2176272"/>
            <a:ext cx="405353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أهلاً بكم في مصر</a:t>
            </a:r>
            <a:endParaRPr lang="ar-EG" sz="3000" dirty="0"/>
          </a:p>
        </p:txBody>
      </p:sp>
      <p:sp>
        <p:nvSpPr>
          <p:cNvPr id="18" name="a3_chip"/>
          <p:cNvSpPr/>
          <p:nvPr/>
        </p:nvSpPr>
        <p:spPr>
          <a:xfrm>
            <a:off x="6949440" y="3566160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6949440" y="3566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lang="ar"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8595360" y="3566160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language is Arabic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6949440" y="4224528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6949440" y="42245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dir="rtl"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8595360" y="4224528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flows right to left</a:t>
            </a:r>
            <a:endParaRPr lang="en-US" sz="1600" dirty="0"/>
          </a:p>
        </p:txBody>
      </p:sp>
      <p:sp>
        <p:nvSpPr>
          <p:cNvPr id="24" name="a5_chip"/>
          <p:cNvSpPr/>
          <p:nvPr/>
        </p:nvSpPr>
        <p:spPr>
          <a:xfrm>
            <a:off x="6949440" y="4882896"/>
            <a:ext cx="146304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25" name="a5_chip_text"/>
          <p:cNvSpPr txBox="1"/>
          <p:nvPr/>
        </p:nvSpPr>
        <p:spPr>
          <a:xfrm>
            <a:off x="6949440" y="48828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UTF-8</a:t>
            </a:r>
            <a:endParaRPr lang="en-US" sz="1500" dirty="0"/>
          </a:p>
        </p:txBody>
      </p:sp>
      <p:sp>
        <p:nvSpPr>
          <p:cNvPr id="26" name="a5_chip_desc"/>
          <p:cNvSpPr txBox="1"/>
          <p:nvPr/>
        </p:nvSpPr>
        <p:spPr>
          <a:xfrm>
            <a:off x="8595360" y="4882896"/>
            <a:ext cx="3047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letters display correctly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3" name="a1_ico_q_bg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a1_ico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420624" cy="420624"/>
          </a:xfrm>
          <a:prstGeom prst="rect">
            <a:avLst/>
          </a:prstGeom>
        </p:spPr>
      </p:pic>
      <p:sp>
        <p:nvSpPr>
          <p:cNvPr id="5" name="a1_question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attribute must be UNIQUE on a page?</a:t>
            </a:r>
            <a:endParaRPr lang="en-US" sz="2600" dirty="0"/>
          </a:p>
        </p:txBody>
      </p:sp>
      <p:sp>
        <p:nvSpPr>
          <p:cNvPr id="6" name="a2_opt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7" name="a2_ico_letter_bg"/>
          <p:cNvSpPr/>
          <p:nvPr/>
        </p:nvSpPr>
        <p:spPr>
          <a:xfrm>
            <a:off x="80467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a2_ico_letter"/>
          <p:cNvSpPr txBox="1"/>
          <p:nvPr/>
        </p:nvSpPr>
        <p:spPr>
          <a:xfrm>
            <a:off x="804672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a2_opt_text"/>
          <p:cNvSpPr txBox="1"/>
          <p:nvPr/>
        </p:nvSpPr>
        <p:spPr>
          <a:xfrm>
            <a:off x="1645920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2000" dirty="0"/>
          </a:p>
        </p:txBody>
      </p:sp>
      <p:sp>
        <p:nvSpPr>
          <p:cNvPr id="10" name="a3_opt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1" name="a3_ico_letter_bg"/>
          <p:cNvSpPr/>
          <p:nvPr/>
        </p:nvSpPr>
        <p:spPr>
          <a:xfrm>
            <a:off x="6455664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3_ico_letter"/>
          <p:cNvSpPr txBox="1"/>
          <p:nvPr/>
        </p:nvSpPr>
        <p:spPr>
          <a:xfrm>
            <a:off x="6455664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a3_opt_text"/>
          <p:cNvSpPr txBox="1"/>
          <p:nvPr/>
        </p:nvSpPr>
        <p:spPr>
          <a:xfrm>
            <a:off x="7296912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2000" dirty="0"/>
          </a:p>
        </p:txBody>
      </p:sp>
      <p:sp>
        <p:nvSpPr>
          <p:cNvPr id="14" name="a4_opt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5" name="a4_ico_letter_bg"/>
          <p:cNvSpPr/>
          <p:nvPr/>
        </p:nvSpPr>
        <p:spPr>
          <a:xfrm>
            <a:off x="804672" y="4389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a4_ico_letter"/>
          <p:cNvSpPr txBox="1"/>
          <p:nvPr/>
        </p:nvSpPr>
        <p:spPr>
          <a:xfrm>
            <a:off x="80467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a4_opt_text"/>
          <p:cNvSpPr txBox="1"/>
          <p:nvPr/>
        </p:nvSpPr>
        <p:spPr>
          <a:xfrm>
            <a:off x="164592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2000" dirty="0"/>
          </a:p>
        </p:txBody>
      </p:sp>
      <p:sp>
        <p:nvSpPr>
          <p:cNvPr id="18" name="a5_opt"/>
          <p:cNvSpPr/>
          <p:nvPr/>
        </p:nvSpPr>
        <p:spPr>
          <a:xfrm>
            <a:off x="6199632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9" name="a5_ico_letter_bg"/>
          <p:cNvSpPr/>
          <p:nvPr/>
        </p:nvSpPr>
        <p:spPr>
          <a:xfrm>
            <a:off x="6455664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a5_ico_letter"/>
          <p:cNvSpPr txBox="1"/>
          <p:nvPr/>
        </p:nvSpPr>
        <p:spPr>
          <a:xfrm>
            <a:off x="645566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1" name="a5_opt_text"/>
          <p:cNvSpPr txBox="1"/>
          <p:nvPr/>
        </p:nvSpPr>
        <p:spPr>
          <a:xfrm>
            <a:off x="7296912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endParaRPr lang="en-US" sz="2000" dirty="0"/>
          </a:p>
        </p:txBody>
      </p:sp>
      <p:sp>
        <p:nvSpPr>
          <p:cNvPr id="22" name="k1_answer_ring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accent5">
              <a:alpha val="0"/>
            </a:schemeClr>
          </a:solidFill>
          <a:ln w="63500">
            <a:solidFill>
              <a:schemeClr val="accent5"/>
            </a:solidFill>
            <a:prstDash val="solid"/>
          </a:ln>
        </p:spPr>
      </p:sp>
      <p:sp>
        <p:nvSpPr>
          <p:cNvPr id="23" name="k1_answer_ba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k1_answer_ic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25" name="k1_answer_text"/>
          <p:cNvSpPr txBox="1"/>
          <p:nvPr/>
        </p:nvSpPr>
        <p:spPr>
          <a:xfrm>
            <a:off x="1417320" y="54864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 names exactly one element, like a national ID number.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Your turn: a student ID card page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div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class="card" and put everything inside.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6746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6746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61975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name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h2 for the student name.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69417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details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school and city, with span around the labels.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82346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823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768596"/>
            <a:ext cx="5029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photo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img with src and alt inside the card.</a:t>
            </a:r>
            <a:endParaRPr lang="en-US" sz="2100" dirty="0"/>
          </a:p>
        </p:txBody>
      </p:sp>
      <p:sp>
        <p:nvSpPr>
          <p:cNvPr id="16" name="a5_browser"/>
          <p:cNvSpPr/>
          <p:nvPr/>
        </p:nvSpPr>
        <p:spPr>
          <a:xfrm>
            <a:off x="6812280" y="1600200"/>
            <a:ext cx="4828032" cy="338328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a5_browser_bar"/>
          <p:cNvSpPr/>
          <p:nvPr/>
        </p:nvSpPr>
        <p:spPr>
          <a:xfrm>
            <a:off x="6812280" y="1600200"/>
            <a:ext cx="4828032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a5_browser_dot"/>
          <p:cNvSpPr/>
          <p:nvPr/>
        </p:nvSpPr>
        <p:spPr>
          <a:xfrm>
            <a:off x="7013448" y="174650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a5_browser_dot"/>
          <p:cNvSpPr/>
          <p:nvPr/>
        </p:nvSpPr>
        <p:spPr>
          <a:xfrm>
            <a:off x="7232904" y="174650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a5_browser_dot"/>
          <p:cNvSpPr/>
          <p:nvPr/>
        </p:nvSpPr>
        <p:spPr>
          <a:xfrm>
            <a:off x="7452360" y="174650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a5_browser_url"/>
          <p:cNvSpPr/>
          <p:nvPr/>
        </p:nvSpPr>
        <p:spPr>
          <a:xfrm>
            <a:off x="7772400" y="1673352"/>
            <a:ext cx="3593592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2" name="a5_browser_urltext"/>
          <p:cNvSpPr txBox="1"/>
          <p:nvPr/>
        </p:nvSpPr>
        <p:spPr>
          <a:xfrm>
            <a:off x="7909560" y="167335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card.html</a:t>
            </a:r>
            <a:endParaRPr lang="en-US" sz="1200" dirty="0"/>
          </a:p>
        </p:txBody>
      </p:sp>
      <p:sp>
        <p:nvSpPr>
          <p:cNvPr id="23" name="a5_browser_content"/>
          <p:cNvSpPr txBox="1"/>
          <p:nvPr/>
        </p:nvSpPr>
        <p:spPr>
          <a:xfrm>
            <a:off x="7132320" y="2221992"/>
            <a:ext cx="418795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Said</a:t>
            </a:r>
            <a:endParaRPr lang="en-US" sz="2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year</a:t>
            </a:r>
            <a:endParaRPr lang="en-US" sz="2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Aswan Secondary</a:t>
            </a:r>
            <a:endParaRPr lang="en-US" sz="2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Aswan</a:t>
            </a:r>
            <a:endParaRPr lang="en-US" sz="2600" dirty="0"/>
          </a:p>
        </p:txBody>
      </p:sp>
      <p:sp>
        <p:nvSpPr>
          <p:cNvPr id="24" name="a6_timer"/>
          <p:cNvSpPr/>
          <p:nvPr/>
        </p:nvSpPr>
        <p:spPr>
          <a:xfrm>
            <a:off x="6812280" y="5257800"/>
            <a:ext cx="4828032" cy="5943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25" name="a6_timer_ic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5413248"/>
            <a:ext cx="274320" cy="274320"/>
          </a:xfrm>
          <a:prstGeom prst="rect">
            <a:avLst/>
          </a:prstGeom>
        </p:spPr>
      </p:pic>
      <p:sp>
        <p:nvSpPr>
          <p:cNvPr id="26" name="a6_timer_text"/>
          <p:cNvSpPr txBox="1"/>
          <p:nvPr/>
        </p:nvSpPr>
        <p:spPr>
          <a:xfrm>
            <a:off x="7589520" y="5257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4" name="a1_ico_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457200" cy="45720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234440" y="1600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name="value" pairs in the opening tag.</a:t>
            </a:r>
            <a:endParaRPr lang="en-US" sz="2000" dirty="0"/>
          </a:p>
        </p:txBody>
      </p:sp>
      <p:pic>
        <p:nvPicPr>
          <p:cNvPr id="6" name="a2_ico_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2888"/>
            <a:ext cx="457200" cy="457200"/>
          </a:xfrm>
          <a:prstGeom prst="rect">
            <a:avLst/>
          </a:prstGeom>
        </p:spPr>
      </p:pic>
      <p:sp>
        <p:nvSpPr>
          <p:cNvPr id="7" name="a2_text"/>
          <p:cNvSpPr txBox="1"/>
          <p:nvPr/>
        </p:nvSpPr>
        <p:spPr>
          <a:xfrm>
            <a:off x="1234440" y="2468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groups blocks, span marks words inside a line.</a:t>
            </a:r>
            <a:endParaRPr lang="en-US" sz="2000" dirty="0"/>
          </a:p>
        </p:txBody>
      </p:sp>
      <p:pic>
        <p:nvPicPr>
          <p:cNvPr id="8" name="a3_ico_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457200" cy="457200"/>
          </a:xfrm>
          <a:prstGeom prst="rect">
            <a:avLst/>
          </a:prstGeom>
        </p:spPr>
      </p:pic>
      <p:sp>
        <p:nvSpPr>
          <p:cNvPr id="9" name="a3_text"/>
          <p:cNvSpPr txBox="1"/>
          <p:nvPr/>
        </p:nvSpPr>
        <p:spPr>
          <a:xfrm>
            <a:off x="1234440" y="3337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is unique, class is shared.</a:t>
            </a:r>
            <a:endParaRPr lang="en-US" sz="2000" dirty="0"/>
          </a:p>
        </p:txBody>
      </p:sp>
      <p:pic>
        <p:nvPicPr>
          <p:cNvPr id="10" name="a4_ico_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0248"/>
            <a:ext cx="457200" cy="457200"/>
          </a:xfrm>
          <a:prstGeom prst="rect">
            <a:avLst/>
          </a:prstGeom>
        </p:spPr>
      </p:pic>
      <p:sp>
        <p:nvSpPr>
          <p:cNvPr id="11" name="a4_text"/>
          <p:cNvSpPr txBox="1"/>
          <p:nvPr/>
        </p:nvSpPr>
        <p:spPr>
          <a:xfrm>
            <a:off x="1234440" y="4206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such as &amp;lt; and &amp;amp; show special characters.</a:t>
            </a:r>
            <a:endParaRPr lang="en-US" sz="2000" dirty="0"/>
          </a:p>
        </p:txBody>
      </p:sp>
      <p:pic>
        <p:nvPicPr>
          <p:cNvPr id="12" name="a5_ico_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38928"/>
            <a:ext cx="457200" cy="457200"/>
          </a:xfrm>
          <a:prstGeom prst="rect">
            <a:avLst/>
          </a:prstGeom>
        </p:spPr>
      </p:pic>
      <p:sp>
        <p:nvSpPr>
          <p:cNvPr id="13" name="a5_text"/>
          <p:cNvSpPr txBox="1"/>
          <p:nvPr/>
        </p:nvSpPr>
        <p:spPr>
          <a:xfrm>
            <a:off x="123444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lang="ar" dir="rtl" makes a page in Arabic.</a:t>
            </a:r>
            <a:endParaRPr lang="en-US" sz="2000" dirty="0"/>
          </a:p>
        </p:txBody>
      </p:sp>
      <p:sp>
        <p:nvSpPr>
          <p:cNvPr id="14" name="a6_hw"/>
          <p:cNvSpPr/>
          <p:nvPr/>
        </p:nvSpPr>
        <p:spPr>
          <a:xfrm>
            <a:off x="8229600" y="1600200"/>
            <a:ext cx="3410712" cy="4343400"/>
          </a:xfrm>
          <a:prstGeom prst="roundRect">
            <a:avLst>
              <a:gd name="adj" fmla="val 536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5" name="a6_ico_h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920240"/>
            <a:ext cx="731520" cy="731520"/>
          </a:xfrm>
          <a:prstGeom prst="rect">
            <a:avLst/>
          </a:prstGeom>
        </p:spPr>
      </p:pic>
      <p:sp>
        <p:nvSpPr>
          <p:cNvPr id="16" name="a6_hw_label"/>
          <p:cNvSpPr txBox="1"/>
          <p:nvPr/>
        </p:nvSpPr>
        <p:spPr>
          <a:xfrm>
            <a:off x="85953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17" name="a6_hw_text"/>
          <p:cNvSpPr txBox="1"/>
          <p:nvPr/>
        </p:nvSpPr>
        <p:spPr>
          <a:xfrm>
            <a:off x="8595360" y="3291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Arabic page about your family with a heading, two paragraphs and a list.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Nile Code">
  <a:themeElements>
    <a:clrScheme name="Nile Code">
      <a:dk1>
        <a:srgbClr val="0B1B2E"/>
      </a:dk1>
      <a:lt1>
        <a:srgbClr val="FFFFFF"/>
      </a:lt1>
      <a:dk2>
        <a:srgbClr val="0F5F5A"/>
      </a:dk2>
      <a:lt2>
        <a:srgbClr val="E8F0EF"/>
      </a:lt2>
      <a:accent1>
        <a:srgbClr val="14B8A6"/>
      </a:accent1>
      <a:accent2>
        <a:srgbClr val="F5B301"/>
      </a:accent2>
      <a:accent3>
        <a:srgbClr val="FF6B4A"/>
      </a:accent3>
      <a:accent4>
        <a:srgbClr val="8C92FF"/>
      </a:accent4>
      <a:accent5>
        <a:srgbClr val="4ADE80"/>
      </a:accent5>
      <a:accent6>
        <a:srgbClr val="38BDF8"/>
      </a:accent6>
      <a:hlink>
        <a:srgbClr val="0F5F5A"/>
      </a:hlink>
      <a:folHlink>
        <a:srgbClr val="8C92FF"/>
      </a:folHlink>
    </a:clrScheme>
    <a:fontScheme name="Nile Co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Fundamentals - Lesson 4: Attributes &amp; Containers</dc:title>
  <dc:subject>HTML for school students</dc:subject>
  <dc:creator>HTML Fundamentals Course</dc:creator>
  <cp:lastModifiedBy>HTML Fundamentals Course</cp:lastModifiedBy>
  <cp:revision>1</cp:revision>
  <dcterms:created xsi:type="dcterms:W3CDTF">2026-10-04T23:25:00Z</dcterms:created>
  <dcterms:modified xsi:type="dcterms:W3CDTF">2026-10-04T23:25:00Z</dcterms:modified>
</cp:coreProperties>
</file>