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a656c2d-7a23-aa8c-5503-59794aa9204e}">
          <p14:sldIdLst>
            <p14:sldId id="256"/>
            <p14:sldId id="257"/>
          </p14:sldIdLst>
        </p14:section>
        <p14:section name="Audio &amp; video" id="{2a399dc2-8eb7-c5a7-9e86-d795d835be68}">
          <p14:sldIdLst>
            <p14:sldId id="258"/>
            <p14:sldId id="259"/>
            <p14:sldId id="260"/>
          </p14:sldIdLst>
        </p14:section>
        <p14:section name="Smarter links" id="{61e6f5c9-c2be-7173-8137-85533d273e3b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show of hands: who watches videos on a phone? Today we learn how pages show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 inside the video tag is a fallback for very old browsers. Keep videos short and small for the school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boolean attributes: just writing the word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school or demo email addresses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maps, YouTube videos. Remind students never to embed random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a short discussion. Ask for an example of a safe and unsafe web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Egyptian students view the web on phones, so viewport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sample .mp4 in the shared folder so every student has a file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the capstone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5: Media &amp; Smarter Links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5: Media &amp; Smarter Links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ico_sun"/>
          <p:cNvSpPr/>
          <p:nvPr/>
        </p:nvSpPr>
        <p:spPr>
          <a:xfrm>
            <a:off x="9966960" y="822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a5_halo"/>
          <p:cNvSpPr/>
          <p:nvPr/>
        </p:nvSpPr>
        <p:spPr>
          <a:xfrm>
            <a:off x="8595360" y="-10972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a6_pyr1"/>
          <p:cNvSpPr/>
          <p:nvPr/>
        </p:nvSpPr>
        <p:spPr>
          <a:xfrm>
            <a:off x="7406640" y="4160520"/>
            <a:ext cx="2651760" cy="2240280"/>
          </a:xfrm>
          <a:prstGeom prst="triangl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6" name="a6_pyr2"/>
          <p:cNvSpPr/>
          <p:nvPr/>
        </p:nvSpPr>
        <p:spPr>
          <a:xfrm>
            <a:off x="8869680" y="2743200"/>
            <a:ext cx="3017520" cy="36576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7" name="a6_pyr3"/>
          <p:cNvSpPr/>
          <p:nvPr/>
        </p:nvSpPr>
        <p:spPr>
          <a:xfrm>
            <a:off x="10561320" y="4709160"/>
            <a:ext cx="1371600" cy="1691640"/>
          </a:xfrm>
          <a:prstGeom prst="triangl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8" name="a1_pill"/>
          <p:cNvSpPr/>
          <p:nvPr/>
        </p:nvSpPr>
        <p:spPr>
          <a:xfrm>
            <a:off x="73152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a1_pill_text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Media &amp; Smarter Links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Videos, sound, email links and a page ready for phones</a:t>
            </a:r>
            <a:endParaRPr lang="en-US" sz="2200" dirty="0"/>
          </a:p>
        </p:txBody>
      </p:sp>
      <p:sp>
        <p:nvSpPr>
          <p:cNvPr id="12" name="a4_ar"/>
          <p:cNvSpPr txBox="1"/>
          <p:nvPr/>
        </p:nvSpPr>
        <p:spPr>
          <a:xfrm>
            <a:off x="73152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الخامس: الوسائط والروابط الذكية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will…</a:t>
            </a:r>
            <a:endParaRPr lang="en-US" sz="3600" dirty="0"/>
          </a:p>
        </p:txBody>
      </p:sp>
      <p:sp>
        <p:nvSpPr>
          <p:cNvPr id="3" name="a1_ico_bg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810055"/>
            <a:ext cx="357530" cy="35753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6002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video and audio to a page</a:t>
            </a:r>
            <a:endParaRPr lang="en-US" sz="2200" dirty="0"/>
          </a:p>
        </p:txBody>
      </p:sp>
      <p:sp>
        <p:nvSpPr>
          <p:cNvPr id="6" name="a2_ico_bg"/>
          <p:cNvSpPr/>
          <p:nvPr/>
        </p:nvSpPr>
        <p:spPr>
          <a:xfrm>
            <a:off x="548640" y="26791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2889047"/>
            <a:ext cx="357530" cy="357530"/>
          </a:xfrm>
          <a:prstGeom prst="rect">
            <a:avLst/>
          </a:prstGeom>
        </p:spPr>
      </p:pic>
      <p:sp>
        <p:nvSpPr>
          <p:cNvPr id="8" name="a2_text"/>
          <p:cNvSpPr txBox="1"/>
          <p:nvPr/>
        </p:nvSpPr>
        <p:spPr>
          <a:xfrm>
            <a:off x="1600200" y="2679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email links and links that open in a new tab</a:t>
            </a:r>
            <a:endParaRPr lang="en-US" sz="2200" dirty="0"/>
          </a:p>
        </p:txBody>
      </p:sp>
      <p:sp>
        <p:nvSpPr>
          <p:cNvPr id="9" name="a3_ico_bg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3968039"/>
            <a:ext cx="357530" cy="357530"/>
          </a:xfrm>
          <a:prstGeom prst="rect">
            <a:avLst/>
          </a:prstGeom>
        </p:spPr>
      </p:pic>
      <p:sp>
        <p:nvSpPr>
          <p:cNvPr id="11" name="a3_text"/>
          <p:cNvSpPr txBox="1"/>
          <p:nvPr/>
        </p:nvSpPr>
        <p:spPr>
          <a:xfrm>
            <a:off x="1600200" y="37581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another page, such as a map</a:t>
            </a:r>
            <a:endParaRPr lang="en-US" sz="2200" dirty="0"/>
          </a:p>
        </p:txBody>
      </p:sp>
      <p:sp>
        <p:nvSpPr>
          <p:cNvPr id="12" name="a4_ico_bg"/>
          <p:cNvSpPr/>
          <p:nvPr/>
        </p:nvSpPr>
        <p:spPr>
          <a:xfrm>
            <a:off x="548640" y="48371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5" y="5047031"/>
            <a:ext cx="357530" cy="357530"/>
          </a:xfrm>
          <a:prstGeom prst="rect">
            <a:avLst/>
          </a:prstGeom>
        </p:spPr>
      </p:pic>
      <p:sp>
        <p:nvSpPr>
          <p:cNvPr id="14" name="a4_text"/>
          <p:cNvSpPr txBox="1"/>
          <p:nvPr/>
        </p:nvSpPr>
        <p:spPr>
          <a:xfrm>
            <a:off x="1600200" y="483717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head for phones and search</a:t>
            </a:r>
            <a:endParaRPr lang="en-US" sz="2200" dirty="0"/>
          </a:p>
        </p:txBody>
      </p:sp>
      <p:sp>
        <p:nvSpPr>
          <p:cNvPr id="15" name="a5_panel"/>
          <p:cNvSpPr/>
          <p:nvPr/>
        </p:nvSpPr>
        <p:spPr>
          <a:xfrm>
            <a:off x="8503920" y="1600200"/>
            <a:ext cx="3136392" cy="4251960"/>
          </a:xfrm>
          <a:prstGeom prst="roundRect">
            <a:avLst>
              <a:gd name="adj" fmla="val 58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6" name="a5_ico_pan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057400"/>
            <a:ext cx="914400" cy="914400"/>
          </a:xfrm>
          <a:prstGeom prst="rect">
            <a:avLst/>
          </a:prstGeom>
        </p:spPr>
      </p:pic>
      <p:sp>
        <p:nvSpPr>
          <p:cNvPr id="17" name="a5_panel_label"/>
          <p:cNvSpPr txBox="1"/>
          <p:nvPr/>
        </p:nvSpPr>
        <p:spPr>
          <a:xfrm>
            <a:off x="8823960" y="32461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400" dirty="0"/>
          </a:p>
        </p:txBody>
      </p:sp>
      <p:sp>
        <p:nvSpPr>
          <p:cNvPr id="18" name="a5_panel_text"/>
          <p:cNvSpPr txBox="1"/>
          <p:nvPr/>
        </p:nvSpPr>
        <p:spPr>
          <a:xfrm>
            <a:off x="8823960" y="36576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media gallery page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Audio &amp; video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Play media without extra software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الصوت والفيديو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Adding a video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2651760"/>
          </a:xfrm>
          <a:prstGeom prst="roundRect">
            <a:avLst>
              <a:gd name="adj" fmla="val 482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"nile.mp4"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controls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"480"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Your browser cannot play video.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a2_browser"/>
          <p:cNvSpPr/>
          <p:nvPr/>
        </p:nvSpPr>
        <p:spPr>
          <a:xfrm>
            <a:off x="6675120" y="1554480"/>
            <a:ext cx="4967935" cy="26517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675120" y="1554480"/>
            <a:ext cx="49679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8762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0957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3152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635240" y="1627632"/>
            <a:ext cx="37334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772400" y="162763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video.html</a:t>
            </a:r>
            <a:endParaRPr lang="en-US" sz="1200" dirty="0"/>
          </a:p>
        </p:txBody>
      </p:sp>
      <p:sp>
        <p:nvSpPr>
          <p:cNvPr id="17" name="a2_vid"/>
          <p:cNvSpPr/>
          <p:nvPr/>
        </p:nvSpPr>
        <p:spPr>
          <a:xfrm>
            <a:off x="6995160" y="2176272"/>
            <a:ext cx="4327855" cy="1545336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a2_ico_play"/>
          <p:cNvSpPr/>
          <p:nvPr/>
        </p:nvSpPr>
        <p:spPr>
          <a:xfrm>
            <a:off x="8747608" y="25374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a2_ico_tri"/>
          <p:cNvSpPr/>
          <p:nvPr/>
        </p:nvSpPr>
        <p:spPr>
          <a:xfrm rot="5400000">
            <a:off x="9021928" y="2793492"/>
            <a:ext cx="310896" cy="310896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0" name="a2_bar"/>
          <p:cNvSpPr/>
          <p:nvPr/>
        </p:nvSpPr>
        <p:spPr>
          <a:xfrm>
            <a:off x="6995160" y="3721608"/>
            <a:ext cx="4327855" cy="320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a2_prog"/>
          <p:cNvSpPr/>
          <p:nvPr/>
        </p:nvSpPr>
        <p:spPr>
          <a:xfrm>
            <a:off x="7132320" y="3858768"/>
            <a:ext cx="2596713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a3_chip"/>
          <p:cNvSpPr/>
          <p:nvPr/>
        </p:nvSpPr>
        <p:spPr>
          <a:xfrm>
            <a:off x="6675120" y="448056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a3_chip_text"/>
          <p:cNvSpPr txBox="1"/>
          <p:nvPr/>
        </p:nvSpPr>
        <p:spPr>
          <a:xfrm>
            <a:off x="66751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&lt;video&gt;</a:t>
            </a:r>
            <a:endParaRPr lang="en-US" sz="1500" dirty="0"/>
          </a:p>
        </p:txBody>
      </p:sp>
      <p:sp>
        <p:nvSpPr>
          <p:cNvPr id="24" name="a3_chip_desc"/>
          <p:cNvSpPr txBox="1"/>
          <p:nvPr/>
        </p:nvSpPr>
        <p:spPr>
          <a:xfrm>
            <a:off x="8229600" y="4480560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video file</a:t>
            </a:r>
            <a:endParaRPr lang="en-US" sz="1600" dirty="0"/>
          </a:p>
        </p:txBody>
      </p:sp>
      <p:sp>
        <p:nvSpPr>
          <p:cNvPr id="25" name="a4_chip"/>
          <p:cNvSpPr/>
          <p:nvPr/>
        </p:nvSpPr>
        <p:spPr>
          <a:xfrm>
            <a:off x="6675120" y="5138928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6" name="a4_chip_text"/>
          <p:cNvSpPr txBox="1"/>
          <p:nvPr/>
        </p:nvSpPr>
        <p:spPr>
          <a:xfrm>
            <a:off x="6675120" y="51389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endParaRPr lang="en-US" sz="1500" dirty="0"/>
          </a:p>
        </p:txBody>
      </p:sp>
      <p:sp>
        <p:nvSpPr>
          <p:cNvPr id="27" name="a4_chip_desc"/>
          <p:cNvSpPr txBox="1"/>
          <p:nvPr/>
        </p:nvSpPr>
        <p:spPr>
          <a:xfrm>
            <a:off x="8229600" y="5138928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play, pause and volume buttons</a:t>
            </a:r>
            <a:endParaRPr lang="en-US" sz="1600" dirty="0"/>
          </a:p>
        </p:txBody>
      </p:sp>
      <p:sp>
        <p:nvSpPr>
          <p:cNvPr id="28" name="a5_chip"/>
          <p:cNvSpPr/>
          <p:nvPr/>
        </p:nvSpPr>
        <p:spPr>
          <a:xfrm>
            <a:off x="6675120" y="5797296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</p:sp>
      <p:sp>
        <p:nvSpPr>
          <p:cNvPr id="29" name="a5_chip_text"/>
          <p:cNvSpPr txBox="1"/>
          <p:nvPr/>
        </p:nvSpPr>
        <p:spPr>
          <a:xfrm>
            <a:off x="6675120" y="57972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&lt;audio&gt;</a:t>
            </a:r>
            <a:endParaRPr lang="en-US" sz="1500" dirty="0"/>
          </a:p>
        </p:txBody>
      </p:sp>
      <p:sp>
        <p:nvSpPr>
          <p:cNvPr id="30" name="a5_chip_desc"/>
          <p:cNvSpPr txBox="1"/>
          <p:nvPr/>
        </p:nvSpPr>
        <p:spPr>
          <a:xfrm>
            <a:off x="8229600" y="5797296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way for sound files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Media attributes</a:t>
            </a:r>
            <a:endParaRPr lang="en-US" sz="3600" dirty="0"/>
          </a:p>
        </p:txBody>
      </p:sp>
      <p:sp>
        <p:nvSpPr>
          <p:cNvPr id="4" name="a1_pill"/>
          <p:cNvSpPr/>
          <p:nvPr/>
        </p:nvSpPr>
        <p:spPr>
          <a:xfrm>
            <a:off x="548640" y="16002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548640" y="1600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endParaRPr lang="en-US" sz="1800" dirty="0"/>
          </a:p>
        </p:txBody>
      </p:sp>
      <p:sp>
        <p:nvSpPr>
          <p:cNvPr id="6" name="a1_desc"/>
          <p:cNvSpPr txBox="1"/>
          <p:nvPr/>
        </p:nvSpPr>
        <p:spPr>
          <a:xfrm>
            <a:off x="2880360" y="15636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play and volume buttons</a:t>
            </a:r>
            <a:endParaRPr lang="en-US" sz="1800" dirty="0"/>
          </a:p>
        </p:txBody>
      </p:sp>
      <p:sp>
        <p:nvSpPr>
          <p:cNvPr id="7" name="a2_pill"/>
          <p:cNvSpPr/>
          <p:nvPr/>
        </p:nvSpPr>
        <p:spPr>
          <a:xfrm>
            <a:off x="548640" y="25146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8" name="a2_pill_text"/>
          <p:cNvSpPr txBox="1"/>
          <p:nvPr/>
        </p:nvSpPr>
        <p:spPr>
          <a:xfrm>
            <a:off x="548640" y="2514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autoplay</a:t>
            </a:r>
            <a:endParaRPr lang="en-US" sz="1800" dirty="0"/>
          </a:p>
        </p:txBody>
      </p:sp>
      <p:sp>
        <p:nvSpPr>
          <p:cNvPr id="9" name="a2_desc"/>
          <p:cNvSpPr txBox="1"/>
          <p:nvPr/>
        </p:nvSpPr>
        <p:spPr>
          <a:xfrm>
            <a:off x="2880360" y="24780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itself (use rarely!)</a:t>
            </a:r>
            <a:endParaRPr lang="en-US" sz="1800" dirty="0"/>
          </a:p>
        </p:txBody>
      </p:sp>
      <p:sp>
        <p:nvSpPr>
          <p:cNvPr id="10" name="a3_pill"/>
          <p:cNvSpPr/>
          <p:nvPr/>
        </p:nvSpPr>
        <p:spPr>
          <a:xfrm>
            <a:off x="548640" y="34290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1" name="a3_pill_text"/>
          <p:cNvSpPr txBox="1"/>
          <p:nvPr/>
        </p:nvSpPr>
        <p:spPr>
          <a:xfrm>
            <a:off x="548640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800" dirty="0"/>
          </a:p>
        </p:txBody>
      </p:sp>
      <p:sp>
        <p:nvSpPr>
          <p:cNvPr id="12" name="a3_desc"/>
          <p:cNvSpPr txBox="1"/>
          <p:nvPr/>
        </p:nvSpPr>
        <p:spPr>
          <a:xfrm>
            <a:off x="2880360" y="33924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 and again</a:t>
            </a:r>
            <a:endParaRPr lang="en-US" sz="1800" dirty="0"/>
          </a:p>
        </p:txBody>
      </p:sp>
      <p:sp>
        <p:nvSpPr>
          <p:cNvPr id="13" name="a4_pill"/>
          <p:cNvSpPr/>
          <p:nvPr/>
        </p:nvSpPr>
        <p:spPr>
          <a:xfrm>
            <a:off x="6278728" y="16002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4" name="a4_pill_text"/>
          <p:cNvSpPr txBox="1"/>
          <p:nvPr/>
        </p:nvSpPr>
        <p:spPr>
          <a:xfrm>
            <a:off x="6278728" y="1600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muted</a:t>
            </a:r>
            <a:endParaRPr lang="en-US" sz="1800" dirty="0"/>
          </a:p>
        </p:txBody>
      </p:sp>
      <p:sp>
        <p:nvSpPr>
          <p:cNvPr id="15" name="a4_desc"/>
          <p:cNvSpPr txBox="1"/>
          <p:nvPr/>
        </p:nvSpPr>
        <p:spPr>
          <a:xfrm>
            <a:off x="8610448" y="15636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without sound</a:t>
            </a:r>
            <a:endParaRPr lang="en-US" sz="1800" dirty="0"/>
          </a:p>
        </p:txBody>
      </p:sp>
      <p:sp>
        <p:nvSpPr>
          <p:cNvPr id="16" name="a5_pill"/>
          <p:cNvSpPr/>
          <p:nvPr/>
        </p:nvSpPr>
        <p:spPr>
          <a:xfrm>
            <a:off x="6278728" y="25146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7" name="a5_pill_text"/>
          <p:cNvSpPr txBox="1"/>
          <p:nvPr/>
        </p:nvSpPr>
        <p:spPr>
          <a:xfrm>
            <a:off x="6278728" y="2514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</a:t>
            </a:r>
            <a:endParaRPr lang="en-US" sz="1800" dirty="0"/>
          </a:p>
        </p:txBody>
      </p:sp>
      <p:sp>
        <p:nvSpPr>
          <p:cNvPr id="18" name="a5_desc"/>
          <p:cNvSpPr txBox="1"/>
          <p:nvPr/>
        </p:nvSpPr>
        <p:spPr>
          <a:xfrm>
            <a:off x="8610448" y="24780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shown before play</a:t>
            </a:r>
            <a:endParaRPr lang="en-US" sz="1800" dirty="0"/>
          </a:p>
        </p:txBody>
      </p:sp>
      <p:sp>
        <p:nvSpPr>
          <p:cNvPr id="19" name="a6_pill"/>
          <p:cNvSpPr/>
          <p:nvPr/>
        </p:nvSpPr>
        <p:spPr>
          <a:xfrm>
            <a:off x="6278728" y="34290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0" name="a6_pill_text"/>
          <p:cNvSpPr txBox="1"/>
          <p:nvPr/>
        </p:nvSpPr>
        <p:spPr>
          <a:xfrm>
            <a:off x="6278728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800" dirty="0"/>
          </a:p>
        </p:txBody>
      </p:sp>
      <p:sp>
        <p:nvSpPr>
          <p:cNvPr id="21" name="a6_desc"/>
          <p:cNvSpPr txBox="1"/>
          <p:nvPr/>
        </p:nvSpPr>
        <p:spPr>
          <a:xfrm>
            <a:off x="8610448" y="33924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player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Smarter links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Email, new tabs and embedded pages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روابط أذكى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More things a link can do</a:t>
            </a:r>
            <a:endParaRPr lang="en-US" sz="3600" dirty="0"/>
          </a:p>
        </p:txBody>
      </p:sp>
      <p:sp>
        <p:nvSpPr>
          <p:cNvPr id="4" name="a1_tile"/>
          <p:cNvSpPr/>
          <p:nvPr/>
        </p:nvSpPr>
        <p:spPr>
          <a:xfrm>
            <a:off x="548640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tile_code"/>
          <p:cNvSpPr txBox="1"/>
          <p:nvPr/>
        </p:nvSpPr>
        <p:spPr>
          <a:xfrm>
            <a:off x="731520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mailto:</a:t>
            </a:r>
            <a:endParaRPr lang="en-US" sz="2000" dirty="0"/>
          </a:p>
        </p:txBody>
      </p:sp>
      <p:sp>
        <p:nvSpPr>
          <p:cNvPr id="6" name="a1_tile_head"/>
          <p:cNvSpPr txBox="1"/>
          <p:nvPr/>
        </p:nvSpPr>
        <p:spPr>
          <a:xfrm>
            <a:off x="731520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</a:t>
            </a:r>
            <a:endParaRPr lang="en-US" sz="1900" dirty="0"/>
          </a:p>
        </p:txBody>
      </p:sp>
      <p:sp>
        <p:nvSpPr>
          <p:cNvPr id="7" name="a1_tile_body"/>
          <p:cNvSpPr txBox="1"/>
          <p:nvPr/>
        </p:nvSpPr>
        <p:spPr>
          <a:xfrm>
            <a:off x="731520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email program with the address filled in.</a:t>
            </a:r>
            <a:endParaRPr lang="en-US" sz="1500" dirty="0"/>
          </a:p>
        </p:txBody>
      </p:sp>
      <p:sp>
        <p:nvSpPr>
          <p:cNvPr id="8" name="a2_tile"/>
          <p:cNvSpPr/>
          <p:nvPr/>
        </p:nvSpPr>
        <p:spPr>
          <a:xfrm>
            <a:off x="3379394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2_tile_code"/>
          <p:cNvSpPr txBox="1"/>
          <p:nvPr/>
        </p:nvSpPr>
        <p:spPr>
          <a:xfrm>
            <a:off x="3562274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tel:</a:t>
            </a:r>
            <a:endParaRPr lang="en-US" sz="2000" dirty="0"/>
          </a:p>
        </p:txBody>
      </p:sp>
      <p:sp>
        <p:nvSpPr>
          <p:cNvPr id="10" name="a2_tile_head"/>
          <p:cNvSpPr txBox="1"/>
          <p:nvPr/>
        </p:nvSpPr>
        <p:spPr>
          <a:xfrm>
            <a:off x="3562274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link</a:t>
            </a:r>
            <a:endParaRPr lang="en-US" sz="1900" dirty="0"/>
          </a:p>
        </p:txBody>
      </p:sp>
      <p:sp>
        <p:nvSpPr>
          <p:cNvPr id="11" name="a2_tile_body"/>
          <p:cNvSpPr txBox="1"/>
          <p:nvPr/>
        </p:nvSpPr>
        <p:spPr>
          <a:xfrm>
            <a:off x="3562274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phone, tapping it starts a call.</a:t>
            </a:r>
            <a:endParaRPr lang="en-US" sz="1500" dirty="0"/>
          </a:p>
        </p:txBody>
      </p:sp>
      <p:sp>
        <p:nvSpPr>
          <p:cNvPr id="12" name="a3_tile"/>
          <p:cNvSpPr/>
          <p:nvPr/>
        </p:nvSpPr>
        <p:spPr>
          <a:xfrm>
            <a:off x="6210148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a3_tile_code"/>
          <p:cNvSpPr txBox="1"/>
          <p:nvPr/>
        </p:nvSpPr>
        <p:spPr>
          <a:xfrm>
            <a:off x="6393028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_blank</a:t>
            </a:r>
            <a:endParaRPr lang="en-US" sz="2000" dirty="0"/>
          </a:p>
        </p:txBody>
      </p:sp>
      <p:sp>
        <p:nvSpPr>
          <p:cNvPr id="14" name="a3_tile_head"/>
          <p:cNvSpPr txBox="1"/>
          <p:nvPr/>
        </p:nvSpPr>
        <p:spPr>
          <a:xfrm>
            <a:off x="6393028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</a:t>
            </a:r>
            <a:endParaRPr lang="en-US" sz="1900" dirty="0"/>
          </a:p>
        </p:txBody>
      </p:sp>
      <p:sp>
        <p:nvSpPr>
          <p:cNvPr id="15" name="a3_tile_body"/>
          <p:cNvSpPr txBox="1"/>
          <p:nvPr/>
        </p:nvSpPr>
        <p:spPr>
          <a:xfrm>
            <a:off x="6393028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target="_blank" to open the link in a new tab.</a:t>
            </a:r>
            <a:endParaRPr lang="en-US" sz="1500" dirty="0"/>
          </a:p>
        </p:txBody>
      </p:sp>
      <p:sp>
        <p:nvSpPr>
          <p:cNvPr id="16" name="a4_tile"/>
          <p:cNvSpPr/>
          <p:nvPr/>
        </p:nvSpPr>
        <p:spPr>
          <a:xfrm>
            <a:off x="9040901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4_tile_code"/>
          <p:cNvSpPr txBox="1"/>
          <p:nvPr/>
        </p:nvSpPr>
        <p:spPr>
          <a:xfrm>
            <a:off x="9223781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endParaRPr lang="en-US" sz="2000" dirty="0"/>
          </a:p>
        </p:txBody>
      </p:sp>
      <p:sp>
        <p:nvSpPr>
          <p:cNvPr id="18" name="a4_tile_head"/>
          <p:cNvSpPr txBox="1"/>
          <p:nvPr/>
        </p:nvSpPr>
        <p:spPr>
          <a:xfrm>
            <a:off x="9223781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link</a:t>
            </a:r>
            <a:endParaRPr lang="en-US" sz="1900" dirty="0"/>
          </a:p>
        </p:txBody>
      </p:sp>
      <p:sp>
        <p:nvSpPr>
          <p:cNvPr id="19" name="a4_tile_body"/>
          <p:cNvSpPr txBox="1"/>
          <p:nvPr/>
        </p:nvSpPr>
        <p:spPr>
          <a:xfrm>
            <a:off x="9223781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to the element with that id on the same page.</a:t>
            </a:r>
            <a:endParaRPr lang="en-US" sz="1500" dirty="0"/>
          </a:p>
        </p:txBody>
      </p:sp>
      <p:sp>
        <p:nvSpPr>
          <p:cNvPr id="20" name="a5_code"/>
          <p:cNvSpPr/>
          <p:nvPr/>
        </p:nvSpPr>
        <p:spPr>
          <a:xfrm>
            <a:off x="548640" y="4297680"/>
            <a:ext cx="7498080" cy="1609344"/>
          </a:xfrm>
          <a:prstGeom prst="roundRect">
            <a:avLst>
              <a:gd name="adj" fmla="val 795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5_code_dot"/>
          <p:cNvSpPr/>
          <p:nvPr/>
        </p:nvSpPr>
        <p:spPr>
          <a:xfrm>
            <a:off x="804672" y="45171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a5_code_dot"/>
          <p:cNvSpPr/>
          <p:nvPr/>
        </p:nvSpPr>
        <p:spPr>
          <a:xfrm>
            <a:off x="1042416" y="45171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a5_code_dot"/>
          <p:cNvSpPr/>
          <p:nvPr/>
        </p:nvSpPr>
        <p:spPr>
          <a:xfrm>
            <a:off x="1280160" y="45171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a5_code_file"/>
          <p:cNvSpPr txBox="1"/>
          <p:nvPr/>
        </p:nvSpPr>
        <p:spPr>
          <a:xfrm>
            <a:off x="1645920" y="44439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5" name="a5_code_text"/>
          <p:cNvSpPr txBox="1"/>
          <p:nvPr/>
        </p:nvSpPr>
        <p:spPr>
          <a:xfrm>
            <a:off x="841248" y="4892040"/>
            <a:ext cx="7040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"mailto:hello@school.eg"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26" name="a6_result"/>
          <p:cNvSpPr/>
          <p:nvPr/>
        </p:nvSpPr>
        <p:spPr>
          <a:xfrm>
            <a:off x="8321040" y="4297680"/>
            <a:ext cx="3322015" cy="1609344"/>
          </a:xfrm>
          <a:prstGeom prst="roundRect">
            <a:avLst>
              <a:gd name="adj" fmla="val 7955"/>
            </a:avLst>
          </a:prstGeom>
          <a:solidFill>
            <a:schemeClr val="bg2"/>
          </a:solidFill>
          <a:ln/>
        </p:spPr>
      </p:sp>
      <p:sp>
        <p:nvSpPr>
          <p:cNvPr id="27" name="a6_result_label"/>
          <p:cNvSpPr txBox="1"/>
          <p:nvPr/>
        </p:nvSpPr>
        <p:spPr>
          <a:xfrm>
            <a:off x="85496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8" name="a6_result_text"/>
          <p:cNvSpPr txBox="1"/>
          <p:nvPr/>
        </p:nvSpPr>
        <p:spPr>
          <a:xfrm>
            <a:off x="8549640" y="4754880"/>
            <a:ext cx="286481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Embedding another page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3108960"/>
          </a:xfrm>
          <a:prstGeom prst="roundRect">
            <a:avLst>
              <a:gd name="adj" fmla="val 41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"https://example.com/map"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"400"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"300"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 of Cairo"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&lt;/iframe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10" name="a3_chip"/>
          <p:cNvSpPr/>
          <p:nvPr/>
        </p:nvSpPr>
        <p:spPr>
          <a:xfrm>
            <a:off x="6675120" y="155448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1" name="a3_chip_text"/>
          <p:cNvSpPr txBox="1"/>
          <p:nvPr/>
        </p:nvSpPr>
        <p:spPr>
          <a:xfrm>
            <a:off x="667512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</a:t>
            </a:r>
            <a:endParaRPr lang="en-US" sz="1500" dirty="0"/>
          </a:p>
        </p:txBody>
      </p:sp>
      <p:sp>
        <p:nvSpPr>
          <p:cNvPr id="12" name="a3_chip_desc"/>
          <p:cNvSpPr txBox="1"/>
          <p:nvPr/>
        </p:nvSpPr>
        <p:spPr>
          <a:xfrm>
            <a:off x="8229600" y="155448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that shows another web page inside yours</a:t>
            </a:r>
            <a:endParaRPr lang="en-US" sz="1800" dirty="0"/>
          </a:p>
        </p:txBody>
      </p:sp>
      <p:sp>
        <p:nvSpPr>
          <p:cNvPr id="13" name="a4_chip"/>
          <p:cNvSpPr/>
          <p:nvPr/>
        </p:nvSpPr>
        <p:spPr>
          <a:xfrm>
            <a:off x="6675120" y="2450592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a4_chip_text"/>
          <p:cNvSpPr txBox="1"/>
          <p:nvPr/>
        </p:nvSpPr>
        <p:spPr>
          <a:xfrm>
            <a:off x="6675120" y="24505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500" dirty="0"/>
          </a:p>
        </p:txBody>
      </p:sp>
      <p:sp>
        <p:nvSpPr>
          <p:cNvPr id="15" name="a4_chip_desc"/>
          <p:cNvSpPr txBox="1"/>
          <p:nvPr/>
        </p:nvSpPr>
        <p:spPr>
          <a:xfrm>
            <a:off x="8229600" y="2450592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window for screen readers</a:t>
            </a:r>
            <a:endParaRPr lang="en-US" sz="1800" dirty="0"/>
          </a:p>
        </p:txBody>
      </p:sp>
      <p:sp>
        <p:nvSpPr>
          <p:cNvPr id="16" name="a5_chip"/>
          <p:cNvSpPr/>
          <p:nvPr/>
        </p:nvSpPr>
        <p:spPr>
          <a:xfrm>
            <a:off x="6675120" y="3346704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17" name="a5_chip_text"/>
          <p:cNvSpPr txBox="1"/>
          <p:nvPr/>
        </p:nvSpPr>
        <p:spPr>
          <a:xfrm>
            <a:off x="6675120" y="3346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</a:t>
            </a:r>
            <a:endParaRPr lang="en-US" sz="1500" dirty="0"/>
          </a:p>
        </p:txBody>
      </p:sp>
      <p:sp>
        <p:nvSpPr>
          <p:cNvPr id="18" name="a5_chip_desc"/>
          <p:cNvSpPr txBox="1"/>
          <p:nvPr/>
        </p:nvSpPr>
        <p:spPr>
          <a:xfrm>
            <a:off x="8229600" y="3346704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embed websites you trust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Staying safe and fair online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links</a:t>
            </a:r>
            <a:endParaRPr lang="en-US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address what you expect? Do not click strange links.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3699434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633" y="214243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3699434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privacy</a:t>
            </a:r>
            <a:endParaRPr lang="en-US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3699434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publish phone numbers, addresses or photos of others.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6530188" y="192024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387" y="214243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6530188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copyright</a:t>
            </a:r>
            <a:endParaRPr lang="en-US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6530188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pictures or free ones, and say where they came from.</a:t>
            </a:r>
            <a:endParaRPr lang="en-US" sz="1600" dirty="0"/>
          </a:p>
        </p:txBody>
      </p:sp>
      <p:sp>
        <p:nvSpPr>
          <p:cNvPr id="19" name="a4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9360941" y="19202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141" y="214243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9360941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kind</a:t>
            </a:r>
            <a:endParaRPr lang="en-US" sz="2200" dirty="0"/>
          </a:p>
        </p:txBody>
      </p:sp>
      <p:sp>
        <p:nvSpPr>
          <p:cNvPr id="23" name="a4_body"/>
          <p:cNvSpPr txBox="1"/>
          <p:nvPr/>
        </p:nvSpPr>
        <p:spPr>
          <a:xfrm>
            <a:off x="9360941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things you would be happy to say to a classmate's face.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Get the head ready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6583680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"viewport"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"width=device-width, initial-scale=1"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"Visit Luxor"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Luxor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"icon"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"logo.png"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a3_chip"/>
          <p:cNvSpPr/>
          <p:nvPr/>
        </p:nvSpPr>
        <p:spPr>
          <a:xfrm>
            <a:off x="7406640" y="155448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1" name="a3_chip_text"/>
          <p:cNvSpPr txBox="1"/>
          <p:nvPr/>
        </p:nvSpPr>
        <p:spPr>
          <a:xfrm>
            <a:off x="740664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endParaRPr lang="en-US" sz="1500" dirty="0"/>
          </a:p>
        </p:txBody>
      </p:sp>
      <p:sp>
        <p:nvSpPr>
          <p:cNvPr id="12" name="a3_chip_desc"/>
          <p:cNvSpPr txBox="1"/>
          <p:nvPr/>
        </p:nvSpPr>
        <p:spPr>
          <a:xfrm>
            <a:off x="9052560" y="155448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letters correctly</a:t>
            </a:r>
            <a:endParaRPr lang="en-US" sz="1800" dirty="0"/>
          </a:p>
        </p:txBody>
      </p:sp>
      <p:sp>
        <p:nvSpPr>
          <p:cNvPr id="13" name="a4_chip"/>
          <p:cNvSpPr/>
          <p:nvPr/>
        </p:nvSpPr>
        <p:spPr>
          <a:xfrm>
            <a:off x="7406640" y="2450592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a4_chip_text"/>
          <p:cNvSpPr txBox="1"/>
          <p:nvPr/>
        </p:nvSpPr>
        <p:spPr>
          <a:xfrm>
            <a:off x="7406640" y="2450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</a:t>
            </a:r>
            <a:endParaRPr lang="en-US" sz="1500" dirty="0"/>
          </a:p>
        </p:txBody>
      </p:sp>
      <p:sp>
        <p:nvSpPr>
          <p:cNvPr id="15" name="a4_chip_desc"/>
          <p:cNvSpPr txBox="1"/>
          <p:nvPr/>
        </p:nvSpPr>
        <p:spPr>
          <a:xfrm>
            <a:off x="9052560" y="2450592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page to phone screens</a:t>
            </a:r>
            <a:endParaRPr lang="en-US" sz="1800" dirty="0"/>
          </a:p>
        </p:txBody>
      </p:sp>
      <p:sp>
        <p:nvSpPr>
          <p:cNvPr id="16" name="a5_chip"/>
          <p:cNvSpPr/>
          <p:nvPr/>
        </p:nvSpPr>
        <p:spPr>
          <a:xfrm>
            <a:off x="7406640" y="3346704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7" name="a5_chip_text"/>
          <p:cNvSpPr txBox="1"/>
          <p:nvPr/>
        </p:nvSpPr>
        <p:spPr>
          <a:xfrm>
            <a:off x="7406640" y="33467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18" name="a5_chip_desc"/>
          <p:cNvSpPr txBox="1"/>
          <p:nvPr/>
        </p:nvSpPr>
        <p:spPr>
          <a:xfrm>
            <a:off x="9052560" y="3346704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shown in search results</a:t>
            </a:r>
            <a:endParaRPr lang="en-US" sz="1800" dirty="0"/>
          </a:p>
        </p:txBody>
      </p:sp>
      <p:sp>
        <p:nvSpPr>
          <p:cNvPr id="19" name="a6_chip"/>
          <p:cNvSpPr/>
          <p:nvPr/>
        </p:nvSpPr>
        <p:spPr>
          <a:xfrm>
            <a:off x="7406640" y="4242816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0" name="a6_chip_text"/>
          <p:cNvSpPr txBox="1"/>
          <p:nvPr/>
        </p:nvSpPr>
        <p:spPr>
          <a:xfrm>
            <a:off x="7406640" y="42428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endParaRPr lang="en-US" sz="1500" dirty="0"/>
          </a:p>
        </p:txBody>
      </p:sp>
      <p:sp>
        <p:nvSpPr>
          <p:cNvPr id="21" name="a6_chip_desc"/>
          <p:cNvSpPr txBox="1"/>
          <p:nvPr/>
        </p:nvSpPr>
        <p:spPr>
          <a:xfrm>
            <a:off x="9052560" y="4242816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logo on the browser tab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3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5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attribute opens a link in a NEW tab?</a:t>
            </a:r>
            <a:endParaRPr lang="en-US" sz="2600" dirty="0"/>
          </a:p>
        </p:txBody>
      </p:sp>
      <p:sp>
        <p:nvSpPr>
          <p:cNvPr id="6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7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href="new"</a:t>
            </a:r>
            <a:endParaRPr lang="en-US" sz="2000" dirty="0"/>
          </a:p>
        </p:txBody>
      </p:sp>
      <p:sp>
        <p:nvSpPr>
          <p:cNvPr id="10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1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target="_blank"</a:t>
            </a:r>
            <a:endParaRPr lang="en-US" sz="2000" dirty="0"/>
          </a:p>
        </p:txBody>
      </p:sp>
      <p:sp>
        <p:nvSpPr>
          <p:cNvPr id="14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5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rel="tab"</a:t>
            </a:r>
            <a:endParaRPr lang="en-US" sz="2000" dirty="0"/>
          </a:p>
        </p:txBody>
      </p:sp>
      <p:sp>
        <p:nvSpPr>
          <p:cNvPr id="18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9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1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open="true"</a:t>
            </a:r>
            <a:endParaRPr lang="en-US" sz="2000" dirty="0"/>
          </a:p>
        </p:txBody>
      </p:sp>
      <p:sp>
        <p:nvSpPr>
          <p:cNvPr id="22" name="k1_answer_ring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3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5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tells the browser to use a new tab.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turn: a media gallery page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title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h1 and a short paragraph about your topic.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video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with controls and a sensible width.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links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link and one that opens in a new tab.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head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viewport, description and title.</a:t>
            </a:r>
            <a:endParaRPr lang="en-US" sz="2100" dirty="0"/>
          </a:p>
        </p:txBody>
      </p:sp>
      <p:sp>
        <p:nvSpPr>
          <p:cNvPr id="16" name="a5_browser"/>
          <p:cNvSpPr/>
          <p:nvPr/>
        </p:nvSpPr>
        <p:spPr>
          <a:xfrm>
            <a:off x="6812280" y="1600200"/>
            <a:ext cx="4828032" cy="3383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5_browser_bar"/>
          <p:cNvSpPr/>
          <p:nvPr/>
        </p:nvSpPr>
        <p:spPr>
          <a:xfrm>
            <a:off x="6812280" y="1600200"/>
            <a:ext cx="4828032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a5_browser_dot"/>
          <p:cNvSpPr/>
          <p:nvPr/>
        </p:nvSpPr>
        <p:spPr>
          <a:xfrm>
            <a:off x="7013448" y="174650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a5_browser_dot"/>
          <p:cNvSpPr/>
          <p:nvPr/>
        </p:nvSpPr>
        <p:spPr>
          <a:xfrm>
            <a:off x="7232904" y="174650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a5_browser_dot"/>
          <p:cNvSpPr/>
          <p:nvPr/>
        </p:nvSpPr>
        <p:spPr>
          <a:xfrm>
            <a:off x="7452360" y="174650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a5_browser_url"/>
          <p:cNvSpPr/>
          <p:nvPr/>
        </p:nvSpPr>
        <p:spPr>
          <a:xfrm>
            <a:off x="7772400" y="1673352"/>
            <a:ext cx="3593592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2" name="a5_browser_urltext"/>
          <p:cNvSpPr txBox="1"/>
          <p:nvPr/>
        </p:nvSpPr>
        <p:spPr>
          <a:xfrm>
            <a:off x="7909560" y="16733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gallery.html</a:t>
            </a:r>
            <a:endParaRPr lang="en-US" sz="1200" dirty="0"/>
          </a:p>
        </p:txBody>
      </p:sp>
      <p:sp>
        <p:nvSpPr>
          <p:cNvPr id="23" name="a5_browser_content"/>
          <p:cNvSpPr txBox="1"/>
          <p:nvPr/>
        </p:nvSpPr>
        <p:spPr>
          <a:xfrm>
            <a:off x="7132320" y="2221992"/>
            <a:ext cx="41879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Gallery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from our school trip.</a:t>
            </a:r>
            <a:endParaRPr lang="en-US" sz="2600" dirty="0"/>
          </a:p>
          <a:p>
            <a:pPr indent="0" marL="0">
              <a:buNone/>
            </a:pPr>
            <a:r>
              <a:rPr lang="en-US" sz="1600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teacher</a:t>
            </a:r>
            <a:endParaRPr lang="en-US" sz="2600" dirty="0"/>
          </a:p>
          <a:p>
            <a:pPr indent="0" marL="0">
              <a:buNone/>
            </a:pPr>
            <a:r>
              <a:rPr lang="en-US" sz="1600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Egypt (new tab)</a:t>
            </a:r>
            <a:endParaRPr lang="en-US" sz="2600" dirty="0"/>
          </a:p>
        </p:txBody>
      </p:sp>
      <p:sp>
        <p:nvSpPr>
          <p:cNvPr id="24" name="a6_timer"/>
          <p:cNvSpPr/>
          <p:nvPr/>
        </p:nvSpPr>
        <p:spPr>
          <a:xfrm>
            <a:off x="6812280" y="5257800"/>
            <a:ext cx="4828032" cy="594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5" name="a6_timer_i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5413248"/>
            <a:ext cx="274320" cy="274320"/>
          </a:xfrm>
          <a:prstGeom prst="rect">
            <a:avLst/>
          </a:prstGeom>
        </p:spPr>
      </p:pic>
      <p:sp>
        <p:nvSpPr>
          <p:cNvPr id="26" name="a6_timer_text"/>
          <p:cNvSpPr txBox="1"/>
          <p:nvPr/>
        </p:nvSpPr>
        <p:spPr>
          <a:xfrm>
            <a:off x="758952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4" name="a1_ico_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2344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audio with controls play media.</a:t>
            </a:r>
            <a:endParaRPr lang="en-US" sz="2000" dirty="0"/>
          </a:p>
        </p:txBody>
      </p:sp>
      <p:pic>
        <p:nvPicPr>
          <p:cNvPr id="6" name="a2_ico_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457200" cy="457200"/>
          </a:xfrm>
          <a:prstGeom prst="rect">
            <a:avLst/>
          </a:prstGeom>
        </p:spPr>
      </p:pic>
      <p:sp>
        <p:nvSpPr>
          <p:cNvPr id="7" name="a2_text"/>
          <p:cNvSpPr txBox="1"/>
          <p:nvPr/>
        </p:nvSpPr>
        <p:spPr>
          <a:xfrm>
            <a:off x="123444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mailto:, tel: and target="_blank" make smarter links.</a:t>
            </a:r>
            <a:endParaRPr lang="en-US" sz="2000" dirty="0"/>
          </a:p>
        </p:txBody>
      </p:sp>
      <p:pic>
        <p:nvPicPr>
          <p:cNvPr id="8" name="a3_ico_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9" name="a3_text"/>
          <p:cNvSpPr txBox="1"/>
          <p:nvPr/>
        </p:nvSpPr>
        <p:spPr>
          <a:xfrm>
            <a:off x="1234440" y="3337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embeds a trusted page such as a map.</a:t>
            </a:r>
            <a:endParaRPr lang="en-US" sz="2000" dirty="0"/>
          </a:p>
        </p:txBody>
      </p:sp>
      <p:pic>
        <p:nvPicPr>
          <p:cNvPr id="10" name="a4_ico_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11" name="a4_text"/>
          <p:cNvSpPr txBox="1"/>
          <p:nvPr/>
        </p:nvSpPr>
        <p:spPr>
          <a:xfrm>
            <a:off x="1234440" y="4206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head: charset, viewport, description, title, icon.</a:t>
            </a:r>
            <a:endParaRPr lang="en-US" sz="2000" dirty="0"/>
          </a:p>
        </p:txBody>
      </p:sp>
      <p:pic>
        <p:nvPicPr>
          <p:cNvPr id="12" name="a5_ico_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38928"/>
            <a:ext cx="457200" cy="457200"/>
          </a:xfrm>
          <a:prstGeom prst="rect">
            <a:avLst/>
          </a:prstGeom>
        </p:spPr>
      </p:pic>
      <p:sp>
        <p:nvSpPr>
          <p:cNvPr id="13" name="a5_text"/>
          <p:cNvSpPr txBox="1"/>
          <p:nvPr/>
        </p:nvSpPr>
        <p:spPr>
          <a:xfrm>
            <a:off x="123444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 and respect copyright.</a:t>
            </a:r>
            <a:endParaRPr lang="en-US" sz="2000" dirty="0"/>
          </a:p>
        </p:txBody>
      </p:sp>
      <p:sp>
        <p:nvSpPr>
          <p:cNvPr id="14" name="a6_hw"/>
          <p:cNvSpPr/>
          <p:nvPr/>
        </p:nvSpPr>
        <p:spPr>
          <a:xfrm>
            <a:off x="8229600" y="1600200"/>
            <a:ext cx="3410712" cy="4343400"/>
          </a:xfrm>
          <a:prstGeom prst="roundRect">
            <a:avLst>
              <a:gd name="adj" fmla="val 53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5" name="a6_ico_h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920240"/>
            <a:ext cx="731520" cy="731520"/>
          </a:xfrm>
          <a:prstGeom prst="rect">
            <a:avLst/>
          </a:prstGeom>
        </p:spPr>
      </p:pic>
      <p:sp>
        <p:nvSpPr>
          <p:cNvPr id="16" name="a6_hw_label"/>
          <p:cNvSpPr txBox="1"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17" name="a6_hw_text"/>
          <p:cNvSpPr txBox="1"/>
          <p:nvPr/>
        </p:nvSpPr>
        <p:spPr>
          <a:xfrm>
            <a:off x="859536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tel: link and a map iframe to your site, then test it on a phone.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Nile Code">
  <a:themeElements>
    <a:clrScheme name="Nile Code">
      <a:dk1>
        <a:srgbClr val="0B1B2E"/>
      </a:dk1>
      <a:lt1>
        <a:srgbClr val="FFFFFF"/>
      </a:lt1>
      <a:dk2>
        <a:srgbClr val="0F5F5A"/>
      </a:dk2>
      <a:lt2>
        <a:srgbClr val="E8F0EF"/>
      </a:lt2>
      <a:accent1>
        <a:srgbClr val="14B8A6"/>
      </a:accent1>
      <a:accent2>
        <a:srgbClr val="F5B301"/>
      </a:accent2>
      <a:accent3>
        <a:srgbClr val="FF6B4A"/>
      </a:accent3>
      <a:accent4>
        <a:srgbClr val="8C92FF"/>
      </a:accent4>
      <a:accent5>
        <a:srgbClr val="4ADE80"/>
      </a:accent5>
      <a:accent6>
        <a:srgbClr val="38BDF8"/>
      </a:accent6>
      <a:hlink>
        <a:srgbClr val="0F5F5A"/>
      </a:hlink>
      <a:folHlink>
        <a:srgbClr val="8C92FF"/>
      </a:folHlink>
    </a:clrScheme>
    <a:fontScheme name="Nile Co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Fundamentals - Lesson 5: Media &amp; Smarter Links</dc:title>
  <dc:subject>HTML for school students</dc:subject>
  <dc:creator>HTML Fundamentals Course</dc:creator>
  <cp:lastModifiedBy>HTML Fundamentals Course</cp:lastModifiedBy>
  <cp:revision>1</cp:revision>
  <dcterms:created xsi:type="dcterms:W3CDTF">2026-10-04T23:25:00Z</dcterms:created>
  <dcterms:modified xsi:type="dcterms:W3CDTF">2026-10-04T23:25:00Z</dcterms:modified>
</cp:coreProperties>
</file>