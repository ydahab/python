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7a7ecbc-7ce3-3c8d-9b96-52bf1a978437}">
          <p14:sldIdLst>
            <p14:sldId id="256"/>
            <p14:sldId id="257"/>
          </p14:sldIdLst>
        </p14:section>
        <p14:section name="Plan" id="{fd3ab011-1288-cc51-721d-6e0e81e5c8fd}">
          <p14:sldIdLst>
            <p14:sldId id="258"/>
            <p14:sldId id="259"/>
            <p14:sldId id="260"/>
            <p14:sldId id="261"/>
          </p14:sldIdLst>
        </p14:section>
        <p14:section name="Build" id="{80955a26-ef7f-8f56-5df6-0e5cd220dd0a}">
          <p14:sldIdLst>
            <p14:sldId id="262"/>
            <p14:sldId id="263"/>
            <p14:sldId id="264"/>
            <p14:sldId id="265"/>
          </p14:sldIdLst>
        </p14:section>
        <p14:section name="Publish" id="{e07ae59a-428a-8a7b-6435-ea9159134302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how far the class has come. Today everything comes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up while students choose a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may choose their own topic with teacher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lowercase names without spaces. Servers are case-sensitive.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Copy-paste is fine at this stage. Professionals later learn to avoid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accessibility helps students with visual impairment and everyone using a slow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swap laptops for a peer review using this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publishing is not allowed at school, keep the site on the lab server and present it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rubric at the start of the lesson so students can aim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certificates. Next course: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6: Capstone Project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Fundamentals  |  Lesson 6: Capstone Project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5_ico_sun"/>
          <p:cNvSpPr/>
          <p:nvPr/>
        </p:nvSpPr>
        <p:spPr>
          <a:xfrm>
            <a:off x="9966960" y="822960"/>
            <a:ext cx="1371600" cy="1371600"/>
          </a:xfrm>
          <a:prstGeom prst="ellipse">
            <a:avLst/>
          </a:prstGeom>
          <a:solidFill>
            <a:schemeClr val="accent2">
              <a:alpha val="90000"/>
            </a:schemeClr>
          </a:solidFill>
          <a:ln/>
        </p:spPr>
      </p:sp>
      <p:sp>
        <p:nvSpPr>
          <p:cNvPr id="4" name="a5_halo"/>
          <p:cNvSpPr/>
          <p:nvPr/>
        </p:nvSpPr>
        <p:spPr>
          <a:xfrm>
            <a:off x="8595360" y="-1097280"/>
            <a:ext cx="4206240" cy="42062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" name="a6_pyr1"/>
          <p:cNvSpPr/>
          <p:nvPr/>
        </p:nvSpPr>
        <p:spPr>
          <a:xfrm>
            <a:off x="7406640" y="4160520"/>
            <a:ext cx="2651760" cy="2240280"/>
          </a:xfrm>
          <a:prstGeom prst="triangle">
            <a:avLst/>
          </a:prstGeom>
          <a:solidFill>
            <a:schemeClr val="accent1">
              <a:alpha val="75000"/>
            </a:schemeClr>
          </a:solidFill>
          <a:ln/>
        </p:spPr>
      </p:sp>
      <p:sp>
        <p:nvSpPr>
          <p:cNvPr id="6" name="a6_pyr2"/>
          <p:cNvSpPr/>
          <p:nvPr/>
        </p:nvSpPr>
        <p:spPr>
          <a:xfrm>
            <a:off x="8869680" y="2743200"/>
            <a:ext cx="3017520" cy="365760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7" name="a6_pyr3"/>
          <p:cNvSpPr/>
          <p:nvPr/>
        </p:nvSpPr>
        <p:spPr>
          <a:xfrm>
            <a:off x="10561320" y="4709160"/>
            <a:ext cx="1371600" cy="1691640"/>
          </a:xfrm>
          <a:prstGeom prst="triangle">
            <a:avLst/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8" name="a1_pill"/>
          <p:cNvSpPr/>
          <p:nvPr/>
        </p:nvSpPr>
        <p:spPr>
          <a:xfrm>
            <a:off x="731520" y="1325880"/>
            <a:ext cx="2286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" name="a1_pill_text"/>
          <p:cNvSpPr txBox="1"/>
          <p:nvPr/>
        </p:nvSpPr>
        <p:spPr>
          <a:xfrm>
            <a:off x="73152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</a:t>
            </a:r>
            <a:endParaRPr lang="en-US" sz="1400" dirty="0"/>
          </a:p>
        </p:txBody>
      </p:sp>
      <p:sp>
        <p:nvSpPr>
          <p:cNvPr id="10" name="Text 0"/>
          <p:cNvSpPr/>
          <p:nvPr>
            <p:ph idx="100" type="title" hasCustomPrompt="1"/>
          </p:nvPr>
        </p:nvSpPr>
        <p:spPr>
          <a:xfrm>
            <a:off x="731520" y="20574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Capstone: Build &amp; Publish</a:t>
            </a:r>
            <a:endParaRPr lang="en-US" sz="5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731520" y="40233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Plan, build, check and share your own website</a:t>
            </a:r>
            <a:endParaRPr lang="en-US" sz="2200" dirty="0"/>
          </a:p>
        </p:txBody>
      </p:sp>
      <p:sp>
        <p:nvSpPr>
          <p:cNvPr id="12" name="a4_ar"/>
          <p:cNvSpPr txBox="1"/>
          <p:nvPr/>
        </p:nvSpPr>
        <p:spPr>
          <a:xfrm>
            <a:off x="731520" y="49834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2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الدرس السادس: ابنِ موقعك وانشره</a:t>
            </a:r>
            <a:endParaRPr lang="ar-EG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By the end of this lesson you will…</a:t>
            </a:r>
            <a:endParaRPr lang="en-US" sz="3600" dirty="0"/>
          </a:p>
        </p:txBody>
      </p:sp>
      <p:sp>
        <p:nvSpPr>
          <p:cNvPr id="3" name="a1_ico_bg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1810055"/>
            <a:ext cx="357530" cy="35753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600200" y="160020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multi-page website</a:t>
            </a:r>
            <a:endParaRPr lang="en-US" sz="2200" dirty="0"/>
          </a:p>
        </p:txBody>
      </p:sp>
      <p:sp>
        <p:nvSpPr>
          <p:cNvPr id="6" name="a2_ico_bg"/>
          <p:cNvSpPr/>
          <p:nvPr/>
        </p:nvSpPr>
        <p:spPr>
          <a:xfrm>
            <a:off x="548640" y="2679192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95" y="2889047"/>
            <a:ext cx="357530" cy="357530"/>
          </a:xfrm>
          <a:prstGeom prst="rect">
            <a:avLst/>
          </a:prstGeom>
        </p:spPr>
      </p:pic>
      <p:sp>
        <p:nvSpPr>
          <p:cNvPr id="8" name="a2_text"/>
          <p:cNvSpPr txBox="1"/>
          <p:nvPr/>
        </p:nvSpPr>
        <p:spPr>
          <a:xfrm>
            <a:off x="1600200" y="2679192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pages that share one menu</a:t>
            </a:r>
            <a:endParaRPr lang="en-US" sz="2200" dirty="0"/>
          </a:p>
        </p:txBody>
      </p:sp>
      <p:sp>
        <p:nvSpPr>
          <p:cNvPr id="9" name="a3_ico_bg"/>
          <p:cNvSpPr/>
          <p:nvPr/>
        </p:nvSpPr>
        <p:spPr>
          <a:xfrm>
            <a:off x="548640" y="3758184"/>
            <a:ext cx="777240" cy="7772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3968039"/>
            <a:ext cx="357530" cy="357530"/>
          </a:xfrm>
          <a:prstGeom prst="rect">
            <a:avLst/>
          </a:prstGeom>
        </p:spPr>
      </p:pic>
      <p:sp>
        <p:nvSpPr>
          <p:cNvPr id="11" name="a3_text"/>
          <p:cNvSpPr txBox="1"/>
          <p:nvPr/>
        </p:nvSpPr>
        <p:spPr>
          <a:xfrm>
            <a:off x="1600200" y="3758184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code for quality and accessibility</a:t>
            </a:r>
            <a:endParaRPr lang="en-US" sz="2200" dirty="0"/>
          </a:p>
        </p:txBody>
      </p:sp>
      <p:sp>
        <p:nvSpPr>
          <p:cNvPr id="12" name="a4_ico_bg"/>
          <p:cNvSpPr/>
          <p:nvPr/>
        </p:nvSpPr>
        <p:spPr>
          <a:xfrm>
            <a:off x="548640" y="4837176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5" y="5047031"/>
            <a:ext cx="357530" cy="357530"/>
          </a:xfrm>
          <a:prstGeom prst="rect">
            <a:avLst/>
          </a:prstGeom>
        </p:spPr>
      </p:pic>
      <p:sp>
        <p:nvSpPr>
          <p:cNvPr id="14" name="a4_text"/>
          <p:cNvSpPr txBox="1"/>
          <p:nvPr/>
        </p:nvSpPr>
        <p:spPr>
          <a:xfrm>
            <a:off x="1600200" y="4837176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site for others to see</a:t>
            </a:r>
            <a:endParaRPr lang="en-US" sz="2200" dirty="0"/>
          </a:p>
        </p:txBody>
      </p:sp>
      <p:sp>
        <p:nvSpPr>
          <p:cNvPr id="15" name="a5_panel"/>
          <p:cNvSpPr/>
          <p:nvPr/>
        </p:nvSpPr>
        <p:spPr>
          <a:xfrm>
            <a:off x="8503920" y="1600200"/>
            <a:ext cx="3136392" cy="4251960"/>
          </a:xfrm>
          <a:prstGeom prst="roundRect">
            <a:avLst>
              <a:gd name="adj" fmla="val 5831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6" name="a5_ico_pane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0344" y="2057400"/>
            <a:ext cx="914400" cy="914400"/>
          </a:xfrm>
          <a:prstGeom prst="rect">
            <a:avLst/>
          </a:prstGeom>
        </p:spPr>
      </p:pic>
      <p:sp>
        <p:nvSpPr>
          <p:cNvPr id="17" name="a5_panel_label"/>
          <p:cNvSpPr txBox="1"/>
          <p:nvPr/>
        </p:nvSpPr>
        <p:spPr>
          <a:xfrm>
            <a:off x="8823960" y="32461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</a:t>
            </a:r>
            <a:endParaRPr lang="en-US" sz="1400" dirty="0"/>
          </a:p>
        </p:txBody>
      </p:sp>
      <p:sp>
        <p:nvSpPr>
          <p:cNvPr id="18" name="a5_panel_text"/>
          <p:cNvSpPr txBox="1"/>
          <p:nvPr/>
        </p:nvSpPr>
        <p:spPr>
          <a:xfrm>
            <a:off x="8823960" y="3657600"/>
            <a:ext cx="2496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and present your website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Plan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Good websites start on paper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التخطيط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idea to website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175347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924" y="2100377"/>
            <a:ext cx="462686" cy="462686"/>
          </a:xfrm>
          <a:prstGeom prst="rect">
            <a:avLst/>
          </a:prstGeom>
        </p:spPr>
      </p:pic>
      <p:sp>
        <p:nvSpPr>
          <p:cNvPr id="7" name="a1_label"/>
          <p:cNvSpPr txBox="1"/>
          <p:nvPr/>
        </p:nvSpPr>
        <p:spPr>
          <a:xfrm>
            <a:off x="685800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</a:t>
            </a:r>
            <a:endParaRPr lang="en-US" sz="1800" dirty="0"/>
          </a:p>
        </p:txBody>
      </p:sp>
      <p:sp>
        <p:nvSpPr>
          <p:cNvPr id="8" name="a1_sub"/>
          <p:cNvSpPr txBox="1"/>
          <p:nvPr/>
        </p:nvSpPr>
        <p:spPr>
          <a:xfrm>
            <a:off x="731520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topic and sketch the pages</a:t>
            </a:r>
            <a:endParaRPr lang="en-US" sz="1600" dirty="0"/>
          </a:p>
        </p:txBody>
      </p:sp>
      <p:pic>
        <p:nvPicPr>
          <p:cNvPr id="9" name="a1_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42" y="2834640"/>
            <a:ext cx="365760" cy="365760"/>
          </a:xfrm>
          <a:prstGeom prst="rect">
            <a:avLst/>
          </a:prstGeom>
        </p:spPr>
      </p:pic>
      <p:sp>
        <p:nvSpPr>
          <p:cNvPr id="10" name="a2_card"/>
          <p:cNvSpPr/>
          <p:nvPr/>
        </p:nvSpPr>
        <p:spPr>
          <a:xfrm>
            <a:off x="3493694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11" name="a2_ico_bg"/>
          <p:cNvSpPr/>
          <p:nvPr/>
        </p:nvSpPr>
        <p:spPr>
          <a:xfrm>
            <a:off x="4120401" y="18288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2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78" y="2100377"/>
            <a:ext cx="462686" cy="462686"/>
          </a:xfrm>
          <a:prstGeom prst="rect">
            <a:avLst/>
          </a:prstGeom>
        </p:spPr>
      </p:pic>
      <p:sp>
        <p:nvSpPr>
          <p:cNvPr id="13" name="a2_label"/>
          <p:cNvSpPr txBox="1"/>
          <p:nvPr/>
        </p:nvSpPr>
        <p:spPr>
          <a:xfrm>
            <a:off x="3630854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</a:t>
            </a:r>
            <a:endParaRPr lang="en-US" sz="1800" dirty="0"/>
          </a:p>
        </p:txBody>
      </p:sp>
      <p:sp>
        <p:nvSpPr>
          <p:cNvPr id="14" name="a2_sub"/>
          <p:cNvSpPr txBox="1"/>
          <p:nvPr/>
        </p:nvSpPr>
        <p:spPr>
          <a:xfrm>
            <a:off x="3676574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HTML for every page</a:t>
            </a:r>
            <a:endParaRPr lang="en-US" sz="1600" dirty="0"/>
          </a:p>
        </p:txBody>
      </p:sp>
      <p:pic>
        <p:nvPicPr>
          <p:cNvPr id="15" name="a2_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396" y="2834640"/>
            <a:ext cx="365760" cy="365760"/>
          </a:xfrm>
          <a:prstGeom prst="rect">
            <a:avLst/>
          </a:prstGeom>
        </p:spPr>
      </p:pic>
      <p:sp>
        <p:nvSpPr>
          <p:cNvPr id="16" name="a3_card"/>
          <p:cNvSpPr/>
          <p:nvPr/>
        </p:nvSpPr>
        <p:spPr>
          <a:xfrm>
            <a:off x="6438748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17" name="a3_ico_bg"/>
          <p:cNvSpPr/>
          <p:nvPr/>
        </p:nvSpPr>
        <p:spPr>
          <a:xfrm>
            <a:off x="7065455" y="1828800"/>
            <a:ext cx="1005840" cy="10058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a3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031" y="2100377"/>
            <a:ext cx="462686" cy="462686"/>
          </a:xfrm>
          <a:prstGeom prst="rect">
            <a:avLst/>
          </a:prstGeom>
        </p:spPr>
      </p:pic>
      <p:sp>
        <p:nvSpPr>
          <p:cNvPr id="19" name="a3_label"/>
          <p:cNvSpPr txBox="1"/>
          <p:nvPr/>
        </p:nvSpPr>
        <p:spPr>
          <a:xfrm>
            <a:off x="6575908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</a:t>
            </a:r>
            <a:endParaRPr lang="en-US" sz="1800" dirty="0"/>
          </a:p>
        </p:txBody>
      </p:sp>
      <p:sp>
        <p:nvSpPr>
          <p:cNvPr id="20" name="a3_sub"/>
          <p:cNvSpPr txBox="1"/>
          <p:nvPr/>
        </p:nvSpPr>
        <p:spPr>
          <a:xfrm>
            <a:off x="6621628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links, images and code</a:t>
            </a:r>
            <a:endParaRPr lang="en-US" sz="1600" dirty="0"/>
          </a:p>
        </p:txBody>
      </p:sp>
      <p:pic>
        <p:nvPicPr>
          <p:cNvPr id="21" name="a3_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449" y="2834640"/>
            <a:ext cx="365760" cy="365760"/>
          </a:xfrm>
          <a:prstGeom prst="rect">
            <a:avLst/>
          </a:prstGeom>
        </p:spPr>
      </p:pic>
      <p:sp>
        <p:nvSpPr>
          <p:cNvPr id="22" name="a4_card"/>
          <p:cNvSpPr/>
          <p:nvPr/>
        </p:nvSpPr>
        <p:spPr>
          <a:xfrm>
            <a:off x="9383801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23" name="a4_ico_bg"/>
          <p:cNvSpPr/>
          <p:nvPr/>
        </p:nvSpPr>
        <p:spPr>
          <a:xfrm>
            <a:off x="10010508" y="18288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a4_ico_img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085" y="2100377"/>
            <a:ext cx="462686" cy="462686"/>
          </a:xfrm>
          <a:prstGeom prst="rect">
            <a:avLst/>
          </a:prstGeom>
        </p:spPr>
      </p:pic>
      <p:sp>
        <p:nvSpPr>
          <p:cNvPr id="25" name="a4_label"/>
          <p:cNvSpPr txBox="1"/>
          <p:nvPr/>
        </p:nvSpPr>
        <p:spPr>
          <a:xfrm>
            <a:off x="9520961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Publish</a:t>
            </a:r>
            <a:endParaRPr lang="en-US" sz="1800" dirty="0"/>
          </a:p>
        </p:txBody>
      </p:sp>
      <p:sp>
        <p:nvSpPr>
          <p:cNvPr id="26" name="a4_sub"/>
          <p:cNvSpPr txBox="1"/>
          <p:nvPr/>
        </p:nvSpPr>
        <p:spPr>
          <a:xfrm>
            <a:off x="9566681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so others can visit</a:t>
            </a:r>
            <a:endParaRPr lang="en-US" sz="1600" dirty="0"/>
          </a:p>
        </p:txBody>
      </p:sp>
      <p:sp>
        <p:nvSpPr>
          <p:cNvPr id="27" name="a5_note"/>
          <p:cNvSpPr/>
          <p:nvPr/>
        </p:nvSpPr>
        <p:spPr>
          <a:xfrm>
            <a:off x="548640" y="4983480"/>
            <a:ext cx="11094415" cy="9144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pic>
        <p:nvPicPr>
          <p:cNvPr id="28" name="a5_note_ic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57800"/>
            <a:ext cx="365760" cy="365760"/>
          </a:xfrm>
          <a:prstGeom prst="rect">
            <a:avLst/>
          </a:prstGeom>
        </p:spPr>
      </p:pic>
      <p:sp>
        <p:nvSpPr>
          <p:cNvPr id="29" name="a5_note_text"/>
          <p:cNvSpPr txBox="1"/>
          <p:nvPr/>
        </p:nvSpPr>
        <p:spPr>
          <a:xfrm>
            <a:off x="1463040" y="498348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repeat this cycle again and again. Check often, not only at the end!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Choose your topic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14243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School</a:t>
            </a:r>
            <a:endParaRPr lang="en-US" sz="24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1188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teachers (with permission), activities, a photo gallery and a contact form.</a:t>
            </a:r>
            <a:endParaRPr lang="en-US" sz="1700" dirty="0"/>
          </a:p>
        </p:txBody>
      </p:sp>
      <p:sp>
        <p:nvSpPr>
          <p:cNvPr id="9" name="a2_card"/>
          <p:cNvSpPr/>
          <p:nvPr/>
        </p:nvSpPr>
        <p:spPr>
          <a:xfrm>
            <a:off x="4338218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4658258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458" y="214243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4658258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Egypt</a:t>
            </a:r>
            <a:endParaRPr lang="en-US" sz="2400" dirty="0"/>
          </a:p>
        </p:txBody>
      </p:sp>
      <p:sp>
        <p:nvSpPr>
          <p:cNvPr id="13" name="a2_body"/>
          <p:cNvSpPr txBox="1"/>
          <p:nvPr/>
        </p:nvSpPr>
        <p:spPr>
          <a:xfrm>
            <a:off x="4658258" y="361188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Landmarks, a table of cities, a travel list and a map for each place.</a:t>
            </a:r>
            <a:endParaRPr lang="en-US" sz="1700" dirty="0"/>
          </a:p>
        </p:txBody>
      </p:sp>
      <p:sp>
        <p:nvSpPr>
          <p:cNvPr id="14" name="a3_card"/>
          <p:cNvSpPr/>
          <p:nvPr/>
        </p:nvSpPr>
        <p:spPr>
          <a:xfrm>
            <a:off x="8127797" y="1600200"/>
            <a:ext cx="3515258" cy="4297680"/>
          </a:xfrm>
          <a:prstGeom prst="roundRect">
            <a:avLst>
              <a:gd name="adj" fmla="val 4682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8447837" y="192024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0036" y="214243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8447837" y="297180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Passion</a:t>
            </a:r>
            <a:endParaRPr lang="en-US" sz="2400" dirty="0"/>
          </a:p>
        </p:txBody>
      </p:sp>
      <p:sp>
        <p:nvSpPr>
          <p:cNvPr id="18" name="a3_body"/>
          <p:cNvSpPr txBox="1"/>
          <p:nvPr/>
        </p:nvSpPr>
        <p:spPr>
          <a:xfrm>
            <a:off x="8447837" y="3611880"/>
            <a:ext cx="28751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Football, drawing, coding or cooking: share what you love with the world.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Plan your pages and files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4937760" cy="3108960"/>
          </a:xfrm>
          <a:prstGeom prst="roundRect">
            <a:avLst>
              <a:gd name="adj" fmla="val 41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 structure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4480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my-website/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about.html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gallery.html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contact.html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images/</a:t>
            </a:r>
            <a:endParaRPr lang="en-US" sz="1800" dirty="0"/>
          </a:p>
        </p:txBody>
      </p:sp>
      <p:sp>
        <p:nvSpPr>
          <p:cNvPr id="10" name="a3_chip"/>
          <p:cNvSpPr/>
          <p:nvPr/>
        </p:nvSpPr>
        <p:spPr>
          <a:xfrm>
            <a:off x="5760720" y="1554480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1" name="a3_chip_text"/>
          <p:cNvSpPr txBox="1"/>
          <p:nvPr/>
        </p:nvSpPr>
        <p:spPr>
          <a:xfrm>
            <a:off x="576072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500" dirty="0"/>
          </a:p>
        </p:txBody>
      </p:sp>
      <p:sp>
        <p:nvSpPr>
          <p:cNvPr id="12" name="a3_chip_desc"/>
          <p:cNvSpPr txBox="1"/>
          <p:nvPr/>
        </p:nvSpPr>
        <p:spPr>
          <a:xfrm>
            <a:off x="7315200" y="1554480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page: welcome and menu</a:t>
            </a:r>
            <a:endParaRPr lang="en-US" sz="1800" dirty="0"/>
          </a:p>
        </p:txBody>
      </p:sp>
      <p:sp>
        <p:nvSpPr>
          <p:cNvPr id="13" name="a4_chip"/>
          <p:cNvSpPr/>
          <p:nvPr/>
        </p:nvSpPr>
        <p:spPr>
          <a:xfrm>
            <a:off x="5760720" y="2450592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a4_chip_text"/>
          <p:cNvSpPr txBox="1"/>
          <p:nvPr/>
        </p:nvSpPr>
        <p:spPr>
          <a:xfrm>
            <a:off x="5760720" y="24505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</a:t>
            </a:r>
            <a:endParaRPr lang="en-US" sz="1500" dirty="0"/>
          </a:p>
        </p:txBody>
      </p:sp>
      <p:sp>
        <p:nvSpPr>
          <p:cNvPr id="15" name="a4_chip_desc"/>
          <p:cNvSpPr txBox="1"/>
          <p:nvPr/>
        </p:nvSpPr>
        <p:spPr>
          <a:xfrm>
            <a:off x="7315200" y="2450592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or what the site is about</a:t>
            </a:r>
            <a:endParaRPr lang="en-US" sz="1800" dirty="0"/>
          </a:p>
        </p:txBody>
      </p:sp>
      <p:sp>
        <p:nvSpPr>
          <p:cNvPr id="16" name="a5_chip"/>
          <p:cNvSpPr/>
          <p:nvPr/>
        </p:nvSpPr>
        <p:spPr>
          <a:xfrm>
            <a:off x="5760720" y="3346704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</p:sp>
      <p:sp>
        <p:nvSpPr>
          <p:cNvPr id="17" name="a5_chip_text"/>
          <p:cNvSpPr txBox="1"/>
          <p:nvPr/>
        </p:nvSpPr>
        <p:spPr>
          <a:xfrm>
            <a:off x="5760720" y="33467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</a:t>
            </a:r>
            <a:endParaRPr lang="en-US" sz="1500" dirty="0"/>
          </a:p>
        </p:txBody>
      </p:sp>
      <p:sp>
        <p:nvSpPr>
          <p:cNvPr id="18" name="a5_chip_desc"/>
          <p:cNvSpPr txBox="1"/>
          <p:nvPr/>
        </p:nvSpPr>
        <p:spPr>
          <a:xfrm>
            <a:off x="7315200" y="3346704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and video</a:t>
            </a:r>
            <a:endParaRPr lang="en-US" sz="1800" dirty="0"/>
          </a:p>
        </p:txBody>
      </p:sp>
      <p:sp>
        <p:nvSpPr>
          <p:cNvPr id="19" name="a6_chip"/>
          <p:cNvSpPr/>
          <p:nvPr/>
        </p:nvSpPr>
        <p:spPr>
          <a:xfrm>
            <a:off x="5760720" y="4242816"/>
            <a:ext cx="137160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20" name="a6_chip_text"/>
          <p:cNvSpPr txBox="1"/>
          <p:nvPr/>
        </p:nvSpPr>
        <p:spPr>
          <a:xfrm>
            <a:off x="5760720" y="42428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500" dirty="0"/>
          </a:p>
        </p:txBody>
      </p:sp>
      <p:sp>
        <p:nvSpPr>
          <p:cNvPr id="21" name="a6_chip_desc"/>
          <p:cNvSpPr txBox="1"/>
          <p:nvPr/>
        </p:nvSpPr>
        <p:spPr>
          <a:xfrm>
            <a:off x="7315200" y="4242816"/>
            <a:ext cx="4327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and contact details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Build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One menu, many pages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البناء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same menu on every page</a:t>
            </a:r>
            <a:endParaRPr lang="en-US" sz="3600" dirty="0"/>
          </a:p>
        </p:txBody>
      </p:sp>
      <p:sp>
        <p:nvSpPr>
          <p:cNvPr id="4" name="a1_code"/>
          <p:cNvSpPr/>
          <p:nvPr/>
        </p:nvSpPr>
        <p:spPr>
          <a:xfrm>
            <a:off x="548640" y="1554480"/>
            <a:ext cx="5852160" cy="256032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5" name="a1_code_dot"/>
          <p:cNvSpPr/>
          <p:nvPr/>
        </p:nvSpPr>
        <p:spPr>
          <a:xfrm>
            <a:off x="804672" y="1773936"/>
            <a:ext cx="137160" cy="137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a1_code_dot"/>
          <p:cNvSpPr/>
          <p:nvPr/>
        </p:nvSpPr>
        <p:spPr>
          <a:xfrm>
            <a:off x="1042416" y="1773936"/>
            <a:ext cx="137160" cy="137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a1_code_dot"/>
          <p:cNvSpPr/>
          <p:nvPr/>
        </p:nvSpPr>
        <p:spPr>
          <a:xfrm>
            <a:off x="1280160" y="1773936"/>
            <a:ext cx="137160" cy="1371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a1_code_file"/>
          <p:cNvSpPr txBox="1"/>
          <p:nvPr/>
        </p:nvSpPr>
        <p:spPr>
          <a:xfrm>
            <a:off x="164592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9" name="a1_code_text"/>
          <p:cNvSpPr txBox="1"/>
          <p:nvPr/>
        </p:nvSpPr>
        <p:spPr>
          <a:xfrm>
            <a:off x="841248" y="21488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"index.html"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"about.html"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"gallery.html"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"contact.html"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</a:t>
            </a:r>
            <a:pPr indent="0" marL="0">
              <a:buNone/>
            </a:pPr>
            <a:r>
              <a:rPr lang="en-US" sz="17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700" dirty="0"/>
          </a:p>
        </p:txBody>
      </p:sp>
      <p:sp>
        <p:nvSpPr>
          <p:cNvPr id="10" name="a2_browser"/>
          <p:cNvSpPr/>
          <p:nvPr/>
        </p:nvSpPr>
        <p:spPr>
          <a:xfrm>
            <a:off x="6675120" y="1554480"/>
            <a:ext cx="4967935" cy="1645920"/>
          </a:xfrm>
          <a:prstGeom prst="rect">
            <a:avLst/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1" name="a2_browser_bar"/>
          <p:cNvSpPr/>
          <p:nvPr/>
        </p:nvSpPr>
        <p:spPr>
          <a:xfrm>
            <a:off x="6675120" y="1554480"/>
            <a:ext cx="4967935" cy="42062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a2_browser_dot"/>
          <p:cNvSpPr/>
          <p:nvPr/>
        </p:nvSpPr>
        <p:spPr>
          <a:xfrm>
            <a:off x="6876288" y="1700784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a2_browser_dot"/>
          <p:cNvSpPr/>
          <p:nvPr/>
        </p:nvSpPr>
        <p:spPr>
          <a:xfrm>
            <a:off x="7095744" y="170078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a2_browser_dot"/>
          <p:cNvSpPr/>
          <p:nvPr/>
        </p:nvSpPr>
        <p:spPr>
          <a:xfrm>
            <a:off x="7315200" y="1700784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a2_browser_url"/>
          <p:cNvSpPr/>
          <p:nvPr/>
        </p:nvSpPr>
        <p:spPr>
          <a:xfrm>
            <a:off x="7635240" y="1627632"/>
            <a:ext cx="37334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16" name="a2_browser_urltext"/>
          <p:cNvSpPr txBox="1"/>
          <p:nvPr/>
        </p:nvSpPr>
        <p:spPr>
          <a:xfrm>
            <a:off x="7772400" y="1627632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17" name="a2_browser_content"/>
          <p:cNvSpPr txBox="1"/>
          <p:nvPr/>
        </p:nvSpPr>
        <p:spPr>
          <a:xfrm>
            <a:off x="6995160" y="2176272"/>
            <a:ext cx="43278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0F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 </a:t>
            </a:r>
            <a:pPr indent="0" marL="0">
              <a:buNone/>
            </a:pPr>
            <a:r>
              <a:rPr lang="en-US" sz="1800" b="1" u="sng" dirty="0">
                <a:solidFill>
                  <a:srgbClr val="0F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   </a:t>
            </a:r>
            <a:pPr indent="0" marL="0">
              <a:buNone/>
            </a:pPr>
            <a:r>
              <a:rPr lang="en-US" sz="1800" b="1" u="sng" dirty="0">
                <a:solidFill>
                  <a:srgbClr val="0F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   </a:t>
            </a:r>
            <a:pPr indent="0" marL="0">
              <a:buNone/>
            </a:pPr>
            <a:r>
              <a:rPr lang="en-US" sz="1800" b="1" u="sng" dirty="0">
                <a:solidFill>
                  <a:srgbClr val="0F5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800" dirty="0"/>
          </a:p>
        </p:txBody>
      </p:sp>
      <p:sp>
        <p:nvSpPr>
          <p:cNvPr id="18" name="a3_chip"/>
          <p:cNvSpPr/>
          <p:nvPr/>
        </p:nvSpPr>
        <p:spPr>
          <a:xfrm>
            <a:off x="6675120" y="3474720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19" name="a3_chip_text"/>
          <p:cNvSpPr txBox="1"/>
          <p:nvPr/>
        </p:nvSpPr>
        <p:spPr>
          <a:xfrm>
            <a:off x="6675120" y="3474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500" dirty="0"/>
          </a:p>
        </p:txBody>
      </p:sp>
      <p:sp>
        <p:nvSpPr>
          <p:cNvPr id="20" name="a3_chip_desc"/>
          <p:cNvSpPr txBox="1"/>
          <p:nvPr/>
        </p:nvSpPr>
        <p:spPr>
          <a:xfrm>
            <a:off x="8046720" y="3474720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menu links</a:t>
            </a:r>
            <a:endParaRPr lang="en-US" sz="1600" dirty="0"/>
          </a:p>
        </p:txBody>
      </p:sp>
      <p:sp>
        <p:nvSpPr>
          <p:cNvPr id="21" name="a4_chip"/>
          <p:cNvSpPr/>
          <p:nvPr/>
        </p:nvSpPr>
        <p:spPr>
          <a:xfrm>
            <a:off x="6675120" y="4133088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F5B301"/>
          </a:solidFill>
          <a:ln/>
        </p:spPr>
      </p:sp>
      <p:sp>
        <p:nvSpPr>
          <p:cNvPr id="22" name="a4_chip_text"/>
          <p:cNvSpPr txBox="1"/>
          <p:nvPr/>
        </p:nvSpPr>
        <p:spPr>
          <a:xfrm>
            <a:off x="6675120" y="41330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1500" dirty="0"/>
          </a:p>
        </p:txBody>
      </p:sp>
      <p:sp>
        <p:nvSpPr>
          <p:cNvPr id="23" name="a4_chip_desc"/>
          <p:cNvSpPr txBox="1"/>
          <p:nvPr/>
        </p:nvSpPr>
        <p:spPr>
          <a:xfrm>
            <a:off x="8046720" y="4133088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same nav into every page</a:t>
            </a:r>
            <a:endParaRPr lang="en-US" sz="1600" dirty="0"/>
          </a:p>
        </p:txBody>
      </p:sp>
      <p:sp>
        <p:nvSpPr>
          <p:cNvPr id="24" name="a5_chip"/>
          <p:cNvSpPr/>
          <p:nvPr/>
        </p:nvSpPr>
        <p:spPr>
          <a:xfrm>
            <a:off x="6675120" y="4791456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/>
        </p:spPr>
      </p:sp>
      <p:sp>
        <p:nvSpPr>
          <p:cNvPr id="25" name="a5_chip_text"/>
          <p:cNvSpPr txBox="1"/>
          <p:nvPr/>
        </p:nvSpPr>
        <p:spPr>
          <a:xfrm>
            <a:off x="6675120" y="479145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500" dirty="0"/>
          </a:p>
        </p:txBody>
      </p:sp>
      <p:sp>
        <p:nvSpPr>
          <p:cNvPr id="26" name="a5_chip_desc"/>
          <p:cNvSpPr txBox="1"/>
          <p:nvPr/>
        </p:nvSpPr>
        <p:spPr>
          <a:xfrm>
            <a:off x="8046720" y="4791456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every link from every page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Make it accessible to everyone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" y="2142439"/>
            <a:ext cx="378562" cy="378562"/>
          </a:xfrm>
          <a:prstGeom prst="rect">
            <a:avLst/>
          </a:prstGeom>
        </p:spPr>
      </p:pic>
      <p:sp>
        <p:nvSpPr>
          <p:cNvPr id="7" name="a1_head"/>
          <p:cNvSpPr txBox="1"/>
          <p:nvPr/>
        </p:nvSpPr>
        <p:spPr>
          <a:xfrm>
            <a:off x="868680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</a:t>
            </a:r>
            <a:endParaRPr lang="en-US" sz="2200" dirty="0"/>
          </a:p>
        </p:txBody>
      </p:sp>
      <p:sp>
        <p:nvSpPr>
          <p:cNvPr id="8" name="a1_body"/>
          <p:cNvSpPr txBox="1"/>
          <p:nvPr/>
        </p:nvSpPr>
        <p:spPr>
          <a:xfrm>
            <a:off x="868680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every meaningful image.</a:t>
            </a:r>
            <a:endParaRPr lang="en-US" sz="1600" dirty="0"/>
          </a:p>
        </p:txBody>
      </p:sp>
      <p:sp>
        <p:nvSpPr>
          <p:cNvPr id="9" name="a2_card"/>
          <p:cNvSpPr/>
          <p:nvPr/>
        </p:nvSpPr>
        <p:spPr>
          <a:xfrm>
            <a:off x="3379394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0" name="a2_ico_bg"/>
          <p:cNvSpPr/>
          <p:nvPr/>
        </p:nvSpPr>
        <p:spPr>
          <a:xfrm>
            <a:off x="3699434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a2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633" y="2142439"/>
            <a:ext cx="378562" cy="378562"/>
          </a:xfrm>
          <a:prstGeom prst="rect">
            <a:avLst/>
          </a:prstGeom>
        </p:spPr>
      </p:pic>
      <p:sp>
        <p:nvSpPr>
          <p:cNvPr id="12" name="a2_head"/>
          <p:cNvSpPr txBox="1"/>
          <p:nvPr/>
        </p:nvSpPr>
        <p:spPr>
          <a:xfrm>
            <a:off x="3699434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order</a:t>
            </a:r>
            <a:endParaRPr lang="en-US" sz="2200" dirty="0"/>
          </a:p>
        </p:txBody>
      </p:sp>
      <p:sp>
        <p:nvSpPr>
          <p:cNvPr id="13" name="a2_body"/>
          <p:cNvSpPr txBox="1"/>
          <p:nvPr/>
        </p:nvSpPr>
        <p:spPr>
          <a:xfrm>
            <a:off x="3699434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h1, then h2, then h3. Do not skip levels.</a:t>
            </a:r>
            <a:endParaRPr lang="en-US" sz="1600" dirty="0"/>
          </a:p>
        </p:txBody>
      </p:sp>
      <p:sp>
        <p:nvSpPr>
          <p:cNvPr id="14" name="a3_card"/>
          <p:cNvSpPr/>
          <p:nvPr/>
        </p:nvSpPr>
        <p:spPr>
          <a:xfrm>
            <a:off x="6210148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15" name="a3_ico_bg"/>
          <p:cNvSpPr/>
          <p:nvPr/>
        </p:nvSpPr>
        <p:spPr>
          <a:xfrm>
            <a:off x="6530188" y="192024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a3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387" y="2142439"/>
            <a:ext cx="378562" cy="378562"/>
          </a:xfrm>
          <a:prstGeom prst="rect">
            <a:avLst/>
          </a:prstGeom>
        </p:spPr>
      </p:pic>
      <p:sp>
        <p:nvSpPr>
          <p:cNvPr id="17" name="a3_head"/>
          <p:cNvSpPr txBox="1"/>
          <p:nvPr/>
        </p:nvSpPr>
        <p:spPr>
          <a:xfrm>
            <a:off x="6530188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links</a:t>
            </a:r>
            <a:endParaRPr lang="en-US" sz="2200" dirty="0"/>
          </a:p>
        </p:txBody>
      </p:sp>
      <p:sp>
        <p:nvSpPr>
          <p:cNvPr id="18" name="a3_body"/>
          <p:cNvSpPr txBox="1"/>
          <p:nvPr/>
        </p:nvSpPr>
        <p:spPr>
          <a:xfrm>
            <a:off x="6530188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Read about Luxor, not Click here.</a:t>
            </a:r>
            <a:endParaRPr lang="en-US" sz="1600" dirty="0"/>
          </a:p>
        </p:txBody>
      </p:sp>
      <p:sp>
        <p:nvSpPr>
          <p:cNvPr id="19" name="a4_card"/>
          <p:cNvSpPr/>
          <p:nvPr/>
        </p:nvSpPr>
        <p:spPr>
          <a:xfrm>
            <a:off x="9040901" y="1600200"/>
            <a:ext cx="2602154" cy="4297680"/>
          </a:xfrm>
          <a:prstGeom prst="roundRect">
            <a:avLst>
              <a:gd name="adj" fmla="val 6325"/>
            </a:avLst>
          </a:prstGeom>
          <a:solidFill>
            <a:schemeClr val="bg2"/>
          </a:solidFill>
          <a:ln/>
        </p:spPr>
      </p:sp>
      <p:sp>
        <p:nvSpPr>
          <p:cNvPr id="20" name="a4_ico_bg"/>
          <p:cNvSpPr/>
          <p:nvPr/>
        </p:nvSpPr>
        <p:spPr>
          <a:xfrm>
            <a:off x="9360941" y="19202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a4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141" y="2142439"/>
            <a:ext cx="378562" cy="378562"/>
          </a:xfrm>
          <a:prstGeom prst="rect">
            <a:avLst/>
          </a:prstGeom>
        </p:spPr>
      </p:pic>
      <p:sp>
        <p:nvSpPr>
          <p:cNvPr id="22" name="a4_head"/>
          <p:cNvSpPr txBox="1"/>
          <p:nvPr/>
        </p:nvSpPr>
        <p:spPr>
          <a:xfrm>
            <a:off x="9360941" y="2971800"/>
            <a:ext cx="19620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endParaRPr lang="en-US" sz="2200" dirty="0"/>
          </a:p>
        </p:txBody>
      </p:sp>
      <p:sp>
        <p:nvSpPr>
          <p:cNvPr id="23" name="a4_body"/>
          <p:cNvSpPr txBox="1"/>
          <p:nvPr/>
        </p:nvSpPr>
        <p:spPr>
          <a:xfrm>
            <a:off x="9360941" y="3611880"/>
            <a:ext cx="19620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paragraphs and clear words.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Quality checklist</a:t>
            </a:r>
            <a:endParaRPr lang="en-US" sz="3600" dirty="0"/>
          </a:p>
        </p:txBody>
      </p:sp>
      <p:sp>
        <p:nvSpPr>
          <p:cNvPr id="4" name="a1_ico_num_bg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_ico_num"/>
          <p:cNvSpPr txBox="1"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a1_text"/>
          <p:cNvSpPr txBox="1"/>
          <p:nvPr/>
        </p:nvSpPr>
        <p:spPr>
          <a:xfrm>
            <a:off x="1417320" y="1545336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has a title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exactly one h1.</a:t>
            </a:r>
            <a:endParaRPr lang="en-US" sz="2100" dirty="0"/>
          </a:p>
        </p:txBody>
      </p:sp>
      <p:sp>
        <p:nvSpPr>
          <p:cNvPr id="7" name="a2_ico_num_bg"/>
          <p:cNvSpPr/>
          <p:nvPr/>
        </p:nvSpPr>
        <p:spPr>
          <a:xfrm>
            <a:off x="548640" y="2459736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2_ico_num"/>
          <p:cNvSpPr txBox="1"/>
          <p:nvPr/>
        </p:nvSpPr>
        <p:spPr>
          <a:xfrm>
            <a:off x="548640" y="24597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a2_text"/>
          <p:cNvSpPr txBox="1"/>
          <p:nvPr/>
        </p:nvSpPr>
        <p:spPr>
          <a:xfrm>
            <a:off x="1417320" y="2404872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has alt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sensible width.</a:t>
            </a:r>
            <a:endParaRPr lang="en-US" sz="2100" dirty="0"/>
          </a:p>
        </p:txBody>
      </p:sp>
      <p:sp>
        <p:nvSpPr>
          <p:cNvPr id="10" name="a3_ico_num_bg"/>
          <p:cNvSpPr/>
          <p:nvPr/>
        </p:nvSpPr>
        <p:spPr>
          <a:xfrm>
            <a:off x="548640" y="3319272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3_ico_num"/>
          <p:cNvSpPr txBox="1"/>
          <p:nvPr/>
        </p:nvSpPr>
        <p:spPr>
          <a:xfrm>
            <a:off x="548640" y="3319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a3_text"/>
          <p:cNvSpPr txBox="1"/>
          <p:nvPr/>
        </p:nvSpPr>
        <p:spPr>
          <a:xfrm>
            <a:off x="1417320" y="3264408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tags are closed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code is indented.</a:t>
            </a:r>
            <a:endParaRPr lang="en-US" sz="2100" dirty="0"/>
          </a:p>
        </p:txBody>
      </p:sp>
      <p:sp>
        <p:nvSpPr>
          <p:cNvPr id="13" name="a4_ico_num_bg"/>
          <p:cNvSpPr/>
          <p:nvPr/>
        </p:nvSpPr>
        <p:spPr>
          <a:xfrm>
            <a:off x="548640" y="4178808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4_ico_num"/>
          <p:cNvSpPr txBox="1"/>
          <p:nvPr/>
        </p:nvSpPr>
        <p:spPr>
          <a:xfrm>
            <a:off x="548640" y="4178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a4_text"/>
          <p:cNvSpPr txBox="1"/>
          <p:nvPr/>
        </p:nvSpPr>
        <p:spPr>
          <a:xfrm>
            <a:off x="1417320" y="4123944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links work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each one to test.</a:t>
            </a:r>
            <a:endParaRPr lang="en-US" sz="2100" dirty="0"/>
          </a:p>
        </p:txBody>
      </p:sp>
      <p:sp>
        <p:nvSpPr>
          <p:cNvPr id="16" name="a5_ico_num_bg"/>
          <p:cNvSpPr/>
          <p:nvPr/>
        </p:nvSpPr>
        <p:spPr>
          <a:xfrm>
            <a:off x="548640" y="5038344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a5_ico_num"/>
          <p:cNvSpPr txBox="1"/>
          <p:nvPr/>
        </p:nvSpPr>
        <p:spPr>
          <a:xfrm>
            <a:off x="548640" y="50383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a5_text"/>
          <p:cNvSpPr txBox="1"/>
          <p:nvPr/>
        </p:nvSpPr>
        <p:spPr>
          <a:xfrm>
            <a:off x="1417320" y="4983480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validator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code into validator.w3.org.</a:t>
            </a:r>
            <a:endParaRPr lang="en-US" sz="2100" dirty="0"/>
          </a:p>
        </p:txBody>
      </p:sp>
      <p:sp>
        <p:nvSpPr>
          <p:cNvPr id="19" name="a6_panel"/>
          <p:cNvSpPr/>
          <p:nvPr/>
        </p:nvSpPr>
        <p:spPr>
          <a:xfrm>
            <a:off x="7818120" y="1600200"/>
            <a:ext cx="3822192" cy="4297680"/>
          </a:xfrm>
          <a:prstGeom prst="roundRect">
            <a:avLst>
              <a:gd name="adj" fmla="val 478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20" name="a6_ico_pan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965960"/>
            <a:ext cx="731520" cy="731520"/>
          </a:xfrm>
          <a:prstGeom prst="rect">
            <a:avLst/>
          </a:prstGeom>
        </p:spPr>
      </p:pic>
      <p:sp>
        <p:nvSpPr>
          <p:cNvPr id="21" name="a6_panel_head"/>
          <p:cNvSpPr txBox="1"/>
          <p:nvPr/>
        </p:nvSpPr>
        <p:spPr>
          <a:xfrm>
            <a:off x="818388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validator</a:t>
            </a:r>
            <a:endParaRPr lang="en-US" sz="2400" dirty="0"/>
          </a:p>
        </p:txBody>
      </p:sp>
      <p:sp>
        <p:nvSpPr>
          <p:cNvPr id="22" name="a6_panel_body"/>
          <p:cNvSpPr txBox="1"/>
          <p:nvPr/>
        </p:nvSpPr>
        <p:spPr>
          <a:xfrm>
            <a:off x="818388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tool reads your HTML and lists mistakes, like a spell-checker for code.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halo"/>
          <p:cNvSpPr/>
          <p:nvPr/>
        </p:nvSpPr>
        <p:spPr>
          <a:xfrm>
            <a:off x="-1371600" y="4023360"/>
            <a:ext cx="4572000" cy="457200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5_halo2"/>
          <p:cNvSpPr/>
          <p:nvPr/>
        </p:nvSpPr>
        <p:spPr>
          <a:xfrm>
            <a:off x="9875520" y="-1280160"/>
            <a:ext cx="3474720" cy="3474720"/>
          </a:xfrm>
          <a:prstGeom prst="ellipse">
            <a:avLst/>
          </a:prstGeom>
          <a:solidFill>
            <a:schemeClr val="accent2">
              <a:alpha val="18000"/>
            </a:schemeClr>
          </a:solidFill>
          <a:ln/>
        </p:spPr>
      </p:sp>
      <p:sp>
        <p:nvSpPr>
          <p:cNvPr id="4" name="a1_num"/>
          <p:cNvSpPr txBox="1"/>
          <p:nvPr/>
        </p:nvSpPr>
        <p:spPr>
          <a:xfrm>
            <a:off x="640080" y="14630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931920" y="21031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Publish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3931920" y="3611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Let the world see your work</a:t>
            </a:r>
            <a:endParaRPr lang="en-US" sz="2200" dirty="0"/>
          </a:p>
        </p:txBody>
      </p:sp>
      <p:sp>
        <p:nvSpPr>
          <p:cNvPr id="7" name="a4_ar"/>
          <p:cNvSpPr txBox="1"/>
          <p:nvPr/>
        </p:nvSpPr>
        <p:spPr>
          <a:xfrm>
            <a:off x="39319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EG" altLang="en-US" sz="24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النشر</a:t>
            </a:r>
            <a:endParaRPr lang="ar-EG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Publishing, step by step</a:t>
            </a:r>
            <a:endParaRPr lang="en-US" sz="3600" dirty="0"/>
          </a:p>
        </p:txBody>
      </p:sp>
      <p:sp>
        <p:nvSpPr>
          <p:cNvPr id="4" name="a1_card"/>
          <p:cNvSpPr/>
          <p:nvPr/>
        </p:nvSpPr>
        <p:spPr>
          <a:xfrm>
            <a:off x="548640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5" name="a1_ico_bg"/>
          <p:cNvSpPr/>
          <p:nvPr/>
        </p:nvSpPr>
        <p:spPr>
          <a:xfrm>
            <a:off x="1175347" y="18288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1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924" y="2100377"/>
            <a:ext cx="462686" cy="462686"/>
          </a:xfrm>
          <a:prstGeom prst="rect">
            <a:avLst/>
          </a:prstGeom>
        </p:spPr>
      </p:pic>
      <p:sp>
        <p:nvSpPr>
          <p:cNvPr id="7" name="a1_label"/>
          <p:cNvSpPr txBox="1"/>
          <p:nvPr/>
        </p:nvSpPr>
        <p:spPr>
          <a:xfrm>
            <a:off x="685800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first</a:t>
            </a:r>
            <a:endParaRPr lang="en-US" sz="1800" dirty="0"/>
          </a:p>
        </p:txBody>
      </p:sp>
      <p:sp>
        <p:nvSpPr>
          <p:cNvPr id="8" name="a1_sub"/>
          <p:cNvSpPr txBox="1"/>
          <p:nvPr/>
        </p:nvSpPr>
        <p:spPr>
          <a:xfrm>
            <a:off x="731520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permission from your teacher and parents</a:t>
            </a:r>
            <a:endParaRPr lang="en-US" sz="1600" dirty="0"/>
          </a:p>
        </p:txBody>
      </p:sp>
      <p:pic>
        <p:nvPicPr>
          <p:cNvPr id="9" name="a1_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42" y="2834640"/>
            <a:ext cx="365760" cy="365760"/>
          </a:xfrm>
          <a:prstGeom prst="rect">
            <a:avLst/>
          </a:prstGeom>
        </p:spPr>
      </p:pic>
      <p:sp>
        <p:nvSpPr>
          <p:cNvPr id="10" name="a2_card"/>
          <p:cNvSpPr/>
          <p:nvPr/>
        </p:nvSpPr>
        <p:spPr>
          <a:xfrm>
            <a:off x="3493694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11" name="a2_ico_bg"/>
          <p:cNvSpPr/>
          <p:nvPr/>
        </p:nvSpPr>
        <p:spPr>
          <a:xfrm>
            <a:off x="4120401" y="182880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a2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78" y="2100377"/>
            <a:ext cx="462686" cy="462686"/>
          </a:xfrm>
          <a:prstGeom prst="rect">
            <a:avLst/>
          </a:prstGeom>
        </p:spPr>
      </p:pic>
      <p:sp>
        <p:nvSpPr>
          <p:cNvPr id="13" name="a2_label"/>
          <p:cNvSpPr txBox="1"/>
          <p:nvPr/>
        </p:nvSpPr>
        <p:spPr>
          <a:xfrm>
            <a:off x="3630854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800" dirty="0"/>
          </a:p>
        </p:txBody>
      </p:sp>
      <p:sp>
        <p:nvSpPr>
          <p:cNvPr id="14" name="a2_sub"/>
          <p:cNvSpPr txBox="1"/>
          <p:nvPr/>
        </p:nvSpPr>
        <p:spPr>
          <a:xfrm>
            <a:off x="3676574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no private data is in your files</a:t>
            </a:r>
            <a:endParaRPr lang="en-US" sz="1600" dirty="0"/>
          </a:p>
        </p:txBody>
      </p:sp>
      <p:pic>
        <p:nvPicPr>
          <p:cNvPr id="15" name="a2_arrow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396" y="2834640"/>
            <a:ext cx="365760" cy="365760"/>
          </a:xfrm>
          <a:prstGeom prst="rect">
            <a:avLst/>
          </a:prstGeom>
        </p:spPr>
      </p:pic>
      <p:sp>
        <p:nvSpPr>
          <p:cNvPr id="16" name="a3_card"/>
          <p:cNvSpPr/>
          <p:nvPr/>
        </p:nvSpPr>
        <p:spPr>
          <a:xfrm>
            <a:off x="6438748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17" name="a3_ico_bg"/>
          <p:cNvSpPr/>
          <p:nvPr/>
        </p:nvSpPr>
        <p:spPr>
          <a:xfrm>
            <a:off x="7065455" y="1828800"/>
            <a:ext cx="1005840" cy="10058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a3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031" y="2100377"/>
            <a:ext cx="462686" cy="462686"/>
          </a:xfrm>
          <a:prstGeom prst="rect">
            <a:avLst/>
          </a:prstGeom>
        </p:spPr>
      </p:pic>
      <p:sp>
        <p:nvSpPr>
          <p:cNvPr id="19" name="a3_label"/>
          <p:cNvSpPr txBox="1"/>
          <p:nvPr/>
        </p:nvSpPr>
        <p:spPr>
          <a:xfrm>
            <a:off x="6575908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20" name="a3_sub"/>
          <p:cNvSpPr txBox="1"/>
          <p:nvPr/>
        </p:nvSpPr>
        <p:spPr>
          <a:xfrm>
            <a:off x="6621628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free host such as GitHub Pages</a:t>
            </a:r>
            <a:endParaRPr lang="en-US" sz="1600" dirty="0"/>
          </a:p>
        </p:txBody>
      </p:sp>
      <p:pic>
        <p:nvPicPr>
          <p:cNvPr id="21" name="a3_arro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449" y="2834640"/>
            <a:ext cx="365760" cy="365760"/>
          </a:xfrm>
          <a:prstGeom prst="rect">
            <a:avLst/>
          </a:prstGeom>
        </p:spPr>
      </p:pic>
      <p:sp>
        <p:nvSpPr>
          <p:cNvPr id="22" name="a4_card"/>
          <p:cNvSpPr/>
          <p:nvPr/>
        </p:nvSpPr>
        <p:spPr>
          <a:xfrm>
            <a:off x="9383801" y="1600200"/>
            <a:ext cx="2259254" cy="3063240"/>
          </a:xfrm>
          <a:prstGeom prst="roundRect">
            <a:avLst>
              <a:gd name="adj" fmla="val 7285"/>
            </a:avLst>
          </a:prstGeom>
          <a:solidFill>
            <a:schemeClr val="bg2"/>
          </a:solidFill>
          <a:ln/>
        </p:spPr>
      </p:sp>
      <p:sp>
        <p:nvSpPr>
          <p:cNvPr id="23" name="a4_ico_bg"/>
          <p:cNvSpPr/>
          <p:nvPr/>
        </p:nvSpPr>
        <p:spPr>
          <a:xfrm>
            <a:off x="10010508" y="1828800"/>
            <a:ext cx="1005840" cy="10058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a4_ico_img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085" y="2100377"/>
            <a:ext cx="462686" cy="462686"/>
          </a:xfrm>
          <a:prstGeom prst="rect">
            <a:avLst/>
          </a:prstGeom>
        </p:spPr>
      </p:pic>
      <p:sp>
        <p:nvSpPr>
          <p:cNvPr id="25" name="a4_label"/>
          <p:cNvSpPr txBox="1"/>
          <p:nvPr/>
        </p:nvSpPr>
        <p:spPr>
          <a:xfrm>
            <a:off x="9520961" y="2971800"/>
            <a:ext cx="19849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800" dirty="0"/>
          </a:p>
        </p:txBody>
      </p:sp>
      <p:sp>
        <p:nvSpPr>
          <p:cNvPr id="26" name="a4_sub"/>
          <p:cNvSpPr txBox="1"/>
          <p:nvPr/>
        </p:nvSpPr>
        <p:spPr>
          <a:xfrm>
            <a:off x="9566681" y="3611880"/>
            <a:ext cx="18934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link to family and friends</a:t>
            </a:r>
            <a:endParaRPr lang="en-US" sz="1600" dirty="0"/>
          </a:p>
        </p:txBody>
      </p:sp>
      <p:sp>
        <p:nvSpPr>
          <p:cNvPr id="27" name="a5_note"/>
          <p:cNvSpPr/>
          <p:nvPr/>
        </p:nvSpPr>
        <p:spPr>
          <a:xfrm>
            <a:off x="548640" y="4983480"/>
            <a:ext cx="11094415" cy="9144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pic>
        <p:nvPicPr>
          <p:cNvPr id="28" name="a5_note_ic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257800"/>
            <a:ext cx="365760" cy="365760"/>
          </a:xfrm>
          <a:prstGeom prst="rect">
            <a:avLst/>
          </a:prstGeom>
        </p:spPr>
      </p:pic>
      <p:sp>
        <p:nvSpPr>
          <p:cNvPr id="29" name="a5_note_text"/>
          <p:cNvSpPr txBox="1"/>
          <p:nvPr/>
        </p:nvSpPr>
        <p:spPr>
          <a:xfrm>
            <a:off x="1463040" y="4983480"/>
            <a:ext cx="98142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publish phone numbers, home addresses or photos of other people.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Quick quiz</a:t>
            </a:r>
            <a:endParaRPr lang="en-US" sz="3600" dirty="0"/>
          </a:p>
        </p:txBody>
      </p:sp>
      <p:sp>
        <p:nvSpPr>
          <p:cNvPr id="3" name="a1_ico_q_bg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a1_ico_q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420624" cy="420624"/>
          </a:xfrm>
          <a:prstGeom prst="rect">
            <a:avLst/>
          </a:prstGeom>
        </p:spPr>
      </p:pic>
      <p:sp>
        <p:nvSpPr>
          <p:cNvPr id="5" name="a1_question"/>
          <p:cNvSpPr txBox="1"/>
          <p:nvPr/>
        </p:nvSpPr>
        <p:spPr>
          <a:xfrm>
            <a:off x="155448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home page file be called?</a:t>
            </a:r>
            <a:endParaRPr lang="en-US" sz="2600" dirty="0"/>
          </a:p>
        </p:txBody>
      </p:sp>
      <p:sp>
        <p:nvSpPr>
          <p:cNvPr id="6" name="a2_opt"/>
          <p:cNvSpPr/>
          <p:nvPr/>
        </p:nvSpPr>
        <p:spPr>
          <a:xfrm>
            <a:off x="548640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7" name="a2_ico_letter_bg"/>
          <p:cNvSpPr/>
          <p:nvPr/>
        </p:nvSpPr>
        <p:spPr>
          <a:xfrm>
            <a:off x="804672" y="2971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a2_ico_letter"/>
          <p:cNvSpPr txBox="1"/>
          <p:nvPr/>
        </p:nvSpPr>
        <p:spPr>
          <a:xfrm>
            <a:off x="804672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a2_opt_text"/>
          <p:cNvSpPr txBox="1"/>
          <p:nvPr/>
        </p:nvSpPr>
        <p:spPr>
          <a:xfrm>
            <a:off x="1645920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home.html</a:t>
            </a:r>
            <a:endParaRPr lang="en-US" sz="2000" dirty="0"/>
          </a:p>
        </p:txBody>
      </p:sp>
      <p:sp>
        <p:nvSpPr>
          <p:cNvPr id="10" name="a3_opt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1" name="a3_ico_letter_bg"/>
          <p:cNvSpPr/>
          <p:nvPr/>
        </p:nvSpPr>
        <p:spPr>
          <a:xfrm>
            <a:off x="6455664" y="2971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a3_ico_letter"/>
          <p:cNvSpPr txBox="1"/>
          <p:nvPr/>
        </p:nvSpPr>
        <p:spPr>
          <a:xfrm>
            <a:off x="6455664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a3_opt_text"/>
          <p:cNvSpPr txBox="1"/>
          <p:nvPr/>
        </p:nvSpPr>
        <p:spPr>
          <a:xfrm>
            <a:off x="7296912" y="26974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2000" dirty="0"/>
          </a:p>
        </p:txBody>
      </p:sp>
      <p:sp>
        <p:nvSpPr>
          <p:cNvPr id="14" name="a4_opt"/>
          <p:cNvSpPr/>
          <p:nvPr/>
        </p:nvSpPr>
        <p:spPr>
          <a:xfrm>
            <a:off x="548640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5" name="a4_ico_letter_bg"/>
          <p:cNvSpPr/>
          <p:nvPr/>
        </p:nvSpPr>
        <p:spPr>
          <a:xfrm>
            <a:off x="804672" y="438912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6" name="a4_ico_letter"/>
          <p:cNvSpPr txBox="1"/>
          <p:nvPr/>
        </p:nvSpPr>
        <p:spPr>
          <a:xfrm>
            <a:off x="80467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a4_opt_text"/>
          <p:cNvSpPr txBox="1"/>
          <p:nvPr/>
        </p:nvSpPr>
        <p:spPr>
          <a:xfrm>
            <a:off x="1645920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main.html</a:t>
            </a:r>
            <a:endParaRPr lang="en-US" sz="2000" dirty="0"/>
          </a:p>
        </p:txBody>
      </p:sp>
      <p:sp>
        <p:nvSpPr>
          <p:cNvPr id="18" name="a5_opt"/>
          <p:cNvSpPr/>
          <p:nvPr/>
        </p:nvSpPr>
        <p:spPr>
          <a:xfrm>
            <a:off x="6199632" y="411480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19" name="a5_ico_letter_bg"/>
          <p:cNvSpPr/>
          <p:nvPr/>
        </p:nvSpPr>
        <p:spPr>
          <a:xfrm>
            <a:off x="6455664" y="43891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0" name="a5_ico_letter"/>
          <p:cNvSpPr txBox="1"/>
          <p:nvPr/>
        </p:nvSpPr>
        <p:spPr>
          <a:xfrm>
            <a:off x="645566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21" name="a5_opt_text"/>
          <p:cNvSpPr txBox="1"/>
          <p:nvPr/>
        </p:nvSpPr>
        <p:spPr>
          <a:xfrm>
            <a:off x="7296912" y="411480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start.html</a:t>
            </a:r>
            <a:endParaRPr lang="en-US" sz="2000" dirty="0"/>
          </a:p>
        </p:txBody>
      </p:sp>
      <p:sp>
        <p:nvSpPr>
          <p:cNvPr id="22" name="k1_answer_ring"/>
          <p:cNvSpPr/>
          <p:nvPr/>
        </p:nvSpPr>
        <p:spPr>
          <a:xfrm>
            <a:off x="6199632" y="2697480"/>
            <a:ext cx="5440680" cy="1188720"/>
          </a:xfrm>
          <a:prstGeom prst="roundRect">
            <a:avLst>
              <a:gd name="adj" fmla="val 12308"/>
            </a:avLst>
          </a:prstGeom>
          <a:solidFill>
            <a:schemeClr val="accent5">
              <a:alpha val="0"/>
            </a:schemeClr>
          </a:solidFill>
          <a:ln w="63500">
            <a:solidFill>
              <a:schemeClr val="accent5"/>
            </a:solidFill>
            <a:prstDash val="solid"/>
          </a:ln>
        </p:spPr>
      </p:sp>
      <p:sp>
        <p:nvSpPr>
          <p:cNvPr id="23" name="k1_answer_bar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4" name="k1_answer_ic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69280"/>
            <a:ext cx="365760" cy="365760"/>
          </a:xfrm>
          <a:prstGeom prst="rect">
            <a:avLst/>
          </a:prstGeom>
        </p:spPr>
      </p:pic>
      <p:sp>
        <p:nvSpPr>
          <p:cNvPr id="25" name="k1_answer_text"/>
          <p:cNvSpPr txBox="1"/>
          <p:nvPr/>
        </p:nvSpPr>
        <p:spPr>
          <a:xfrm>
            <a:off x="1417320" y="54864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B.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look for index.html first when someone visits your site.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Capstone rubric and presentation</a:t>
            </a:r>
            <a:endParaRPr lang="en-US" sz="3600" dirty="0"/>
          </a:p>
        </p:txBody>
      </p:sp>
      <p:sp>
        <p:nvSpPr>
          <p:cNvPr id="4" name="a1_ico_num_bg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a1_ico_num"/>
          <p:cNvSpPr txBox="1"/>
          <p:nvPr/>
        </p:nvSpPr>
        <p:spPr>
          <a:xfrm>
            <a:off x="54864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a1_text"/>
          <p:cNvSpPr txBox="1"/>
          <p:nvPr/>
        </p:nvSpPr>
        <p:spPr>
          <a:xfrm>
            <a:off x="1417320" y="154533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nav, main and footer on every page.</a:t>
            </a:r>
            <a:endParaRPr lang="en-US" sz="2100" dirty="0"/>
          </a:p>
        </p:txBody>
      </p:sp>
      <p:sp>
        <p:nvSpPr>
          <p:cNvPr id="7" name="a2_ico_num_bg"/>
          <p:cNvSpPr/>
          <p:nvPr/>
        </p:nvSpPr>
        <p:spPr>
          <a:xfrm>
            <a:off x="548640" y="267462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2_ico_num"/>
          <p:cNvSpPr txBox="1"/>
          <p:nvPr/>
        </p:nvSpPr>
        <p:spPr>
          <a:xfrm>
            <a:off x="548640" y="26746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a2_text"/>
          <p:cNvSpPr txBox="1"/>
          <p:nvPr/>
        </p:nvSpPr>
        <p:spPr>
          <a:xfrm>
            <a:off x="1417320" y="261975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paragraphs and at least one list or table.</a:t>
            </a:r>
            <a:endParaRPr lang="en-US" sz="2100" dirty="0"/>
          </a:p>
        </p:txBody>
      </p:sp>
      <p:sp>
        <p:nvSpPr>
          <p:cNvPr id="10" name="a3_ico_num_bg"/>
          <p:cNvSpPr/>
          <p:nvPr/>
        </p:nvSpPr>
        <p:spPr>
          <a:xfrm>
            <a:off x="548640" y="3749040"/>
            <a:ext cx="658368" cy="65836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a3_ico_num"/>
          <p:cNvSpPr txBox="1"/>
          <p:nvPr/>
        </p:nvSpPr>
        <p:spPr>
          <a:xfrm>
            <a:off x="548640" y="3749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a3_text"/>
          <p:cNvSpPr txBox="1"/>
          <p:nvPr/>
        </p:nvSpPr>
        <p:spPr>
          <a:xfrm>
            <a:off x="1417320" y="369417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and links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images with alt and working links.</a:t>
            </a:r>
            <a:endParaRPr lang="en-US" sz="2100" dirty="0"/>
          </a:p>
        </p:txBody>
      </p:sp>
      <p:sp>
        <p:nvSpPr>
          <p:cNvPr id="13" name="a4_ico_num_bg"/>
          <p:cNvSpPr/>
          <p:nvPr/>
        </p:nvSpPr>
        <p:spPr>
          <a:xfrm>
            <a:off x="548640" y="482346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4_ico_num"/>
          <p:cNvSpPr txBox="1"/>
          <p:nvPr/>
        </p:nvSpPr>
        <p:spPr>
          <a:xfrm>
            <a:off x="548640" y="4823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a4_text"/>
          <p:cNvSpPr txBox="1"/>
          <p:nvPr/>
        </p:nvSpPr>
        <p:spPr>
          <a:xfrm>
            <a:off x="1417320" y="4768596"/>
            <a:ext cx="60350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21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indented, no broken links.</a:t>
            </a:r>
            <a:endParaRPr lang="en-US" sz="2100" dirty="0"/>
          </a:p>
        </p:txBody>
      </p:sp>
      <p:sp>
        <p:nvSpPr>
          <p:cNvPr id="16" name="a5_panel"/>
          <p:cNvSpPr/>
          <p:nvPr/>
        </p:nvSpPr>
        <p:spPr>
          <a:xfrm>
            <a:off x="7818120" y="1600200"/>
            <a:ext cx="3822192" cy="4297680"/>
          </a:xfrm>
          <a:prstGeom prst="roundRect">
            <a:avLst>
              <a:gd name="adj" fmla="val 478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7" name="a5_ico_pan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965960"/>
            <a:ext cx="731520" cy="731520"/>
          </a:xfrm>
          <a:prstGeom prst="rect">
            <a:avLst/>
          </a:prstGeom>
        </p:spPr>
      </p:pic>
      <p:sp>
        <p:nvSpPr>
          <p:cNvPr id="18" name="a5_panel_head"/>
          <p:cNvSpPr txBox="1"/>
          <p:nvPr/>
        </p:nvSpPr>
        <p:spPr>
          <a:xfrm>
            <a:off x="818388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day</a:t>
            </a:r>
            <a:endParaRPr lang="en-US" sz="2400" dirty="0"/>
          </a:p>
        </p:txBody>
      </p:sp>
      <p:sp>
        <p:nvSpPr>
          <p:cNvPr id="19" name="a5_panel_body"/>
          <p:cNvSpPr txBox="1"/>
          <p:nvPr/>
        </p:nvSpPr>
        <p:spPr>
          <a:xfrm>
            <a:off x="8183880" y="356616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minutes: show your site, explain one tag you love, and ask the class for one tip.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Congratulations, web developers!</a:t>
            </a:r>
            <a:endParaRPr lang="en-US" sz="3600" dirty="0"/>
          </a:p>
        </p:txBody>
      </p:sp>
      <p:pic>
        <p:nvPicPr>
          <p:cNvPr id="4" name="a1_ico_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457200" cy="457200"/>
          </a:xfrm>
          <a:prstGeom prst="rect">
            <a:avLst/>
          </a:prstGeom>
        </p:spPr>
      </p:pic>
      <p:sp>
        <p:nvSpPr>
          <p:cNvPr id="5" name="a1_text"/>
          <p:cNvSpPr txBox="1"/>
          <p:nvPr/>
        </p:nvSpPr>
        <p:spPr>
          <a:xfrm>
            <a:off x="1234440" y="1600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structure pages with HTML tags.</a:t>
            </a:r>
            <a:endParaRPr lang="en-US" sz="2000" dirty="0"/>
          </a:p>
        </p:txBody>
      </p:sp>
      <p:pic>
        <p:nvPicPr>
          <p:cNvPr id="6" name="a2_ico_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2888"/>
            <a:ext cx="457200" cy="457200"/>
          </a:xfrm>
          <a:prstGeom prst="rect">
            <a:avLst/>
          </a:prstGeom>
        </p:spPr>
      </p:pic>
      <p:sp>
        <p:nvSpPr>
          <p:cNvPr id="7" name="a2_text"/>
          <p:cNvSpPr txBox="1"/>
          <p:nvPr/>
        </p:nvSpPr>
        <p:spPr>
          <a:xfrm>
            <a:off x="1234440" y="246888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add text, lists, links, images, tables and forms.</a:t>
            </a:r>
            <a:endParaRPr lang="en-US" sz="2000" dirty="0"/>
          </a:p>
        </p:txBody>
      </p:sp>
      <p:pic>
        <p:nvPicPr>
          <p:cNvPr id="8" name="a3_ico_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01568"/>
            <a:ext cx="457200" cy="457200"/>
          </a:xfrm>
          <a:prstGeom prst="rect">
            <a:avLst/>
          </a:prstGeom>
        </p:spPr>
      </p:pic>
      <p:sp>
        <p:nvSpPr>
          <p:cNvPr id="9" name="a3_text"/>
          <p:cNvSpPr txBox="1"/>
          <p:nvPr/>
        </p:nvSpPr>
        <p:spPr>
          <a:xfrm>
            <a:off x="1234440" y="33375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media and write in Arabic.</a:t>
            </a:r>
            <a:endParaRPr lang="en-US" sz="2000" dirty="0"/>
          </a:p>
        </p:txBody>
      </p:sp>
      <p:pic>
        <p:nvPicPr>
          <p:cNvPr id="10" name="a4_ico_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0248"/>
            <a:ext cx="457200" cy="457200"/>
          </a:xfrm>
          <a:prstGeom prst="rect">
            <a:avLst/>
          </a:prstGeom>
        </p:spPr>
      </p:pic>
      <p:sp>
        <p:nvSpPr>
          <p:cNvPr id="11" name="a4_text"/>
          <p:cNvSpPr txBox="1"/>
          <p:nvPr/>
        </p:nvSpPr>
        <p:spPr>
          <a:xfrm>
            <a:off x="1234440" y="4206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check your work for quality and accessibility.</a:t>
            </a:r>
            <a:endParaRPr lang="en-US" sz="2000" dirty="0"/>
          </a:p>
        </p:txBody>
      </p:sp>
      <p:pic>
        <p:nvPicPr>
          <p:cNvPr id="12" name="a5_ico_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38928"/>
            <a:ext cx="457200" cy="457200"/>
          </a:xfrm>
          <a:prstGeom prst="rect">
            <a:avLst/>
          </a:prstGeom>
        </p:spPr>
      </p:pic>
      <p:sp>
        <p:nvSpPr>
          <p:cNvPr id="13" name="a5_text"/>
          <p:cNvSpPr txBox="1"/>
          <p:nvPr/>
        </p:nvSpPr>
        <p:spPr>
          <a:xfrm>
            <a:off x="1234440" y="50749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adventure: style your site with CSS!</a:t>
            </a:r>
            <a:endParaRPr lang="en-US" sz="2000" dirty="0"/>
          </a:p>
        </p:txBody>
      </p:sp>
      <p:sp>
        <p:nvSpPr>
          <p:cNvPr id="14" name="a6_hw"/>
          <p:cNvSpPr/>
          <p:nvPr/>
        </p:nvSpPr>
        <p:spPr>
          <a:xfrm>
            <a:off x="8229600" y="1600200"/>
            <a:ext cx="3410712" cy="4343400"/>
          </a:xfrm>
          <a:prstGeom prst="roundRect">
            <a:avLst>
              <a:gd name="adj" fmla="val 5362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15" name="a6_ico_hw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1920240"/>
            <a:ext cx="731520" cy="731520"/>
          </a:xfrm>
          <a:prstGeom prst="rect">
            <a:avLst/>
          </a:prstGeom>
        </p:spPr>
      </p:pic>
      <p:sp>
        <p:nvSpPr>
          <p:cNvPr id="16" name="a6_hw_label"/>
          <p:cNvSpPr txBox="1"/>
          <p:nvPr/>
        </p:nvSpPr>
        <p:spPr>
          <a:xfrm>
            <a:off x="85953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17" name="a6_hw_text"/>
          <p:cNvSpPr txBox="1"/>
          <p:nvPr/>
        </p:nvSpPr>
        <p:spPr>
          <a:xfrm>
            <a:off x="8595360" y="32918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website to your family and ask for their feedback.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Nile Code">
  <a:themeElements>
    <a:clrScheme name="Nile Code">
      <a:dk1>
        <a:srgbClr val="0B1B2E"/>
      </a:dk1>
      <a:lt1>
        <a:srgbClr val="FFFFFF"/>
      </a:lt1>
      <a:dk2>
        <a:srgbClr val="0F5F5A"/>
      </a:dk2>
      <a:lt2>
        <a:srgbClr val="E8F0EF"/>
      </a:lt2>
      <a:accent1>
        <a:srgbClr val="14B8A6"/>
      </a:accent1>
      <a:accent2>
        <a:srgbClr val="F5B301"/>
      </a:accent2>
      <a:accent3>
        <a:srgbClr val="FF6B4A"/>
      </a:accent3>
      <a:accent4>
        <a:srgbClr val="8C92FF"/>
      </a:accent4>
      <a:accent5>
        <a:srgbClr val="4ADE80"/>
      </a:accent5>
      <a:accent6>
        <a:srgbClr val="38BDF8"/>
      </a:accent6>
      <a:hlink>
        <a:srgbClr val="0F5F5A"/>
      </a:hlink>
      <a:folHlink>
        <a:srgbClr val="8C92FF"/>
      </a:folHlink>
    </a:clrScheme>
    <a:fontScheme name="Nile Co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Fundamentals - Lesson 6: Capstone Project</dc:title>
  <dc:subject>HTML for school students</dc:subject>
  <dc:creator>HTML Fundamentals Course</dc:creator>
  <cp:lastModifiedBy>HTML Fundamentals Course</cp:lastModifiedBy>
  <cp:revision>1</cp:revision>
  <dcterms:created xsi:type="dcterms:W3CDTF">2026-10-04T23:25:00Z</dcterms:created>
  <dcterms:modified xsi:type="dcterms:W3CDTF">2026-10-04T23:25:00Z</dcterms:modified>
</cp:coreProperties>
</file>