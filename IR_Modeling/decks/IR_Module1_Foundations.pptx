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7665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6400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Shape 0"/>
          <p:cNvSpPr/>
          <p:nvPr/>
        </p:nvSpPr>
        <p:spPr>
          <a:xfrm>
            <a:off x="548640" y="114300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Retrieval Modeling  |  Module 1: Foundations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Shape 0"/>
          <p:cNvSpPr/>
          <p:nvPr/>
        </p:nvSpPr>
        <p:spPr>
          <a:xfrm>
            <a:off x="548640" y="114300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Retrieval Modeling  |  Module 1: Foundations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1_pill"/>
          <p:cNvSpPr/>
          <p:nvPr/>
        </p:nvSpPr>
        <p:spPr>
          <a:xfrm>
            <a:off x="731520" y="1325880"/>
            <a:ext cx="2468880" cy="4206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" name="a1_pill_t"/>
          <p:cNvSpPr txBox="1"/>
          <p:nvPr/>
        </p:nvSpPr>
        <p:spPr>
          <a:xfrm>
            <a:off x="731520" y="132588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OF 7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182880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Foundations of Information Retrieval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40233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Problems, pipeline and the idea of relevance</a:t>
            </a:r>
            <a:endParaRPr lang="en-US" sz="2100" dirty="0"/>
          </a:p>
        </p:txBody>
      </p:sp>
      <p:sp>
        <p:nvSpPr>
          <p:cNvPr id="6" name="a4_meta"/>
          <p:cNvSpPr txBox="1"/>
          <p:nvPr/>
        </p:nvSpPr>
        <p:spPr>
          <a:xfrm>
            <a:off x="731520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 |  Prior knowledge: databases, basic ML  |  ~45 min</a:t>
            </a:r>
            <a:endParaRPr lang="en-US" sz="1500" dirty="0"/>
          </a:p>
        </p:txBody>
      </p:sp>
      <p:sp>
        <p:nvSpPr>
          <p:cNvPr id="7" name="a5_term"/>
          <p:cNvSpPr/>
          <p:nvPr/>
        </p:nvSpPr>
        <p:spPr>
          <a:xfrm>
            <a:off x="7589520" y="1371600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a5_post"/>
          <p:cNvSpPr/>
          <p:nvPr/>
        </p:nvSpPr>
        <p:spPr>
          <a:xfrm>
            <a:off x="8823960" y="1371600"/>
            <a:ext cx="2487168" cy="475488"/>
          </a:xfrm>
          <a:prstGeom prst="roundRect">
            <a:avLst>
              <a:gd name="adj" fmla="val 19231"/>
            </a:avLst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9" name="a6_term"/>
          <p:cNvSpPr/>
          <p:nvPr/>
        </p:nvSpPr>
        <p:spPr>
          <a:xfrm>
            <a:off x="7589520" y="2084832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0" name="a6_post"/>
          <p:cNvSpPr/>
          <p:nvPr/>
        </p:nvSpPr>
        <p:spPr>
          <a:xfrm>
            <a:off x="8823960" y="2084832"/>
            <a:ext cx="3419856" cy="475488"/>
          </a:xfrm>
          <a:prstGeom prst="roundRect">
            <a:avLst>
              <a:gd name="adj" fmla="val 19231"/>
            </a:avLst>
          </a:prstGeom>
          <a:solidFill>
            <a:schemeClr val="accent3">
              <a:alpha val="85000"/>
            </a:schemeClr>
          </a:solidFill>
          <a:ln/>
        </p:spPr>
      </p:sp>
      <p:sp>
        <p:nvSpPr>
          <p:cNvPr id="11" name="a7_term"/>
          <p:cNvSpPr/>
          <p:nvPr/>
        </p:nvSpPr>
        <p:spPr>
          <a:xfrm>
            <a:off x="7589520" y="2798064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2" name="a7_post"/>
          <p:cNvSpPr/>
          <p:nvPr/>
        </p:nvSpPr>
        <p:spPr>
          <a:xfrm>
            <a:off x="8823960" y="2798064"/>
            <a:ext cx="1865376" cy="475488"/>
          </a:xfrm>
          <a:prstGeom prst="roundRect">
            <a:avLst>
              <a:gd name="adj" fmla="val 19231"/>
            </a:avLst>
          </a:prstGeom>
          <a:solidFill>
            <a:schemeClr val="accent4">
              <a:alpha val="85000"/>
            </a:schemeClr>
          </a:solidFill>
          <a:ln/>
        </p:spPr>
      </p:sp>
      <p:sp>
        <p:nvSpPr>
          <p:cNvPr id="13" name="a8_term"/>
          <p:cNvSpPr/>
          <p:nvPr/>
        </p:nvSpPr>
        <p:spPr>
          <a:xfrm>
            <a:off x="7589520" y="3511296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a8_post"/>
          <p:cNvSpPr/>
          <p:nvPr/>
        </p:nvSpPr>
        <p:spPr>
          <a:xfrm>
            <a:off x="8823960" y="3511296"/>
            <a:ext cx="2953512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15" name="a9_term"/>
          <p:cNvSpPr/>
          <p:nvPr/>
        </p:nvSpPr>
        <p:spPr>
          <a:xfrm>
            <a:off x="7589520" y="4224528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6" name="a9_post"/>
          <p:cNvSpPr/>
          <p:nvPr/>
        </p:nvSpPr>
        <p:spPr>
          <a:xfrm>
            <a:off x="8823960" y="4224528"/>
            <a:ext cx="2253996" cy="475488"/>
          </a:xfrm>
          <a:prstGeom prst="roundRect">
            <a:avLst>
              <a:gd name="adj" fmla="val 19231"/>
            </a:avLst>
          </a:prstGeom>
          <a:solidFill>
            <a:schemeClr val="accent6">
              <a:alpha val="85000"/>
            </a:schemeClr>
          </a:solidFill>
          <a:ln/>
        </p:spPr>
      </p:sp>
      <p:sp>
        <p:nvSpPr>
          <p:cNvPr id="17" name="a10_term"/>
          <p:cNvSpPr/>
          <p:nvPr/>
        </p:nvSpPr>
        <p:spPr>
          <a:xfrm>
            <a:off x="7589520" y="4937760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a10_post"/>
          <p:cNvSpPr/>
          <p:nvPr/>
        </p:nvSpPr>
        <p:spPr>
          <a:xfrm>
            <a:off x="8823960" y="4937760"/>
            <a:ext cx="3186684" cy="475488"/>
          </a:xfrm>
          <a:prstGeom prst="roundRect">
            <a:avLst>
              <a:gd name="adj" fmla="val 19231"/>
            </a:avLst>
          </a:prstGeom>
          <a:solidFill>
            <a:schemeClr val="accent1">
              <a:alpha val="85000"/>
            </a:scheme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3" name="a2_lead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module you will be able to:</a:t>
            </a:r>
            <a:endParaRPr lang="en-US" sz="1800" dirty="0"/>
          </a:p>
        </p:txBody>
      </p:sp>
      <p:sp>
        <p:nvSpPr>
          <p:cNvPr id="4" name="a3_row"/>
          <p:cNvSpPr/>
          <p:nvPr/>
        </p:nvSpPr>
        <p:spPr>
          <a:xfrm>
            <a:off x="548640" y="2011680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5" name="a3_num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a3_obj"/>
          <p:cNvSpPr txBox="1"/>
          <p:nvPr/>
        </p:nvSpPr>
        <p:spPr>
          <a:xfrm>
            <a:off x="1600200" y="2011680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information retrieval differs from querying a database, and why ranking is central</a:t>
            </a:r>
            <a:endParaRPr lang="en-US" sz="1900" dirty="0"/>
          </a:p>
        </p:txBody>
      </p:sp>
      <p:sp>
        <p:nvSpPr>
          <p:cNvPr id="8" name="a4_row"/>
          <p:cNvSpPr/>
          <p:nvPr/>
        </p:nvSpPr>
        <p:spPr>
          <a:xfrm>
            <a:off x="548640" y="3035808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9" name="a4_num"/>
          <p:cNvSpPr/>
          <p:nvPr/>
        </p:nvSpPr>
        <p:spPr>
          <a:xfrm>
            <a:off x="822960" y="321868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a4_numt"/>
          <p:cNvSpPr txBox="1"/>
          <p:nvPr/>
        </p:nvSpPr>
        <p:spPr>
          <a:xfrm>
            <a:off x="822960" y="3218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a4_obj"/>
          <p:cNvSpPr txBox="1"/>
          <p:nvPr/>
        </p:nvSpPr>
        <p:spPr>
          <a:xfrm>
            <a:off x="1600200" y="3035808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documents, queries, information needs and relevance precisely</a:t>
            </a:r>
            <a:endParaRPr lang="en-US" sz="1900" dirty="0"/>
          </a:p>
        </p:txBody>
      </p:sp>
      <p:sp>
        <p:nvSpPr>
          <p:cNvPr id="12" name="a5_row"/>
          <p:cNvSpPr/>
          <p:nvPr/>
        </p:nvSpPr>
        <p:spPr>
          <a:xfrm>
            <a:off x="548640" y="4059936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3" name="a5_num"/>
          <p:cNvSpPr/>
          <p:nvPr/>
        </p:nvSpPr>
        <p:spPr>
          <a:xfrm>
            <a:off x="822960" y="4242816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a5_numt"/>
          <p:cNvSpPr txBox="1"/>
          <p:nvPr/>
        </p:nvSpPr>
        <p:spPr>
          <a:xfrm>
            <a:off x="822960" y="4242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a5_obj"/>
          <p:cNvSpPr txBox="1"/>
          <p:nvPr/>
        </p:nvSpPr>
        <p:spPr>
          <a:xfrm>
            <a:off x="1600200" y="4059936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offline and online stages of a typical retrieval pipeline</a:t>
            </a:r>
            <a:endParaRPr lang="en-US" sz="1900" dirty="0"/>
          </a:p>
        </p:txBody>
      </p:sp>
      <p:sp>
        <p:nvSpPr>
          <p:cNvPr id="16" name="a6_row"/>
          <p:cNvSpPr/>
          <p:nvPr/>
        </p:nvSpPr>
        <p:spPr>
          <a:xfrm>
            <a:off x="548640" y="5084064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7" name="a6_num"/>
          <p:cNvSpPr/>
          <p:nvPr/>
        </p:nvSpPr>
        <p:spPr>
          <a:xfrm>
            <a:off x="822960" y="5266944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a6_numt"/>
          <p:cNvSpPr txBox="1"/>
          <p:nvPr/>
        </p:nvSpPr>
        <p:spPr>
          <a:xfrm>
            <a:off x="82296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a6_obj"/>
          <p:cNvSpPr txBox="1"/>
          <p:nvPr/>
        </p:nvSpPr>
        <p:spPr>
          <a:xfrm>
            <a:off x="1600200" y="5084064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precision and recall, and explain the trade-off between them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is information retrieval?</a:t>
            </a:r>
            <a:endParaRPr lang="en-US" sz="3200" dirty="0"/>
          </a:p>
        </p:txBody>
      </p:sp>
      <p:sp>
        <p:nvSpPr>
          <p:cNvPr id="3" name="a2_body"/>
          <p:cNvSpPr txBox="1"/>
          <p:nvPr/>
        </p:nvSpPr>
        <p:spPr>
          <a:xfrm>
            <a:off x="548640" y="1463040"/>
            <a:ext cx="69494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material, usually text documents, that satisfies an information need from within a large collection.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data.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have no fixed schema. Meaning lives in natural language, which is ambiguous and varied.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answers.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documents match somewhat. The system orders them so the most useful appear first.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reach billions of documents, so every design choice is also a cost decision.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such as clicks and reformulated queries gives hints about what worked.</a:t>
            </a:r>
            <a:endParaRPr lang="en-US" sz="2100" dirty="0"/>
          </a:p>
        </p:txBody>
      </p:sp>
      <p:sp>
        <p:nvSpPr>
          <p:cNvPr id="4" name="a3_co"/>
          <p:cNvSpPr/>
          <p:nvPr/>
        </p:nvSpPr>
        <p:spPr>
          <a:xfrm>
            <a:off x="7818120" y="1508760"/>
            <a:ext cx="3822192" cy="2468880"/>
          </a:xfrm>
          <a:prstGeom prst="roundRect">
            <a:avLst>
              <a:gd name="adj" fmla="val 3704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7818120" y="1618488"/>
            <a:ext cx="64008" cy="224942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74152" y="1600200"/>
            <a:ext cx="3410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answers a precise question exactly. A retrieval system answers a vague question approximately, and must decide which approximation is best.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Database query versus retrieval query</a:t>
            </a:r>
            <a:endParaRPr lang="en-US" sz="3200" dirty="0"/>
          </a:p>
        </p:txBody>
      </p:sp>
      <p:graphicFrame>
        <p:nvGraphicFramePr>
          <p:cNvPr id="5" name="a2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389120"/>
                <a:gridCol w="450799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retrieval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rows with typed columns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text, semi-structured pages, media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predicate (exact language)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few keywords or a natural sentence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Exact: a row qualifies or it does not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Partial: documents match to a degree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unordered set, complete and correct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ranked list, best candidates first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or missing rows are bugs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ordering or missed documents are quality gaps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a3_co"/>
          <p:cNvSpPr/>
          <p:nvPr/>
        </p:nvSpPr>
        <p:spPr>
          <a:xfrm>
            <a:off x="548640" y="4901184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548640" y="5010912"/>
            <a:ext cx="64008" cy="78638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4672" y="4992624"/>
            <a:ext cx="106829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consequence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matching is partial, the core of an IR system is a scoring function that turns a query and a document into a number.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Key terms</a:t>
            </a:r>
            <a:endParaRPr lang="en-US" sz="3200" dirty="0"/>
          </a:p>
        </p:txBody>
      </p:sp>
      <p:sp>
        <p:nvSpPr>
          <p:cNvPr id="3" name="a2_body"/>
          <p:cNvSpPr txBox="1"/>
          <p:nvPr/>
        </p:nvSpPr>
        <p:spPr>
          <a:xfrm>
            <a:off x="548640" y="1463040"/>
            <a:ext cx="69494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that can be returned: a web page, a paragraph, an email, a product listing.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(corpus).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set of documents the system can search.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need.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actually wants to know. It is rarely written down in full.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user's attempt to express that need as text. It is always a lossy summary.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a document satisfies the information need, judged by a person or inferred from behavior.</a:t>
            </a:r>
            <a:endParaRPr lang="en-US" sz="2100" dirty="0"/>
          </a:p>
        </p:txBody>
      </p:sp>
      <p:sp>
        <p:nvSpPr>
          <p:cNvPr id="4" name="a3_co"/>
          <p:cNvSpPr/>
          <p:nvPr/>
        </p:nvSpPr>
        <p:spPr>
          <a:xfrm>
            <a:off x="7818120" y="1508760"/>
            <a:ext cx="3822192" cy="2468880"/>
          </a:xfrm>
          <a:prstGeom prst="roundRect">
            <a:avLst>
              <a:gd name="adj" fmla="val 3704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7818120" y="1618488"/>
            <a:ext cx="64008" cy="224942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74152" y="1600200"/>
            <a:ext cx="3410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 mind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that the query and the need are different objects. Every retrieval model works with the query but is judged against the need.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retrieval pipeline</a:t>
            </a:r>
            <a:endParaRPr lang="en-US" sz="3200" dirty="0"/>
          </a:p>
        </p:txBody>
      </p:sp>
      <p:sp>
        <p:nvSpPr>
          <p:cNvPr id="3" name="a2_lane"/>
          <p:cNvSpPr txBox="1"/>
          <p:nvPr/>
        </p:nvSpPr>
        <p:spPr>
          <a:xfrm>
            <a:off x="548640" y="1508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OFFLINE: prepare the collection</a:t>
            </a:r>
            <a:endParaRPr lang="en-US" sz="1500" dirty="0"/>
          </a:p>
        </p:txBody>
      </p:sp>
      <p:sp>
        <p:nvSpPr>
          <p:cNvPr id="4" name="a3_box"/>
          <p:cNvSpPr/>
          <p:nvPr/>
        </p:nvSpPr>
        <p:spPr>
          <a:xfrm>
            <a:off x="548640" y="1874520"/>
            <a:ext cx="3423818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a3_box_t"/>
          <p:cNvSpPr txBox="1"/>
          <p:nvPr/>
        </p:nvSpPr>
        <p:spPr>
          <a:xfrm>
            <a:off x="658368" y="1874520"/>
            <a:ext cx="320436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60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or ingest</a:t>
            </a:r>
            <a:endParaRPr lang="en-US" sz="1600" dirty="0"/>
          </a:p>
        </p:txBody>
      </p:sp>
      <p:sp>
        <p:nvSpPr>
          <p:cNvPr id="6" name="a3_arrow"/>
          <p:cNvSpPr/>
          <p:nvPr/>
        </p:nvSpPr>
        <p:spPr>
          <a:xfrm>
            <a:off x="4027322" y="2286000"/>
            <a:ext cx="301752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7" name="a3_box"/>
          <p:cNvSpPr/>
          <p:nvPr/>
        </p:nvSpPr>
        <p:spPr>
          <a:xfrm>
            <a:off x="4383938" y="1874520"/>
            <a:ext cx="3423818" cy="1097280"/>
          </a:xfrm>
          <a:prstGeom prst="roundRect">
            <a:avLst>
              <a:gd name="adj" fmla="val 8333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a3_box_t"/>
          <p:cNvSpPr txBox="1"/>
          <p:nvPr/>
        </p:nvSpPr>
        <p:spPr>
          <a:xfrm>
            <a:off x="4493666" y="1874520"/>
            <a:ext cx="320436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60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tokenize</a:t>
            </a:r>
            <a:endParaRPr lang="en-US" sz="1600" dirty="0"/>
          </a:p>
        </p:txBody>
      </p:sp>
      <p:sp>
        <p:nvSpPr>
          <p:cNvPr id="9" name="a3_arrow"/>
          <p:cNvSpPr/>
          <p:nvPr/>
        </p:nvSpPr>
        <p:spPr>
          <a:xfrm>
            <a:off x="7862621" y="2286000"/>
            <a:ext cx="301752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0" name="a3_box"/>
          <p:cNvSpPr/>
          <p:nvPr/>
        </p:nvSpPr>
        <p:spPr>
          <a:xfrm>
            <a:off x="8219237" y="1874520"/>
            <a:ext cx="3423818" cy="1097280"/>
          </a:xfrm>
          <a:prstGeom prst="roundRect">
            <a:avLst>
              <a:gd name="adj" fmla="val 8333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a3_box_t"/>
          <p:cNvSpPr txBox="1"/>
          <p:nvPr/>
        </p:nvSpPr>
        <p:spPr>
          <a:xfrm>
            <a:off x="8328965" y="1874520"/>
            <a:ext cx="320436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60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lookup structures</a:t>
            </a:r>
            <a:endParaRPr lang="en-US" sz="1600" dirty="0"/>
          </a:p>
        </p:txBody>
      </p:sp>
      <p:sp>
        <p:nvSpPr>
          <p:cNvPr id="12" name="a4_lane"/>
          <p:cNvSpPr txBox="1"/>
          <p:nvPr/>
        </p:nvSpPr>
        <p:spPr>
          <a:xfrm>
            <a:off x="548640" y="33375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ONLINE: answer a query within milliseconds</a:t>
            </a:r>
            <a:endParaRPr lang="en-US" sz="1500" dirty="0"/>
          </a:p>
        </p:txBody>
      </p:sp>
      <p:sp>
        <p:nvSpPr>
          <p:cNvPr id="13" name="a5_box"/>
          <p:cNvSpPr/>
          <p:nvPr/>
        </p:nvSpPr>
        <p:spPr>
          <a:xfrm>
            <a:off x="548640" y="3703320"/>
            <a:ext cx="2464994" cy="1097280"/>
          </a:xfrm>
          <a:prstGeom prst="roundRect">
            <a:avLst>
              <a:gd name="adj" fmla="val 8333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4" name="a5_box_t"/>
          <p:cNvSpPr txBox="1"/>
          <p:nvPr/>
        </p:nvSpPr>
        <p:spPr>
          <a:xfrm>
            <a:off x="658368" y="3703320"/>
            <a:ext cx="2245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60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query</a:t>
            </a:r>
            <a:endParaRPr lang="en-US" sz="1600" dirty="0"/>
          </a:p>
        </p:txBody>
      </p:sp>
      <p:sp>
        <p:nvSpPr>
          <p:cNvPr id="15" name="a5_arrow"/>
          <p:cNvSpPr/>
          <p:nvPr/>
        </p:nvSpPr>
        <p:spPr>
          <a:xfrm>
            <a:off x="3068498" y="4114800"/>
            <a:ext cx="301752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6" name="a5_box"/>
          <p:cNvSpPr/>
          <p:nvPr/>
        </p:nvSpPr>
        <p:spPr>
          <a:xfrm>
            <a:off x="3425114" y="3703320"/>
            <a:ext cx="2464994" cy="109728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7" name="a5_box_t"/>
          <p:cNvSpPr txBox="1"/>
          <p:nvPr/>
        </p:nvSpPr>
        <p:spPr>
          <a:xfrm>
            <a:off x="3534842" y="3703320"/>
            <a:ext cx="2245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60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candidates</a:t>
            </a:r>
            <a:endParaRPr lang="en-US" sz="1600" dirty="0"/>
          </a:p>
        </p:txBody>
      </p:sp>
      <p:sp>
        <p:nvSpPr>
          <p:cNvPr id="18" name="a5_arrow"/>
          <p:cNvSpPr/>
          <p:nvPr/>
        </p:nvSpPr>
        <p:spPr>
          <a:xfrm>
            <a:off x="5944972" y="4114800"/>
            <a:ext cx="301752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9" name="a5_box"/>
          <p:cNvSpPr/>
          <p:nvPr/>
        </p:nvSpPr>
        <p:spPr>
          <a:xfrm>
            <a:off x="6301588" y="3703320"/>
            <a:ext cx="2464994" cy="1097280"/>
          </a:xfrm>
          <a:prstGeom prst="roundRect">
            <a:avLst>
              <a:gd name="adj" fmla="val 8333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a5_box_t"/>
          <p:cNvSpPr txBox="1"/>
          <p:nvPr/>
        </p:nvSpPr>
        <p:spPr>
          <a:xfrm>
            <a:off x="6411316" y="3703320"/>
            <a:ext cx="2245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60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and sort</a:t>
            </a:r>
            <a:endParaRPr lang="en-US" sz="1600" dirty="0"/>
          </a:p>
        </p:txBody>
      </p:sp>
      <p:sp>
        <p:nvSpPr>
          <p:cNvPr id="21" name="a5_arrow"/>
          <p:cNvSpPr/>
          <p:nvPr/>
        </p:nvSpPr>
        <p:spPr>
          <a:xfrm>
            <a:off x="8821445" y="4114800"/>
            <a:ext cx="301752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2" name="a5_box"/>
          <p:cNvSpPr/>
          <p:nvPr/>
        </p:nvSpPr>
        <p:spPr>
          <a:xfrm>
            <a:off x="9178061" y="3703320"/>
            <a:ext cx="2464994" cy="1097280"/>
          </a:xfrm>
          <a:prstGeom prst="roundRect">
            <a:avLst>
              <a:gd name="adj" fmla="val 8333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3" name="a5_box_t"/>
          <p:cNvSpPr txBox="1"/>
          <p:nvPr/>
        </p:nvSpPr>
        <p:spPr>
          <a:xfrm>
            <a:off x="9287789" y="3703320"/>
            <a:ext cx="2245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60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snippets and feedback</a:t>
            </a:r>
            <a:endParaRPr lang="en-US" sz="1600" dirty="0"/>
          </a:p>
        </p:txBody>
      </p:sp>
      <p:sp>
        <p:nvSpPr>
          <p:cNvPr id="24" name="a9_co"/>
          <p:cNvSpPr/>
          <p:nvPr/>
        </p:nvSpPr>
        <p:spPr>
          <a:xfrm>
            <a:off x="548640" y="516636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FF4DC"/>
          </a:solidFill>
          <a:ln/>
        </p:spPr>
      </p:sp>
      <p:sp>
        <p:nvSpPr>
          <p:cNvPr id="25" name="a9_co_bar"/>
          <p:cNvSpPr/>
          <p:nvPr/>
        </p:nvSpPr>
        <p:spPr>
          <a:xfrm>
            <a:off x="548640" y="5276088"/>
            <a:ext cx="64008" cy="78638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6" name="a9_co_t"/>
          <p:cNvSpPr txBox="1"/>
          <p:nvPr/>
        </p:nvSpPr>
        <p:spPr>
          <a:xfrm>
            <a:off x="804672" y="5257800"/>
            <a:ext cx="106829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split the work?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work is done once per document, offline, so that each query can be answered quickly from precomputed structures.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example: an ambiguous query</a:t>
            </a:r>
            <a:endParaRPr lang="en-US" sz="32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2602154" cy="338328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bar"/>
          <p:cNvSpPr/>
          <p:nvPr/>
        </p:nvSpPr>
        <p:spPr>
          <a:xfrm>
            <a:off x="777240" y="1508760"/>
            <a:ext cx="731520" cy="731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a2_num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2_numt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a2_head"/>
          <p:cNvSpPr txBox="1"/>
          <p:nvPr/>
        </p:nvSpPr>
        <p:spPr>
          <a:xfrm>
            <a:off x="777240" y="246888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need</a:t>
            </a:r>
            <a:endParaRPr lang="en-US" sz="1800" dirty="0"/>
          </a:p>
        </p:txBody>
      </p:sp>
      <p:sp>
        <p:nvSpPr>
          <p:cNvPr id="8" name="a2_body"/>
          <p:cNvSpPr txBox="1"/>
          <p:nvPr/>
        </p:nvSpPr>
        <p:spPr>
          <a:xfrm>
            <a:off x="777240" y="3200400"/>
            <a:ext cx="21449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reader wants to know how fast the animal called a jaguar can run.</a:t>
            </a:r>
            <a:endParaRPr lang="en-US" sz="1600" dirty="0"/>
          </a:p>
        </p:txBody>
      </p:sp>
      <p:sp>
        <p:nvSpPr>
          <p:cNvPr id="9" name="a3_card"/>
          <p:cNvSpPr/>
          <p:nvPr/>
        </p:nvSpPr>
        <p:spPr>
          <a:xfrm>
            <a:off x="3379394" y="1508760"/>
            <a:ext cx="2602154" cy="338328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a3_bar"/>
          <p:cNvSpPr/>
          <p:nvPr/>
        </p:nvSpPr>
        <p:spPr>
          <a:xfrm>
            <a:off x="3607994" y="1508760"/>
            <a:ext cx="731520" cy="7315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" name="a3_num"/>
          <p:cNvSpPr/>
          <p:nvPr/>
        </p:nvSpPr>
        <p:spPr>
          <a:xfrm>
            <a:off x="3607994" y="17830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360799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a3_head"/>
          <p:cNvSpPr txBox="1"/>
          <p:nvPr/>
        </p:nvSpPr>
        <p:spPr>
          <a:xfrm>
            <a:off x="3607994" y="246888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800" dirty="0"/>
          </a:p>
        </p:txBody>
      </p:sp>
      <p:sp>
        <p:nvSpPr>
          <p:cNvPr id="14" name="a3_body"/>
          <p:cNvSpPr txBox="1"/>
          <p:nvPr/>
        </p:nvSpPr>
        <p:spPr>
          <a:xfrm>
            <a:off x="3607994" y="3200400"/>
            <a:ext cx="21449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"jaguar speed". Two words cannot say whether animal, car or software is meant.</a:t>
            </a:r>
            <a:endParaRPr lang="en-US" sz="1600" dirty="0"/>
          </a:p>
        </p:txBody>
      </p:sp>
      <p:sp>
        <p:nvSpPr>
          <p:cNvPr id="15" name="a4_card"/>
          <p:cNvSpPr/>
          <p:nvPr/>
        </p:nvSpPr>
        <p:spPr>
          <a:xfrm>
            <a:off x="6210148" y="1508760"/>
            <a:ext cx="2602154" cy="338328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a4_bar"/>
          <p:cNvSpPr/>
          <p:nvPr/>
        </p:nvSpPr>
        <p:spPr>
          <a:xfrm>
            <a:off x="6438748" y="1508760"/>
            <a:ext cx="731520" cy="7315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7" name="a4_num"/>
          <p:cNvSpPr/>
          <p:nvPr/>
        </p:nvSpPr>
        <p:spPr>
          <a:xfrm>
            <a:off x="6438748" y="17830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a4_numt"/>
          <p:cNvSpPr txBox="1"/>
          <p:nvPr/>
        </p:nvSpPr>
        <p:spPr>
          <a:xfrm>
            <a:off x="643874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a4_head"/>
          <p:cNvSpPr txBox="1"/>
          <p:nvPr/>
        </p:nvSpPr>
        <p:spPr>
          <a:xfrm>
            <a:off x="6438748" y="246888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800" dirty="0"/>
          </a:p>
        </p:txBody>
      </p:sp>
      <p:sp>
        <p:nvSpPr>
          <p:cNvPr id="20" name="a4_body"/>
          <p:cNvSpPr txBox="1"/>
          <p:nvPr/>
        </p:nvSpPr>
        <p:spPr>
          <a:xfrm>
            <a:off x="6438748" y="3200400"/>
            <a:ext cx="21449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about the cat, a car brand, a sports team and an operating system all contain both words.</a:t>
            </a:r>
            <a:endParaRPr lang="en-US" sz="1600" dirty="0"/>
          </a:p>
        </p:txBody>
      </p:sp>
      <p:sp>
        <p:nvSpPr>
          <p:cNvPr id="21" name="a5_card"/>
          <p:cNvSpPr/>
          <p:nvPr/>
        </p:nvSpPr>
        <p:spPr>
          <a:xfrm>
            <a:off x="9040901" y="1508760"/>
            <a:ext cx="2602154" cy="338328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2" name="a5_bar"/>
          <p:cNvSpPr/>
          <p:nvPr/>
        </p:nvSpPr>
        <p:spPr>
          <a:xfrm>
            <a:off x="9269501" y="1508760"/>
            <a:ext cx="731520" cy="7315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" name="a5_num"/>
          <p:cNvSpPr/>
          <p:nvPr/>
        </p:nvSpPr>
        <p:spPr>
          <a:xfrm>
            <a:off x="9269501" y="17830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a5_numt"/>
          <p:cNvSpPr txBox="1"/>
          <p:nvPr/>
        </p:nvSpPr>
        <p:spPr>
          <a:xfrm>
            <a:off x="9269501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a5_head"/>
          <p:cNvSpPr txBox="1"/>
          <p:nvPr/>
        </p:nvSpPr>
        <p:spPr>
          <a:xfrm>
            <a:off x="9269501" y="246888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decision</a:t>
            </a:r>
            <a:endParaRPr lang="en-US" sz="1800" dirty="0"/>
          </a:p>
        </p:txBody>
      </p:sp>
      <p:sp>
        <p:nvSpPr>
          <p:cNvPr id="26" name="a5_body"/>
          <p:cNvSpPr txBox="1"/>
          <p:nvPr/>
        </p:nvSpPr>
        <p:spPr>
          <a:xfrm>
            <a:off x="9269501" y="3200400"/>
            <a:ext cx="21449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must favor pages whose other words (cat, prey, mph) match the likely need.</a:t>
            </a:r>
            <a:endParaRPr lang="en-US" sz="1600" dirty="0"/>
          </a:p>
        </p:txBody>
      </p:sp>
      <p:sp>
        <p:nvSpPr>
          <p:cNvPr id="27" name="a8_co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4DC"/>
          </a:solidFill>
          <a:ln/>
        </p:spPr>
      </p:sp>
      <p:sp>
        <p:nvSpPr>
          <p:cNvPr id="28" name="a8_co_bar"/>
          <p:cNvSpPr/>
          <p:nvPr/>
        </p:nvSpPr>
        <p:spPr>
          <a:xfrm>
            <a:off x="548640" y="5230368"/>
            <a:ext cx="64008" cy="8321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9" name="a8_co_t"/>
          <p:cNvSpPr txBox="1"/>
          <p:nvPr/>
        </p:nvSpPr>
        <p:spPr>
          <a:xfrm>
            <a:off x="804672" y="5212080"/>
            <a:ext cx="10682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words is not matching meaning. Much of IR modeling is about narrowing that gap.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conveyor dir="l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Relevance is not a single idea</a:t>
            </a:r>
            <a:endParaRPr lang="en-US" sz="3200" dirty="0"/>
          </a:p>
        </p:txBody>
      </p:sp>
      <p:sp>
        <p:nvSpPr>
          <p:cNvPr id="3" name="a2_body"/>
          <p:cNvSpPr txBox="1"/>
          <p:nvPr/>
        </p:nvSpPr>
        <p:spPr>
          <a:xfrm>
            <a:off x="548640" y="1463040"/>
            <a:ext cx="69494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Topical.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 is about the subject of the query.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relevance.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suits this person's task, expertise, language and context.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or graded.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Judgments can be relevant or not, or use levels such as perfect, good, fair, bad.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answer can change with time, location and what the user has already seen.</a:t>
            </a:r>
            <a:endParaRPr lang="en-US" sz="2100" dirty="0"/>
          </a:p>
        </p:txBody>
      </p:sp>
      <p:sp>
        <p:nvSpPr>
          <p:cNvPr id="4" name="a3_co"/>
          <p:cNvSpPr/>
          <p:nvPr/>
        </p:nvSpPr>
        <p:spPr>
          <a:xfrm>
            <a:off x="7818120" y="1508760"/>
            <a:ext cx="3822192" cy="2468880"/>
          </a:xfrm>
          <a:prstGeom prst="roundRect">
            <a:avLst>
              <a:gd name="adj" fmla="val 3704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7818120" y="1618488"/>
            <a:ext cx="64008" cy="224942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74152" y="1600200"/>
            <a:ext cx="3410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view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cannot observe relevance directly. It estimates it from text, links and behavior, and its quality is measured against human judgments.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Precision and recall</a:t>
            </a:r>
            <a:endParaRPr lang="en-US" sz="3200" dirty="0"/>
          </a:p>
        </p:txBody>
      </p:sp>
      <p:sp>
        <p:nvSpPr>
          <p:cNvPr id="3" name="a2_eq"/>
          <p:cNvSpPr/>
          <p:nvPr/>
        </p:nvSpPr>
        <p:spPr>
          <a:xfrm>
            <a:off x="548640" y="1463040"/>
            <a:ext cx="11094415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eq_t"/>
          <p:cNvSpPr txBox="1"/>
          <p:nvPr/>
        </p:nvSpPr>
        <p:spPr>
          <a:xfrm>
            <a:off x="822960" y="14630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Precision = |Relevant ∩ Retrieved| / |Retrieved|        Recall = |Relevant ∩ Retrieved| / |Relevant|</a:t>
            </a:r>
            <a:endParaRPr lang="en-US" sz="2200" dirty="0"/>
          </a:p>
        </p:txBody>
      </p:sp>
      <p:sp>
        <p:nvSpPr>
          <p:cNvPr id="5" name="a3_where"/>
          <p:cNvSpPr txBox="1"/>
          <p:nvPr/>
        </p:nvSpPr>
        <p:spPr>
          <a:xfrm>
            <a:off x="54864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500" dirty="0"/>
          </a:p>
        </p:txBody>
      </p:sp>
      <p:sp>
        <p:nvSpPr>
          <p:cNvPr id="6" name="a3_chip"/>
          <p:cNvSpPr/>
          <p:nvPr/>
        </p:nvSpPr>
        <p:spPr>
          <a:xfrm>
            <a:off x="548640" y="3127248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sp>
        <p:nvSpPr>
          <p:cNvPr id="7" name="a3_chip_t"/>
          <p:cNvSpPr txBox="1"/>
          <p:nvPr/>
        </p:nvSpPr>
        <p:spPr>
          <a:xfrm>
            <a:off x="548640" y="312724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</a:t>
            </a:r>
            <a:endParaRPr lang="en-US" sz="1500" dirty="0"/>
          </a:p>
        </p:txBody>
      </p:sp>
      <p:sp>
        <p:nvSpPr>
          <p:cNvPr id="8" name="a3_mean"/>
          <p:cNvSpPr txBox="1"/>
          <p:nvPr/>
        </p:nvSpPr>
        <p:spPr>
          <a:xfrm>
            <a:off x="1920240" y="312724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the system returned for the query.</a:t>
            </a:r>
            <a:endParaRPr lang="en-US" sz="1450" dirty="0"/>
          </a:p>
        </p:txBody>
      </p:sp>
      <p:sp>
        <p:nvSpPr>
          <p:cNvPr id="9" name="a3_chip"/>
          <p:cNvSpPr/>
          <p:nvPr/>
        </p:nvSpPr>
        <p:spPr>
          <a:xfrm>
            <a:off x="548640" y="3694176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</p:sp>
      <p:sp>
        <p:nvSpPr>
          <p:cNvPr id="10" name="a3_chip_t"/>
          <p:cNvSpPr txBox="1"/>
          <p:nvPr/>
        </p:nvSpPr>
        <p:spPr>
          <a:xfrm>
            <a:off x="548640" y="369417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1500" dirty="0"/>
          </a:p>
        </p:txBody>
      </p:sp>
      <p:sp>
        <p:nvSpPr>
          <p:cNvPr id="11" name="a3_mean"/>
          <p:cNvSpPr txBox="1"/>
          <p:nvPr/>
        </p:nvSpPr>
        <p:spPr>
          <a:xfrm>
            <a:off x="1920240" y="3694176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documents in the collection that satisfy the need.</a:t>
            </a:r>
            <a:endParaRPr lang="en-US" sz="1450" dirty="0"/>
          </a:p>
        </p:txBody>
      </p:sp>
      <p:sp>
        <p:nvSpPr>
          <p:cNvPr id="12" name="a3_chip"/>
          <p:cNvSpPr/>
          <p:nvPr/>
        </p:nvSpPr>
        <p:spPr>
          <a:xfrm>
            <a:off x="548640" y="4261104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/>
        </p:spPr>
      </p:sp>
      <p:sp>
        <p:nvSpPr>
          <p:cNvPr id="13" name="a3_chip_t"/>
          <p:cNvSpPr txBox="1"/>
          <p:nvPr/>
        </p:nvSpPr>
        <p:spPr>
          <a:xfrm>
            <a:off x="548640" y="426110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14" name="a3_mean"/>
          <p:cNvSpPr txBox="1"/>
          <p:nvPr/>
        </p:nvSpPr>
        <p:spPr>
          <a:xfrm>
            <a:off x="1920240" y="4261104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what was returned, how much was useful.</a:t>
            </a:r>
            <a:endParaRPr lang="en-US" sz="1450" dirty="0"/>
          </a:p>
        </p:txBody>
      </p:sp>
      <p:sp>
        <p:nvSpPr>
          <p:cNvPr id="15" name="a3_chip"/>
          <p:cNvSpPr/>
          <p:nvPr/>
        </p:nvSpPr>
        <p:spPr>
          <a:xfrm>
            <a:off x="548640" y="4828032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</p:sp>
      <p:sp>
        <p:nvSpPr>
          <p:cNvPr id="16" name="a3_chip_t"/>
          <p:cNvSpPr txBox="1"/>
          <p:nvPr/>
        </p:nvSpPr>
        <p:spPr>
          <a:xfrm>
            <a:off x="548640" y="482803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500" dirty="0"/>
          </a:p>
        </p:txBody>
      </p:sp>
      <p:sp>
        <p:nvSpPr>
          <p:cNvPr id="17" name="a3_mean"/>
          <p:cNvSpPr txBox="1"/>
          <p:nvPr/>
        </p:nvSpPr>
        <p:spPr>
          <a:xfrm>
            <a:off x="1920240" y="4828032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what was useful, how much was returned.</a:t>
            </a:r>
            <a:endParaRPr lang="en-US" sz="1450" dirty="0"/>
          </a:p>
        </p:txBody>
      </p:sp>
      <p:sp>
        <p:nvSpPr>
          <p:cNvPr id="18" name="a4_co"/>
          <p:cNvSpPr/>
          <p:nvPr/>
        </p:nvSpPr>
        <p:spPr>
          <a:xfrm>
            <a:off x="7818120" y="2743200"/>
            <a:ext cx="3822192" cy="3017520"/>
          </a:xfrm>
          <a:prstGeom prst="roundRect">
            <a:avLst>
              <a:gd name="adj" fmla="val 3030"/>
            </a:avLst>
          </a:prstGeom>
          <a:solidFill>
            <a:srgbClr val="FFF4DC"/>
          </a:solidFill>
          <a:ln/>
        </p:spPr>
      </p:sp>
      <p:sp>
        <p:nvSpPr>
          <p:cNvPr id="19" name="a4_co_bar"/>
          <p:cNvSpPr/>
          <p:nvPr/>
        </p:nvSpPr>
        <p:spPr>
          <a:xfrm>
            <a:off x="7818120" y="2852928"/>
            <a:ext cx="64008" cy="27980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0" name="a4_co_t"/>
          <p:cNvSpPr txBox="1"/>
          <p:nvPr/>
        </p:nvSpPr>
        <p:spPr>
          <a:xfrm>
            <a:off x="8074152" y="2834640"/>
            <a:ext cx="341071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results returned, four relevant, twenty relevant in total. Precision is 4/10 = 0.4. Recall is 4/20 = 0.2. Returning more results usually raises recall and lowers precision.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indow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short map of the field</a:t>
            </a:r>
            <a:endParaRPr lang="en-US" sz="32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3515258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chip"/>
          <p:cNvSpPr/>
          <p:nvPr/>
        </p:nvSpPr>
        <p:spPr>
          <a:xfrm>
            <a:off x="777240" y="1737360"/>
            <a:ext cx="3058058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5" name="a2_chip_t"/>
          <p:cNvSpPr txBox="1"/>
          <p:nvPr/>
        </p:nvSpPr>
        <p:spPr>
          <a:xfrm>
            <a:off x="777240" y="17373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 era</a:t>
            </a:r>
            <a:endParaRPr lang="en-US" sz="1600" dirty="0"/>
          </a:p>
        </p:txBody>
      </p:sp>
      <p:sp>
        <p:nvSpPr>
          <p:cNvPr id="6" name="a2_items"/>
          <p:cNvSpPr txBox="1"/>
          <p:nvPr/>
        </p:nvSpPr>
        <p:spPr>
          <a:xfrm>
            <a:off x="777240" y="2377440"/>
            <a:ext cx="30580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queries on controlled vocabularies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Librarians as search experts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precise but rigid</a:t>
            </a:r>
            <a:endParaRPr lang="en-US" sz="1650" dirty="0"/>
          </a:p>
        </p:txBody>
      </p:sp>
      <p:sp>
        <p:nvSpPr>
          <p:cNvPr id="7" name="a3_card"/>
          <p:cNvSpPr/>
          <p:nvPr/>
        </p:nvSpPr>
        <p:spPr>
          <a:xfrm>
            <a:off x="4338218" y="1508760"/>
            <a:ext cx="3515258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a3_chip"/>
          <p:cNvSpPr/>
          <p:nvPr/>
        </p:nvSpPr>
        <p:spPr>
          <a:xfrm>
            <a:off x="4566818" y="1737360"/>
            <a:ext cx="3058058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9" name="a3_chip_t"/>
          <p:cNvSpPr txBox="1"/>
          <p:nvPr/>
        </p:nvSpPr>
        <p:spPr>
          <a:xfrm>
            <a:off x="4566818" y="17373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era</a:t>
            </a:r>
            <a:endParaRPr lang="en-US" sz="1600" dirty="0"/>
          </a:p>
        </p:txBody>
      </p:sp>
      <p:sp>
        <p:nvSpPr>
          <p:cNvPr id="10" name="a3_items"/>
          <p:cNvSpPr txBox="1"/>
          <p:nvPr/>
        </p:nvSpPr>
        <p:spPr>
          <a:xfrm>
            <a:off x="4566818" y="2377440"/>
            <a:ext cx="30580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weighting and ranking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and probabilistic models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graded relevance from text statistics</a:t>
            </a:r>
            <a:endParaRPr lang="en-US" sz="1650" dirty="0"/>
          </a:p>
        </p:txBody>
      </p:sp>
      <p:sp>
        <p:nvSpPr>
          <p:cNvPr id="11" name="a4_card"/>
          <p:cNvSpPr/>
          <p:nvPr/>
        </p:nvSpPr>
        <p:spPr>
          <a:xfrm>
            <a:off x="8127797" y="1508760"/>
            <a:ext cx="3515258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a4_chip"/>
          <p:cNvSpPr/>
          <p:nvPr/>
        </p:nvSpPr>
        <p:spPr>
          <a:xfrm>
            <a:off x="8356397" y="1737360"/>
            <a:ext cx="3058058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13" name="a4_chip_t"/>
          <p:cNvSpPr txBox="1"/>
          <p:nvPr/>
        </p:nvSpPr>
        <p:spPr>
          <a:xfrm>
            <a:off x="8356397" y="17373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era</a:t>
            </a:r>
            <a:endParaRPr lang="en-US" sz="1600" dirty="0"/>
          </a:p>
        </p:txBody>
      </p:sp>
      <p:sp>
        <p:nvSpPr>
          <p:cNvPr id="14" name="a4_items"/>
          <p:cNvSpPr txBox="1"/>
          <p:nvPr/>
        </p:nvSpPr>
        <p:spPr>
          <a:xfrm>
            <a:off x="8356397" y="2377440"/>
            <a:ext cx="30580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and neural rankers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judgments and behavior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matching by meaning</a:t>
            </a:r>
            <a:endParaRPr lang="en-US" sz="1650" dirty="0"/>
          </a:p>
        </p:txBody>
      </p:sp>
      <p:sp>
        <p:nvSpPr>
          <p:cNvPr id="15" name="a7_co"/>
          <p:cNvSpPr/>
          <p:nvPr/>
        </p:nvSpPr>
        <p:spPr>
          <a:xfrm>
            <a:off x="548640" y="489204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FFF4DC"/>
          </a:solidFill>
          <a:ln/>
        </p:spPr>
      </p:sp>
      <p:sp>
        <p:nvSpPr>
          <p:cNvPr id="16" name="a7_co_bar"/>
          <p:cNvSpPr/>
          <p:nvPr/>
        </p:nvSpPr>
        <p:spPr>
          <a:xfrm>
            <a:off x="548640" y="5001768"/>
            <a:ext cx="64008" cy="115214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a7_co_t"/>
          <p:cNvSpPr txBox="1"/>
          <p:nvPr/>
        </p:nvSpPr>
        <p:spPr>
          <a:xfrm>
            <a:off x="804672" y="4983480"/>
            <a:ext cx="10682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replacement story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methods build on older ones. Modern systems typically combine all three, which is why this series covers each.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Three design questions every system answers</a:t>
            </a:r>
            <a:endParaRPr lang="en-US" sz="32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3515258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chip"/>
          <p:cNvSpPr/>
          <p:nvPr/>
        </p:nvSpPr>
        <p:spPr>
          <a:xfrm>
            <a:off x="777240" y="1737360"/>
            <a:ext cx="3058058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5" name="a2_chip_t"/>
          <p:cNvSpPr txBox="1"/>
          <p:nvPr/>
        </p:nvSpPr>
        <p:spPr>
          <a:xfrm>
            <a:off x="777240" y="17373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1600" dirty="0"/>
          </a:p>
        </p:txBody>
      </p:sp>
      <p:sp>
        <p:nvSpPr>
          <p:cNvPr id="6" name="a2_items"/>
          <p:cNvSpPr txBox="1"/>
          <p:nvPr/>
        </p:nvSpPr>
        <p:spPr>
          <a:xfrm>
            <a:off x="777240" y="2377440"/>
            <a:ext cx="30580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turn text into something comparable?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2 and 5</a:t>
            </a:r>
            <a:endParaRPr lang="en-US" sz="1650" dirty="0"/>
          </a:p>
        </p:txBody>
      </p:sp>
      <p:sp>
        <p:nvSpPr>
          <p:cNvPr id="7" name="a3_card"/>
          <p:cNvSpPr/>
          <p:nvPr/>
        </p:nvSpPr>
        <p:spPr>
          <a:xfrm>
            <a:off x="4338218" y="1508760"/>
            <a:ext cx="3515258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a3_chip"/>
          <p:cNvSpPr/>
          <p:nvPr/>
        </p:nvSpPr>
        <p:spPr>
          <a:xfrm>
            <a:off x="4566818" y="1737360"/>
            <a:ext cx="3058058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9" name="a3_chip_t"/>
          <p:cNvSpPr txBox="1"/>
          <p:nvPr/>
        </p:nvSpPr>
        <p:spPr>
          <a:xfrm>
            <a:off x="4566818" y="17373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and scoring</a:t>
            </a:r>
            <a:endParaRPr lang="en-US" sz="1600" dirty="0"/>
          </a:p>
        </p:txBody>
      </p:sp>
      <p:sp>
        <p:nvSpPr>
          <p:cNvPr id="10" name="a3_items"/>
          <p:cNvSpPr txBox="1"/>
          <p:nvPr/>
        </p:nvSpPr>
        <p:spPr>
          <a:xfrm>
            <a:off x="4566818" y="2377440"/>
            <a:ext cx="30580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score a query against a document?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3 and 4</a:t>
            </a:r>
            <a:endParaRPr lang="en-US" sz="1650" dirty="0"/>
          </a:p>
        </p:txBody>
      </p:sp>
      <p:sp>
        <p:nvSpPr>
          <p:cNvPr id="11" name="a4_card"/>
          <p:cNvSpPr/>
          <p:nvPr/>
        </p:nvSpPr>
        <p:spPr>
          <a:xfrm>
            <a:off x="8127797" y="1508760"/>
            <a:ext cx="3515258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a4_chip"/>
          <p:cNvSpPr/>
          <p:nvPr/>
        </p:nvSpPr>
        <p:spPr>
          <a:xfrm>
            <a:off x="8356397" y="1737360"/>
            <a:ext cx="3058058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13" name="a4_chip_t"/>
          <p:cNvSpPr txBox="1"/>
          <p:nvPr/>
        </p:nvSpPr>
        <p:spPr>
          <a:xfrm>
            <a:off x="8356397" y="17373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14" name="a4_items"/>
          <p:cNvSpPr txBox="1"/>
          <p:nvPr/>
        </p:nvSpPr>
        <p:spPr>
          <a:xfrm>
            <a:off x="8356397" y="2377440"/>
            <a:ext cx="305805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know a change made results better?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6, then practice in 7</a:t>
            </a:r>
            <a:endParaRPr lang="en-US" sz="1650" dirty="0"/>
          </a:p>
        </p:txBody>
      </p:sp>
      <p:sp>
        <p:nvSpPr>
          <p:cNvPr id="15" name="a7_co"/>
          <p:cNvSpPr/>
          <p:nvPr/>
        </p:nvSpPr>
        <p:spPr>
          <a:xfrm>
            <a:off x="548640" y="489204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FFF4DC"/>
          </a:solidFill>
          <a:ln/>
        </p:spPr>
      </p:sp>
      <p:sp>
        <p:nvSpPr>
          <p:cNvPr id="16" name="a7_co_bar"/>
          <p:cNvSpPr/>
          <p:nvPr/>
        </p:nvSpPr>
        <p:spPr>
          <a:xfrm>
            <a:off x="548640" y="5001768"/>
            <a:ext cx="64008" cy="115214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a7_co_t"/>
          <p:cNvSpPr txBox="1"/>
          <p:nvPr/>
        </p:nvSpPr>
        <p:spPr>
          <a:xfrm>
            <a:off x="804672" y="4983480"/>
            <a:ext cx="10682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guide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later module changes one answer to these questions. Spotting which answer changes is the easiest way to compare models.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Key takeaways</a:t>
            </a:r>
            <a:endParaRPr lang="en-US" sz="3200" dirty="0"/>
          </a:p>
        </p:txBody>
      </p:sp>
      <p:sp>
        <p:nvSpPr>
          <p:cNvPr id="3" name="a2_dot"/>
          <p:cNvSpPr/>
          <p:nvPr/>
        </p:nvSpPr>
        <p:spPr>
          <a:xfrm>
            <a:off x="548640" y="1572768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4" name="a2_tick"/>
          <p:cNvSpPr txBox="1"/>
          <p:nvPr/>
        </p:nvSpPr>
        <p:spPr>
          <a:xfrm>
            <a:off x="54864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a2_pt"/>
          <p:cNvSpPr txBox="1"/>
          <p:nvPr/>
        </p:nvSpPr>
        <p:spPr>
          <a:xfrm>
            <a:off x="1234440" y="14630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returns a ranked list for vague, text-based needs, while databases return exact answers to formal queries.</a:t>
            </a:r>
            <a:endParaRPr lang="en-US" sz="1650" dirty="0"/>
          </a:p>
        </p:txBody>
      </p:sp>
      <p:sp>
        <p:nvSpPr>
          <p:cNvPr id="6" name="a3_dot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7" name="a3_tick"/>
          <p:cNvSpPr txBox="1"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a3_pt"/>
          <p:cNvSpPr txBox="1"/>
          <p:nvPr/>
        </p:nvSpPr>
        <p:spPr>
          <a:xfrm>
            <a:off x="1234440" y="2359152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is a lossy summary of an information need, so word matching alone is never enough.</a:t>
            </a:r>
            <a:endParaRPr lang="en-US" sz="1650" dirty="0"/>
          </a:p>
        </p:txBody>
      </p:sp>
      <p:sp>
        <p:nvSpPr>
          <p:cNvPr id="9" name="a4_dot"/>
          <p:cNvSpPr/>
          <p:nvPr/>
        </p:nvSpPr>
        <p:spPr>
          <a:xfrm>
            <a:off x="548640" y="3364992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0" name="a4_tick"/>
          <p:cNvSpPr txBox="1"/>
          <p:nvPr/>
        </p:nvSpPr>
        <p:spPr>
          <a:xfrm>
            <a:off x="54864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a4_pt"/>
          <p:cNvSpPr txBox="1"/>
          <p:nvPr/>
        </p:nvSpPr>
        <p:spPr>
          <a:xfrm>
            <a:off x="1234440" y="325526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split expensive offline preparation from fast online scoring.</a:t>
            </a:r>
            <a:endParaRPr lang="en-US" sz="1650" dirty="0"/>
          </a:p>
        </p:txBody>
      </p:sp>
      <p:sp>
        <p:nvSpPr>
          <p:cNvPr id="12" name="a5_dot"/>
          <p:cNvSpPr/>
          <p:nvPr/>
        </p:nvSpPr>
        <p:spPr>
          <a:xfrm>
            <a:off x="548640" y="4261104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3" name="a5_tick"/>
          <p:cNvSpPr txBox="1"/>
          <p:nvPr/>
        </p:nvSpPr>
        <p:spPr>
          <a:xfrm>
            <a:off x="5486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a5_pt"/>
          <p:cNvSpPr txBox="1"/>
          <p:nvPr/>
        </p:nvSpPr>
        <p:spPr>
          <a:xfrm>
            <a:off x="1234440" y="4151376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and recall pull in opposite directions as the result list grows.</a:t>
            </a:r>
            <a:endParaRPr lang="en-US" sz="1650" dirty="0"/>
          </a:p>
        </p:txBody>
      </p:sp>
      <p:sp>
        <p:nvSpPr>
          <p:cNvPr id="15" name="a8_next"/>
          <p:cNvSpPr/>
          <p:nvPr/>
        </p:nvSpPr>
        <p:spPr>
          <a:xfrm>
            <a:off x="7955280" y="1463040"/>
            <a:ext cx="3685032" cy="3566160"/>
          </a:xfrm>
          <a:prstGeom prst="roundRect">
            <a:avLst>
              <a:gd name="adj" fmla="val 3590"/>
            </a:avLst>
          </a:prstGeom>
          <a:solidFill>
            <a:srgbClr val="16345C"/>
          </a:solidFill>
          <a:ln/>
        </p:spPr>
      </p:sp>
      <p:sp>
        <p:nvSpPr>
          <p:cNvPr id="16" name="a9_next_t"/>
          <p:cNvSpPr txBox="1"/>
          <p:nvPr/>
        </p:nvSpPr>
        <p:spPr>
          <a:xfrm>
            <a:off x="8229600" y="1691640"/>
            <a:ext cx="3154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builds the index: analysis chains, inverted indexes and compression.</a:t>
            </a:r>
            <a:endParaRPr lang="en-US" sz="2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yourself</a:t>
            </a:r>
            <a:endParaRPr lang="en-US" sz="2000" dirty="0"/>
          </a:p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 a document be topically relevant yet still fail the user?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Index Blue">
  <a:themeElements>
    <a:clrScheme name="Index Blue">
      <a:dk1>
        <a:srgbClr val="0B1F3A"/>
      </a:dk1>
      <a:lt1>
        <a:srgbClr val="FFFFFF"/>
      </a:lt1>
      <a:dk2>
        <a:srgbClr val="1B4B8A"/>
      </a:dk2>
      <a:lt2>
        <a:srgbClr val="EAF1FB"/>
      </a:lt2>
      <a:accent1>
        <a:srgbClr val="1F7AE0"/>
      </a:accent1>
      <a:accent2>
        <a:srgbClr val="F5A623"/>
      </a:accent2>
      <a:accent3>
        <a:srgbClr val="12B5A6"/>
      </a:accent3>
      <a:accent4>
        <a:srgbClr val="7B5CE0"/>
      </a:accent4>
      <a:accent5>
        <a:srgbClr val="E5484D"/>
      </a:accent5>
      <a:accent6>
        <a:srgbClr val="2FB170"/>
      </a:accent6>
      <a:hlink>
        <a:srgbClr val="1F7AE0"/>
      </a:hlink>
      <a:folHlink>
        <a:srgbClr val="7B5CE0"/>
      </a:folHlink>
    </a:clrScheme>
    <a:fontScheme name="Index Blu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 Modeling - Module 1: Foundations</dc:title>
  <dc:subject>PptxGenJS Presentation</dc:subject>
  <dc:creator>Information Retrieval Modeling series</dc:creator>
  <cp:lastModifiedBy>Information Retrieval Modeling series</cp:lastModifiedBy>
  <cp:revision>1</cp:revision>
  <dcterms:created xsi:type="dcterms:W3CDTF">2026-10-09T22:06:54Z</dcterms:created>
  <dcterms:modified xsi:type="dcterms:W3CDTF">2026-10-09T22:06:54Z</dcterms:modified>
</cp:coreProperties>
</file>