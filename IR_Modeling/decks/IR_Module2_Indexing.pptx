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7665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 Modeling  |  Module 2: Text Processing and Indexing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 Modeling  |  Module 2: Text Processing and Indexing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_pill"/>
          <p:cNvSpPr/>
          <p:nvPr/>
        </p:nvSpPr>
        <p:spPr>
          <a:xfrm>
            <a:off x="731520" y="1325880"/>
            <a:ext cx="246888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" name="a1_pill_t"/>
          <p:cNvSpPr txBox="1"/>
          <p:nvPr/>
        </p:nvSpPr>
        <p:spPr>
          <a:xfrm>
            <a:off x="731520" y="132588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OF 7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8288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Text Processing and Indexing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4023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From raw text to the inverted index</a:t>
            </a:r>
            <a:endParaRPr lang="en-US" sz="2100" dirty="0"/>
          </a:p>
        </p:txBody>
      </p:sp>
      <p:sp>
        <p:nvSpPr>
          <p:cNvPr id="6" name="a4_meta"/>
          <p:cNvSpPr txBox="1"/>
          <p:nvPr/>
        </p:nvSpPr>
        <p:spPr>
          <a:xfrm>
            <a:off x="73152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 |  Prior knowledge: databases, basic ML  |  ~45 min</a:t>
            </a:r>
            <a:endParaRPr lang="en-US" sz="1500" dirty="0"/>
          </a:p>
        </p:txBody>
      </p:sp>
      <p:sp>
        <p:nvSpPr>
          <p:cNvPr id="7" name="a5_term"/>
          <p:cNvSpPr/>
          <p:nvPr/>
        </p:nvSpPr>
        <p:spPr>
          <a:xfrm>
            <a:off x="7589520" y="137160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a5_post"/>
          <p:cNvSpPr/>
          <p:nvPr/>
        </p:nvSpPr>
        <p:spPr>
          <a:xfrm>
            <a:off x="8823960" y="1371600"/>
            <a:ext cx="2487168" cy="475488"/>
          </a:xfrm>
          <a:prstGeom prst="roundRect">
            <a:avLst>
              <a:gd name="adj" fmla="val 19231"/>
            </a:avLst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9" name="a6_term"/>
          <p:cNvSpPr/>
          <p:nvPr/>
        </p:nvSpPr>
        <p:spPr>
          <a:xfrm>
            <a:off x="7589520" y="2084832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0" name="a6_post"/>
          <p:cNvSpPr/>
          <p:nvPr/>
        </p:nvSpPr>
        <p:spPr>
          <a:xfrm>
            <a:off x="8823960" y="2084832"/>
            <a:ext cx="3419856" cy="475488"/>
          </a:xfrm>
          <a:prstGeom prst="roundRect">
            <a:avLst>
              <a:gd name="adj" fmla="val 19231"/>
            </a:avLst>
          </a:prstGeom>
          <a:solidFill>
            <a:schemeClr val="accent3">
              <a:alpha val="85000"/>
            </a:schemeClr>
          </a:solidFill>
          <a:ln/>
        </p:spPr>
      </p:sp>
      <p:sp>
        <p:nvSpPr>
          <p:cNvPr id="11" name="a7_term"/>
          <p:cNvSpPr/>
          <p:nvPr/>
        </p:nvSpPr>
        <p:spPr>
          <a:xfrm>
            <a:off x="7589520" y="2798064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2" name="a7_post"/>
          <p:cNvSpPr/>
          <p:nvPr/>
        </p:nvSpPr>
        <p:spPr>
          <a:xfrm>
            <a:off x="8823960" y="2798064"/>
            <a:ext cx="1865376" cy="475488"/>
          </a:xfrm>
          <a:prstGeom prst="roundRect">
            <a:avLst>
              <a:gd name="adj" fmla="val 19231"/>
            </a:avLst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13" name="a8_term"/>
          <p:cNvSpPr/>
          <p:nvPr/>
        </p:nvSpPr>
        <p:spPr>
          <a:xfrm>
            <a:off x="7589520" y="3511296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a8_post"/>
          <p:cNvSpPr/>
          <p:nvPr/>
        </p:nvSpPr>
        <p:spPr>
          <a:xfrm>
            <a:off x="8823960" y="3511296"/>
            <a:ext cx="2953512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5" name="a9_term"/>
          <p:cNvSpPr/>
          <p:nvPr/>
        </p:nvSpPr>
        <p:spPr>
          <a:xfrm>
            <a:off x="7589520" y="4224528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6" name="a9_post"/>
          <p:cNvSpPr/>
          <p:nvPr/>
        </p:nvSpPr>
        <p:spPr>
          <a:xfrm>
            <a:off x="8823960" y="4224528"/>
            <a:ext cx="2253996" cy="475488"/>
          </a:xfrm>
          <a:prstGeom prst="roundRect">
            <a:avLst>
              <a:gd name="adj" fmla="val 19231"/>
            </a:avLst>
          </a:prstGeom>
          <a:solidFill>
            <a:schemeClr val="accent6">
              <a:alpha val="85000"/>
            </a:schemeClr>
          </a:solidFill>
          <a:ln/>
        </p:spPr>
      </p:sp>
      <p:sp>
        <p:nvSpPr>
          <p:cNvPr id="17" name="a10_term"/>
          <p:cNvSpPr/>
          <p:nvPr/>
        </p:nvSpPr>
        <p:spPr>
          <a:xfrm>
            <a:off x="7589520" y="493776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a10_post"/>
          <p:cNvSpPr/>
          <p:nvPr/>
        </p:nvSpPr>
        <p:spPr>
          <a:xfrm>
            <a:off x="8823960" y="4937760"/>
            <a:ext cx="3186684" cy="475488"/>
          </a:xfrm>
          <a:prstGeom prst="roundRect">
            <a:avLst>
              <a:gd name="adj" fmla="val 19231"/>
            </a:avLst>
          </a:prstGeom>
          <a:solidFill>
            <a:schemeClr val="accent1">
              <a:alpha val="85000"/>
            </a:scheme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3" name="a2_lead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module you will be able to:</a:t>
            </a:r>
            <a:endParaRPr lang="en-US" sz="1800" dirty="0"/>
          </a:p>
        </p:txBody>
      </p:sp>
      <p:sp>
        <p:nvSpPr>
          <p:cNvPr id="4" name="a3_row"/>
          <p:cNvSpPr/>
          <p:nvPr/>
        </p:nvSpPr>
        <p:spPr>
          <a:xfrm>
            <a:off x="548640" y="20116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3_obj"/>
          <p:cNvSpPr txBox="1"/>
          <p:nvPr/>
        </p:nvSpPr>
        <p:spPr>
          <a:xfrm>
            <a:off x="1600200" y="2011680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scanning documents at query time does not scale, and how an index solves it</a:t>
            </a:r>
            <a:endParaRPr lang="en-US" sz="1900" dirty="0"/>
          </a:p>
        </p:txBody>
      </p:sp>
      <p:sp>
        <p:nvSpPr>
          <p:cNvPr id="8" name="a4_row"/>
          <p:cNvSpPr/>
          <p:nvPr/>
        </p:nvSpPr>
        <p:spPr>
          <a:xfrm>
            <a:off x="548640" y="3035808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9" name="a4_num"/>
          <p:cNvSpPr/>
          <p:nvPr/>
        </p:nvSpPr>
        <p:spPr>
          <a:xfrm>
            <a:off x="822960" y="321868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a4_numt"/>
          <p:cNvSpPr txBox="1"/>
          <p:nvPr/>
        </p:nvSpPr>
        <p:spPr>
          <a:xfrm>
            <a:off x="822960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a4_obj"/>
          <p:cNvSpPr txBox="1"/>
          <p:nvPr/>
        </p:nvSpPr>
        <p:spPr>
          <a:xfrm>
            <a:off x="1600200" y="3035808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 analysis chain: tokenization, normalization, stop-word handling and stemming</a:t>
            </a:r>
            <a:endParaRPr lang="en-US" sz="1900" dirty="0"/>
          </a:p>
        </p:txBody>
      </p:sp>
      <p:sp>
        <p:nvSpPr>
          <p:cNvPr id="12" name="a5_row"/>
          <p:cNvSpPr/>
          <p:nvPr/>
        </p:nvSpPr>
        <p:spPr>
          <a:xfrm>
            <a:off x="548640" y="4059936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3" name="a5_num"/>
          <p:cNvSpPr/>
          <p:nvPr/>
        </p:nvSpPr>
        <p:spPr>
          <a:xfrm>
            <a:off x="822960" y="424281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a5_numt"/>
          <p:cNvSpPr txBox="1"/>
          <p:nvPr/>
        </p:nvSpPr>
        <p:spPr>
          <a:xfrm>
            <a:off x="822960" y="4242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a5_obj"/>
          <p:cNvSpPr txBox="1"/>
          <p:nvPr/>
        </p:nvSpPr>
        <p:spPr>
          <a:xfrm>
            <a:off x="1600200" y="4059936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read an inverted index, including document frequency and postings</a:t>
            </a:r>
            <a:endParaRPr lang="en-US" sz="1900" dirty="0"/>
          </a:p>
        </p:txBody>
      </p:sp>
      <p:sp>
        <p:nvSpPr>
          <p:cNvPr id="16" name="a6_row"/>
          <p:cNvSpPr/>
          <p:nvPr/>
        </p:nvSpPr>
        <p:spPr>
          <a:xfrm>
            <a:off x="548640" y="5084064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7" name="a6_num"/>
          <p:cNvSpPr/>
          <p:nvPr/>
        </p:nvSpPr>
        <p:spPr>
          <a:xfrm>
            <a:off x="822960" y="5266944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a6_numt"/>
          <p:cNvSpPr txBox="1"/>
          <p:nvPr/>
        </p:nvSpPr>
        <p:spPr>
          <a:xfrm>
            <a:off x="82296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a6_obj"/>
          <p:cNvSpPr txBox="1"/>
          <p:nvPr/>
        </p:nvSpPr>
        <p:spPr>
          <a:xfrm>
            <a:off x="1600200" y="5084064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positional data, gap encoding and skip pointers change index size and speed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do we need an index?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is linear.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every document for every query costs time proportional to the collection size. At web scale that is impossible within milliseconds.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 the answer's shape.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asking which words each document contains, store for each word which documents contain it.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analogy.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 index on a column turns a table scan into a lookup. An inverted index is the same idea applied to every word.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spend storage and build time once to make every future query cheap.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picture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index at the back of a textbook works this way: look up a term, get page numbers, never reread the book.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analysis chain</a:t>
            </a:r>
            <a:endParaRPr lang="en-US" sz="3200" dirty="0"/>
          </a:p>
        </p:txBody>
      </p:sp>
      <p:sp>
        <p:nvSpPr>
          <p:cNvPr id="3" name="a2_lane"/>
          <p:cNvSpPr txBox="1"/>
          <p:nvPr/>
        </p:nvSpPr>
        <p:spPr>
          <a:xfrm>
            <a:off x="548640" y="1508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identically to documents at index time and to queries at search time</a:t>
            </a:r>
            <a:endParaRPr lang="en-US" sz="1500" dirty="0"/>
          </a:p>
        </p:txBody>
      </p:sp>
      <p:sp>
        <p:nvSpPr>
          <p:cNvPr id="4" name="a3_box"/>
          <p:cNvSpPr/>
          <p:nvPr/>
        </p:nvSpPr>
        <p:spPr>
          <a:xfrm>
            <a:off x="548640" y="1874520"/>
            <a:ext cx="2464994" cy="123444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a3_box_t"/>
          <p:cNvSpPr txBox="1"/>
          <p:nvPr/>
        </p:nvSpPr>
        <p:spPr>
          <a:xfrm>
            <a:off x="658368" y="1874520"/>
            <a:ext cx="22455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words</a:t>
            </a:r>
            <a:endParaRPr lang="en-US" sz="1600" dirty="0"/>
          </a:p>
        </p:txBody>
      </p:sp>
      <p:sp>
        <p:nvSpPr>
          <p:cNvPr id="6" name="a3_arrow"/>
          <p:cNvSpPr/>
          <p:nvPr/>
        </p:nvSpPr>
        <p:spPr>
          <a:xfrm>
            <a:off x="3068498" y="2354580"/>
            <a:ext cx="301752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7" name="a3_box"/>
          <p:cNvSpPr/>
          <p:nvPr/>
        </p:nvSpPr>
        <p:spPr>
          <a:xfrm>
            <a:off x="3425114" y="1874520"/>
            <a:ext cx="2464994" cy="1234440"/>
          </a:xfrm>
          <a:prstGeom prst="roundRect">
            <a:avLst>
              <a:gd name="adj" fmla="val 7407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a3_box_t"/>
          <p:cNvSpPr txBox="1"/>
          <p:nvPr/>
        </p:nvSpPr>
        <p:spPr>
          <a:xfrm>
            <a:off x="3534842" y="1874520"/>
            <a:ext cx="22455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case, accents, punctuation</a:t>
            </a:r>
            <a:endParaRPr lang="en-US" sz="1600" dirty="0"/>
          </a:p>
        </p:txBody>
      </p:sp>
      <p:sp>
        <p:nvSpPr>
          <p:cNvPr id="9" name="a3_arrow"/>
          <p:cNvSpPr/>
          <p:nvPr/>
        </p:nvSpPr>
        <p:spPr>
          <a:xfrm>
            <a:off x="5944972" y="2354580"/>
            <a:ext cx="301752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0" name="a3_box"/>
          <p:cNvSpPr/>
          <p:nvPr/>
        </p:nvSpPr>
        <p:spPr>
          <a:xfrm>
            <a:off x="6301588" y="1874520"/>
            <a:ext cx="2464994" cy="1234440"/>
          </a:xfrm>
          <a:prstGeom prst="roundRect">
            <a:avLst>
              <a:gd name="adj" fmla="val 7407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a3_box_t"/>
          <p:cNvSpPr txBox="1"/>
          <p:nvPr/>
        </p:nvSpPr>
        <p:spPr>
          <a:xfrm>
            <a:off x="6411316" y="1874520"/>
            <a:ext cx="22455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stop words</a:t>
            </a:r>
            <a:endParaRPr lang="en-US" sz="1600" dirty="0"/>
          </a:p>
        </p:txBody>
      </p:sp>
      <p:sp>
        <p:nvSpPr>
          <p:cNvPr id="12" name="a3_arrow"/>
          <p:cNvSpPr/>
          <p:nvPr/>
        </p:nvSpPr>
        <p:spPr>
          <a:xfrm>
            <a:off x="8821445" y="2354580"/>
            <a:ext cx="301752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3" name="a3_box"/>
          <p:cNvSpPr/>
          <p:nvPr/>
        </p:nvSpPr>
        <p:spPr>
          <a:xfrm>
            <a:off x="9178061" y="1874520"/>
            <a:ext cx="2464994" cy="1234440"/>
          </a:xfrm>
          <a:prstGeom prst="roundRect">
            <a:avLst>
              <a:gd name="adj" fmla="val 7407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a3_box_t"/>
          <p:cNvSpPr txBox="1"/>
          <p:nvPr/>
        </p:nvSpPr>
        <p:spPr>
          <a:xfrm>
            <a:off x="9287789" y="1874520"/>
            <a:ext cx="22455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or lemmatize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word forms</a:t>
            </a:r>
            <a:endParaRPr lang="en-US" sz="1600" dirty="0"/>
          </a:p>
        </p:txBody>
      </p:sp>
      <p:sp>
        <p:nvSpPr>
          <p:cNvPr id="15" name="a9_co"/>
          <p:cNvSpPr/>
          <p:nvPr/>
        </p:nvSpPr>
        <p:spPr>
          <a:xfrm>
            <a:off x="548640" y="356616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FFF4DC"/>
          </a:solidFill>
          <a:ln/>
        </p:spPr>
      </p:sp>
      <p:sp>
        <p:nvSpPr>
          <p:cNvPr id="16" name="a9_co_bar"/>
          <p:cNvSpPr/>
          <p:nvPr/>
        </p:nvSpPr>
        <p:spPr>
          <a:xfrm>
            <a:off x="548640" y="3675888"/>
            <a:ext cx="64008" cy="8778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a9_co_t"/>
          <p:cNvSpPr txBox="1"/>
          <p:nvPr/>
        </p:nvSpPr>
        <p:spPr>
          <a:xfrm>
            <a:off x="804672" y="3657600"/>
            <a:ext cx="10682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same chain twice?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term can only match an index term if both were produced by the same rules. A mismatch silently loses results.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Analysis example</a:t>
            </a:r>
            <a:endParaRPr lang="en-US" sz="3200" dirty="0"/>
          </a:p>
        </p:txBody>
      </p:sp>
      <p:graphicFrame>
        <p:nvGraphicFramePr>
          <p:cNvPr id="6" name="a2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655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for: Connected computers share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text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computers share Data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Tokenize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| computers | share | Data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 (lowercase)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| computers | share | data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Stem (suffix stripping)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 | comput | share | data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a3_co"/>
          <p:cNvSpPr/>
          <p:nvPr/>
        </p:nvSpPr>
        <p:spPr>
          <a:xfrm>
            <a:off x="548640" y="438912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548640" y="4498848"/>
            <a:ext cx="64008" cy="8778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4672" y="4480560"/>
            <a:ext cx="10682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stem need not be a real word. It only has to map related forms (connect, connected, connecting) to one index term.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Normalization trade-offs</a:t>
            </a:r>
            <a:endParaRPr lang="en-US" sz="32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chip"/>
          <p:cNvSpPr/>
          <p:nvPr/>
        </p:nvSpPr>
        <p:spPr>
          <a:xfrm>
            <a:off x="777240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5" name="a2_chip_t"/>
          <p:cNvSpPr txBox="1"/>
          <p:nvPr/>
        </p:nvSpPr>
        <p:spPr>
          <a:xfrm>
            <a:off x="777240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</a:t>
            </a:r>
            <a:endParaRPr lang="en-US" sz="1600" dirty="0"/>
          </a:p>
        </p:txBody>
      </p:sp>
      <p:sp>
        <p:nvSpPr>
          <p:cNvPr id="6" name="a2_items"/>
          <p:cNvSpPr txBox="1"/>
          <p:nvPr/>
        </p:nvSpPr>
        <p:spPr>
          <a:xfrm>
            <a:off x="777240" y="2377440"/>
            <a:ext cx="30580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recall: running matches run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dictionary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tolerate case and plural changes</a:t>
            </a:r>
            <a:endParaRPr lang="en-US" sz="1650" dirty="0"/>
          </a:p>
        </p:txBody>
      </p:sp>
      <p:sp>
        <p:nvSpPr>
          <p:cNvPr id="7" name="a3_card"/>
          <p:cNvSpPr/>
          <p:nvPr/>
        </p:nvSpPr>
        <p:spPr>
          <a:xfrm>
            <a:off x="4338218" y="1508760"/>
            <a:ext cx="3515258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a3_chip"/>
          <p:cNvSpPr/>
          <p:nvPr/>
        </p:nvSpPr>
        <p:spPr>
          <a:xfrm>
            <a:off x="4566818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9" name="a3_chip_t"/>
          <p:cNvSpPr txBox="1"/>
          <p:nvPr/>
        </p:nvSpPr>
        <p:spPr>
          <a:xfrm>
            <a:off x="4566818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</a:t>
            </a:r>
            <a:endParaRPr lang="en-US" sz="1600" dirty="0"/>
          </a:p>
        </p:txBody>
      </p:sp>
      <p:sp>
        <p:nvSpPr>
          <p:cNvPr id="10" name="a3_items"/>
          <p:cNvSpPr txBox="1"/>
          <p:nvPr/>
        </p:nvSpPr>
        <p:spPr>
          <a:xfrm>
            <a:off x="4566818" y="2377440"/>
            <a:ext cx="30580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precision: stemming can merge unrelated words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Language-specific rules are needed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Stop-word removal breaks phrases such as to be or not to be</a:t>
            </a:r>
            <a:endParaRPr lang="en-US" sz="1650" dirty="0"/>
          </a:p>
        </p:txBody>
      </p:sp>
      <p:sp>
        <p:nvSpPr>
          <p:cNvPr id="11" name="a4_card"/>
          <p:cNvSpPr/>
          <p:nvPr/>
        </p:nvSpPr>
        <p:spPr>
          <a:xfrm>
            <a:off x="8127797" y="1508760"/>
            <a:ext cx="3515258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a4_chip"/>
          <p:cNvSpPr/>
          <p:nvPr/>
        </p:nvSpPr>
        <p:spPr>
          <a:xfrm>
            <a:off x="8356397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13" name="a4_chip_t"/>
          <p:cNvSpPr txBox="1"/>
          <p:nvPr/>
        </p:nvSpPr>
        <p:spPr>
          <a:xfrm>
            <a:off x="8356397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600" dirty="0"/>
          </a:p>
        </p:txBody>
      </p:sp>
      <p:sp>
        <p:nvSpPr>
          <p:cNvPr id="14" name="a4_items"/>
          <p:cNvSpPr txBox="1"/>
          <p:nvPr/>
        </p:nvSpPr>
        <p:spPr>
          <a:xfrm>
            <a:off x="8356397" y="2377440"/>
            <a:ext cx="305805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choices against judged queries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original text for display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chain as a tunable model component</a:t>
            </a:r>
            <a:endParaRPr lang="en-US" sz="1650" dirty="0"/>
          </a:p>
        </p:txBody>
      </p:sp>
      <p:sp>
        <p:nvSpPr>
          <p:cNvPr id="15" name="a7_co"/>
          <p:cNvSpPr/>
          <p:nvPr/>
        </p:nvSpPr>
        <p:spPr>
          <a:xfrm>
            <a:off x="548640" y="498348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FF4DC"/>
          </a:solidFill>
          <a:ln/>
        </p:spPr>
      </p:sp>
      <p:sp>
        <p:nvSpPr>
          <p:cNvPr id="16" name="a7_co_bar"/>
          <p:cNvSpPr/>
          <p:nvPr/>
        </p:nvSpPr>
        <p:spPr>
          <a:xfrm>
            <a:off x="548640" y="5093208"/>
            <a:ext cx="64008" cy="10607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a7_co_t"/>
          <p:cNvSpPr txBox="1"/>
          <p:nvPr/>
        </p:nvSpPr>
        <p:spPr>
          <a:xfrm>
            <a:off x="804672" y="5074920"/>
            <a:ext cx="10682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normalization step trades precision for recall. There is no universally correct setting.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inverted index</a:t>
            </a:r>
            <a:endParaRPr lang="en-US" sz="3200" dirty="0"/>
          </a:p>
        </p:txBody>
      </p:sp>
      <p:graphicFrame>
        <p:nvGraphicFramePr>
          <p:cNvPr id="8" name="a2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743407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Postings (document : term frequency)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D1:1 , D2:1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D1:1 , D2:1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D1:1 , D3:1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D2:1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D3:1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cheese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D3:1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a3_co"/>
          <p:cNvSpPr/>
          <p:nvPr/>
        </p:nvSpPr>
        <p:spPr>
          <a:xfrm>
            <a:off x="548640" y="5413248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548640" y="5522976"/>
            <a:ext cx="64008" cy="101498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4672" y="5504688"/>
            <a:ext cx="10682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D1 = cats chase mice, D2 = dogs chase cats, D3 = mice eat cheese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dictionary holds terms and document frequency (df). Each term points to a postings list, sorted by document identifier.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Building an index</a:t>
            </a:r>
            <a:endParaRPr lang="en-US" sz="32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bar"/>
          <p:cNvSpPr/>
          <p:nvPr/>
        </p:nvSpPr>
        <p:spPr>
          <a:xfrm>
            <a:off x="777240" y="1508760"/>
            <a:ext cx="731520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2_head"/>
          <p:cNvSpPr txBox="1"/>
          <p:nvPr/>
        </p:nvSpPr>
        <p:spPr>
          <a:xfrm>
            <a:off x="777240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pairs</a:t>
            </a:r>
            <a:endParaRPr lang="en-US" sz="1800" dirty="0"/>
          </a:p>
        </p:txBody>
      </p:sp>
      <p:sp>
        <p:nvSpPr>
          <p:cNvPr id="8" name="a2_body"/>
          <p:cNvSpPr txBox="1"/>
          <p:nvPr/>
        </p:nvSpPr>
        <p:spPr>
          <a:xfrm>
            <a:off x="777240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each document and output (term, document) pairs as they appear.</a:t>
            </a:r>
            <a:endParaRPr lang="en-US" sz="1600" dirty="0"/>
          </a:p>
        </p:txBody>
      </p:sp>
      <p:sp>
        <p:nvSpPr>
          <p:cNvPr id="9" name="a3_card"/>
          <p:cNvSpPr/>
          <p:nvPr/>
        </p:nvSpPr>
        <p:spPr>
          <a:xfrm>
            <a:off x="3379394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a3_bar"/>
          <p:cNvSpPr/>
          <p:nvPr/>
        </p:nvSpPr>
        <p:spPr>
          <a:xfrm>
            <a:off x="3607994" y="1508760"/>
            <a:ext cx="731520" cy="7315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a3_num"/>
          <p:cNvSpPr/>
          <p:nvPr/>
        </p:nvSpPr>
        <p:spPr>
          <a:xfrm>
            <a:off x="3607994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360799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a3_head"/>
          <p:cNvSpPr txBox="1"/>
          <p:nvPr/>
        </p:nvSpPr>
        <p:spPr>
          <a:xfrm>
            <a:off x="3607994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800" dirty="0"/>
          </a:p>
        </p:txBody>
      </p:sp>
      <p:sp>
        <p:nvSpPr>
          <p:cNvPr id="14" name="a3_body"/>
          <p:cNvSpPr txBox="1"/>
          <p:nvPr/>
        </p:nvSpPr>
        <p:spPr>
          <a:xfrm>
            <a:off x="3607994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pairs by term, then by document identifier.</a:t>
            </a:r>
            <a:endParaRPr lang="en-US" sz="1600" dirty="0"/>
          </a:p>
        </p:txBody>
      </p:sp>
      <p:sp>
        <p:nvSpPr>
          <p:cNvPr id="15" name="a4_card"/>
          <p:cNvSpPr/>
          <p:nvPr/>
        </p:nvSpPr>
        <p:spPr>
          <a:xfrm>
            <a:off x="6210148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a4_bar"/>
          <p:cNvSpPr/>
          <p:nvPr/>
        </p:nvSpPr>
        <p:spPr>
          <a:xfrm>
            <a:off x="6438748" y="1508760"/>
            <a:ext cx="731520" cy="7315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a4_num"/>
          <p:cNvSpPr/>
          <p:nvPr/>
        </p:nvSpPr>
        <p:spPr>
          <a:xfrm>
            <a:off x="6438748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4_numt"/>
          <p:cNvSpPr txBox="1"/>
          <p:nvPr/>
        </p:nvSpPr>
        <p:spPr>
          <a:xfrm>
            <a:off x="643874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a4_head"/>
          <p:cNvSpPr txBox="1"/>
          <p:nvPr/>
        </p:nvSpPr>
        <p:spPr>
          <a:xfrm>
            <a:off x="6438748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duplicates</a:t>
            </a:r>
            <a:endParaRPr lang="en-US" sz="1800" dirty="0"/>
          </a:p>
        </p:txBody>
      </p:sp>
      <p:sp>
        <p:nvSpPr>
          <p:cNvPr id="20" name="a4_body"/>
          <p:cNvSpPr txBox="1"/>
          <p:nvPr/>
        </p:nvSpPr>
        <p:spPr>
          <a:xfrm>
            <a:off x="6438748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repeated pairs into one posting with a term frequency.</a:t>
            </a:r>
            <a:endParaRPr lang="en-US" sz="1600" dirty="0"/>
          </a:p>
        </p:txBody>
      </p:sp>
      <p:sp>
        <p:nvSpPr>
          <p:cNvPr id="21" name="a5_card"/>
          <p:cNvSpPr/>
          <p:nvPr/>
        </p:nvSpPr>
        <p:spPr>
          <a:xfrm>
            <a:off x="9040901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2" name="a5_bar"/>
          <p:cNvSpPr/>
          <p:nvPr/>
        </p:nvSpPr>
        <p:spPr>
          <a:xfrm>
            <a:off x="9269501" y="1508760"/>
            <a:ext cx="731520" cy="731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a5_num"/>
          <p:cNvSpPr/>
          <p:nvPr/>
        </p:nvSpPr>
        <p:spPr>
          <a:xfrm>
            <a:off x="9269501" y="17830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a5_numt"/>
          <p:cNvSpPr txBox="1"/>
          <p:nvPr/>
        </p:nvSpPr>
        <p:spPr>
          <a:xfrm>
            <a:off x="9269501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a5_head"/>
          <p:cNvSpPr txBox="1"/>
          <p:nvPr/>
        </p:nvSpPr>
        <p:spPr>
          <a:xfrm>
            <a:off x="9269501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structures</a:t>
            </a:r>
            <a:endParaRPr lang="en-US" sz="1800" dirty="0"/>
          </a:p>
        </p:txBody>
      </p:sp>
      <p:sp>
        <p:nvSpPr>
          <p:cNvPr id="26" name="a5_body"/>
          <p:cNvSpPr txBox="1"/>
          <p:nvPr/>
        </p:nvSpPr>
        <p:spPr>
          <a:xfrm>
            <a:off x="9269501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dictionary, postings and per-document statistics such as length.</a:t>
            </a:r>
            <a:endParaRPr lang="en-US" sz="1600" dirty="0"/>
          </a:p>
        </p:txBody>
      </p:sp>
      <p:sp>
        <p:nvSpPr>
          <p:cNvPr id="27" name="a8_co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4DC"/>
          </a:solidFill>
          <a:ln/>
        </p:spPr>
      </p:sp>
      <p:sp>
        <p:nvSpPr>
          <p:cNvPr id="28" name="a8_co_bar"/>
          <p:cNvSpPr/>
          <p:nvPr/>
        </p:nvSpPr>
        <p:spPr>
          <a:xfrm>
            <a:off x="548640" y="5230368"/>
            <a:ext cx="64008" cy="8321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a8_co_t"/>
          <p:cNvSpPr txBox="1"/>
          <p:nvPr/>
        </p:nvSpPr>
        <p:spPr>
          <a:xfrm>
            <a:off x="804672" y="5212080"/>
            <a:ext cx="10682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sort?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postings let us combine lists by a single pass, and make later compression effective.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Answering a query with postings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each term.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dictionary returns each postings list directly, with no scan of documents.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lists.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cats AND mice, intersect {D1, D2} with {D1, D3} to get {D1}.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merge.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sorted lists are walked together, advancing the smaller pointer. Cost is proportional to the list lengths.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the rarest term first. The result can never be larger than the shortest list.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link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is a design decision made at build time that pays off at every query.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Positions, gaps and skips</a:t>
            </a:r>
            <a:endParaRPr lang="en-US" sz="32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33375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chip"/>
          <p:cNvSpPr/>
          <p:nvPr/>
        </p:nvSpPr>
        <p:spPr>
          <a:xfrm>
            <a:off x="777240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5" name="a2_chip_t"/>
          <p:cNvSpPr txBox="1"/>
          <p:nvPr/>
        </p:nvSpPr>
        <p:spPr>
          <a:xfrm>
            <a:off x="777240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index</a:t>
            </a:r>
            <a:endParaRPr lang="en-US" sz="1600" dirty="0"/>
          </a:p>
        </p:txBody>
      </p:sp>
      <p:sp>
        <p:nvSpPr>
          <p:cNvPr id="6" name="a2_items"/>
          <p:cNvSpPr txBox="1"/>
          <p:nvPr/>
        </p:nvSpPr>
        <p:spPr>
          <a:xfrm>
            <a:off x="777240" y="2377440"/>
            <a:ext cx="305805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word offsets inside each document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phrase and proximity queries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grows noticeably larger</a:t>
            </a:r>
            <a:endParaRPr lang="en-US" sz="1650" dirty="0"/>
          </a:p>
        </p:txBody>
      </p:sp>
      <p:sp>
        <p:nvSpPr>
          <p:cNvPr id="7" name="a3_card"/>
          <p:cNvSpPr/>
          <p:nvPr/>
        </p:nvSpPr>
        <p:spPr>
          <a:xfrm>
            <a:off x="4338218" y="1508760"/>
            <a:ext cx="3515258" cy="33375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a3_chip"/>
          <p:cNvSpPr/>
          <p:nvPr/>
        </p:nvSpPr>
        <p:spPr>
          <a:xfrm>
            <a:off x="4566818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9" name="a3_chip_t"/>
          <p:cNvSpPr txBox="1"/>
          <p:nvPr/>
        </p:nvSpPr>
        <p:spPr>
          <a:xfrm>
            <a:off x="4566818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encoding</a:t>
            </a:r>
            <a:endParaRPr lang="en-US" sz="1600" dirty="0"/>
          </a:p>
        </p:txBody>
      </p:sp>
      <p:sp>
        <p:nvSpPr>
          <p:cNvPr id="10" name="a3_items"/>
          <p:cNvSpPr txBox="1"/>
          <p:nvPr/>
        </p:nvSpPr>
        <p:spPr>
          <a:xfrm>
            <a:off x="4566818" y="2377440"/>
            <a:ext cx="305805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differences between sorted ids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 105, 112 becomes 100, 5, 7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numbers compress well</a:t>
            </a:r>
            <a:endParaRPr lang="en-US" sz="1650" dirty="0"/>
          </a:p>
        </p:txBody>
      </p:sp>
      <p:sp>
        <p:nvSpPr>
          <p:cNvPr id="11" name="a4_card"/>
          <p:cNvSpPr/>
          <p:nvPr/>
        </p:nvSpPr>
        <p:spPr>
          <a:xfrm>
            <a:off x="8127797" y="1508760"/>
            <a:ext cx="3515258" cy="33375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a4_chip"/>
          <p:cNvSpPr/>
          <p:nvPr/>
        </p:nvSpPr>
        <p:spPr>
          <a:xfrm>
            <a:off x="8356397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13" name="a4_chip_t"/>
          <p:cNvSpPr txBox="1"/>
          <p:nvPr/>
        </p:nvSpPr>
        <p:spPr>
          <a:xfrm>
            <a:off x="8356397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pointers</a:t>
            </a:r>
            <a:endParaRPr lang="en-US" sz="1600" dirty="0"/>
          </a:p>
        </p:txBody>
      </p:sp>
      <p:sp>
        <p:nvSpPr>
          <p:cNvPr id="14" name="a4_items"/>
          <p:cNvSpPr txBox="1"/>
          <p:nvPr/>
        </p:nvSpPr>
        <p:spPr>
          <a:xfrm>
            <a:off x="8356397" y="2377440"/>
            <a:ext cx="305805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inside long lists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past ids that cannot match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intersections</a:t>
            </a:r>
            <a:endParaRPr lang="en-US" sz="1650" dirty="0"/>
          </a:p>
        </p:txBody>
      </p:sp>
      <p:sp>
        <p:nvSpPr>
          <p:cNvPr id="15" name="a7_co"/>
          <p:cNvSpPr/>
          <p:nvPr/>
        </p:nvSpPr>
        <p:spPr>
          <a:xfrm>
            <a:off x="548640" y="507492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FFF4DC"/>
          </a:solidFill>
          <a:ln/>
        </p:spPr>
      </p:sp>
      <p:sp>
        <p:nvSpPr>
          <p:cNvPr id="16" name="a7_co_bar"/>
          <p:cNvSpPr/>
          <p:nvPr/>
        </p:nvSpPr>
        <p:spPr>
          <a:xfrm>
            <a:off x="548640" y="5184648"/>
            <a:ext cx="64008" cy="9692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a7_co_t"/>
          <p:cNvSpPr txBox="1"/>
          <p:nvPr/>
        </p:nvSpPr>
        <p:spPr>
          <a:xfrm>
            <a:off x="804672" y="5166360"/>
            <a:ext cx="106829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 point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also helps speed, since less data moves from disk or memory for each query. Space and time are not always opposed.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Phrase queries with positions</a:t>
            </a:r>
            <a:endParaRPr lang="en-US" sz="3200" dirty="0"/>
          </a:p>
        </p:txBody>
      </p:sp>
      <p:graphicFrame>
        <p:nvGraphicFramePr>
          <p:cNvPr id="12" name="a2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 per document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D1: [2]    D2: [2]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D1: [1]    D2: [3]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a3_co"/>
          <p:cNvSpPr/>
          <p:nvPr/>
        </p:nvSpPr>
        <p:spPr>
          <a:xfrm>
            <a:off x="548640" y="3364992"/>
            <a:ext cx="11094415" cy="1737360"/>
          </a:xfrm>
          <a:prstGeom prst="roundRect">
            <a:avLst>
              <a:gd name="adj" fmla="val 5263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548640" y="3474720"/>
            <a:ext cx="64008" cy="15179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4672" y="3456432"/>
            <a:ext cx="106829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"chase cats"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phrase matches when the second term appears exactly one position after the first. In D1, cats is at 1 and chase at 2, so there is no match. In D2, chase is at 2 and cats at 3, so D2 matches. Without positions, both documents would match the AND query.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3" name="a2_dot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4" name="a2_tick"/>
          <p:cNvSpPr txBox="1"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a2_pt"/>
          <p:cNvSpPr txBox="1"/>
          <p:nvPr/>
        </p:nvSpPr>
        <p:spPr>
          <a:xfrm>
            <a:off x="1234440" y="14630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inverted index maps each term to the documents containing it, replacing a scan with lookups.</a:t>
            </a:r>
            <a:endParaRPr lang="en-US" sz="1650" dirty="0"/>
          </a:p>
        </p:txBody>
      </p:sp>
      <p:sp>
        <p:nvSpPr>
          <p:cNvPr id="6" name="a3_dot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a3_tick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a3_pt"/>
          <p:cNvSpPr txBox="1"/>
          <p:nvPr/>
        </p:nvSpPr>
        <p:spPr>
          <a:xfrm>
            <a:off x="1234440" y="235915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and queries must pass through the same analysis chain.</a:t>
            </a:r>
            <a:endParaRPr lang="en-US" sz="1650" dirty="0"/>
          </a:p>
        </p:txBody>
      </p:sp>
      <p:sp>
        <p:nvSpPr>
          <p:cNvPr id="9" name="a4_dot"/>
          <p:cNvSpPr/>
          <p:nvPr/>
        </p:nvSpPr>
        <p:spPr>
          <a:xfrm>
            <a:off x="548640" y="3364992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0" name="a4_tick"/>
          <p:cNvSpPr txBox="1"/>
          <p:nvPr/>
        </p:nvSpPr>
        <p:spPr>
          <a:xfrm>
            <a:off x="54864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a4_pt"/>
          <p:cNvSpPr txBox="1"/>
          <p:nvPr/>
        </p:nvSpPr>
        <p:spPr>
          <a:xfrm>
            <a:off x="1234440" y="325526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raises recall but can reduce precision, so tune it with judged queries.</a:t>
            </a:r>
            <a:endParaRPr lang="en-US" sz="1650" dirty="0"/>
          </a:p>
        </p:txBody>
      </p:sp>
      <p:sp>
        <p:nvSpPr>
          <p:cNvPr id="12" name="a5_dot"/>
          <p:cNvSpPr/>
          <p:nvPr/>
        </p:nvSpPr>
        <p:spPr>
          <a:xfrm>
            <a:off x="548640" y="4261104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3" name="a5_tick"/>
          <p:cNvSpPr txBox="1"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a5_pt"/>
          <p:cNvSpPr txBox="1"/>
          <p:nvPr/>
        </p:nvSpPr>
        <p:spPr>
          <a:xfrm>
            <a:off x="1234440" y="4151376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postings enable fast merges, gap compression and skip pointers.</a:t>
            </a:r>
            <a:endParaRPr lang="en-US" sz="1650" dirty="0"/>
          </a:p>
        </p:txBody>
      </p:sp>
      <p:sp>
        <p:nvSpPr>
          <p:cNvPr id="15" name="a8_next"/>
          <p:cNvSpPr/>
          <p:nvPr/>
        </p:nvSpPr>
        <p:spPr>
          <a:xfrm>
            <a:off x="7955280" y="1463040"/>
            <a:ext cx="3685032" cy="3566160"/>
          </a:xfrm>
          <a:prstGeom prst="roundRect">
            <a:avLst>
              <a:gd name="adj" fmla="val 3590"/>
            </a:avLst>
          </a:prstGeom>
          <a:solidFill>
            <a:srgbClr val="16345C"/>
          </a:solidFill>
          <a:ln/>
        </p:spPr>
      </p:sp>
      <p:sp>
        <p:nvSpPr>
          <p:cNvPr id="16" name="a9_next_t"/>
          <p:cNvSpPr txBox="1"/>
          <p:nvPr/>
        </p:nvSpPr>
        <p:spPr>
          <a:xfrm>
            <a:off x="8229600" y="169164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scores documents with term weights and the vector space model.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yourself</a:t>
            </a:r>
            <a:endParaRPr lang="en-US" sz="2000" dirty="0"/>
          </a:p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rarest term the best one to process first in an AND query?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Index Blue">
  <a:themeElements>
    <a:clrScheme name="Index Blue">
      <a:dk1>
        <a:srgbClr val="0B1F3A"/>
      </a:dk1>
      <a:lt1>
        <a:srgbClr val="FFFFFF"/>
      </a:lt1>
      <a:dk2>
        <a:srgbClr val="1B4B8A"/>
      </a:dk2>
      <a:lt2>
        <a:srgbClr val="EAF1FB"/>
      </a:lt2>
      <a:accent1>
        <a:srgbClr val="1F7AE0"/>
      </a:accent1>
      <a:accent2>
        <a:srgbClr val="F5A623"/>
      </a:accent2>
      <a:accent3>
        <a:srgbClr val="12B5A6"/>
      </a:accent3>
      <a:accent4>
        <a:srgbClr val="7B5CE0"/>
      </a:accent4>
      <a:accent5>
        <a:srgbClr val="E5484D"/>
      </a:accent5>
      <a:accent6>
        <a:srgbClr val="2FB170"/>
      </a:accent6>
      <a:hlink>
        <a:srgbClr val="1F7AE0"/>
      </a:hlink>
      <a:folHlink>
        <a:srgbClr val="7B5CE0"/>
      </a:folHlink>
    </a:clrScheme>
    <a:fontScheme name="Index Blu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Modeling - Module 2: Text Processing and Indexing</dc:title>
  <dc:subject>PptxGenJS Presentation</dc:subject>
  <dc:creator>Information Retrieval Modeling series</dc:creator>
  <cp:lastModifiedBy>Information Retrieval Modeling series</cp:lastModifiedBy>
  <cp:revision>1</cp:revision>
  <dcterms:created xsi:type="dcterms:W3CDTF">2026-10-09T22:06:54Z</dcterms:created>
  <dcterms:modified xsi:type="dcterms:W3CDTF">2026-10-09T22:06:54Z</dcterms:modified>
</cp:coreProperties>
</file>