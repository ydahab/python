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67665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23360"/>
            <a:ext cx="64008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1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1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Shape 0"/>
          <p:cNvSpPr/>
          <p:nvPr/>
        </p:nvSpPr>
        <p:spPr>
          <a:xfrm>
            <a:off x="548640" y="1143000"/>
            <a:ext cx="82296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Retrieval Modeling  |  Module 3: Boolean and Vector Space Models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chemeClr val="tx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Shape 0"/>
          <p:cNvSpPr/>
          <p:nvPr/>
        </p:nvSpPr>
        <p:spPr>
          <a:xfrm>
            <a:off x="548640" y="1143000"/>
            <a:ext cx="822960" cy="640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4" name="Text 1"/>
          <p:cNvSpPr/>
          <p:nvPr/>
        </p:nvSpPr>
        <p:spPr>
          <a:xfrm>
            <a:off x="548640" y="63825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Retrieval Modeling  |  Module 3: Boolean and Vector Space Models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1_pill"/>
          <p:cNvSpPr/>
          <p:nvPr/>
        </p:nvSpPr>
        <p:spPr>
          <a:xfrm>
            <a:off x="731520" y="1325880"/>
            <a:ext cx="2468880" cy="420624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3" name="a1_pill_t"/>
          <p:cNvSpPr txBox="1"/>
          <p:nvPr/>
        </p:nvSpPr>
        <p:spPr>
          <a:xfrm>
            <a:off x="731520" y="132588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OF 7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1828800"/>
            <a:ext cx="67665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Boolean and Vector Space Models</a:t>
            </a:r>
            <a:endParaRPr lang="en-US" sz="44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402336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>
                <a:solidFill>
                  <a:schemeClr val="bg2"/>
                </a:solidFill>
              </a:rPr>
              <a:t>Term weighting, similarity and ranked retrieval</a:t>
            </a:r>
            <a:endParaRPr lang="en-US" sz="2100" dirty="0"/>
          </a:p>
        </p:txBody>
      </p:sp>
      <p:sp>
        <p:nvSpPr>
          <p:cNvPr id="6" name="a4_meta"/>
          <p:cNvSpPr txBox="1"/>
          <p:nvPr/>
        </p:nvSpPr>
        <p:spPr>
          <a:xfrm>
            <a:off x="731520" y="50749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Intermediate  |  Prior knowledge: databases, basic ML  |  ~45 min</a:t>
            </a:r>
            <a:endParaRPr lang="en-US" sz="1500" dirty="0"/>
          </a:p>
        </p:txBody>
      </p:sp>
      <p:sp>
        <p:nvSpPr>
          <p:cNvPr id="7" name="a5_term"/>
          <p:cNvSpPr/>
          <p:nvPr/>
        </p:nvSpPr>
        <p:spPr>
          <a:xfrm>
            <a:off x="7589520" y="1371600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8" name="a5_post"/>
          <p:cNvSpPr/>
          <p:nvPr/>
        </p:nvSpPr>
        <p:spPr>
          <a:xfrm>
            <a:off x="8823960" y="1371600"/>
            <a:ext cx="2487168" cy="475488"/>
          </a:xfrm>
          <a:prstGeom prst="roundRect">
            <a:avLst>
              <a:gd name="adj" fmla="val 19231"/>
            </a:avLst>
          </a:prstGeom>
          <a:solidFill>
            <a:schemeClr val="accent1">
              <a:alpha val="85000"/>
            </a:schemeClr>
          </a:solidFill>
          <a:ln/>
        </p:spPr>
      </p:sp>
      <p:sp>
        <p:nvSpPr>
          <p:cNvPr id="9" name="a6_term"/>
          <p:cNvSpPr/>
          <p:nvPr/>
        </p:nvSpPr>
        <p:spPr>
          <a:xfrm>
            <a:off x="7589520" y="2084832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3"/>
            </a:solidFill>
            <a:prstDash val="solid"/>
          </a:ln>
        </p:spPr>
      </p:sp>
      <p:sp>
        <p:nvSpPr>
          <p:cNvPr id="10" name="a6_post"/>
          <p:cNvSpPr/>
          <p:nvPr/>
        </p:nvSpPr>
        <p:spPr>
          <a:xfrm>
            <a:off x="8823960" y="2084832"/>
            <a:ext cx="3419856" cy="475488"/>
          </a:xfrm>
          <a:prstGeom prst="roundRect">
            <a:avLst>
              <a:gd name="adj" fmla="val 19231"/>
            </a:avLst>
          </a:prstGeom>
          <a:solidFill>
            <a:schemeClr val="accent3">
              <a:alpha val="85000"/>
            </a:schemeClr>
          </a:solidFill>
          <a:ln/>
        </p:spPr>
      </p:sp>
      <p:sp>
        <p:nvSpPr>
          <p:cNvPr id="11" name="a7_term"/>
          <p:cNvSpPr/>
          <p:nvPr/>
        </p:nvSpPr>
        <p:spPr>
          <a:xfrm>
            <a:off x="7589520" y="2798064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2" name="a7_post"/>
          <p:cNvSpPr/>
          <p:nvPr/>
        </p:nvSpPr>
        <p:spPr>
          <a:xfrm>
            <a:off x="8823960" y="2798064"/>
            <a:ext cx="1865376" cy="475488"/>
          </a:xfrm>
          <a:prstGeom prst="roundRect">
            <a:avLst>
              <a:gd name="adj" fmla="val 19231"/>
            </a:avLst>
          </a:prstGeom>
          <a:solidFill>
            <a:schemeClr val="accent4">
              <a:alpha val="85000"/>
            </a:schemeClr>
          </a:solidFill>
          <a:ln/>
        </p:spPr>
      </p:sp>
      <p:sp>
        <p:nvSpPr>
          <p:cNvPr id="13" name="a8_term"/>
          <p:cNvSpPr/>
          <p:nvPr/>
        </p:nvSpPr>
        <p:spPr>
          <a:xfrm>
            <a:off x="7589520" y="3511296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14" name="a8_post"/>
          <p:cNvSpPr/>
          <p:nvPr/>
        </p:nvSpPr>
        <p:spPr>
          <a:xfrm>
            <a:off x="8823960" y="3511296"/>
            <a:ext cx="2953512" cy="475488"/>
          </a:xfrm>
          <a:prstGeom prst="roundRect">
            <a:avLst>
              <a:gd name="adj" fmla="val 19231"/>
            </a:avLst>
          </a:prstGeom>
          <a:solidFill>
            <a:schemeClr val="accent2">
              <a:alpha val="85000"/>
            </a:schemeClr>
          </a:solidFill>
          <a:ln/>
        </p:spPr>
      </p:sp>
      <p:sp>
        <p:nvSpPr>
          <p:cNvPr id="15" name="a9_term"/>
          <p:cNvSpPr/>
          <p:nvPr/>
        </p:nvSpPr>
        <p:spPr>
          <a:xfrm>
            <a:off x="7589520" y="4224528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6"/>
            </a:solidFill>
            <a:prstDash val="solid"/>
          </a:ln>
        </p:spPr>
      </p:sp>
      <p:sp>
        <p:nvSpPr>
          <p:cNvPr id="16" name="a9_post"/>
          <p:cNvSpPr/>
          <p:nvPr/>
        </p:nvSpPr>
        <p:spPr>
          <a:xfrm>
            <a:off x="8823960" y="4224528"/>
            <a:ext cx="2253996" cy="475488"/>
          </a:xfrm>
          <a:prstGeom prst="roundRect">
            <a:avLst>
              <a:gd name="adj" fmla="val 19231"/>
            </a:avLst>
          </a:prstGeom>
          <a:solidFill>
            <a:schemeClr val="accent6">
              <a:alpha val="85000"/>
            </a:schemeClr>
          </a:solidFill>
          <a:ln/>
        </p:spPr>
      </p:sp>
      <p:sp>
        <p:nvSpPr>
          <p:cNvPr id="17" name="a10_term"/>
          <p:cNvSpPr/>
          <p:nvPr/>
        </p:nvSpPr>
        <p:spPr>
          <a:xfrm>
            <a:off x="7589520" y="4937760"/>
            <a:ext cx="1097280" cy="475488"/>
          </a:xfrm>
          <a:prstGeom prst="roundRect">
            <a:avLst>
              <a:gd name="adj" fmla="val 19231"/>
            </a:avLst>
          </a:prstGeom>
          <a:solidFill>
            <a:srgbClr val="16345C"/>
          </a:solidFill>
          <a:ln w="19050">
            <a:solidFill>
              <a:schemeClr val="accent1"/>
            </a:solidFill>
            <a:prstDash val="solid"/>
          </a:ln>
        </p:spPr>
      </p:sp>
      <p:sp>
        <p:nvSpPr>
          <p:cNvPr id="18" name="a10_post"/>
          <p:cNvSpPr/>
          <p:nvPr/>
        </p:nvSpPr>
        <p:spPr>
          <a:xfrm>
            <a:off x="8823960" y="4937760"/>
            <a:ext cx="3186684" cy="475488"/>
          </a:xfrm>
          <a:prstGeom prst="roundRect">
            <a:avLst>
              <a:gd name="adj" fmla="val 19231"/>
            </a:avLst>
          </a:prstGeom>
          <a:solidFill>
            <a:schemeClr val="accent1">
              <a:alpha val="85000"/>
            </a:schemeClr>
          </a:solidFill>
          <a:ln/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9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Learning objectives</a:t>
            </a:r>
            <a:endParaRPr lang="en-US" sz="3200" dirty="0"/>
          </a:p>
        </p:txBody>
      </p:sp>
      <p:sp>
        <p:nvSpPr>
          <p:cNvPr id="3" name="a2_lead"/>
          <p:cNvSpPr txBox="1"/>
          <p:nvPr/>
        </p:nvSpPr>
        <p:spPr>
          <a:xfrm>
            <a:off x="548640" y="1371600"/>
            <a:ext cx="1109441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this module you will be able to:</a:t>
            </a:r>
            <a:endParaRPr lang="en-US" sz="1800" dirty="0"/>
          </a:p>
        </p:txBody>
      </p:sp>
      <p:sp>
        <p:nvSpPr>
          <p:cNvPr id="4" name="a3_row"/>
          <p:cNvSpPr/>
          <p:nvPr/>
        </p:nvSpPr>
        <p:spPr>
          <a:xfrm>
            <a:off x="548640" y="2011680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5" name="a3_num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3_numt"/>
          <p:cNvSpPr txBox="1"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a3_obj"/>
          <p:cNvSpPr txBox="1"/>
          <p:nvPr/>
        </p:nvSpPr>
        <p:spPr>
          <a:xfrm>
            <a:off x="1600200" y="2011680"/>
            <a:ext cx="9722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the strengths and limits of Boolean retrieval</a:t>
            </a:r>
            <a:endParaRPr lang="en-US" sz="1900" dirty="0"/>
          </a:p>
        </p:txBody>
      </p:sp>
      <p:sp>
        <p:nvSpPr>
          <p:cNvPr id="8" name="a4_row"/>
          <p:cNvSpPr/>
          <p:nvPr/>
        </p:nvSpPr>
        <p:spPr>
          <a:xfrm>
            <a:off x="548640" y="3035808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9" name="a4_num"/>
          <p:cNvSpPr/>
          <p:nvPr/>
        </p:nvSpPr>
        <p:spPr>
          <a:xfrm>
            <a:off x="822960" y="3218688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0" name="a4_numt"/>
          <p:cNvSpPr txBox="1"/>
          <p:nvPr/>
        </p:nvSpPr>
        <p:spPr>
          <a:xfrm>
            <a:off x="822960" y="32186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a4_obj"/>
          <p:cNvSpPr txBox="1"/>
          <p:nvPr/>
        </p:nvSpPr>
        <p:spPr>
          <a:xfrm>
            <a:off x="1600200" y="3035808"/>
            <a:ext cx="9722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term frequency, inverse document frequency and TF-IDF weights</a:t>
            </a:r>
            <a:endParaRPr lang="en-US" sz="1900" dirty="0"/>
          </a:p>
        </p:txBody>
      </p:sp>
      <p:sp>
        <p:nvSpPr>
          <p:cNvPr id="12" name="a5_row"/>
          <p:cNvSpPr/>
          <p:nvPr/>
        </p:nvSpPr>
        <p:spPr>
          <a:xfrm>
            <a:off x="548640" y="4059936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13" name="a5_num"/>
          <p:cNvSpPr/>
          <p:nvPr/>
        </p:nvSpPr>
        <p:spPr>
          <a:xfrm>
            <a:off x="822960" y="4242816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4" name="a5_numt"/>
          <p:cNvSpPr txBox="1"/>
          <p:nvPr/>
        </p:nvSpPr>
        <p:spPr>
          <a:xfrm>
            <a:off x="822960" y="42428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a5_obj"/>
          <p:cNvSpPr txBox="1"/>
          <p:nvPr/>
        </p:nvSpPr>
        <p:spPr>
          <a:xfrm>
            <a:off x="1600200" y="4059936"/>
            <a:ext cx="9722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documents and queries as vectors and rank them by cosine similarity</a:t>
            </a:r>
            <a:endParaRPr lang="en-US" sz="1900" dirty="0"/>
          </a:p>
        </p:txBody>
      </p:sp>
      <p:sp>
        <p:nvSpPr>
          <p:cNvPr id="16" name="a6_row"/>
          <p:cNvSpPr/>
          <p:nvPr/>
        </p:nvSpPr>
        <p:spPr>
          <a:xfrm>
            <a:off x="548640" y="5084064"/>
            <a:ext cx="11094415" cy="868680"/>
          </a:xfrm>
          <a:prstGeom prst="roundRect">
            <a:avLst>
              <a:gd name="adj" fmla="val 10526"/>
            </a:avLst>
          </a:prstGeom>
          <a:solidFill>
            <a:schemeClr val="bg2"/>
          </a:solidFill>
          <a:ln/>
        </p:spPr>
      </p:sp>
      <p:sp>
        <p:nvSpPr>
          <p:cNvPr id="17" name="a6_num"/>
          <p:cNvSpPr/>
          <p:nvPr/>
        </p:nvSpPr>
        <p:spPr>
          <a:xfrm>
            <a:off x="822960" y="5266944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8" name="a6_numt"/>
          <p:cNvSpPr txBox="1"/>
          <p:nvPr/>
        </p:nvSpPr>
        <p:spPr>
          <a:xfrm>
            <a:off x="822960" y="52669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9" name="a6_obj"/>
          <p:cNvSpPr txBox="1"/>
          <p:nvPr/>
        </p:nvSpPr>
        <p:spPr>
          <a:xfrm>
            <a:off x="1600200" y="5084064"/>
            <a:ext cx="972281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the assumptions and weaknesses that motivate later models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Boolean model</a:t>
            </a:r>
            <a:endParaRPr lang="en-US" sz="3200" dirty="0"/>
          </a:p>
        </p:txBody>
      </p:sp>
      <p:sp>
        <p:nvSpPr>
          <p:cNvPr id="3" name="a2_body"/>
          <p:cNvSpPr txBox="1"/>
          <p:nvPr/>
        </p:nvSpPr>
        <p:spPr>
          <a:xfrm>
            <a:off x="548640" y="1463040"/>
            <a:ext cx="69494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matching.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combine terms with AND, OR and NOT. A document either satisfies the expression or does not.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Predictable, transparent and easy to implement on an inverted index. Experts value precise control.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ranking.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matches are equal, so the user receives an unordered set.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Feast or famine.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queries return nothing, loose ones return thousands, and tuning the expression is hard for non-experts.</a:t>
            </a:r>
            <a:endParaRPr lang="en-US" sz="2100" dirty="0"/>
          </a:p>
        </p:txBody>
      </p:sp>
      <p:sp>
        <p:nvSpPr>
          <p:cNvPr id="4" name="a3_co"/>
          <p:cNvSpPr/>
          <p:nvPr/>
        </p:nvSpPr>
        <p:spPr>
          <a:xfrm>
            <a:off x="7818120" y="1508760"/>
            <a:ext cx="3822192" cy="2468880"/>
          </a:xfrm>
          <a:prstGeom prst="roundRect">
            <a:avLst>
              <a:gd name="adj" fmla="val 3704"/>
            </a:avLst>
          </a:prstGeom>
          <a:solidFill>
            <a:srgbClr val="FFF4DC"/>
          </a:solidFill>
          <a:ln/>
        </p:spPr>
      </p:sp>
      <p:sp>
        <p:nvSpPr>
          <p:cNvPr id="5" name="a3_co_bar"/>
          <p:cNvSpPr/>
          <p:nvPr/>
        </p:nvSpPr>
        <p:spPr>
          <a:xfrm>
            <a:off x="7818120" y="1618488"/>
            <a:ext cx="64008" cy="224942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a3_co_t"/>
          <p:cNvSpPr txBox="1"/>
          <p:nvPr/>
        </p:nvSpPr>
        <p:spPr>
          <a:xfrm>
            <a:off x="8074152" y="1600200"/>
            <a:ext cx="3410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need a gradual notion of matching: documents that match more of the query, or match it more strongly, should come first.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Two signals for weighting terms</a:t>
            </a:r>
            <a:endParaRPr lang="en-US" sz="3200" dirty="0"/>
          </a:p>
        </p:txBody>
      </p:sp>
      <p:sp>
        <p:nvSpPr>
          <p:cNvPr id="3" name="a2_body"/>
          <p:cNvSpPr txBox="1"/>
          <p:nvPr/>
        </p:nvSpPr>
        <p:spPr>
          <a:xfrm>
            <a:off x="548640" y="1463040"/>
            <a:ext cx="69494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frequency (tf).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 that occurs often in a document suggests the document is about it.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frequency (df).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term that occurs in nearly every document, such as the, says little about any one of them.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them.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 a term highly when it is frequent in this document but rare across the collection.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Sublinear growth.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 occurrences are not ten times as informative as one, so dampen tf with a logarithm.</a:t>
            </a:r>
            <a:endParaRPr lang="en-US" sz="2100" dirty="0"/>
          </a:p>
        </p:txBody>
      </p:sp>
      <p:sp>
        <p:nvSpPr>
          <p:cNvPr id="4" name="a3_co"/>
          <p:cNvSpPr/>
          <p:nvPr/>
        </p:nvSpPr>
        <p:spPr>
          <a:xfrm>
            <a:off x="7818120" y="1508760"/>
            <a:ext cx="3822192" cy="2468880"/>
          </a:xfrm>
          <a:prstGeom prst="roundRect">
            <a:avLst>
              <a:gd name="adj" fmla="val 3704"/>
            </a:avLst>
          </a:prstGeom>
          <a:solidFill>
            <a:srgbClr val="FFF4DC"/>
          </a:solidFill>
          <a:ln/>
        </p:spPr>
      </p:sp>
      <p:sp>
        <p:nvSpPr>
          <p:cNvPr id="5" name="a3_co_bar"/>
          <p:cNvSpPr/>
          <p:nvPr/>
        </p:nvSpPr>
        <p:spPr>
          <a:xfrm>
            <a:off x="7818120" y="1618488"/>
            <a:ext cx="64008" cy="224942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a3_co_t"/>
          <p:cNvSpPr txBox="1"/>
          <p:nvPr/>
        </p:nvSpPr>
        <p:spPr>
          <a:xfrm>
            <a:off x="8074152" y="1600200"/>
            <a:ext cx="3410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weight at all?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are a model of informativeness. They encode the belief that rare, repeated terms discriminate between documents.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TF-IDF weighting</a:t>
            </a:r>
            <a:endParaRPr lang="en-US" sz="3200" dirty="0"/>
          </a:p>
        </p:txBody>
      </p:sp>
      <p:sp>
        <p:nvSpPr>
          <p:cNvPr id="3" name="a2_eq"/>
          <p:cNvSpPr/>
          <p:nvPr/>
        </p:nvSpPr>
        <p:spPr>
          <a:xfrm>
            <a:off x="548640" y="14630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4" name="a2_eq_t"/>
          <p:cNvSpPr txBox="1"/>
          <p:nvPr/>
        </p:nvSpPr>
        <p:spPr>
          <a:xfrm>
            <a:off x="822960" y="1463040"/>
            <a:ext cx="105457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w(t,d) = (1 + log tf(t,d)) × log( N / df(t) )</a:t>
            </a:r>
            <a:endParaRPr lang="en-US" sz="3000" dirty="0"/>
          </a:p>
        </p:txBody>
      </p:sp>
      <p:sp>
        <p:nvSpPr>
          <p:cNvPr id="5" name="a3_where"/>
          <p:cNvSpPr txBox="1"/>
          <p:nvPr/>
        </p:nvSpPr>
        <p:spPr>
          <a:xfrm>
            <a:off x="548640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500" dirty="0"/>
          </a:p>
        </p:txBody>
      </p:sp>
      <p:sp>
        <p:nvSpPr>
          <p:cNvPr id="6" name="a3_chip"/>
          <p:cNvSpPr/>
          <p:nvPr/>
        </p:nvSpPr>
        <p:spPr>
          <a:xfrm>
            <a:off x="548640" y="3264408"/>
            <a:ext cx="123444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sp>
        <p:nvSpPr>
          <p:cNvPr id="7" name="a3_chip_t"/>
          <p:cNvSpPr txBox="1"/>
          <p:nvPr/>
        </p:nvSpPr>
        <p:spPr>
          <a:xfrm>
            <a:off x="548640" y="326440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tf(t,d)</a:t>
            </a:r>
            <a:endParaRPr lang="en-US" sz="1500" dirty="0"/>
          </a:p>
        </p:txBody>
      </p:sp>
      <p:sp>
        <p:nvSpPr>
          <p:cNvPr id="8" name="a3_mean"/>
          <p:cNvSpPr txBox="1"/>
          <p:nvPr/>
        </p:nvSpPr>
        <p:spPr>
          <a:xfrm>
            <a:off x="1920240" y="3264408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Occurrences of term t in document d.</a:t>
            </a:r>
            <a:endParaRPr lang="en-US" sz="1450" dirty="0"/>
          </a:p>
        </p:txBody>
      </p:sp>
      <p:sp>
        <p:nvSpPr>
          <p:cNvPr id="9" name="a3_chip"/>
          <p:cNvSpPr/>
          <p:nvPr/>
        </p:nvSpPr>
        <p:spPr>
          <a:xfrm>
            <a:off x="548640" y="3831336"/>
            <a:ext cx="1234440" cy="475488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</p:sp>
      <p:sp>
        <p:nvSpPr>
          <p:cNvPr id="10" name="a3_chip_t"/>
          <p:cNvSpPr txBox="1"/>
          <p:nvPr/>
        </p:nvSpPr>
        <p:spPr>
          <a:xfrm>
            <a:off x="548640" y="383133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df(t)</a:t>
            </a:r>
            <a:endParaRPr lang="en-US" sz="1500" dirty="0"/>
          </a:p>
        </p:txBody>
      </p:sp>
      <p:sp>
        <p:nvSpPr>
          <p:cNvPr id="11" name="a3_mean"/>
          <p:cNvSpPr txBox="1"/>
          <p:nvPr/>
        </p:nvSpPr>
        <p:spPr>
          <a:xfrm>
            <a:off x="1920240" y="3831336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of documents containing t.</a:t>
            </a:r>
            <a:endParaRPr lang="en-US" sz="1450" dirty="0"/>
          </a:p>
        </p:txBody>
      </p:sp>
      <p:sp>
        <p:nvSpPr>
          <p:cNvPr id="12" name="a3_chip"/>
          <p:cNvSpPr/>
          <p:nvPr/>
        </p:nvSpPr>
        <p:spPr>
          <a:xfrm>
            <a:off x="548640" y="4398264"/>
            <a:ext cx="1234440" cy="475488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/>
        </p:spPr>
      </p:sp>
      <p:sp>
        <p:nvSpPr>
          <p:cNvPr id="13" name="a3_chip_t"/>
          <p:cNvSpPr txBox="1"/>
          <p:nvPr/>
        </p:nvSpPr>
        <p:spPr>
          <a:xfrm>
            <a:off x="548640" y="43982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N</a:t>
            </a:r>
            <a:endParaRPr lang="en-US" sz="1500" dirty="0"/>
          </a:p>
        </p:txBody>
      </p:sp>
      <p:sp>
        <p:nvSpPr>
          <p:cNvPr id="14" name="a3_mean"/>
          <p:cNvSpPr txBox="1"/>
          <p:nvPr/>
        </p:nvSpPr>
        <p:spPr>
          <a:xfrm>
            <a:off x="1920240" y="4398264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number of documents in the collection.</a:t>
            </a:r>
            <a:endParaRPr lang="en-US" sz="1450" dirty="0"/>
          </a:p>
        </p:txBody>
      </p:sp>
      <p:sp>
        <p:nvSpPr>
          <p:cNvPr id="15" name="a3_chip"/>
          <p:cNvSpPr/>
          <p:nvPr/>
        </p:nvSpPr>
        <p:spPr>
          <a:xfrm>
            <a:off x="548640" y="4965192"/>
            <a:ext cx="1234440" cy="475488"/>
          </a:xfrm>
          <a:prstGeom prst="roundRect">
            <a:avLst>
              <a:gd name="adj" fmla="val 15385"/>
            </a:avLst>
          </a:prstGeom>
          <a:solidFill>
            <a:schemeClr val="accent2"/>
          </a:solidFill>
          <a:ln/>
        </p:spPr>
      </p:sp>
      <p:sp>
        <p:nvSpPr>
          <p:cNvPr id="16" name="a3_chip_t"/>
          <p:cNvSpPr txBox="1"/>
          <p:nvPr/>
        </p:nvSpPr>
        <p:spPr>
          <a:xfrm>
            <a:off x="548640" y="4965192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log</a:t>
            </a:r>
            <a:endParaRPr lang="en-US" sz="1500" dirty="0"/>
          </a:p>
        </p:txBody>
      </p:sp>
      <p:sp>
        <p:nvSpPr>
          <p:cNvPr id="17" name="a3_mean"/>
          <p:cNvSpPr txBox="1"/>
          <p:nvPr/>
        </p:nvSpPr>
        <p:spPr>
          <a:xfrm>
            <a:off x="1920240" y="4965192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Compresses large counts. Base 10 is used in the example.</a:t>
            </a:r>
            <a:endParaRPr lang="en-US" sz="1450" dirty="0"/>
          </a:p>
        </p:txBody>
      </p:sp>
      <p:sp>
        <p:nvSpPr>
          <p:cNvPr id="18" name="a4_co"/>
          <p:cNvSpPr/>
          <p:nvPr/>
        </p:nvSpPr>
        <p:spPr>
          <a:xfrm>
            <a:off x="7818120" y="2880360"/>
            <a:ext cx="3822192" cy="3017520"/>
          </a:xfrm>
          <a:prstGeom prst="roundRect">
            <a:avLst>
              <a:gd name="adj" fmla="val 3030"/>
            </a:avLst>
          </a:prstGeom>
          <a:solidFill>
            <a:srgbClr val="FFF4DC"/>
          </a:solidFill>
          <a:ln/>
        </p:spPr>
      </p:sp>
      <p:sp>
        <p:nvSpPr>
          <p:cNvPr id="19" name="a4_co_bar"/>
          <p:cNvSpPr/>
          <p:nvPr/>
        </p:nvSpPr>
        <p:spPr>
          <a:xfrm>
            <a:off x="7818120" y="2990088"/>
            <a:ext cx="64008" cy="27980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0" name="a4_co_t"/>
          <p:cNvSpPr txBox="1"/>
          <p:nvPr/>
        </p:nvSpPr>
        <p:spPr>
          <a:xfrm>
            <a:off x="8074152" y="2971800"/>
            <a:ext cx="341071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N = 1,000,000, the word the (df = 900,000) has idf about 0.05, while retrieval (df = 1,000) has idf = 3. If retrieval appears 10 times, tf weight is 1 + 1 = 2, so w = 2 × 3 = 6.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window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Documents as vectors</a:t>
            </a:r>
            <a:endParaRPr lang="en-US" sz="3200" dirty="0"/>
          </a:p>
        </p:txBody>
      </p:sp>
      <p:sp>
        <p:nvSpPr>
          <p:cNvPr id="3" name="a2_body"/>
          <p:cNvSpPr txBox="1"/>
          <p:nvPr/>
        </p:nvSpPr>
        <p:spPr>
          <a:xfrm>
            <a:off x="548640" y="1463040"/>
            <a:ext cx="6949440" cy="4663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axis per term.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document becomes a point in a space whose dimensions are vocabulary terms.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Coordinates are weights.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coordinates are zero, since a document uses few of all possible terms.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are vectors too.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the query as a very short document and place it in the same space.</a:t>
            </a:r>
            <a:endParaRPr lang="en-US" sz="2100" dirty="0"/>
          </a:p>
          <a:p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b="1" dirty="0">
                <a:solidFill>
                  <a:schemeClr val="accent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Closeness means relevance. </a:t>
            </a:r>
            <a:pPr indent="0" marL="0">
              <a:lnSpc>
                <a:spcPct val="105000"/>
              </a:lnSpc>
              <a:spcAft>
                <a:spcPts val="2000"/>
              </a:spcAft>
              <a:buNone/>
            </a:pPr>
            <a:r>
              <a:rPr lang="en-US" sz="21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Documents near the query vector are ranked higher.</a:t>
            </a:r>
            <a:endParaRPr lang="en-US" sz="2100" dirty="0"/>
          </a:p>
        </p:txBody>
      </p:sp>
      <p:sp>
        <p:nvSpPr>
          <p:cNvPr id="4" name="a3_co"/>
          <p:cNvSpPr/>
          <p:nvPr/>
        </p:nvSpPr>
        <p:spPr>
          <a:xfrm>
            <a:off x="7818120" y="1508760"/>
            <a:ext cx="3822192" cy="2468880"/>
          </a:xfrm>
          <a:prstGeom prst="roundRect">
            <a:avLst>
              <a:gd name="adj" fmla="val 3704"/>
            </a:avLst>
          </a:prstGeom>
          <a:solidFill>
            <a:srgbClr val="FFF4DC"/>
          </a:solidFill>
          <a:ln/>
        </p:spPr>
      </p:sp>
      <p:sp>
        <p:nvSpPr>
          <p:cNvPr id="5" name="a3_co_bar"/>
          <p:cNvSpPr/>
          <p:nvPr/>
        </p:nvSpPr>
        <p:spPr>
          <a:xfrm>
            <a:off x="7818120" y="1618488"/>
            <a:ext cx="64008" cy="224942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a3_co_t"/>
          <p:cNvSpPr txBox="1"/>
          <p:nvPr/>
        </p:nvSpPr>
        <p:spPr>
          <a:xfrm>
            <a:off x="8074152" y="1600200"/>
            <a:ext cx="341071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 idea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reduces retrieval to geometry: ranking becomes a nearest-neighbor problem, which also underlies the neural methods in Module 5.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push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Cosine similarity</a:t>
            </a:r>
            <a:endParaRPr lang="en-US" sz="3200" dirty="0"/>
          </a:p>
        </p:txBody>
      </p:sp>
      <p:sp>
        <p:nvSpPr>
          <p:cNvPr id="3" name="a2_eq"/>
          <p:cNvSpPr/>
          <p:nvPr/>
        </p:nvSpPr>
        <p:spPr>
          <a:xfrm>
            <a:off x="548640" y="1463040"/>
            <a:ext cx="11094415" cy="1143000"/>
          </a:xfrm>
          <a:prstGeom prst="roundRect">
            <a:avLst>
              <a:gd name="adj" fmla="val 9600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4" name="a2_eq_t"/>
          <p:cNvSpPr txBox="1"/>
          <p:nvPr/>
        </p:nvSpPr>
        <p:spPr>
          <a:xfrm>
            <a:off x="822960" y="1463040"/>
            <a:ext cx="10545775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cos(q, d) = ( q · d ) / ( ‖q‖ × ‖d‖ )</a:t>
            </a:r>
            <a:endParaRPr lang="en-US" sz="3000" dirty="0"/>
          </a:p>
        </p:txBody>
      </p:sp>
      <p:sp>
        <p:nvSpPr>
          <p:cNvPr id="5" name="a3_where"/>
          <p:cNvSpPr txBox="1"/>
          <p:nvPr/>
        </p:nvSpPr>
        <p:spPr>
          <a:xfrm>
            <a:off x="548640" y="28803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500" dirty="0"/>
          </a:p>
        </p:txBody>
      </p:sp>
      <p:sp>
        <p:nvSpPr>
          <p:cNvPr id="6" name="a3_chip"/>
          <p:cNvSpPr/>
          <p:nvPr/>
        </p:nvSpPr>
        <p:spPr>
          <a:xfrm>
            <a:off x="548640" y="3264408"/>
            <a:ext cx="123444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sp>
        <p:nvSpPr>
          <p:cNvPr id="7" name="a3_chip_t"/>
          <p:cNvSpPr txBox="1"/>
          <p:nvPr/>
        </p:nvSpPr>
        <p:spPr>
          <a:xfrm>
            <a:off x="548640" y="326440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· d</a:t>
            </a:r>
            <a:endParaRPr lang="en-US" sz="1500" dirty="0"/>
          </a:p>
        </p:txBody>
      </p:sp>
      <p:sp>
        <p:nvSpPr>
          <p:cNvPr id="8" name="a3_mean"/>
          <p:cNvSpPr txBox="1"/>
          <p:nvPr/>
        </p:nvSpPr>
        <p:spPr>
          <a:xfrm>
            <a:off x="1920240" y="3264408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Dot product: sum over terms of query weight times document weight.</a:t>
            </a:r>
            <a:endParaRPr lang="en-US" sz="1450" dirty="0"/>
          </a:p>
        </p:txBody>
      </p:sp>
      <p:sp>
        <p:nvSpPr>
          <p:cNvPr id="9" name="a3_chip"/>
          <p:cNvSpPr/>
          <p:nvPr/>
        </p:nvSpPr>
        <p:spPr>
          <a:xfrm>
            <a:off x="548640" y="3831336"/>
            <a:ext cx="1234440" cy="475488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</p:sp>
      <p:sp>
        <p:nvSpPr>
          <p:cNvPr id="10" name="a3_chip_t"/>
          <p:cNvSpPr txBox="1"/>
          <p:nvPr/>
        </p:nvSpPr>
        <p:spPr>
          <a:xfrm>
            <a:off x="548640" y="383133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‖q‖, ‖d‖</a:t>
            </a:r>
            <a:endParaRPr lang="en-US" sz="1500" dirty="0"/>
          </a:p>
        </p:txBody>
      </p:sp>
      <p:sp>
        <p:nvSpPr>
          <p:cNvPr id="11" name="a3_mean"/>
          <p:cNvSpPr txBox="1"/>
          <p:nvPr/>
        </p:nvSpPr>
        <p:spPr>
          <a:xfrm>
            <a:off x="1920240" y="3831336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lengths, which normalize for document size.</a:t>
            </a:r>
            <a:endParaRPr lang="en-US" sz="1450" dirty="0"/>
          </a:p>
        </p:txBody>
      </p:sp>
      <p:sp>
        <p:nvSpPr>
          <p:cNvPr id="12" name="a3_chip"/>
          <p:cNvSpPr/>
          <p:nvPr/>
        </p:nvSpPr>
        <p:spPr>
          <a:xfrm>
            <a:off x="548640" y="4398264"/>
            <a:ext cx="1234440" cy="475488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/>
        </p:spPr>
      </p:sp>
      <p:sp>
        <p:nvSpPr>
          <p:cNvPr id="13" name="a3_chip_t"/>
          <p:cNvSpPr txBox="1"/>
          <p:nvPr/>
        </p:nvSpPr>
        <p:spPr>
          <a:xfrm>
            <a:off x="548640" y="439826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cos</a:t>
            </a:r>
            <a:endParaRPr lang="en-US" sz="1500" dirty="0"/>
          </a:p>
        </p:txBody>
      </p:sp>
      <p:sp>
        <p:nvSpPr>
          <p:cNvPr id="14" name="a3_mean"/>
          <p:cNvSpPr txBox="1"/>
          <p:nvPr/>
        </p:nvSpPr>
        <p:spPr>
          <a:xfrm>
            <a:off x="1920240" y="4398264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0 and 1 for non-negative weights; 1 means identical direction.</a:t>
            </a:r>
            <a:endParaRPr lang="en-US" sz="1450" dirty="0"/>
          </a:p>
        </p:txBody>
      </p:sp>
      <p:sp>
        <p:nvSpPr>
          <p:cNvPr id="15" name="a4_co"/>
          <p:cNvSpPr/>
          <p:nvPr/>
        </p:nvSpPr>
        <p:spPr>
          <a:xfrm>
            <a:off x="7818120" y="2880360"/>
            <a:ext cx="3822192" cy="3017520"/>
          </a:xfrm>
          <a:prstGeom prst="roundRect">
            <a:avLst>
              <a:gd name="adj" fmla="val 3030"/>
            </a:avLst>
          </a:prstGeom>
          <a:solidFill>
            <a:srgbClr val="FFF4DC"/>
          </a:solidFill>
          <a:ln/>
        </p:spPr>
      </p:sp>
      <p:sp>
        <p:nvSpPr>
          <p:cNvPr id="16" name="a4_co_bar"/>
          <p:cNvSpPr/>
          <p:nvPr/>
        </p:nvSpPr>
        <p:spPr>
          <a:xfrm>
            <a:off x="7818120" y="2990088"/>
            <a:ext cx="64008" cy="27980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a4_co_t"/>
          <p:cNvSpPr txBox="1"/>
          <p:nvPr/>
        </p:nvSpPr>
        <p:spPr>
          <a:xfrm>
            <a:off x="8074152" y="2971800"/>
            <a:ext cx="341071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angle, not distance?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long document repeats words, so its vector is long. Comparing direction rather than length stops long documents from winning just by being long.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window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Worked example</a:t>
            </a:r>
            <a:endParaRPr lang="en-US" sz="3200" dirty="0"/>
          </a:p>
        </p:txBody>
      </p:sp>
      <p:graphicFrame>
        <p:nvGraphicFramePr>
          <p:cNvPr id="9" name="a2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109441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645920"/>
                <a:gridCol w="1645920"/>
                <a:gridCol w="450799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chemeClr val="bg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 with query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q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length = √2 = 1.414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D1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(2+1) / (1.414 × 2.236) = 0.949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b="1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 D2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700" dirty="0">
                          <a:solidFill>
                            <a:schemeClr val="tx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(1.414 × 1) = 0.707</a:t>
                      </a:r>
                      <a:endParaRPr lang="en-US" sz="17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D8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</a:tr>
            </a:tbl>
          </a:graphicData>
        </a:graphic>
      </p:graphicFrame>
      <p:sp>
        <p:nvSpPr>
          <p:cNvPr id="4" name="a3_co"/>
          <p:cNvSpPr/>
          <p:nvPr/>
        </p:nvSpPr>
        <p:spPr>
          <a:xfrm>
            <a:off x="548640" y="3877056"/>
            <a:ext cx="11094415" cy="1188720"/>
          </a:xfrm>
          <a:prstGeom prst="roundRect">
            <a:avLst>
              <a:gd name="adj" fmla="val 7692"/>
            </a:avLst>
          </a:prstGeom>
          <a:solidFill>
            <a:srgbClr val="FFF4DC"/>
          </a:solidFill>
          <a:ln/>
        </p:spPr>
      </p:sp>
      <p:sp>
        <p:nvSpPr>
          <p:cNvPr id="5" name="a3_co_bar"/>
          <p:cNvSpPr/>
          <p:nvPr/>
        </p:nvSpPr>
        <p:spPr>
          <a:xfrm>
            <a:off x="548640" y="3986784"/>
            <a:ext cx="64008" cy="9692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6" name="a3_co_t"/>
          <p:cNvSpPr txBox="1"/>
          <p:nvPr/>
        </p:nvSpPr>
        <p:spPr>
          <a:xfrm>
            <a:off x="804672" y="3968496"/>
            <a:ext cx="106829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Reading the result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 contains both query terms and ranks first. D2 matches only one term and ranks lower. The ordering, not the absolute number, is what matters.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doors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4" grpId="0" animBg="1"/>
      <p:bldP spid="5" grpId="0" animBg="1"/>
      <p:bldP spid="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Scoring efficiently</a:t>
            </a:r>
            <a:endParaRPr lang="en-US" sz="32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2602154" cy="338328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4" name="a2_bar"/>
          <p:cNvSpPr/>
          <p:nvPr/>
        </p:nvSpPr>
        <p:spPr>
          <a:xfrm>
            <a:off x="777240" y="1508760"/>
            <a:ext cx="731520" cy="73152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5" name="a2_num"/>
          <p:cNvSpPr/>
          <p:nvPr/>
        </p:nvSpPr>
        <p:spPr>
          <a:xfrm>
            <a:off x="77724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a2_numt"/>
          <p:cNvSpPr txBox="1"/>
          <p:nvPr/>
        </p:nvSpPr>
        <p:spPr>
          <a:xfrm>
            <a:off x="77724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a2_head"/>
          <p:cNvSpPr txBox="1"/>
          <p:nvPr/>
        </p:nvSpPr>
        <p:spPr>
          <a:xfrm>
            <a:off x="777240" y="246888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postings</a:t>
            </a:r>
            <a:endParaRPr lang="en-US" sz="1800" dirty="0"/>
          </a:p>
        </p:txBody>
      </p:sp>
      <p:sp>
        <p:nvSpPr>
          <p:cNvPr id="8" name="a2_body"/>
          <p:cNvSpPr txBox="1"/>
          <p:nvPr/>
        </p:nvSpPr>
        <p:spPr>
          <a:xfrm>
            <a:off x="777240" y="3200400"/>
            <a:ext cx="21449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for terms in the query, never the whole collection.</a:t>
            </a:r>
            <a:endParaRPr lang="en-US" sz="1600" dirty="0"/>
          </a:p>
        </p:txBody>
      </p:sp>
      <p:sp>
        <p:nvSpPr>
          <p:cNvPr id="9" name="a3_card"/>
          <p:cNvSpPr/>
          <p:nvPr/>
        </p:nvSpPr>
        <p:spPr>
          <a:xfrm>
            <a:off x="3379394" y="1508760"/>
            <a:ext cx="2602154" cy="338328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0" name="a3_bar"/>
          <p:cNvSpPr/>
          <p:nvPr/>
        </p:nvSpPr>
        <p:spPr>
          <a:xfrm>
            <a:off x="3607994" y="1508760"/>
            <a:ext cx="731520" cy="73152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" name="a3_num"/>
          <p:cNvSpPr/>
          <p:nvPr/>
        </p:nvSpPr>
        <p:spPr>
          <a:xfrm>
            <a:off x="3607994" y="1783080"/>
            <a:ext cx="502920" cy="502920"/>
          </a:xfrm>
          <a:prstGeom prst="ellipse">
            <a:avLst/>
          </a:prstGeom>
          <a:solidFill>
            <a:schemeClr val="accent3"/>
          </a:solidFill>
          <a:ln/>
        </p:spPr>
      </p:sp>
      <p:sp>
        <p:nvSpPr>
          <p:cNvPr id="12" name="a3_numt"/>
          <p:cNvSpPr txBox="1"/>
          <p:nvPr/>
        </p:nvSpPr>
        <p:spPr>
          <a:xfrm>
            <a:off x="3607994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a3_head"/>
          <p:cNvSpPr txBox="1"/>
          <p:nvPr/>
        </p:nvSpPr>
        <p:spPr>
          <a:xfrm>
            <a:off x="3607994" y="246888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Accumulate</a:t>
            </a:r>
            <a:endParaRPr lang="en-US" sz="1800" dirty="0"/>
          </a:p>
        </p:txBody>
      </p:sp>
      <p:sp>
        <p:nvSpPr>
          <p:cNvPr id="14" name="a3_body"/>
          <p:cNvSpPr txBox="1"/>
          <p:nvPr/>
        </p:nvSpPr>
        <p:spPr>
          <a:xfrm>
            <a:off x="3607994" y="3200400"/>
            <a:ext cx="21449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posting, add weight products to a per-document score.</a:t>
            </a:r>
            <a:endParaRPr lang="en-US" sz="1600" dirty="0"/>
          </a:p>
        </p:txBody>
      </p:sp>
      <p:sp>
        <p:nvSpPr>
          <p:cNvPr id="15" name="a4_card"/>
          <p:cNvSpPr/>
          <p:nvPr/>
        </p:nvSpPr>
        <p:spPr>
          <a:xfrm>
            <a:off x="6210148" y="1508760"/>
            <a:ext cx="2602154" cy="338328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6" name="a4_bar"/>
          <p:cNvSpPr/>
          <p:nvPr/>
        </p:nvSpPr>
        <p:spPr>
          <a:xfrm>
            <a:off x="6438748" y="1508760"/>
            <a:ext cx="731520" cy="73152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7" name="a4_num"/>
          <p:cNvSpPr/>
          <p:nvPr/>
        </p:nvSpPr>
        <p:spPr>
          <a:xfrm>
            <a:off x="6438748" y="1783080"/>
            <a:ext cx="502920" cy="502920"/>
          </a:xfrm>
          <a:prstGeom prst="ellipse">
            <a:avLst/>
          </a:prstGeom>
          <a:solidFill>
            <a:schemeClr val="accent4"/>
          </a:solidFill>
          <a:ln/>
        </p:spPr>
      </p:sp>
      <p:sp>
        <p:nvSpPr>
          <p:cNvPr id="18" name="a4_numt"/>
          <p:cNvSpPr txBox="1"/>
          <p:nvPr/>
        </p:nvSpPr>
        <p:spPr>
          <a:xfrm>
            <a:off x="6438748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a4_head"/>
          <p:cNvSpPr txBox="1"/>
          <p:nvPr/>
        </p:nvSpPr>
        <p:spPr>
          <a:xfrm>
            <a:off x="6438748" y="246888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800" dirty="0"/>
          </a:p>
        </p:txBody>
      </p:sp>
      <p:sp>
        <p:nvSpPr>
          <p:cNvPr id="20" name="a4_body"/>
          <p:cNvSpPr txBox="1"/>
          <p:nvPr/>
        </p:nvSpPr>
        <p:spPr>
          <a:xfrm>
            <a:off x="6438748" y="3200400"/>
            <a:ext cx="21449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 by stored document lengths.</a:t>
            </a:r>
            <a:endParaRPr lang="en-US" sz="1600" dirty="0"/>
          </a:p>
        </p:txBody>
      </p:sp>
      <p:sp>
        <p:nvSpPr>
          <p:cNvPr id="21" name="a5_card"/>
          <p:cNvSpPr/>
          <p:nvPr/>
        </p:nvSpPr>
        <p:spPr>
          <a:xfrm>
            <a:off x="9040901" y="1508760"/>
            <a:ext cx="2602154" cy="3383280"/>
          </a:xfrm>
          <a:prstGeom prst="roundRect">
            <a:avLst>
              <a:gd name="adj" fmla="val 3514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22" name="a5_bar"/>
          <p:cNvSpPr/>
          <p:nvPr/>
        </p:nvSpPr>
        <p:spPr>
          <a:xfrm>
            <a:off x="9269501" y="1508760"/>
            <a:ext cx="731520" cy="73152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3" name="a5_num"/>
          <p:cNvSpPr/>
          <p:nvPr/>
        </p:nvSpPr>
        <p:spPr>
          <a:xfrm>
            <a:off x="9269501" y="178308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4" name="a5_numt"/>
          <p:cNvSpPr txBox="1"/>
          <p:nvPr/>
        </p:nvSpPr>
        <p:spPr>
          <a:xfrm>
            <a:off x="9269501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a5_head"/>
          <p:cNvSpPr txBox="1"/>
          <p:nvPr/>
        </p:nvSpPr>
        <p:spPr>
          <a:xfrm>
            <a:off x="9269501" y="2468880"/>
            <a:ext cx="21449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top k</a:t>
            </a:r>
            <a:endParaRPr lang="en-US" sz="1800" dirty="0"/>
          </a:p>
        </p:txBody>
      </p:sp>
      <p:sp>
        <p:nvSpPr>
          <p:cNvPr id="26" name="a5_body"/>
          <p:cNvSpPr txBox="1"/>
          <p:nvPr/>
        </p:nvSpPr>
        <p:spPr>
          <a:xfrm>
            <a:off x="9269501" y="3200400"/>
            <a:ext cx="214495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 small heap of best results instead of sorting everything.</a:t>
            </a:r>
            <a:endParaRPr lang="en-US" sz="1600" dirty="0"/>
          </a:p>
        </p:txBody>
      </p:sp>
      <p:sp>
        <p:nvSpPr>
          <p:cNvPr id="27" name="a8_co"/>
          <p:cNvSpPr/>
          <p:nvPr/>
        </p:nvSpPr>
        <p:spPr>
          <a:xfrm>
            <a:off x="548640" y="5120640"/>
            <a:ext cx="11094415" cy="1051560"/>
          </a:xfrm>
          <a:prstGeom prst="roundRect">
            <a:avLst>
              <a:gd name="adj" fmla="val 8696"/>
            </a:avLst>
          </a:prstGeom>
          <a:solidFill>
            <a:srgbClr val="FFF4DC"/>
          </a:solidFill>
          <a:ln/>
        </p:spPr>
      </p:sp>
      <p:sp>
        <p:nvSpPr>
          <p:cNvPr id="28" name="a8_co_bar"/>
          <p:cNvSpPr/>
          <p:nvPr/>
        </p:nvSpPr>
        <p:spPr>
          <a:xfrm>
            <a:off x="548640" y="5230368"/>
            <a:ext cx="64008" cy="8321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9" name="a8_co_t"/>
          <p:cNvSpPr txBox="1"/>
          <p:nvPr/>
        </p:nvSpPr>
        <p:spPr>
          <a:xfrm>
            <a:off x="804672" y="5212080"/>
            <a:ext cx="1068293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to Module 2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scoring reuses the inverted index. Only documents sharing a term with the query are ever touched.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conveyor dir="l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6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7" dur="6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6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1" dur="6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6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5" dur="6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6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9" dur="6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6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3" dur="6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6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87" dur="6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6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1" dur="6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6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5" dur="6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6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99" dur="6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4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6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3" dur="6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8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6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07" dur="6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2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6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1" dur="6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Assumptions and limits</a:t>
            </a:r>
            <a:endParaRPr lang="en-US" sz="3200" dirty="0"/>
          </a:p>
        </p:txBody>
      </p:sp>
      <p:sp>
        <p:nvSpPr>
          <p:cNvPr id="3" name="a2_card"/>
          <p:cNvSpPr/>
          <p:nvPr/>
        </p:nvSpPr>
        <p:spPr>
          <a:xfrm>
            <a:off x="548640" y="1508760"/>
            <a:ext cx="3515258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4" name="a2_chip"/>
          <p:cNvSpPr/>
          <p:nvPr/>
        </p:nvSpPr>
        <p:spPr>
          <a:xfrm>
            <a:off x="777240" y="1737360"/>
            <a:ext cx="3058058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sp>
        <p:nvSpPr>
          <p:cNvPr id="5" name="a2_chip_t"/>
          <p:cNvSpPr txBox="1"/>
          <p:nvPr/>
        </p:nvSpPr>
        <p:spPr>
          <a:xfrm>
            <a:off x="777240" y="17373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 independence</a:t>
            </a:r>
            <a:endParaRPr lang="en-US" sz="1600" dirty="0"/>
          </a:p>
        </p:txBody>
      </p:sp>
      <p:sp>
        <p:nvSpPr>
          <p:cNvPr id="6" name="a2_items"/>
          <p:cNvSpPr txBox="1"/>
          <p:nvPr/>
        </p:nvSpPr>
        <p:spPr>
          <a:xfrm>
            <a:off x="777240" y="2377440"/>
            <a:ext cx="305805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term is a separate axis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order and phrases are lost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Synonyms look unrelated</a:t>
            </a:r>
            <a:endParaRPr lang="en-US" sz="1650" dirty="0"/>
          </a:p>
        </p:txBody>
      </p:sp>
      <p:sp>
        <p:nvSpPr>
          <p:cNvPr id="7" name="a3_card"/>
          <p:cNvSpPr/>
          <p:nvPr/>
        </p:nvSpPr>
        <p:spPr>
          <a:xfrm>
            <a:off x="4338218" y="1508760"/>
            <a:ext cx="3515258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8" name="a3_chip"/>
          <p:cNvSpPr/>
          <p:nvPr/>
        </p:nvSpPr>
        <p:spPr>
          <a:xfrm>
            <a:off x="4566818" y="1737360"/>
            <a:ext cx="3058058" cy="457200"/>
          </a:xfrm>
          <a:prstGeom prst="roundRect">
            <a:avLst>
              <a:gd name="adj" fmla="val 20000"/>
            </a:avLst>
          </a:prstGeom>
          <a:solidFill>
            <a:schemeClr val="accent3"/>
          </a:solidFill>
          <a:ln/>
        </p:spPr>
      </p:sp>
      <p:sp>
        <p:nvSpPr>
          <p:cNvPr id="9" name="a3_chip_t"/>
          <p:cNvSpPr txBox="1"/>
          <p:nvPr/>
        </p:nvSpPr>
        <p:spPr>
          <a:xfrm>
            <a:off x="4566818" y="17373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Heuristic weights</a:t>
            </a:r>
            <a:endParaRPr lang="en-US" sz="1600" dirty="0"/>
          </a:p>
        </p:txBody>
      </p:sp>
      <p:sp>
        <p:nvSpPr>
          <p:cNvPr id="10" name="a3_items"/>
          <p:cNvSpPr txBox="1"/>
          <p:nvPr/>
        </p:nvSpPr>
        <p:spPr>
          <a:xfrm>
            <a:off x="4566818" y="2377440"/>
            <a:ext cx="305805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works well but has no probabilistic derivation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 handling is crude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variants exist</a:t>
            </a:r>
            <a:endParaRPr lang="en-US" sz="1650" dirty="0"/>
          </a:p>
        </p:txBody>
      </p:sp>
      <p:sp>
        <p:nvSpPr>
          <p:cNvPr id="11" name="a4_card"/>
          <p:cNvSpPr/>
          <p:nvPr/>
        </p:nvSpPr>
        <p:spPr>
          <a:xfrm>
            <a:off x="8127797" y="1508760"/>
            <a:ext cx="3515258" cy="3383280"/>
          </a:xfrm>
          <a:prstGeom prst="roundRect">
            <a:avLst>
              <a:gd name="adj" fmla="val 2703"/>
            </a:avLst>
          </a:prstGeom>
          <a:solidFill>
            <a:schemeClr val="bg2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12" name="a4_chip"/>
          <p:cNvSpPr/>
          <p:nvPr/>
        </p:nvSpPr>
        <p:spPr>
          <a:xfrm>
            <a:off x="8356397" y="1737360"/>
            <a:ext cx="3058058" cy="457200"/>
          </a:xfrm>
          <a:prstGeom prst="roundRect">
            <a:avLst>
              <a:gd name="adj" fmla="val 20000"/>
            </a:avLst>
          </a:prstGeom>
          <a:solidFill>
            <a:schemeClr val="accent4"/>
          </a:solidFill>
          <a:ln/>
        </p:spPr>
      </p:sp>
      <p:sp>
        <p:nvSpPr>
          <p:cNvPr id="13" name="a4_chip_t"/>
          <p:cNvSpPr txBox="1"/>
          <p:nvPr/>
        </p:nvSpPr>
        <p:spPr>
          <a:xfrm>
            <a:off x="8356397" y="1737360"/>
            <a:ext cx="305805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Vocabulary mismatch</a:t>
            </a:r>
            <a:endParaRPr lang="en-US" sz="1600" dirty="0"/>
          </a:p>
        </p:txBody>
      </p:sp>
      <p:sp>
        <p:nvSpPr>
          <p:cNvPr id="14" name="a4_items"/>
          <p:cNvSpPr txBox="1"/>
          <p:nvPr/>
        </p:nvSpPr>
        <p:spPr>
          <a:xfrm>
            <a:off x="8356397" y="2377440"/>
            <a:ext cx="3058058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 and automobile never match</a:t>
            </a:r>
            <a:endParaRPr lang="en-US" sz="16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6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Needs expansion or learned representations</a:t>
            </a:r>
            <a:endParaRPr lang="en-US" sz="1650" dirty="0"/>
          </a:p>
        </p:txBody>
      </p:sp>
      <p:sp>
        <p:nvSpPr>
          <p:cNvPr id="15" name="a7_co"/>
          <p:cNvSpPr/>
          <p:nvPr/>
        </p:nvSpPr>
        <p:spPr>
          <a:xfrm>
            <a:off x="548640" y="5120640"/>
            <a:ext cx="11094415" cy="1143000"/>
          </a:xfrm>
          <a:prstGeom prst="roundRect">
            <a:avLst>
              <a:gd name="adj" fmla="val 8000"/>
            </a:avLst>
          </a:prstGeom>
          <a:solidFill>
            <a:srgbClr val="FFF4DC"/>
          </a:solidFill>
          <a:ln/>
        </p:spPr>
      </p:sp>
      <p:sp>
        <p:nvSpPr>
          <p:cNvPr id="16" name="a7_co_bar"/>
          <p:cNvSpPr/>
          <p:nvPr/>
        </p:nvSpPr>
        <p:spPr>
          <a:xfrm>
            <a:off x="548640" y="5230368"/>
            <a:ext cx="64008" cy="92354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a7_co_t"/>
          <p:cNvSpPr txBox="1"/>
          <p:nvPr/>
        </p:nvSpPr>
        <p:spPr>
          <a:xfrm>
            <a:off x="804672" y="5212080"/>
            <a:ext cx="1068293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comes next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gaps motivate probabilistic models (Module 4), which justify weights, and neural models (Module 5), which capture meaning.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vortex dir="r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Relevance feedback (Rocchio)</a:t>
            </a:r>
            <a:endParaRPr lang="en-US" sz="3200" dirty="0"/>
          </a:p>
        </p:txBody>
      </p:sp>
      <p:sp>
        <p:nvSpPr>
          <p:cNvPr id="3" name="a2_eq"/>
          <p:cNvSpPr/>
          <p:nvPr/>
        </p:nvSpPr>
        <p:spPr>
          <a:xfrm>
            <a:off x="548640" y="1463040"/>
            <a:ext cx="11094415" cy="1005840"/>
          </a:xfrm>
          <a:prstGeom prst="roundRect">
            <a:avLst>
              <a:gd name="adj" fmla="val 10909"/>
            </a:avLst>
          </a:prstGeom>
          <a:solidFill>
            <a:schemeClr val="tx1"/>
          </a:solidFill>
          <a:ln/>
          <a:effectLst>
            <a:outerShdw sx="100000" sy="100000" kx="0" ky="0" algn="bl" rotWithShape="0" blurRad="101600" dist="25400" dir="5400000">
              <a:srgbClr val="000000">
                <a:alpha val="13000"/>
              </a:srgbClr>
            </a:outerShdw>
          </a:effectLst>
        </p:spPr>
      </p:sp>
      <p:sp>
        <p:nvSpPr>
          <p:cNvPr id="4" name="a2_eq_t"/>
          <p:cNvSpPr txBox="1"/>
          <p:nvPr/>
        </p:nvSpPr>
        <p:spPr>
          <a:xfrm>
            <a:off x="822960" y="1463040"/>
            <a:ext cx="1054577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q' = α q + β · mean(relevant) − γ · mean(non-relevant)</a:t>
            </a:r>
            <a:endParaRPr lang="en-US" sz="2200" dirty="0"/>
          </a:p>
        </p:txBody>
      </p:sp>
      <p:sp>
        <p:nvSpPr>
          <p:cNvPr id="5" name="a3_where"/>
          <p:cNvSpPr txBox="1"/>
          <p:nvPr/>
        </p:nvSpPr>
        <p:spPr>
          <a:xfrm>
            <a:off x="548640" y="2743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</a:t>
            </a:r>
            <a:endParaRPr lang="en-US" sz="1500" dirty="0"/>
          </a:p>
        </p:txBody>
      </p:sp>
      <p:sp>
        <p:nvSpPr>
          <p:cNvPr id="6" name="a3_chip"/>
          <p:cNvSpPr/>
          <p:nvPr/>
        </p:nvSpPr>
        <p:spPr>
          <a:xfrm>
            <a:off x="548640" y="3127248"/>
            <a:ext cx="1234440" cy="475488"/>
          </a:xfrm>
          <a:prstGeom prst="roundRect">
            <a:avLst>
              <a:gd name="adj" fmla="val 15385"/>
            </a:avLst>
          </a:prstGeom>
          <a:solidFill>
            <a:schemeClr val="accent1"/>
          </a:solidFill>
          <a:ln/>
        </p:spPr>
      </p:sp>
      <p:sp>
        <p:nvSpPr>
          <p:cNvPr id="7" name="a3_chip_t"/>
          <p:cNvSpPr txBox="1"/>
          <p:nvPr/>
        </p:nvSpPr>
        <p:spPr>
          <a:xfrm>
            <a:off x="548640" y="3127248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q'</a:t>
            </a:r>
            <a:endParaRPr lang="en-US" sz="1500" dirty="0"/>
          </a:p>
        </p:txBody>
      </p:sp>
      <p:sp>
        <p:nvSpPr>
          <p:cNvPr id="8" name="a3_mean"/>
          <p:cNvSpPr txBox="1"/>
          <p:nvPr/>
        </p:nvSpPr>
        <p:spPr>
          <a:xfrm>
            <a:off x="1920240" y="3127248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improved query vector used for a second search.</a:t>
            </a:r>
            <a:endParaRPr lang="en-US" sz="1450" dirty="0"/>
          </a:p>
        </p:txBody>
      </p:sp>
      <p:sp>
        <p:nvSpPr>
          <p:cNvPr id="9" name="a3_chip"/>
          <p:cNvSpPr/>
          <p:nvPr/>
        </p:nvSpPr>
        <p:spPr>
          <a:xfrm>
            <a:off x="548640" y="3694176"/>
            <a:ext cx="1234440" cy="475488"/>
          </a:xfrm>
          <a:prstGeom prst="roundRect">
            <a:avLst>
              <a:gd name="adj" fmla="val 15385"/>
            </a:avLst>
          </a:prstGeom>
          <a:solidFill>
            <a:schemeClr val="accent3"/>
          </a:solidFill>
          <a:ln/>
        </p:spPr>
      </p:sp>
      <p:sp>
        <p:nvSpPr>
          <p:cNvPr id="10" name="a3_chip_t"/>
          <p:cNvSpPr txBox="1"/>
          <p:nvPr/>
        </p:nvSpPr>
        <p:spPr>
          <a:xfrm>
            <a:off x="548640" y="3694176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α, β, γ</a:t>
            </a:r>
            <a:endParaRPr lang="en-US" sz="1500" dirty="0"/>
          </a:p>
        </p:txBody>
      </p:sp>
      <p:sp>
        <p:nvSpPr>
          <p:cNvPr id="11" name="a3_mean"/>
          <p:cNvSpPr txBox="1"/>
          <p:nvPr/>
        </p:nvSpPr>
        <p:spPr>
          <a:xfrm>
            <a:off x="1920240" y="3694176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 on the original query, relevant examples and non-relevant examples.</a:t>
            </a:r>
            <a:endParaRPr lang="en-US" sz="1450" dirty="0"/>
          </a:p>
        </p:txBody>
      </p:sp>
      <p:sp>
        <p:nvSpPr>
          <p:cNvPr id="12" name="a3_chip"/>
          <p:cNvSpPr/>
          <p:nvPr/>
        </p:nvSpPr>
        <p:spPr>
          <a:xfrm>
            <a:off x="548640" y="4261104"/>
            <a:ext cx="1234440" cy="475488"/>
          </a:xfrm>
          <a:prstGeom prst="roundRect">
            <a:avLst>
              <a:gd name="adj" fmla="val 15385"/>
            </a:avLst>
          </a:prstGeom>
          <a:solidFill>
            <a:schemeClr val="accent4"/>
          </a:solidFill>
          <a:ln/>
        </p:spPr>
      </p:sp>
      <p:sp>
        <p:nvSpPr>
          <p:cNvPr id="13" name="a3_chip_t"/>
          <p:cNvSpPr txBox="1"/>
          <p:nvPr/>
        </p:nvSpPr>
        <p:spPr>
          <a:xfrm>
            <a:off x="548640" y="4261104"/>
            <a:ext cx="1234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mean(…)</a:t>
            </a:r>
            <a:endParaRPr lang="en-US" sz="1500" dirty="0"/>
          </a:p>
        </p:txBody>
      </p:sp>
      <p:sp>
        <p:nvSpPr>
          <p:cNvPr id="14" name="a3_mean"/>
          <p:cNvSpPr txBox="1"/>
          <p:nvPr/>
        </p:nvSpPr>
        <p:spPr>
          <a:xfrm>
            <a:off x="1920240" y="4261104"/>
            <a:ext cx="5669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vector of the judged documents.</a:t>
            </a:r>
            <a:endParaRPr lang="en-US" sz="1450" dirty="0"/>
          </a:p>
        </p:txBody>
      </p:sp>
      <p:sp>
        <p:nvSpPr>
          <p:cNvPr id="15" name="a4_co"/>
          <p:cNvSpPr/>
          <p:nvPr/>
        </p:nvSpPr>
        <p:spPr>
          <a:xfrm>
            <a:off x="7818120" y="2743200"/>
            <a:ext cx="3822192" cy="3017520"/>
          </a:xfrm>
          <a:prstGeom prst="roundRect">
            <a:avLst>
              <a:gd name="adj" fmla="val 3030"/>
            </a:avLst>
          </a:prstGeom>
          <a:solidFill>
            <a:srgbClr val="FFF4DC"/>
          </a:solidFill>
          <a:ln/>
        </p:spPr>
      </p:sp>
      <p:sp>
        <p:nvSpPr>
          <p:cNvPr id="16" name="a4_co_bar"/>
          <p:cNvSpPr/>
          <p:nvPr/>
        </p:nvSpPr>
        <p:spPr>
          <a:xfrm>
            <a:off x="7818120" y="2852928"/>
            <a:ext cx="64008" cy="279806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7" name="a4_co_t"/>
          <p:cNvSpPr txBox="1"/>
          <p:nvPr/>
        </p:nvSpPr>
        <p:spPr>
          <a:xfrm>
            <a:off x="8074152" y="2834640"/>
            <a:ext cx="3410712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helps</a:t>
            </a:r>
            <a:endParaRPr lang="en-US" sz="1400" dirty="0"/>
          </a:p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rarely states the need completely. Marking a few results lets the system move the query toward documents like them, adding words the user never typed. Pseudo-feedback assumes the top results are relevant.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100">
        <p14:window dir="ver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6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63" dur="6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47472"/>
            <a:ext cx="1109441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bg1"/>
                </a:solidFill>
              </a:rPr>
              <a:t>Key takeaways</a:t>
            </a:r>
            <a:endParaRPr lang="en-US" sz="3200" dirty="0"/>
          </a:p>
        </p:txBody>
      </p:sp>
      <p:sp>
        <p:nvSpPr>
          <p:cNvPr id="3" name="a2_dot"/>
          <p:cNvSpPr/>
          <p:nvPr/>
        </p:nvSpPr>
        <p:spPr>
          <a:xfrm>
            <a:off x="548640" y="1572768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4" name="a2_tick"/>
          <p:cNvSpPr txBox="1"/>
          <p:nvPr/>
        </p:nvSpPr>
        <p:spPr>
          <a:xfrm>
            <a:off x="548640" y="1572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5" name="a2_pt"/>
          <p:cNvSpPr txBox="1"/>
          <p:nvPr/>
        </p:nvSpPr>
        <p:spPr>
          <a:xfrm>
            <a:off x="1234440" y="1463040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Boolean retrieval is exact and unranked, so it is rarely enough for ordinary users.</a:t>
            </a:r>
            <a:endParaRPr lang="en-US" sz="1650" dirty="0"/>
          </a:p>
        </p:txBody>
      </p:sp>
      <p:sp>
        <p:nvSpPr>
          <p:cNvPr id="6" name="a3_dot"/>
          <p:cNvSpPr/>
          <p:nvPr/>
        </p:nvSpPr>
        <p:spPr>
          <a:xfrm>
            <a:off x="548640" y="2468880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7" name="a3_tick"/>
          <p:cNvSpPr txBox="1"/>
          <p:nvPr/>
        </p:nvSpPr>
        <p:spPr>
          <a:xfrm>
            <a:off x="548640" y="2468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8" name="a3_pt"/>
          <p:cNvSpPr txBox="1"/>
          <p:nvPr/>
        </p:nvSpPr>
        <p:spPr>
          <a:xfrm>
            <a:off x="1234440" y="2359152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rewards terms that are frequent in a document and rare in the collection.</a:t>
            </a:r>
            <a:endParaRPr lang="en-US" sz="1650" dirty="0"/>
          </a:p>
        </p:txBody>
      </p:sp>
      <p:sp>
        <p:nvSpPr>
          <p:cNvPr id="9" name="a4_dot"/>
          <p:cNvSpPr/>
          <p:nvPr/>
        </p:nvSpPr>
        <p:spPr>
          <a:xfrm>
            <a:off x="548640" y="3364992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0" name="a4_tick"/>
          <p:cNvSpPr txBox="1"/>
          <p:nvPr/>
        </p:nvSpPr>
        <p:spPr>
          <a:xfrm>
            <a:off x="548640" y="33649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1" name="a4_pt"/>
          <p:cNvSpPr txBox="1"/>
          <p:nvPr/>
        </p:nvSpPr>
        <p:spPr>
          <a:xfrm>
            <a:off x="1234440" y="325526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Cosine similarity ranks by direction in term space, removing length bias.</a:t>
            </a:r>
            <a:endParaRPr lang="en-US" sz="1650" dirty="0"/>
          </a:p>
        </p:txBody>
      </p:sp>
      <p:sp>
        <p:nvSpPr>
          <p:cNvPr id="12" name="a5_dot"/>
          <p:cNvSpPr/>
          <p:nvPr/>
        </p:nvSpPr>
        <p:spPr>
          <a:xfrm>
            <a:off x="548640" y="4261104"/>
            <a:ext cx="457200" cy="457200"/>
          </a:xfrm>
          <a:prstGeom prst="ellipse">
            <a:avLst/>
          </a:prstGeom>
          <a:solidFill>
            <a:schemeClr val="accent6"/>
          </a:solidFill>
          <a:ln/>
        </p:spPr>
      </p:sp>
      <p:sp>
        <p:nvSpPr>
          <p:cNvPr id="13" name="a5_tick"/>
          <p:cNvSpPr txBox="1"/>
          <p:nvPr/>
        </p:nvSpPr>
        <p:spPr>
          <a:xfrm>
            <a:off x="548640" y="42611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800" dirty="0"/>
          </a:p>
        </p:txBody>
      </p:sp>
      <p:sp>
        <p:nvSpPr>
          <p:cNvPr id="14" name="a5_pt"/>
          <p:cNvSpPr txBox="1"/>
          <p:nvPr/>
        </p:nvSpPr>
        <p:spPr>
          <a:xfrm>
            <a:off x="1234440" y="4151376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 assumes independent terms and cannot bridge vocabulary mismatch.</a:t>
            </a:r>
            <a:endParaRPr lang="en-US" sz="1650" dirty="0"/>
          </a:p>
        </p:txBody>
      </p:sp>
      <p:sp>
        <p:nvSpPr>
          <p:cNvPr id="15" name="a8_next"/>
          <p:cNvSpPr/>
          <p:nvPr/>
        </p:nvSpPr>
        <p:spPr>
          <a:xfrm>
            <a:off x="7955280" y="1463040"/>
            <a:ext cx="3685032" cy="3566160"/>
          </a:xfrm>
          <a:prstGeom prst="roundRect">
            <a:avLst>
              <a:gd name="adj" fmla="val 3590"/>
            </a:avLst>
          </a:prstGeom>
          <a:solidFill>
            <a:srgbClr val="16345C"/>
          </a:solidFill>
          <a:ln/>
        </p:spPr>
      </p:sp>
      <p:sp>
        <p:nvSpPr>
          <p:cNvPr id="16" name="a9_next_t"/>
          <p:cNvSpPr txBox="1"/>
          <p:nvPr/>
        </p:nvSpPr>
        <p:spPr>
          <a:xfrm>
            <a:off x="8229600" y="1691640"/>
            <a:ext cx="31546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</a:t>
            </a:r>
            <a:endParaRPr lang="en-US" sz="2000" dirty="0"/>
          </a:p>
          <a:p>
            <a:pPr indent="0" marL="0">
              <a:buNone/>
            </a:pP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4 grounds ranking in probability: BM25 and language models.</a:t>
            </a:r>
            <a:endParaRPr lang="en-US" sz="20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2000" dirty="0"/>
          </a:p>
          <a:p>
            <a:pPr indent="0" marL="0">
              <a:buNone/>
            </a:pPr>
            <a:r>
              <a:rPr lang="en-US" sz="1600" b="1" dirty="0">
                <a:solidFill>
                  <a:schemeClr val="accent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yourself</a:t>
            </a:r>
            <a:endParaRPr lang="en-US" sz="2000" dirty="0"/>
          </a:p>
          <a:p>
            <a:pPr indent="0" marL="0">
              <a:buNone/>
            </a:pPr>
            <a:r>
              <a:rPr lang="en-US" sz="1450" dirty="0">
                <a:solidFill>
                  <a:schemeClr val="bg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does the idf of a word that appears in every document equal zero?</a:t>
            </a:r>
            <a:endParaRPr lang="en-US" sz="2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382512"/>
            <a:ext cx="57607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rippl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6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7" dur="6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6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1" dur="6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6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5" dur="6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6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19" dur="6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6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3" dur="6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42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6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27" dur="6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6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1" dur="6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6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5" dur="6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42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6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39" dur="6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6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3" dur="6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6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47" dur="6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2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6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1" dur="6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6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5" dur="6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42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6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 additive="base">
                                        <p:cTn id="59" dur="6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theme/theme1.xml><?xml version="1.0" encoding="utf-8"?>
<a:theme xmlns:a="http://schemas.openxmlformats.org/drawingml/2006/main" name="Index Blue">
  <a:themeElements>
    <a:clrScheme name="Index Blue">
      <a:dk1>
        <a:srgbClr val="0B1F3A"/>
      </a:dk1>
      <a:lt1>
        <a:srgbClr val="FFFFFF"/>
      </a:lt1>
      <a:dk2>
        <a:srgbClr val="1B4B8A"/>
      </a:dk2>
      <a:lt2>
        <a:srgbClr val="EAF1FB"/>
      </a:lt2>
      <a:accent1>
        <a:srgbClr val="1F7AE0"/>
      </a:accent1>
      <a:accent2>
        <a:srgbClr val="F5A623"/>
      </a:accent2>
      <a:accent3>
        <a:srgbClr val="12B5A6"/>
      </a:accent3>
      <a:accent4>
        <a:srgbClr val="7B5CE0"/>
      </a:accent4>
      <a:accent5>
        <a:srgbClr val="E5484D"/>
      </a:accent5>
      <a:accent6>
        <a:srgbClr val="2FB170"/>
      </a:accent6>
      <a:hlink>
        <a:srgbClr val="1F7AE0"/>
      </a:hlink>
      <a:folHlink>
        <a:srgbClr val="7B5CE0"/>
      </a:folHlink>
    </a:clrScheme>
    <a:fontScheme name="Index Blu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IR Modeling - Module 3: Boolean and Vector Space Models</dc:title>
  <dc:subject>PptxGenJS Presentation</dc:subject>
  <dc:creator>Information Retrieval Modeling series</dc:creator>
  <cp:lastModifiedBy>Information Retrieval Modeling series</cp:lastModifiedBy>
  <cp:revision>1</cp:revision>
  <dcterms:created xsi:type="dcterms:W3CDTF">2026-10-09T22:06:54Z</dcterms:created>
  <dcterms:modified xsi:type="dcterms:W3CDTF">2026-10-09T22:06:54Z</dcterms:modified>
</cp:coreProperties>
</file>