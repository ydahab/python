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7665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6400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Retrieval Modeling  |  Module 4: Probabilistic Models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Retrieval Modeling  |  Module 4: Probabilistic Models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1_pill"/>
          <p:cNvSpPr/>
          <p:nvPr/>
        </p:nvSpPr>
        <p:spPr>
          <a:xfrm>
            <a:off x="731520" y="1325880"/>
            <a:ext cx="2468880" cy="4206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" name="a1_pill_t"/>
          <p:cNvSpPr txBox="1"/>
          <p:nvPr/>
        </p:nvSpPr>
        <p:spPr>
          <a:xfrm>
            <a:off x="731520" y="132588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OF 7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182880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Probabilistic Retrieval Models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4023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Ranking principle, BM25 and language models</a:t>
            </a:r>
            <a:endParaRPr lang="en-US" sz="2100" dirty="0"/>
          </a:p>
        </p:txBody>
      </p:sp>
      <p:sp>
        <p:nvSpPr>
          <p:cNvPr id="6" name="a4_meta"/>
          <p:cNvSpPr txBox="1"/>
          <p:nvPr/>
        </p:nvSpPr>
        <p:spPr>
          <a:xfrm>
            <a:off x="731520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 |  Prior knowledge: databases, basic ML  |  ~45 min</a:t>
            </a:r>
            <a:endParaRPr lang="en-US" sz="1500" dirty="0"/>
          </a:p>
        </p:txBody>
      </p:sp>
      <p:sp>
        <p:nvSpPr>
          <p:cNvPr id="7" name="a5_term"/>
          <p:cNvSpPr/>
          <p:nvPr/>
        </p:nvSpPr>
        <p:spPr>
          <a:xfrm>
            <a:off x="7589520" y="1371600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a5_post"/>
          <p:cNvSpPr/>
          <p:nvPr/>
        </p:nvSpPr>
        <p:spPr>
          <a:xfrm>
            <a:off x="8823960" y="1371600"/>
            <a:ext cx="2487168" cy="475488"/>
          </a:xfrm>
          <a:prstGeom prst="roundRect">
            <a:avLst>
              <a:gd name="adj" fmla="val 19231"/>
            </a:avLst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9" name="a6_term"/>
          <p:cNvSpPr/>
          <p:nvPr/>
        </p:nvSpPr>
        <p:spPr>
          <a:xfrm>
            <a:off x="7589520" y="2084832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0" name="a6_post"/>
          <p:cNvSpPr/>
          <p:nvPr/>
        </p:nvSpPr>
        <p:spPr>
          <a:xfrm>
            <a:off x="8823960" y="2084832"/>
            <a:ext cx="3419856" cy="475488"/>
          </a:xfrm>
          <a:prstGeom prst="roundRect">
            <a:avLst>
              <a:gd name="adj" fmla="val 19231"/>
            </a:avLst>
          </a:prstGeom>
          <a:solidFill>
            <a:schemeClr val="accent3">
              <a:alpha val="85000"/>
            </a:schemeClr>
          </a:solidFill>
          <a:ln/>
        </p:spPr>
      </p:sp>
      <p:sp>
        <p:nvSpPr>
          <p:cNvPr id="11" name="a7_term"/>
          <p:cNvSpPr/>
          <p:nvPr/>
        </p:nvSpPr>
        <p:spPr>
          <a:xfrm>
            <a:off x="7589520" y="2798064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2" name="a7_post"/>
          <p:cNvSpPr/>
          <p:nvPr/>
        </p:nvSpPr>
        <p:spPr>
          <a:xfrm>
            <a:off x="8823960" y="2798064"/>
            <a:ext cx="1865376" cy="475488"/>
          </a:xfrm>
          <a:prstGeom prst="roundRect">
            <a:avLst>
              <a:gd name="adj" fmla="val 19231"/>
            </a:avLst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13" name="a8_term"/>
          <p:cNvSpPr/>
          <p:nvPr/>
        </p:nvSpPr>
        <p:spPr>
          <a:xfrm>
            <a:off x="7589520" y="3511296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a8_post"/>
          <p:cNvSpPr/>
          <p:nvPr/>
        </p:nvSpPr>
        <p:spPr>
          <a:xfrm>
            <a:off x="8823960" y="3511296"/>
            <a:ext cx="2953512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15" name="a9_term"/>
          <p:cNvSpPr/>
          <p:nvPr/>
        </p:nvSpPr>
        <p:spPr>
          <a:xfrm>
            <a:off x="7589520" y="4224528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6" name="a9_post"/>
          <p:cNvSpPr/>
          <p:nvPr/>
        </p:nvSpPr>
        <p:spPr>
          <a:xfrm>
            <a:off x="8823960" y="4224528"/>
            <a:ext cx="2253996" cy="475488"/>
          </a:xfrm>
          <a:prstGeom prst="roundRect">
            <a:avLst>
              <a:gd name="adj" fmla="val 19231"/>
            </a:avLst>
          </a:prstGeom>
          <a:solidFill>
            <a:schemeClr val="accent6">
              <a:alpha val="85000"/>
            </a:schemeClr>
          </a:solidFill>
          <a:ln/>
        </p:spPr>
      </p:sp>
      <p:sp>
        <p:nvSpPr>
          <p:cNvPr id="17" name="a10_term"/>
          <p:cNvSpPr/>
          <p:nvPr/>
        </p:nvSpPr>
        <p:spPr>
          <a:xfrm>
            <a:off x="7589520" y="4937760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a10_post"/>
          <p:cNvSpPr/>
          <p:nvPr/>
        </p:nvSpPr>
        <p:spPr>
          <a:xfrm>
            <a:off x="8823960" y="4937760"/>
            <a:ext cx="3186684" cy="475488"/>
          </a:xfrm>
          <a:prstGeom prst="roundRect">
            <a:avLst>
              <a:gd name="adj" fmla="val 19231"/>
            </a:avLst>
          </a:prstGeom>
          <a:solidFill>
            <a:schemeClr val="accent1">
              <a:alpha val="85000"/>
            </a:scheme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3" name="a2_lead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module you will be able to:</a:t>
            </a:r>
            <a:endParaRPr lang="en-US" sz="1800" dirty="0"/>
          </a:p>
        </p:txBody>
      </p:sp>
      <p:sp>
        <p:nvSpPr>
          <p:cNvPr id="4" name="a3_row"/>
          <p:cNvSpPr/>
          <p:nvPr/>
        </p:nvSpPr>
        <p:spPr>
          <a:xfrm>
            <a:off x="548640" y="2011680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5" name="a3_num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3_obj"/>
          <p:cNvSpPr txBox="1"/>
          <p:nvPr/>
        </p:nvSpPr>
        <p:spPr>
          <a:xfrm>
            <a:off x="1600200" y="2011680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probability ranking principle and the assumptions behind it</a:t>
            </a:r>
            <a:endParaRPr lang="en-US" sz="1900" dirty="0"/>
          </a:p>
        </p:txBody>
      </p:sp>
      <p:sp>
        <p:nvSpPr>
          <p:cNvPr id="8" name="a4_row"/>
          <p:cNvSpPr/>
          <p:nvPr/>
        </p:nvSpPr>
        <p:spPr>
          <a:xfrm>
            <a:off x="548640" y="3035808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9" name="a4_num"/>
          <p:cNvSpPr/>
          <p:nvPr/>
        </p:nvSpPr>
        <p:spPr>
          <a:xfrm>
            <a:off x="822960" y="321868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a4_numt"/>
          <p:cNvSpPr txBox="1"/>
          <p:nvPr/>
        </p:nvSpPr>
        <p:spPr>
          <a:xfrm>
            <a:off x="822960" y="3218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a4_obj"/>
          <p:cNvSpPr txBox="1"/>
          <p:nvPr/>
        </p:nvSpPr>
        <p:spPr>
          <a:xfrm>
            <a:off x="1600200" y="3035808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BM25 saturates term frequency and normalizes document length</a:t>
            </a:r>
            <a:endParaRPr lang="en-US" sz="1900" dirty="0"/>
          </a:p>
        </p:txBody>
      </p:sp>
      <p:sp>
        <p:nvSpPr>
          <p:cNvPr id="12" name="a5_row"/>
          <p:cNvSpPr/>
          <p:nvPr/>
        </p:nvSpPr>
        <p:spPr>
          <a:xfrm>
            <a:off x="548640" y="4059936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3" name="a5_num"/>
          <p:cNvSpPr/>
          <p:nvPr/>
        </p:nvSpPr>
        <p:spPr>
          <a:xfrm>
            <a:off x="822960" y="4242816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a5_numt"/>
          <p:cNvSpPr txBox="1"/>
          <p:nvPr/>
        </p:nvSpPr>
        <p:spPr>
          <a:xfrm>
            <a:off x="822960" y="4242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a5_obj"/>
          <p:cNvSpPr txBox="1"/>
          <p:nvPr/>
        </p:nvSpPr>
        <p:spPr>
          <a:xfrm>
            <a:off x="1600200" y="4059936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the BM25 formula and the roles of k1 and b</a:t>
            </a:r>
            <a:endParaRPr lang="en-US" sz="1900" dirty="0"/>
          </a:p>
        </p:txBody>
      </p:sp>
      <p:sp>
        <p:nvSpPr>
          <p:cNvPr id="16" name="a6_row"/>
          <p:cNvSpPr/>
          <p:nvPr/>
        </p:nvSpPr>
        <p:spPr>
          <a:xfrm>
            <a:off x="548640" y="5084064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7" name="a6_num"/>
          <p:cNvSpPr/>
          <p:nvPr/>
        </p:nvSpPr>
        <p:spPr>
          <a:xfrm>
            <a:off x="822960" y="5266944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a6_numt"/>
          <p:cNvSpPr txBox="1"/>
          <p:nvPr/>
        </p:nvSpPr>
        <p:spPr>
          <a:xfrm>
            <a:off x="82296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a6_obj"/>
          <p:cNvSpPr txBox="1"/>
          <p:nvPr/>
        </p:nvSpPr>
        <p:spPr>
          <a:xfrm>
            <a:off x="1600200" y="5084064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query likelihood language models and why smoothing is required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probability ranking principle</a:t>
            </a:r>
            <a:endParaRPr lang="en-US" sz="3200" dirty="0"/>
          </a:p>
        </p:txBody>
      </p:sp>
      <p:sp>
        <p:nvSpPr>
          <p:cNvPr id="3" name="a2_body"/>
          <p:cNvSpPr txBox="1"/>
          <p:nvPr/>
        </p:nvSpPr>
        <p:spPr>
          <a:xfrm>
            <a:off x="548640" y="1463040"/>
            <a:ext cx="69494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documents in decreasing order of their estimated probability of being relevant to the query.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Optimality.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its assumptions, this ordering gives the best expected effectiveness for the user.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of each document is independent, and the probabilities are estimated accurately.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becomes an estimation problem: find a good score that tracks probability of relevance.</a:t>
            </a:r>
            <a:endParaRPr lang="en-US" sz="2100" dirty="0"/>
          </a:p>
        </p:txBody>
      </p:sp>
      <p:sp>
        <p:nvSpPr>
          <p:cNvPr id="4" name="a3_co"/>
          <p:cNvSpPr/>
          <p:nvPr/>
        </p:nvSpPr>
        <p:spPr>
          <a:xfrm>
            <a:off x="7818120" y="1508760"/>
            <a:ext cx="3822192" cy="2468880"/>
          </a:xfrm>
          <a:prstGeom prst="roundRect">
            <a:avLst>
              <a:gd name="adj" fmla="val 3704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7818120" y="1618488"/>
            <a:ext cx="64008" cy="22494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74152" y="1600200"/>
            <a:ext cx="3410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tells us what to aim for. TF-IDF was a heuristic; probabilistic models try to derive weights from this goal.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From probabilities to term weights</a:t>
            </a:r>
            <a:endParaRPr lang="en-US" sz="3200" dirty="0"/>
          </a:p>
        </p:txBody>
      </p:sp>
      <p:sp>
        <p:nvSpPr>
          <p:cNvPr id="3" name="a2_body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terms.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query term present in a document is evidence that raises or lowers the odds of relevance.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terms carry more.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 found in few documents is stronger evidence, which reproduces the idf idea from a principled starting point.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 assumption.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evidence term by term is tractable but simplistic.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family of scoring functions whose best-known practical member is BM25.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Two flaws in raw TF-IDF that BM25 repairs</a:t>
            </a:r>
            <a:endParaRPr lang="en-US" sz="32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5410048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chip"/>
          <p:cNvSpPr/>
          <p:nvPr/>
        </p:nvSpPr>
        <p:spPr>
          <a:xfrm>
            <a:off x="777240" y="1737360"/>
            <a:ext cx="4952848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5" name="a2_chip_t"/>
          <p:cNvSpPr txBox="1"/>
          <p:nvPr/>
        </p:nvSpPr>
        <p:spPr>
          <a:xfrm>
            <a:off x="777240" y="173736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term frequency</a:t>
            </a:r>
            <a:endParaRPr lang="en-US" sz="1600" dirty="0"/>
          </a:p>
        </p:txBody>
      </p:sp>
      <p:sp>
        <p:nvSpPr>
          <p:cNvPr id="6" name="a2_items"/>
          <p:cNvSpPr txBox="1"/>
          <p:nvPr/>
        </p:nvSpPr>
        <p:spPr>
          <a:xfrm>
            <a:off x="777240" y="2377440"/>
            <a:ext cx="49528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occurrences score nearly twice ten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tenth mention adds little new evidence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saturation</a:t>
            </a:r>
            <a:endParaRPr lang="en-US" sz="1650" dirty="0"/>
          </a:p>
        </p:txBody>
      </p:sp>
      <p:sp>
        <p:nvSpPr>
          <p:cNvPr id="7" name="a3_card"/>
          <p:cNvSpPr/>
          <p:nvPr/>
        </p:nvSpPr>
        <p:spPr>
          <a:xfrm>
            <a:off x="6233008" y="1508760"/>
            <a:ext cx="5410048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a3_chip"/>
          <p:cNvSpPr/>
          <p:nvPr/>
        </p:nvSpPr>
        <p:spPr>
          <a:xfrm>
            <a:off x="6461608" y="1737360"/>
            <a:ext cx="4952848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9" name="a3_chip_t"/>
          <p:cNvSpPr txBox="1"/>
          <p:nvPr/>
        </p:nvSpPr>
        <p:spPr>
          <a:xfrm>
            <a:off x="6461608" y="173736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length handling</a:t>
            </a:r>
            <a:endParaRPr lang="en-US" sz="1600" dirty="0"/>
          </a:p>
        </p:txBody>
      </p:sp>
      <p:sp>
        <p:nvSpPr>
          <p:cNvPr id="10" name="a3_items"/>
          <p:cNvSpPr txBox="1"/>
          <p:nvPr/>
        </p:nvSpPr>
        <p:spPr>
          <a:xfrm>
            <a:off x="6461608" y="2377440"/>
            <a:ext cx="49528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documents contain more words by chance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may not be more relevant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length normalization</a:t>
            </a:r>
            <a:endParaRPr lang="en-US" sz="1650" dirty="0"/>
          </a:p>
        </p:txBody>
      </p:sp>
      <p:sp>
        <p:nvSpPr>
          <p:cNvPr id="11" name="a7_co"/>
          <p:cNvSpPr/>
          <p:nvPr/>
        </p:nvSpPr>
        <p:spPr>
          <a:xfrm>
            <a:off x="548640" y="4754880"/>
            <a:ext cx="11094415" cy="1508760"/>
          </a:xfrm>
          <a:prstGeom prst="roundRect">
            <a:avLst>
              <a:gd name="adj" fmla="val 6061"/>
            </a:avLst>
          </a:prstGeom>
          <a:solidFill>
            <a:srgbClr val="FFF4DC"/>
          </a:solidFill>
          <a:ln/>
        </p:spPr>
      </p:sp>
      <p:sp>
        <p:nvSpPr>
          <p:cNvPr id="12" name="a7_co_bar"/>
          <p:cNvSpPr/>
          <p:nvPr/>
        </p:nvSpPr>
        <p:spPr>
          <a:xfrm>
            <a:off x="548640" y="4864608"/>
            <a:ext cx="64008" cy="12893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a7_co_t"/>
          <p:cNvSpPr txBox="1"/>
          <p:nvPr/>
        </p:nvSpPr>
        <p:spPr>
          <a:xfrm>
            <a:off x="804672" y="4846320"/>
            <a:ext cx="1068293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in one line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adds two tunable parameters, one for each fix, and keeps an idf factor for rare terms.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BM25 score</a:t>
            </a:r>
            <a:endParaRPr lang="en-US" sz="3200" dirty="0"/>
          </a:p>
        </p:txBody>
      </p:sp>
      <p:sp>
        <p:nvSpPr>
          <p:cNvPr id="3" name="a2_eq"/>
          <p:cNvSpPr/>
          <p:nvPr/>
        </p:nvSpPr>
        <p:spPr>
          <a:xfrm>
            <a:off x="548640" y="1463040"/>
            <a:ext cx="11094415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eq_t"/>
          <p:cNvSpPr txBox="1"/>
          <p:nvPr/>
        </p:nvSpPr>
        <p:spPr>
          <a:xfrm>
            <a:off x="822960" y="146304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score(q,d) = Σ idf(t) × f(t,d)(k1+1) / ( f(t,d) + k1(1 − b + b|d|/avgdl) )</a:t>
            </a:r>
            <a:endParaRPr lang="en-US" sz="2100" dirty="0"/>
          </a:p>
        </p:txBody>
      </p:sp>
      <p:sp>
        <p:nvSpPr>
          <p:cNvPr id="5" name="a3_where"/>
          <p:cNvSpPr txBox="1"/>
          <p:nvPr/>
        </p:nvSpPr>
        <p:spPr>
          <a:xfrm>
            <a:off x="54864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500" dirty="0"/>
          </a:p>
        </p:txBody>
      </p:sp>
      <p:sp>
        <p:nvSpPr>
          <p:cNvPr id="6" name="a3_chip"/>
          <p:cNvSpPr/>
          <p:nvPr/>
        </p:nvSpPr>
        <p:spPr>
          <a:xfrm>
            <a:off x="548640" y="3218688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sp>
        <p:nvSpPr>
          <p:cNvPr id="7" name="a3_chip_t"/>
          <p:cNvSpPr txBox="1"/>
          <p:nvPr/>
        </p:nvSpPr>
        <p:spPr>
          <a:xfrm>
            <a:off x="548640" y="321868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f(t,d)</a:t>
            </a:r>
            <a:endParaRPr lang="en-US" sz="1500" dirty="0"/>
          </a:p>
        </p:txBody>
      </p:sp>
      <p:sp>
        <p:nvSpPr>
          <p:cNvPr id="8" name="a3_mean"/>
          <p:cNvSpPr txBox="1"/>
          <p:nvPr/>
        </p:nvSpPr>
        <p:spPr>
          <a:xfrm>
            <a:off x="1920240" y="321868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term t in document d.</a:t>
            </a:r>
            <a:endParaRPr lang="en-US" sz="1450" dirty="0"/>
          </a:p>
        </p:txBody>
      </p:sp>
      <p:sp>
        <p:nvSpPr>
          <p:cNvPr id="9" name="a3_chip"/>
          <p:cNvSpPr/>
          <p:nvPr/>
        </p:nvSpPr>
        <p:spPr>
          <a:xfrm>
            <a:off x="548640" y="3785616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</p:sp>
      <p:sp>
        <p:nvSpPr>
          <p:cNvPr id="10" name="a3_chip_t"/>
          <p:cNvSpPr txBox="1"/>
          <p:nvPr/>
        </p:nvSpPr>
        <p:spPr>
          <a:xfrm>
            <a:off x="548640" y="378561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|d|, avgdl</a:t>
            </a:r>
            <a:endParaRPr lang="en-US" sz="1500" dirty="0"/>
          </a:p>
        </p:txBody>
      </p:sp>
      <p:sp>
        <p:nvSpPr>
          <p:cNvPr id="11" name="a3_mean"/>
          <p:cNvSpPr txBox="1"/>
          <p:nvPr/>
        </p:nvSpPr>
        <p:spPr>
          <a:xfrm>
            <a:off x="1920240" y="3785616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length and average length of the collection.</a:t>
            </a:r>
            <a:endParaRPr lang="en-US" sz="1450" dirty="0"/>
          </a:p>
        </p:txBody>
      </p:sp>
      <p:sp>
        <p:nvSpPr>
          <p:cNvPr id="12" name="a3_chip"/>
          <p:cNvSpPr/>
          <p:nvPr/>
        </p:nvSpPr>
        <p:spPr>
          <a:xfrm>
            <a:off x="548640" y="4352544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/>
        </p:spPr>
      </p:sp>
      <p:sp>
        <p:nvSpPr>
          <p:cNvPr id="13" name="a3_chip_t"/>
          <p:cNvSpPr txBox="1"/>
          <p:nvPr/>
        </p:nvSpPr>
        <p:spPr>
          <a:xfrm>
            <a:off x="548640" y="435254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k1</a:t>
            </a:r>
            <a:endParaRPr lang="en-US" sz="1500" dirty="0"/>
          </a:p>
        </p:txBody>
      </p:sp>
      <p:sp>
        <p:nvSpPr>
          <p:cNvPr id="14" name="a3_mean"/>
          <p:cNvSpPr txBox="1"/>
          <p:nvPr/>
        </p:nvSpPr>
        <p:spPr>
          <a:xfrm>
            <a:off x="1920240" y="4352544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Saturation: higher values let repeats count for longer. Typical range 1.2 to 2.</a:t>
            </a:r>
            <a:endParaRPr lang="en-US" sz="1450" dirty="0"/>
          </a:p>
        </p:txBody>
      </p:sp>
      <p:sp>
        <p:nvSpPr>
          <p:cNvPr id="15" name="a3_chip"/>
          <p:cNvSpPr/>
          <p:nvPr/>
        </p:nvSpPr>
        <p:spPr>
          <a:xfrm>
            <a:off x="548640" y="4919472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</p:sp>
      <p:sp>
        <p:nvSpPr>
          <p:cNvPr id="16" name="a3_chip_t"/>
          <p:cNvSpPr txBox="1"/>
          <p:nvPr/>
        </p:nvSpPr>
        <p:spPr>
          <a:xfrm>
            <a:off x="548640" y="491947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</a:t>
            </a:r>
            <a:endParaRPr lang="en-US" sz="1500" dirty="0"/>
          </a:p>
        </p:txBody>
      </p:sp>
      <p:sp>
        <p:nvSpPr>
          <p:cNvPr id="17" name="a3_mean"/>
          <p:cNvSpPr txBox="1"/>
          <p:nvPr/>
        </p:nvSpPr>
        <p:spPr>
          <a:xfrm>
            <a:off x="1920240" y="4919472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normalization strength from 0 (none) to 1 (full). Often 0.75.</a:t>
            </a:r>
            <a:endParaRPr lang="en-US" sz="1450" dirty="0"/>
          </a:p>
        </p:txBody>
      </p:sp>
      <p:sp>
        <p:nvSpPr>
          <p:cNvPr id="18" name="a4_co"/>
          <p:cNvSpPr/>
          <p:nvPr/>
        </p:nvSpPr>
        <p:spPr>
          <a:xfrm>
            <a:off x="7818120" y="2834640"/>
            <a:ext cx="3822192" cy="3017520"/>
          </a:xfrm>
          <a:prstGeom prst="roundRect">
            <a:avLst>
              <a:gd name="adj" fmla="val 3030"/>
            </a:avLst>
          </a:prstGeom>
          <a:solidFill>
            <a:srgbClr val="FFF4DC"/>
          </a:solidFill>
          <a:ln/>
        </p:spPr>
      </p:sp>
      <p:sp>
        <p:nvSpPr>
          <p:cNvPr id="19" name="a4_co_bar"/>
          <p:cNvSpPr/>
          <p:nvPr/>
        </p:nvSpPr>
        <p:spPr>
          <a:xfrm>
            <a:off x="7818120" y="2944368"/>
            <a:ext cx="64008" cy="27980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0" name="a4_co_t"/>
          <p:cNvSpPr txBox="1"/>
          <p:nvPr/>
        </p:nvSpPr>
        <p:spPr>
          <a:xfrm>
            <a:off x="8074152" y="2926080"/>
            <a:ext cx="34107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 runs over query terms. Each contributes a rarity factor idf times a bounded frequency factor that rises quickly, then flattens.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Saturation in numbers (k1 = 1.2, no length effect)</a:t>
            </a:r>
            <a:endParaRPr lang="en-US" sz="3200" dirty="0"/>
          </a:p>
        </p:txBody>
      </p:sp>
      <p:graphicFrame>
        <p:nvGraphicFramePr>
          <p:cNvPr id="8" name="a2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371600"/>
                <a:gridCol w="1371600"/>
                <a:gridCol w="1371600"/>
                <a:gridCol w="1371600"/>
                <a:gridCol w="185623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Occurrences 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factor f × 2.2 / (f + 1.2)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1.00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1.38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1.77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1.96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2.20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count for comparison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5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10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unbounded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a3_co"/>
          <p:cNvSpPr/>
          <p:nvPr/>
        </p:nvSpPr>
        <p:spPr>
          <a:xfrm>
            <a:off x="548640" y="3364992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548640" y="3474720"/>
            <a:ext cx="64008" cy="10607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4672" y="3456432"/>
            <a:ext cx="106829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table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from 5 to 10 occurrences adds only 0.19, while 1 to 2 adds 0.38. A single term cannot dominate the score, so queries with several terms need several matches.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 animBg="1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Length normalization at work</a:t>
            </a:r>
            <a:endParaRPr lang="en-US" sz="32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bar"/>
          <p:cNvSpPr/>
          <p:nvPr/>
        </p:nvSpPr>
        <p:spPr>
          <a:xfrm>
            <a:off x="777240" y="1508760"/>
            <a:ext cx="731520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a2_num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2_numt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2_head"/>
          <p:cNvSpPr txBox="1"/>
          <p:nvPr/>
        </p:nvSpPr>
        <p:spPr>
          <a:xfrm>
            <a:off x="777240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</a:t>
            </a:r>
            <a:endParaRPr lang="en-US" sz="1800" dirty="0"/>
          </a:p>
        </p:txBody>
      </p:sp>
      <p:sp>
        <p:nvSpPr>
          <p:cNvPr id="8" name="a2_body"/>
          <p:cNvSpPr txBox="1"/>
          <p:nvPr/>
        </p:nvSpPr>
        <p:spPr>
          <a:xfrm>
            <a:off x="777240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 = 1.2, b = 0.75, a term occurs f = 3 times. Compare two documents.</a:t>
            </a:r>
            <a:endParaRPr lang="en-US" sz="1600" dirty="0"/>
          </a:p>
        </p:txBody>
      </p:sp>
      <p:sp>
        <p:nvSpPr>
          <p:cNvPr id="9" name="a3_card"/>
          <p:cNvSpPr/>
          <p:nvPr/>
        </p:nvSpPr>
        <p:spPr>
          <a:xfrm>
            <a:off x="3379394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a3_bar"/>
          <p:cNvSpPr/>
          <p:nvPr/>
        </p:nvSpPr>
        <p:spPr>
          <a:xfrm>
            <a:off x="3607994" y="1508760"/>
            <a:ext cx="731520" cy="7315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" name="a3_num"/>
          <p:cNvSpPr/>
          <p:nvPr/>
        </p:nvSpPr>
        <p:spPr>
          <a:xfrm>
            <a:off x="3607994" y="17830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360799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a3_head"/>
          <p:cNvSpPr txBox="1"/>
          <p:nvPr/>
        </p:nvSpPr>
        <p:spPr>
          <a:xfrm>
            <a:off x="3607994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length</a:t>
            </a:r>
            <a:endParaRPr lang="en-US" sz="1800" dirty="0"/>
          </a:p>
        </p:txBody>
      </p:sp>
      <p:sp>
        <p:nvSpPr>
          <p:cNvPr id="14" name="a3_body"/>
          <p:cNvSpPr txBox="1"/>
          <p:nvPr/>
        </p:nvSpPr>
        <p:spPr>
          <a:xfrm>
            <a:off x="3607994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Denominator is 3 + 1.2 = 4.2, so the factor is 6.6 / 4.2 = 1.57.</a:t>
            </a:r>
            <a:endParaRPr lang="en-US" sz="1600" dirty="0"/>
          </a:p>
        </p:txBody>
      </p:sp>
      <p:sp>
        <p:nvSpPr>
          <p:cNvPr id="15" name="a4_card"/>
          <p:cNvSpPr/>
          <p:nvPr/>
        </p:nvSpPr>
        <p:spPr>
          <a:xfrm>
            <a:off x="6210148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a4_bar"/>
          <p:cNvSpPr/>
          <p:nvPr/>
        </p:nvSpPr>
        <p:spPr>
          <a:xfrm>
            <a:off x="6438748" y="1508760"/>
            <a:ext cx="731520" cy="7315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7" name="a4_num"/>
          <p:cNvSpPr/>
          <p:nvPr/>
        </p:nvSpPr>
        <p:spPr>
          <a:xfrm>
            <a:off x="6438748" y="17830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a4_numt"/>
          <p:cNvSpPr txBox="1"/>
          <p:nvPr/>
        </p:nvSpPr>
        <p:spPr>
          <a:xfrm>
            <a:off x="643874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a4_head"/>
          <p:cNvSpPr txBox="1"/>
          <p:nvPr/>
        </p:nvSpPr>
        <p:spPr>
          <a:xfrm>
            <a:off x="6438748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Twice average length</a:t>
            </a:r>
            <a:endParaRPr lang="en-US" sz="1800" dirty="0"/>
          </a:p>
        </p:txBody>
      </p:sp>
      <p:sp>
        <p:nvSpPr>
          <p:cNvPr id="20" name="a4_body"/>
          <p:cNvSpPr txBox="1"/>
          <p:nvPr/>
        </p:nvSpPr>
        <p:spPr>
          <a:xfrm>
            <a:off x="6438748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Denominator is 3 + 1.2 × 1.75 = 5.1, so the factor is 6.6 / 5.1 = 1.29.</a:t>
            </a:r>
            <a:endParaRPr lang="en-US" sz="1600" dirty="0"/>
          </a:p>
        </p:txBody>
      </p:sp>
      <p:sp>
        <p:nvSpPr>
          <p:cNvPr id="21" name="a5_card"/>
          <p:cNvSpPr/>
          <p:nvPr/>
        </p:nvSpPr>
        <p:spPr>
          <a:xfrm>
            <a:off x="9040901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2" name="a5_bar"/>
          <p:cNvSpPr/>
          <p:nvPr/>
        </p:nvSpPr>
        <p:spPr>
          <a:xfrm>
            <a:off x="9269501" y="1508760"/>
            <a:ext cx="731520" cy="7315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" name="a5_num"/>
          <p:cNvSpPr/>
          <p:nvPr/>
        </p:nvSpPr>
        <p:spPr>
          <a:xfrm>
            <a:off x="9269501" y="17830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a5_numt"/>
          <p:cNvSpPr txBox="1"/>
          <p:nvPr/>
        </p:nvSpPr>
        <p:spPr>
          <a:xfrm>
            <a:off x="9269501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a5_head"/>
          <p:cNvSpPr txBox="1"/>
          <p:nvPr/>
        </p:nvSpPr>
        <p:spPr>
          <a:xfrm>
            <a:off x="9269501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800" dirty="0"/>
          </a:p>
        </p:txBody>
      </p:sp>
      <p:sp>
        <p:nvSpPr>
          <p:cNvPr id="26" name="a5_body"/>
          <p:cNvSpPr txBox="1"/>
          <p:nvPr/>
        </p:nvSpPr>
        <p:spPr>
          <a:xfrm>
            <a:off x="9269501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count in a longer document is weaker evidence, so its score is lower.</a:t>
            </a:r>
            <a:endParaRPr lang="en-US" sz="1600" dirty="0"/>
          </a:p>
        </p:txBody>
      </p:sp>
      <p:sp>
        <p:nvSpPr>
          <p:cNvPr id="27" name="a8_co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4DC"/>
          </a:solidFill>
          <a:ln/>
        </p:spPr>
      </p:sp>
      <p:sp>
        <p:nvSpPr>
          <p:cNvPr id="28" name="a8_co_bar"/>
          <p:cNvSpPr/>
          <p:nvPr/>
        </p:nvSpPr>
        <p:spPr>
          <a:xfrm>
            <a:off x="548640" y="5230368"/>
            <a:ext cx="64008" cy="8321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9" name="a8_co_t"/>
          <p:cNvSpPr txBox="1"/>
          <p:nvPr/>
        </p:nvSpPr>
        <p:spPr>
          <a:xfrm>
            <a:off x="804672" y="5212080"/>
            <a:ext cx="10682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sensible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 repeated three times in a short note is a stronger signal of topic than three times in a very long report.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l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Language models for retrieval</a:t>
            </a:r>
            <a:endParaRPr lang="en-US" sz="3200" dirty="0"/>
          </a:p>
        </p:txBody>
      </p:sp>
      <p:sp>
        <p:nvSpPr>
          <p:cNvPr id="3" name="a2_body"/>
          <p:cNvSpPr txBox="1"/>
          <p:nvPr/>
        </p:nvSpPr>
        <p:spPr>
          <a:xfrm>
            <a:off x="548640" y="1463040"/>
            <a:ext cx="69494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view.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document defines a word distribution. Ask how likely that model is to produce the query.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likelihood.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documents by P(q | d), the product of the probabilities of the query terms under the document model.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problem.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query term never occurs in a document, the whole product collapses to zero.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the document estimate with the collection distribution so unseen words keep a small probability.</a:t>
            </a:r>
            <a:endParaRPr lang="en-US" sz="2100" dirty="0"/>
          </a:p>
        </p:txBody>
      </p:sp>
      <p:sp>
        <p:nvSpPr>
          <p:cNvPr id="4" name="a3_co"/>
          <p:cNvSpPr/>
          <p:nvPr/>
        </p:nvSpPr>
        <p:spPr>
          <a:xfrm>
            <a:off x="7818120" y="1508760"/>
            <a:ext cx="3822192" cy="2468880"/>
          </a:xfrm>
          <a:prstGeom prst="roundRect">
            <a:avLst>
              <a:gd name="adj" fmla="val 3704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7818120" y="1618488"/>
            <a:ext cx="64008" cy="22494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74152" y="1600200"/>
            <a:ext cx="3410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benefit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also plays the role of idf: a rare word in the collection earns a big boost when a document does contain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Dirichlet smoothing</a:t>
            </a:r>
            <a:endParaRPr lang="en-US" sz="3200" dirty="0"/>
          </a:p>
        </p:txBody>
      </p:sp>
      <p:sp>
        <p:nvSpPr>
          <p:cNvPr id="3" name="a2_eq"/>
          <p:cNvSpPr/>
          <p:nvPr/>
        </p:nvSpPr>
        <p:spPr>
          <a:xfrm>
            <a:off x="548640" y="14630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eq_t"/>
          <p:cNvSpPr txBox="1"/>
          <p:nvPr/>
        </p:nvSpPr>
        <p:spPr>
          <a:xfrm>
            <a:off x="822960" y="1463040"/>
            <a:ext cx="105457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P(t | d) = ( f(t,d) + μ × P(t | C) ) / ( |d| + μ )</a:t>
            </a:r>
            <a:endParaRPr lang="en-US" sz="2800" dirty="0"/>
          </a:p>
        </p:txBody>
      </p:sp>
      <p:sp>
        <p:nvSpPr>
          <p:cNvPr id="5" name="a3_where"/>
          <p:cNvSpPr txBox="1"/>
          <p:nvPr/>
        </p:nvSpPr>
        <p:spPr>
          <a:xfrm>
            <a:off x="54864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500" dirty="0"/>
          </a:p>
        </p:txBody>
      </p:sp>
      <p:sp>
        <p:nvSpPr>
          <p:cNvPr id="6" name="a3_chip"/>
          <p:cNvSpPr/>
          <p:nvPr/>
        </p:nvSpPr>
        <p:spPr>
          <a:xfrm>
            <a:off x="548640" y="3264408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sp>
        <p:nvSpPr>
          <p:cNvPr id="7" name="a3_chip_t"/>
          <p:cNvSpPr txBox="1"/>
          <p:nvPr/>
        </p:nvSpPr>
        <p:spPr>
          <a:xfrm>
            <a:off x="548640" y="326440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 | C)</a:t>
            </a:r>
            <a:endParaRPr lang="en-US" sz="1500" dirty="0"/>
          </a:p>
        </p:txBody>
      </p:sp>
      <p:sp>
        <p:nvSpPr>
          <p:cNvPr id="8" name="a3_mean"/>
          <p:cNvSpPr txBox="1"/>
          <p:nvPr/>
        </p:nvSpPr>
        <p:spPr>
          <a:xfrm>
            <a:off x="1920240" y="326440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t in the whole collection, the background model.</a:t>
            </a:r>
            <a:endParaRPr lang="en-US" sz="1450" dirty="0"/>
          </a:p>
        </p:txBody>
      </p:sp>
      <p:sp>
        <p:nvSpPr>
          <p:cNvPr id="9" name="a3_chip"/>
          <p:cNvSpPr/>
          <p:nvPr/>
        </p:nvSpPr>
        <p:spPr>
          <a:xfrm>
            <a:off x="548640" y="3831336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</p:sp>
      <p:sp>
        <p:nvSpPr>
          <p:cNvPr id="10" name="a3_chip_t"/>
          <p:cNvSpPr txBox="1"/>
          <p:nvPr/>
        </p:nvSpPr>
        <p:spPr>
          <a:xfrm>
            <a:off x="548640" y="383133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μ</a:t>
            </a:r>
            <a:endParaRPr lang="en-US" sz="1500" dirty="0"/>
          </a:p>
        </p:txBody>
      </p:sp>
      <p:sp>
        <p:nvSpPr>
          <p:cNvPr id="11" name="a3_mean"/>
          <p:cNvSpPr txBox="1"/>
          <p:nvPr/>
        </p:nvSpPr>
        <p:spPr>
          <a:xfrm>
            <a:off x="1920240" y="3831336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strength: how many pseudo-counts come from the background.</a:t>
            </a:r>
            <a:endParaRPr lang="en-US" sz="1450" dirty="0"/>
          </a:p>
        </p:txBody>
      </p:sp>
      <p:sp>
        <p:nvSpPr>
          <p:cNvPr id="12" name="a3_chip"/>
          <p:cNvSpPr/>
          <p:nvPr/>
        </p:nvSpPr>
        <p:spPr>
          <a:xfrm>
            <a:off x="548640" y="4398264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/>
        </p:spPr>
      </p:sp>
      <p:sp>
        <p:nvSpPr>
          <p:cNvPr id="13" name="a3_chip_t"/>
          <p:cNvSpPr txBox="1"/>
          <p:nvPr/>
        </p:nvSpPr>
        <p:spPr>
          <a:xfrm>
            <a:off x="548640" y="43982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|d|</a:t>
            </a:r>
            <a:endParaRPr lang="en-US" sz="1500" dirty="0"/>
          </a:p>
        </p:txBody>
      </p:sp>
      <p:sp>
        <p:nvSpPr>
          <p:cNvPr id="14" name="a3_mean"/>
          <p:cNvSpPr txBox="1"/>
          <p:nvPr/>
        </p:nvSpPr>
        <p:spPr>
          <a:xfrm>
            <a:off x="1920240" y="4398264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length, so long documents trust their own counts more.</a:t>
            </a:r>
            <a:endParaRPr lang="en-US" sz="1450" dirty="0"/>
          </a:p>
        </p:txBody>
      </p:sp>
      <p:sp>
        <p:nvSpPr>
          <p:cNvPr id="15" name="a4_co"/>
          <p:cNvSpPr/>
          <p:nvPr/>
        </p:nvSpPr>
        <p:spPr>
          <a:xfrm>
            <a:off x="7818120" y="2880360"/>
            <a:ext cx="3822192" cy="3017520"/>
          </a:xfrm>
          <a:prstGeom prst="roundRect">
            <a:avLst>
              <a:gd name="adj" fmla="val 3030"/>
            </a:avLst>
          </a:prstGeom>
          <a:solidFill>
            <a:srgbClr val="FFF4DC"/>
          </a:solidFill>
          <a:ln/>
        </p:spPr>
      </p:sp>
      <p:sp>
        <p:nvSpPr>
          <p:cNvPr id="16" name="a4_co_bar"/>
          <p:cNvSpPr/>
          <p:nvPr/>
        </p:nvSpPr>
        <p:spPr>
          <a:xfrm>
            <a:off x="7818120" y="2990088"/>
            <a:ext cx="64008" cy="27980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a4_co_t"/>
          <p:cNvSpPr txBox="1"/>
          <p:nvPr/>
        </p:nvSpPr>
        <p:spPr>
          <a:xfrm>
            <a:off x="8074152" y="2971800"/>
            <a:ext cx="34107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document has little evidence, so it leans on the collection. A long document has more evidence and is smoothed less. Length handling emerges without a separate rule.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Choosing between the three scorers</a:t>
            </a:r>
            <a:endParaRPr lang="en-US" sz="32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3515258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chip"/>
          <p:cNvSpPr/>
          <p:nvPr/>
        </p:nvSpPr>
        <p:spPr>
          <a:xfrm>
            <a:off x="777240" y="1737360"/>
            <a:ext cx="3058058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5" name="a2_chip_t"/>
          <p:cNvSpPr txBox="1"/>
          <p:nvPr/>
        </p:nvSpPr>
        <p:spPr>
          <a:xfrm>
            <a:off x="777240" y="17373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600" dirty="0"/>
          </a:p>
        </p:txBody>
      </p:sp>
      <p:sp>
        <p:nvSpPr>
          <p:cNvPr id="6" name="a2_items"/>
          <p:cNvSpPr txBox="1"/>
          <p:nvPr/>
        </p:nvSpPr>
        <p:spPr>
          <a:xfrm>
            <a:off x="777240" y="2377440"/>
            <a:ext cx="30580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transparent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Heuristic, weak on length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baseline</a:t>
            </a:r>
            <a:endParaRPr lang="en-US" sz="1650" dirty="0"/>
          </a:p>
        </p:txBody>
      </p:sp>
      <p:sp>
        <p:nvSpPr>
          <p:cNvPr id="7" name="a3_card"/>
          <p:cNvSpPr/>
          <p:nvPr/>
        </p:nvSpPr>
        <p:spPr>
          <a:xfrm>
            <a:off x="4338218" y="1508760"/>
            <a:ext cx="3515258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a3_chip"/>
          <p:cNvSpPr/>
          <p:nvPr/>
        </p:nvSpPr>
        <p:spPr>
          <a:xfrm>
            <a:off x="4566818" y="1737360"/>
            <a:ext cx="3058058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9" name="a3_chip_t"/>
          <p:cNvSpPr txBox="1"/>
          <p:nvPr/>
        </p:nvSpPr>
        <p:spPr>
          <a:xfrm>
            <a:off x="4566818" y="17373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600" dirty="0"/>
          </a:p>
        </p:txBody>
      </p:sp>
      <p:sp>
        <p:nvSpPr>
          <p:cNvPr id="10" name="a3_items"/>
          <p:cNvSpPr txBox="1"/>
          <p:nvPr/>
        </p:nvSpPr>
        <p:spPr>
          <a:xfrm>
            <a:off x="4566818" y="2377440"/>
            <a:ext cx="30580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default for text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tunable parameters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on an inverted index</a:t>
            </a:r>
            <a:endParaRPr lang="en-US" sz="1650" dirty="0"/>
          </a:p>
        </p:txBody>
      </p:sp>
      <p:sp>
        <p:nvSpPr>
          <p:cNvPr id="11" name="a4_card"/>
          <p:cNvSpPr/>
          <p:nvPr/>
        </p:nvSpPr>
        <p:spPr>
          <a:xfrm>
            <a:off x="8127797" y="1508760"/>
            <a:ext cx="3515258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a4_chip"/>
          <p:cNvSpPr/>
          <p:nvPr/>
        </p:nvSpPr>
        <p:spPr>
          <a:xfrm>
            <a:off x="8356397" y="1737360"/>
            <a:ext cx="3058058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13" name="a4_chip_t"/>
          <p:cNvSpPr txBox="1"/>
          <p:nvPr/>
        </p:nvSpPr>
        <p:spPr>
          <a:xfrm>
            <a:off x="8356397" y="17373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</a:t>
            </a:r>
            <a:endParaRPr lang="en-US" sz="1600" dirty="0"/>
          </a:p>
        </p:txBody>
      </p:sp>
      <p:sp>
        <p:nvSpPr>
          <p:cNvPr id="14" name="a4_items"/>
          <p:cNvSpPr txBox="1"/>
          <p:nvPr/>
        </p:nvSpPr>
        <p:spPr>
          <a:xfrm>
            <a:off x="8356397" y="2377440"/>
            <a:ext cx="30580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probabilistic story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choice matters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fit for extensions</a:t>
            </a:r>
            <a:endParaRPr lang="en-US" sz="1650" dirty="0"/>
          </a:p>
        </p:txBody>
      </p:sp>
      <p:sp>
        <p:nvSpPr>
          <p:cNvPr id="15" name="a7_co"/>
          <p:cNvSpPr/>
          <p:nvPr/>
        </p:nvSpPr>
        <p:spPr>
          <a:xfrm>
            <a:off x="548640" y="502920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FFF4DC"/>
          </a:solidFill>
          <a:ln/>
        </p:spPr>
      </p:sp>
      <p:sp>
        <p:nvSpPr>
          <p:cNvPr id="16" name="a7_co_bar"/>
          <p:cNvSpPr/>
          <p:nvPr/>
        </p:nvSpPr>
        <p:spPr>
          <a:xfrm>
            <a:off x="548640" y="5138928"/>
            <a:ext cx="64008" cy="101498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a7_co_t"/>
          <p:cNvSpPr txBox="1"/>
          <p:nvPr/>
        </p:nvSpPr>
        <p:spPr>
          <a:xfrm>
            <a:off x="804672" y="5120640"/>
            <a:ext cx="106829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 BM25 and well-smoothed language models perform similarly. Tune parameters on judged queries rather than trusting defaults.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Tuning BM25 in practice</a:t>
            </a:r>
            <a:endParaRPr lang="en-US" sz="3200" dirty="0"/>
          </a:p>
        </p:txBody>
      </p:sp>
      <p:sp>
        <p:nvSpPr>
          <p:cNvPr id="3" name="a2_body"/>
          <p:cNvSpPr txBox="1"/>
          <p:nvPr/>
        </p:nvSpPr>
        <p:spPr>
          <a:xfrm>
            <a:off x="548640" y="1463040"/>
            <a:ext cx="69494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defaults.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 near 1.2 and b near 0.75 are reasonable on many text collections.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uniform texts.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or product names have little length variation, so a lower b often helps.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Long, mixed documents.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higher b guards against long pages that mention everything.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values by grid search on judged queries and keep a separate test set.</a:t>
            </a:r>
            <a:endParaRPr lang="en-US" sz="2100" dirty="0"/>
          </a:p>
        </p:txBody>
      </p:sp>
      <p:sp>
        <p:nvSpPr>
          <p:cNvPr id="4" name="a3_co"/>
          <p:cNvSpPr/>
          <p:nvPr/>
        </p:nvSpPr>
        <p:spPr>
          <a:xfrm>
            <a:off x="7818120" y="1508760"/>
            <a:ext cx="3822192" cy="2468880"/>
          </a:xfrm>
          <a:prstGeom prst="roundRect">
            <a:avLst>
              <a:gd name="adj" fmla="val 3704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7818120" y="1618488"/>
            <a:ext cx="64008" cy="22494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74152" y="1600200"/>
            <a:ext cx="3410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turn assumptions about your data into numbers. They should be measured, not borrowed.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Key takeaways</a:t>
            </a:r>
            <a:endParaRPr lang="en-US" sz="3200" dirty="0"/>
          </a:p>
        </p:txBody>
      </p:sp>
      <p:sp>
        <p:nvSpPr>
          <p:cNvPr id="3" name="a2_dot"/>
          <p:cNvSpPr/>
          <p:nvPr/>
        </p:nvSpPr>
        <p:spPr>
          <a:xfrm>
            <a:off x="548640" y="1572768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4" name="a2_tick"/>
          <p:cNvSpPr txBox="1"/>
          <p:nvPr/>
        </p:nvSpPr>
        <p:spPr>
          <a:xfrm>
            <a:off x="54864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a2_pt"/>
          <p:cNvSpPr txBox="1"/>
          <p:nvPr/>
        </p:nvSpPr>
        <p:spPr>
          <a:xfrm>
            <a:off x="1234440" y="14630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probability ranking principle says to order documents by their chance of relevance.</a:t>
            </a:r>
            <a:endParaRPr lang="en-US" sz="1650" dirty="0"/>
          </a:p>
        </p:txBody>
      </p:sp>
      <p:sp>
        <p:nvSpPr>
          <p:cNvPr id="6" name="a3_dot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" name="a3_tick"/>
          <p:cNvSpPr txBox="1"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a3_pt"/>
          <p:cNvSpPr txBox="1"/>
          <p:nvPr/>
        </p:nvSpPr>
        <p:spPr>
          <a:xfrm>
            <a:off x="1234440" y="2359152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caps the effect of repeated terms and discounts long documents, controlled by k1 and b.</a:t>
            </a:r>
            <a:endParaRPr lang="en-US" sz="1650" dirty="0"/>
          </a:p>
        </p:txBody>
      </p:sp>
      <p:sp>
        <p:nvSpPr>
          <p:cNvPr id="9" name="a4_dot"/>
          <p:cNvSpPr/>
          <p:nvPr/>
        </p:nvSpPr>
        <p:spPr>
          <a:xfrm>
            <a:off x="548640" y="3364992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0" name="a4_tick"/>
          <p:cNvSpPr txBox="1"/>
          <p:nvPr/>
        </p:nvSpPr>
        <p:spPr>
          <a:xfrm>
            <a:off x="54864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a4_pt"/>
          <p:cNvSpPr txBox="1"/>
          <p:nvPr/>
        </p:nvSpPr>
        <p:spPr>
          <a:xfrm>
            <a:off x="1234440" y="325526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rank by how likely a document is to generate the query.</a:t>
            </a:r>
            <a:endParaRPr lang="en-US" sz="1650" dirty="0"/>
          </a:p>
        </p:txBody>
      </p:sp>
      <p:sp>
        <p:nvSpPr>
          <p:cNvPr id="12" name="a5_dot"/>
          <p:cNvSpPr/>
          <p:nvPr/>
        </p:nvSpPr>
        <p:spPr>
          <a:xfrm>
            <a:off x="548640" y="4261104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3" name="a5_tick"/>
          <p:cNvSpPr txBox="1"/>
          <p:nvPr/>
        </p:nvSpPr>
        <p:spPr>
          <a:xfrm>
            <a:off x="5486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a5_pt"/>
          <p:cNvSpPr txBox="1"/>
          <p:nvPr/>
        </p:nvSpPr>
        <p:spPr>
          <a:xfrm>
            <a:off x="1234440" y="4151376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prevents zero probabilities and behaves like idf plus length control.</a:t>
            </a:r>
            <a:endParaRPr lang="en-US" sz="1650" dirty="0"/>
          </a:p>
        </p:txBody>
      </p:sp>
      <p:sp>
        <p:nvSpPr>
          <p:cNvPr id="15" name="a8_next"/>
          <p:cNvSpPr/>
          <p:nvPr/>
        </p:nvSpPr>
        <p:spPr>
          <a:xfrm>
            <a:off x="7955280" y="1463040"/>
            <a:ext cx="3685032" cy="3566160"/>
          </a:xfrm>
          <a:prstGeom prst="roundRect">
            <a:avLst>
              <a:gd name="adj" fmla="val 3590"/>
            </a:avLst>
          </a:prstGeom>
          <a:solidFill>
            <a:srgbClr val="16345C"/>
          </a:solidFill>
          <a:ln/>
        </p:spPr>
      </p:sp>
      <p:sp>
        <p:nvSpPr>
          <p:cNvPr id="16" name="a9_next_t"/>
          <p:cNvSpPr txBox="1"/>
          <p:nvPr/>
        </p:nvSpPr>
        <p:spPr>
          <a:xfrm>
            <a:off x="8229600" y="1691640"/>
            <a:ext cx="3154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moves from exact words to learned meaning: neural retrieval.</a:t>
            </a:r>
            <a:endParaRPr lang="en-US" sz="2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yourself</a:t>
            </a:r>
            <a:endParaRPr lang="en-US" sz="2000" dirty="0"/>
          </a:p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BM25 scores if b is set to 0?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Index Blue">
  <a:themeElements>
    <a:clrScheme name="Index Blue">
      <a:dk1>
        <a:srgbClr val="0B1F3A"/>
      </a:dk1>
      <a:lt1>
        <a:srgbClr val="FFFFFF"/>
      </a:lt1>
      <a:dk2>
        <a:srgbClr val="1B4B8A"/>
      </a:dk2>
      <a:lt2>
        <a:srgbClr val="EAF1FB"/>
      </a:lt2>
      <a:accent1>
        <a:srgbClr val="1F7AE0"/>
      </a:accent1>
      <a:accent2>
        <a:srgbClr val="F5A623"/>
      </a:accent2>
      <a:accent3>
        <a:srgbClr val="12B5A6"/>
      </a:accent3>
      <a:accent4>
        <a:srgbClr val="7B5CE0"/>
      </a:accent4>
      <a:accent5>
        <a:srgbClr val="E5484D"/>
      </a:accent5>
      <a:accent6>
        <a:srgbClr val="2FB170"/>
      </a:accent6>
      <a:hlink>
        <a:srgbClr val="1F7AE0"/>
      </a:hlink>
      <a:folHlink>
        <a:srgbClr val="7B5CE0"/>
      </a:folHlink>
    </a:clrScheme>
    <a:fontScheme name="Index Blu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 Modeling - Module 4: Probabilistic Models</dc:title>
  <dc:subject>PptxGenJS Presentation</dc:subject>
  <dc:creator>Information Retrieval Modeling series</dc:creator>
  <cp:lastModifiedBy>Information Retrieval Modeling series</cp:lastModifiedBy>
  <cp:revision>1</cp:revision>
  <dcterms:created xsi:type="dcterms:W3CDTF">2026-10-09T22:06:54Z</dcterms:created>
  <dcterms:modified xsi:type="dcterms:W3CDTF">2026-10-09T22:06:54Z</dcterms:modified>
</cp:coreProperties>
</file>