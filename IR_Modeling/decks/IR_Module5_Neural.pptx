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5: Neural Approaches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5: Neural Approaches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pill"/>
          <p:cNvSpPr/>
          <p:nvPr/>
        </p:nvSpPr>
        <p:spPr>
          <a:xfrm>
            <a:off x="731520" y="1325880"/>
            <a:ext cx="246888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" name="a1_pill_t"/>
          <p:cNvSpPr txBox="1"/>
          <p:nvPr/>
        </p:nvSpPr>
        <p:spPr>
          <a:xfrm>
            <a:off x="731520" y="132588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OF 7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Neural Approaches to Retrieval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Dense embeddings, rerankers and hybrid search</a:t>
            </a:r>
            <a:endParaRPr lang="en-US" sz="2100" dirty="0"/>
          </a:p>
        </p:txBody>
      </p:sp>
      <p:sp>
        <p:nvSpPr>
          <p:cNvPr id="6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|  Prior knowledge: databases, basic ML  |  ~45 min</a:t>
            </a:r>
            <a:endParaRPr lang="en-US" sz="1500" dirty="0"/>
          </a:p>
        </p:txBody>
      </p:sp>
      <p:sp>
        <p:nvSpPr>
          <p:cNvPr id="7" name="a5_term"/>
          <p:cNvSpPr/>
          <p:nvPr/>
        </p:nvSpPr>
        <p:spPr>
          <a:xfrm>
            <a:off x="7589520" y="137160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a5_post"/>
          <p:cNvSpPr/>
          <p:nvPr/>
        </p:nvSpPr>
        <p:spPr>
          <a:xfrm>
            <a:off x="8823960" y="1371600"/>
            <a:ext cx="2487168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9" name="a6_term"/>
          <p:cNvSpPr/>
          <p:nvPr/>
        </p:nvSpPr>
        <p:spPr>
          <a:xfrm>
            <a:off x="7589520" y="2084832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a6_post"/>
          <p:cNvSpPr/>
          <p:nvPr/>
        </p:nvSpPr>
        <p:spPr>
          <a:xfrm>
            <a:off x="8823960" y="2084832"/>
            <a:ext cx="3419856" cy="475488"/>
          </a:xfrm>
          <a:prstGeom prst="roundRect">
            <a:avLst>
              <a:gd name="adj" fmla="val 19231"/>
            </a:avLst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11" name="a7_term"/>
          <p:cNvSpPr/>
          <p:nvPr/>
        </p:nvSpPr>
        <p:spPr>
          <a:xfrm>
            <a:off x="7589520" y="2798064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2" name="a7_post"/>
          <p:cNvSpPr/>
          <p:nvPr/>
        </p:nvSpPr>
        <p:spPr>
          <a:xfrm>
            <a:off x="8823960" y="2798064"/>
            <a:ext cx="1865376" cy="475488"/>
          </a:xfrm>
          <a:prstGeom prst="roundRect">
            <a:avLst>
              <a:gd name="adj" fmla="val 19231"/>
            </a:avLst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13" name="a8_term"/>
          <p:cNvSpPr/>
          <p:nvPr/>
        </p:nvSpPr>
        <p:spPr>
          <a:xfrm>
            <a:off x="7589520" y="3511296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a8_post"/>
          <p:cNvSpPr/>
          <p:nvPr/>
        </p:nvSpPr>
        <p:spPr>
          <a:xfrm>
            <a:off x="8823960" y="3511296"/>
            <a:ext cx="2953512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5" name="a9_term"/>
          <p:cNvSpPr/>
          <p:nvPr/>
        </p:nvSpPr>
        <p:spPr>
          <a:xfrm>
            <a:off x="7589520" y="4224528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6" name="a9_post"/>
          <p:cNvSpPr/>
          <p:nvPr/>
        </p:nvSpPr>
        <p:spPr>
          <a:xfrm>
            <a:off x="8823960" y="4224528"/>
            <a:ext cx="2253996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85000"/>
            </a:schemeClr>
          </a:solidFill>
          <a:ln/>
        </p:spPr>
      </p:sp>
      <p:sp>
        <p:nvSpPr>
          <p:cNvPr id="17" name="a10_term"/>
          <p:cNvSpPr/>
          <p:nvPr/>
        </p:nvSpPr>
        <p:spPr>
          <a:xfrm>
            <a:off x="7589520" y="493776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a10_post"/>
          <p:cNvSpPr/>
          <p:nvPr/>
        </p:nvSpPr>
        <p:spPr>
          <a:xfrm>
            <a:off x="8823960" y="4937760"/>
            <a:ext cx="3186684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3" name="a2_lead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module you will be able to:</a:t>
            </a:r>
            <a:endParaRPr lang="en-US" sz="1800" dirty="0"/>
          </a:p>
        </p:txBody>
      </p:sp>
      <p:sp>
        <p:nvSpPr>
          <p:cNvPr id="4" name="a3_row"/>
          <p:cNvSpPr/>
          <p:nvPr/>
        </p:nvSpPr>
        <p:spPr>
          <a:xfrm>
            <a:off x="548640" y="20116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obj"/>
          <p:cNvSpPr txBox="1"/>
          <p:nvPr/>
        </p:nvSpPr>
        <p:spPr>
          <a:xfrm>
            <a:off x="1600200" y="201168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vocabulary mismatch problem and why neural models address it</a:t>
            </a:r>
            <a:endParaRPr lang="en-US" sz="1900" dirty="0"/>
          </a:p>
        </p:txBody>
      </p:sp>
      <p:sp>
        <p:nvSpPr>
          <p:cNvPr id="8" name="a4_row"/>
          <p:cNvSpPr/>
          <p:nvPr/>
        </p:nvSpPr>
        <p:spPr>
          <a:xfrm>
            <a:off x="548640" y="3035808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9" name="a4_num"/>
          <p:cNvSpPr/>
          <p:nvPr/>
        </p:nvSpPr>
        <p:spPr>
          <a:xfrm>
            <a:off x="822960" y="321868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a4_numt"/>
          <p:cNvSpPr txBox="1"/>
          <p:nvPr/>
        </p:nvSpPr>
        <p:spPr>
          <a:xfrm>
            <a:off x="82296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a4_obj"/>
          <p:cNvSpPr txBox="1"/>
          <p:nvPr/>
        </p:nvSpPr>
        <p:spPr>
          <a:xfrm>
            <a:off x="1600200" y="3035808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bi-encoder (dense) retrieval and how it is trained</a:t>
            </a:r>
            <a:endParaRPr lang="en-US" sz="1900" dirty="0"/>
          </a:p>
        </p:txBody>
      </p:sp>
      <p:sp>
        <p:nvSpPr>
          <p:cNvPr id="12" name="a5_row"/>
          <p:cNvSpPr/>
          <p:nvPr/>
        </p:nvSpPr>
        <p:spPr>
          <a:xfrm>
            <a:off x="548640" y="4059936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3" name="a5_num"/>
          <p:cNvSpPr/>
          <p:nvPr/>
        </p:nvSpPr>
        <p:spPr>
          <a:xfrm>
            <a:off x="822960" y="424281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a5_numt"/>
          <p:cNvSpPr txBox="1"/>
          <p:nvPr/>
        </p:nvSpPr>
        <p:spPr>
          <a:xfrm>
            <a:off x="82296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a5_obj"/>
          <p:cNvSpPr txBox="1"/>
          <p:nvPr/>
        </p:nvSpPr>
        <p:spPr>
          <a:xfrm>
            <a:off x="1600200" y="4059936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bi-encoders with cross-encoder rerankers and learned sparse models</a:t>
            </a:r>
            <a:endParaRPr lang="en-US" sz="1900" dirty="0"/>
          </a:p>
        </p:txBody>
      </p:sp>
      <p:sp>
        <p:nvSpPr>
          <p:cNvPr id="16" name="a6_row"/>
          <p:cNvSpPr/>
          <p:nvPr/>
        </p:nvSpPr>
        <p:spPr>
          <a:xfrm>
            <a:off x="548640" y="5084064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7" name="a6_num"/>
          <p:cNvSpPr/>
          <p:nvPr/>
        </p:nvSpPr>
        <p:spPr>
          <a:xfrm>
            <a:off x="822960" y="526694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a6_numt"/>
          <p:cNvSpPr txBox="1"/>
          <p:nvPr/>
        </p:nvSpPr>
        <p:spPr>
          <a:xfrm>
            <a:off x="82296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a6_obj"/>
          <p:cNvSpPr txBox="1"/>
          <p:nvPr/>
        </p:nvSpPr>
        <p:spPr>
          <a:xfrm>
            <a:off x="1600200" y="5084064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lexical and neural rankings with rank fusion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Vocabulary mismatch</a:t>
            </a:r>
            <a:endParaRPr lang="en-US" sz="3200" dirty="0"/>
          </a:p>
        </p:txBody>
      </p:sp>
      <p:graphicFrame>
        <p:nvGraphicFramePr>
          <p:cNvPr id="4" name="a2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029200"/>
                <a:gridCol w="277063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document says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 overlap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flights to Cairo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airfare to Egypt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 flat tire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repairing a puncture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attack symptoms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signs of myocardial infarction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a3_co"/>
          <p:cNvSpPr/>
          <p:nvPr/>
        </p:nvSpPr>
        <p:spPr>
          <a:xfrm>
            <a:off x="548640" y="3877056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548640" y="3986784"/>
            <a:ext cx="64008" cy="10607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4672" y="3968496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from Modules 3 and 4 match strings. People use different words for the same idea, so relevant documents can score zero. Neural models aim to match meaning.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Embeddings: meaning as geometry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vectors.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encoder maps a sentence to a vector of a few hundred numbers, where every dimension is used.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geometry.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with similar meaning land close together, even with no shared words.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 as before.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is scored by cosine similarity or a dot product, now in a learned space instead of a term space.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neural networks produce the vectors, so a word is read in relation to its neighbors.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space idea from Module 3 survives. What changes is where the coordinates come from: learned rather than counted.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Scoring with embeddings (toy 2-D example)</a:t>
            </a:r>
            <a:endParaRPr lang="en-US" sz="3200" dirty="0"/>
          </a:p>
        </p:txBody>
      </p:sp>
      <p:graphicFrame>
        <p:nvGraphicFramePr>
          <p:cNvPr id="6" name="a2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108960"/>
                <a:gridCol w="432511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with query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(0.8, 0.6)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A: budget airfare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(0.6, 0.8)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× 0.6 + 0.6 × 0.8 = 0.96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B: airline rules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(1.0, 0.0)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C: pasta recipe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(0.0, -1.0)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a3_co"/>
          <p:cNvSpPr/>
          <p:nvPr/>
        </p:nvSpPr>
        <p:spPr>
          <a:xfrm>
            <a:off x="548640" y="43891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548640" y="4498848"/>
            <a:ext cx="64008" cy="10607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4672" y="4480560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are unit length here, so the dot product equals cosine. Doc A shares no words with the query but sits closest in meaning space. Real embeddings use hundreds of dimensions.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Bi-encoder architecture</a:t>
            </a:r>
            <a:endParaRPr lang="en-US" sz="3200" dirty="0"/>
          </a:p>
        </p:txBody>
      </p:sp>
      <p:sp>
        <p:nvSpPr>
          <p:cNvPr id="3" name="a2_lane"/>
          <p:cNvSpPr txBox="1"/>
          <p:nvPr/>
        </p:nvSpPr>
        <p:spPr>
          <a:xfrm>
            <a:off x="548640" y="15087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encode every document once</a:t>
            </a:r>
            <a:endParaRPr lang="en-US" sz="1500" dirty="0"/>
          </a:p>
        </p:txBody>
      </p:sp>
      <p:sp>
        <p:nvSpPr>
          <p:cNvPr id="4" name="a3_box"/>
          <p:cNvSpPr/>
          <p:nvPr/>
        </p:nvSpPr>
        <p:spPr>
          <a:xfrm>
            <a:off x="548640" y="1874520"/>
            <a:ext cx="3423818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5" name="a3_box_t"/>
          <p:cNvSpPr txBox="1"/>
          <p:nvPr/>
        </p:nvSpPr>
        <p:spPr>
          <a:xfrm>
            <a:off x="658368" y="1874520"/>
            <a:ext cx="32043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600" dirty="0"/>
          </a:p>
        </p:txBody>
      </p:sp>
      <p:sp>
        <p:nvSpPr>
          <p:cNvPr id="6" name="a3_arrow"/>
          <p:cNvSpPr/>
          <p:nvPr/>
        </p:nvSpPr>
        <p:spPr>
          <a:xfrm>
            <a:off x="4027322" y="228600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7" name="a3_box"/>
          <p:cNvSpPr/>
          <p:nvPr/>
        </p:nvSpPr>
        <p:spPr>
          <a:xfrm>
            <a:off x="4383938" y="1874520"/>
            <a:ext cx="3423818" cy="109728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box_t"/>
          <p:cNvSpPr txBox="1"/>
          <p:nvPr/>
        </p:nvSpPr>
        <p:spPr>
          <a:xfrm>
            <a:off x="4493666" y="1874520"/>
            <a:ext cx="32043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600" dirty="0"/>
          </a:p>
        </p:txBody>
      </p:sp>
      <p:sp>
        <p:nvSpPr>
          <p:cNvPr id="9" name="a3_arrow"/>
          <p:cNvSpPr/>
          <p:nvPr/>
        </p:nvSpPr>
        <p:spPr>
          <a:xfrm>
            <a:off x="7862621" y="228600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0" name="a3_box"/>
          <p:cNvSpPr/>
          <p:nvPr/>
        </p:nvSpPr>
        <p:spPr>
          <a:xfrm>
            <a:off x="8219237" y="1874520"/>
            <a:ext cx="3423818" cy="1097280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a3_box_t"/>
          <p:cNvSpPr txBox="1"/>
          <p:nvPr/>
        </p:nvSpPr>
        <p:spPr>
          <a:xfrm>
            <a:off x="8328965" y="1874520"/>
            <a:ext cx="32043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embeddings</a:t>
            </a:r>
            <a:endParaRPr lang="en-US" sz="1600" dirty="0"/>
          </a:p>
        </p:txBody>
      </p:sp>
      <p:sp>
        <p:nvSpPr>
          <p:cNvPr id="12" name="a4_lane"/>
          <p:cNvSpPr txBox="1"/>
          <p:nvPr/>
        </p:nvSpPr>
        <p:spPr>
          <a:xfrm>
            <a:off x="548640" y="33375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encode the query and search</a:t>
            </a:r>
            <a:endParaRPr lang="en-US" sz="1500" dirty="0"/>
          </a:p>
        </p:txBody>
      </p:sp>
      <p:sp>
        <p:nvSpPr>
          <p:cNvPr id="13" name="a5_box"/>
          <p:cNvSpPr/>
          <p:nvPr/>
        </p:nvSpPr>
        <p:spPr>
          <a:xfrm>
            <a:off x="548640" y="3703320"/>
            <a:ext cx="3423818" cy="1097280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a5_box_t"/>
          <p:cNvSpPr txBox="1"/>
          <p:nvPr/>
        </p:nvSpPr>
        <p:spPr>
          <a:xfrm>
            <a:off x="658368" y="3703320"/>
            <a:ext cx="32043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600" dirty="0"/>
          </a:p>
        </p:txBody>
      </p:sp>
      <p:sp>
        <p:nvSpPr>
          <p:cNvPr id="15" name="a5_arrow"/>
          <p:cNvSpPr/>
          <p:nvPr/>
        </p:nvSpPr>
        <p:spPr>
          <a:xfrm>
            <a:off x="4027322" y="411480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6" name="a5_box"/>
          <p:cNvSpPr/>
          <p:nvPr/>
        </p:nvSpPr>
        <p:spPr>
          <a:xfrm>
            <a:off x="4383938" y="3703320"/>
            <a:ext cx="3423818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a5_box_t"/>
          <p:cNvSpPr txBox="1"/>
          <p:nvPr/>
        </p:nvSpPr>
        <p:spPr>
          <a:xfrm>
            <a:off x="4493666" y="3703320"/>
            <a:ext cx="32043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network</a:t>
            </a:r>
            <a:endParaRPr lang="en-US" sz="1600" dirty="0"/>
          </a:p>
        </p:txBody>
      </p:sp>
      <p:sp>
        <p:nvSpPr>
          <p:cNvPr id="18" name="a5_arrow"/>
          <p:cNvSpPr/>
          <p:nvPr/>
        </p:nvSpPr>
        <p:spPr>
          <a:xfrm>
            <a:off x="7862621" y="4114800"/>
            <a:ext cx="301752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9" name="a5_box"/>
          <p:cNvSpPr/>
          <p:nvPr/>
        </p:nvSpPr>
        <p:spPr>
          <a:xfrm>
            <a:off x="8219237" y="3703320"/>
            <a:ext cx="3423818" cy="1097280"/>
          </a:xfrm>
          <a:prstGeom prst="roundRect">
            <a:avLst>
              <a:gd name="adj" fmla="val 8333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a5_box_t"/>
          <p:cNvSpPr txBox="1"/>
          <p:nvPr/>
        </p:nvSpPr>
        <p:spPr>
          <a:xfrm>
            <a:off x="8328965" y="3703320"/>
            <a:ext cx="320436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neighbors</a:t>
            </a:r>
            <a:endParaRPr lang="en-US" sz="1600" dirty="0"/>
          </a:p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 documents</a:t>
            </a:r>
            <a:endParaRPr lang="en-US" sz="1600" dirty="0"/>
          </a:p>
        </p:txBody>
      </p:sp>
      <p:sp>
        <p:nvSpPr>
          <p:cNvPr id="21" name="a9_co"/>
          <p:cNvSpPr/>
          <p:nvPr/>
        </p:nvSpPr>
        <p:spPr>
          <a:xfrm>
            <a:off x="548640" y="516636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DC"/>
          </a:solidFill>
          <a:ln/>
        </p:spPr>
      </p:sp>
      <p:sp>
        <p:nvSpPr>
          <p:cNvPr id="22" name="a9_co_bar"/>
          <p:cNvSpPr/>
          <p:nvPr/>
        </p:nvSpPr>
        <p:spPr>
          <a:xfrm>
            <a:off x="548640" y="5276088"/>
            <a:ext cx="64008" cy="7863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a9_co_t"/>
          <p:cNvSpPr txBox="1"/>
          <p:nvPr/>
        </p:nvSpPr>
        <p:spPr>
          <a:xfrm>
            <a:off x="804672" y="5257800"/>
            <a:ext cx="10682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separate encodings?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vectors do not depend on the query, so they can be precomputed. At query time only one encoding and one similarity search are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Training with contrastive learning</a:t>
            </a:r>
            <a:endParaRPr lang="en-US" sz="3200" dirty="0"/>
          </a:p>
        </p:txBody>
      </p:sp>
      <p:sp>
        <p:nvSpPr>
          <p:cNvPr id="3" name="a2_eq"/>
          <p:cNvSpPr/>
          <p:nvPr/>
        </p:nvSpPr>
        <p:spPr>
          <a:xfrm>
            <a:off x="548640" y="14630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eq_t"/>
          <p:cNvSpPr txBox="1"/>
          <p:nvPr/>
        </p:nvSpPr>
        <p:spPr>
          <a:xfrm>
            <a:off x="822960" y="146304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− log [ exp(s(q, d⁺)/τ) / Σ exp(s(q, d)/τ) ]</a:t>
            </a:r>
            <a:endParaRPr lang="en-US" sz="2800" dirty="0"/>
          </a:p>
        </p:txBody>
      </p:sp>
      <p:sp>
        <p:nvSpPr>
          <p:cNvPr id="5" name="a3_where"/>
          <p:cNvSpPr txBox="1"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</p:txBody>
      </p:sp>
      <p:sp>
        <p:nvSpPr>
          <p:cNvPr id="6" name="a3_chip"/>
          <p:cNvSpPr/>
          <p:nvPr/>
        </p:nvSpPr>
        <p:spPr>
          <a:xfrm>
            <a:off x="548640" y="3264408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7" name="a3_chip_t"/>
          <p:cNvSpPr txBox="1"/>
          <p:nvPr/>
        </p:nvSpPr>
        <p:spPr>
          <a:xfrm>
            <a:off x="548640" y="32644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s(q,d)</a:t>
            </a:r>
            <a:endParaRPr lang="en-US" sz="1500" dirty="0"/>
          </a:p>
        </p:txBody>
      </p:sp>
      <p:sp>
        <p:nvSpPr>
          <p:cNvPr id="8" name="a3_mean"/>
          <p:cNvSpPr txBox="1"/>
          <p:nvPr/>
        </p:nvSpPr>
        <p:spPr>
          <a:xfrm>
            <a:off x="1920240" y="326440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between query and document vectors.</a:t>
            </a:r>
            <a:endParaRPr lang="en-US" sz="1450" dirty="0"/>
          </a:p>
        </p:txBody>
      </p:sp>
      <p:sp>
        <p:nvSpPr>
          <p:cNvPr id="9" name="a3_chip"/>
          <p:cNvSpPr/>
          <p:nvPr/>
        </p:nvSpPr>
        <p:spPr>
          <a:xfrm>
            <a:off x="548640" y="3831336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0" name="a3_chip_t"/>
          <p:cNvSpPr txBox="1"/>
          <p:nvPr/>
        </p:nvSpPr>
        <p:spPr>
          <a:xfrm>
            <a:off x="548640" y="3831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d⁺</a:t>
            </a:r>
            <a:endParaRPr lang="en-US" sz="1500" dirty="0"/>
          </a:p>
        </p:txBody>
      </p:sp>
      <p:sp>
        <p:nvSpPr>
          <p:cNvPr id="11" name="a3_mean"/>
          <p:cNvSpPr txBox="1"/>
          <p:nvPr/>
        </p:nvSpPr>
        <p:spPr>
          <a:xfrm>
            <a:off x="1920240" y="383133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known to be relevant to the query.</a:t>
            </a:r>
            <a:endParaRPr lang="en-US" sz="1450" dirty="0"/>
          </a:p>
        </p:txBody>
      </p:sp>
      <p:sp>
        <p:nvSpPr>
          <p:cNvPr id="12" name="a3_chip"/>
          <p:cNvSpPr/>
          <p:nvPr/>
        </p:nvSpPr>
        <p:spPr>
          <a:xfrm>
            <a:off x="548640" y="4398264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13" name="a3_chip_t"/>
          <p:cNvSpPr txBox="1"/>
          <p:nvPr/>
        </p:nvSpPr>
        <p:spPr>
          <a:xfrm>
            <a:off x="548640" y="43982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τ</a:t>
            </a:r>
            <a:endParaRPr lang="en-US" sz="1500" dirty="0"/>
          </a:p>
        </p:txBody>
      </p:sp>
      <p:sp>
        <p:nvSpPr>
          <p:cNvPr id="14" name="a3_mean"/>
          <p:cNvSpPr txBox="1"/>
          <p:nvPr/>
        </p:nvSpPr>
        <p:spPr>
          <a:xfrm>
            <a:off x="1920240" y="439826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sharpness of the softmax over candidates.</a:t>
            </a:r>
            <a:endParaRPr lang="en-US" sz="1450" dirty="0"/>
          </a:p>
        </p:txBody>
      </p:sp>
      <p:sp>
        <p:nvSpPr>
          <p:cNvPr id="15" name="a3_chip"/>
          <p:cNvSpPr/>
          <p:nvPr/>
        </p:nvSpPr>
        <p:spPr>
          <a:xfrm>
            <a:off x="548640" y="4965192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6" name="a3_chip_t"/>
          <p:cNvSpPr txBox="1"/>
          <p:nvPr/>
        </p:nvSpPr>
        <p:spPr>
          <a:xfrm>
            <a:off x="548640" y="49651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endParaRPr lang="en-US" sz="1500" dirty="0"/>
          </a:p>
        </p:txBody>
      </p:sp>
      <p:sp>
        <p:nvSpPr>
          <p:cNvPr id="17" name="a3_mean"/>
          <p:cNvSpPr txBox="1"/>
          <p:nvPr/>
        </p:nvSpPr>
        <p:spPr>
          <a:xfrm>
            <a:off x="1920240" y="496519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the positive and a set of negative documents.</a:t>
            </a:r>
            <a:endParaRPr lang="en-US" sz="1450" dirty="0"/>
          </a:p>
        </p:txBody>
      </p:sp>
      <p:sp>
        <p:nvSpPr>
          <p:cNvPr id="18" name="a4_co"/>
          <p:cNvSpPr/>
          <p:nvPr/>
        </p:nvSpPr>
        <p:spPr>
          <a:xfrm>
            <a:off x="7818120" y="2880360"/>
            <a:ext cx="3822192" cy="3017520"/>
          </a:xfrm>
          <a:prstGeom prst="roundRect">
            <a:avLst>
              <a:gd name="adj" fmla="val 3030"/>
            </a:avLst>
          </a:prstGeom>
          <a:solidFill>
            <a:srgbClr val="FFF4DC"/>
          </a:solidFill>
          <a:ln/>
        </p:spPr>
      </p:sp>
      <p:sp>
        <p:nvSpPr>
          <p:cNvPr id="19" name="a4_co_bar"/>
          <p:cNvSpPr/>
          <p:nvPr/>
        </p:nvSpPr>
        <p:spPr>
          <a:xfrm>
            <a:off x="7818120" y="2990088"/>
            <a:ext cx="64008" cy="27980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a4_co_t"/>
          <p:cNvSpPr txBox="1"/>
          <p:nvPr/>
        </p:nvSpPr>
        <p:spPr>
          <a:xfrm>
            <a:off x="8074152" y="297180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score of the relevant document relative to the others. Hard negatives, documents that look relevant but are not, teach the model the most.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training data comes from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bar"/>
          <p:cNvSpPr/>
          <p:nvPr/>
        </p:nvSpPr>
        <p:spPr>
          <a:xfrm>
            <a:off x="777240" y="1508760"/>
            <a:ext cx="73152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head"/>
          <p:cNvSpPr txBox="1"/>
          <p:nvPr/>
        </p:nvSpPr>
        <p:spPr>
          <a:xfrm>
            <a:off x="777240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judgments</a:t>
            </a:r>
            <a:endParaRPr lang="en-US" sz="1800" dirty="0"/>
          </a:p>
        </p:txBody>
      </p:sp>
      <p:sp>
        <p:nvSpPr>
          <p:cNvPr id="8" name="a2_body"/>
          <p:cNvSpPr txBox="1"/>
          <p:nvPr/>
        </p:nvSpPr>
        <p:spPr>
          <a:xfrm>
            <a:off x="777240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but expensive. Used for fine-tuning and evaluation.</a:t>
            </a:r>
            <a:endParaRPr lang="en-US" sz="1600" dirty="0"/>
          </a:p>
        </p:txBody>
      </p:sp>
      <p:sp>
        <p:nvSpPr>
          <p:cNvPr id="9" name="a3_card"/>
          <p:cNvSpPr/>
          <p:nvPr/>
        </p:nvSpPr>
        <p:spPr>
          <a:xfrm>
            <a:off x="3379394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a3_bar"/>
          <p:cNvSpPr/>
          <p:nvPr/>
        </p:nvSpPr>
        <p:spPr>
          <a:xfrm>
            <a:off x="3607994" y="1508760"/>
            <a:ext cx="731520" cy="731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a3_num"/>
          <p:cNvSpPr/>
          <p:nvPr/>
        </p:nvSpPr>
        <p:spPr>
          <a:xfrm>
            <a:off x="3607994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360799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3_head"/>
          <p:cNvSpPr txBox="1"/>
          <p:nvPr/>
        </p:nvSpPr>
        <p:spPr>
          <a:xfrm>
            <a:off x="3607994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logs</a:t>
            </a:r>
            <a:endParaRPr lang="en-US" sz="1800" dirty="0"/>
          </a:p>
        </p:txBody>
      </p:sp>
      <p:sp>
        <p:nvSpPr>
          <p:cNvPr id="14" name="a3_body"/>
          <p:cNvSpPr txBox="1"/>
          <p:nvPr/>
        </p:nvSpPr>
        <p:spPr>
          <a:xfrm>
            <a:off x="3607994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Plentiful, but clicks reflect position and presentation bias.</a:t>
            </a:r>
            <a:endParaRPr lang="en-US" sz="1600" dirty="0"/>
          </a:p>
        </p:txBody>
      </p:sp>
      <p:sp>
        <p:nvSpPr>
          <p:cNvPr id="15" name="a4_card"/>
          <p:cNvSpPr/>
          <p:nvPr/>
        </p:nvSpPr>
        <p:spPr>
          <a:xfrm>
            <a:off x="6210148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a4_bar"/>
          <p:cNvSpPr/>
          <p:nvPr/>
        </p:nvSpPr>
        <p:spPr>
          <a:xfrm>
            <a:off x="6438748" y="1508760"/>
            <a:ext cx="731520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a4_num"/>
          <p:cNvSpPr/>
          <p:nvPr/>
        </p:nvSpPr>
        <p:spPr>
          <a:xfrm>
            <a:off x="643874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4_numt"/>
          <p:cNvSpPr txBox="1"/>
          <p:nvPr/>
        </p:nvSpPr>
        <p:spPr>
          <a:xfrm>
            <a:off x="643874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4_head"/>
          <p:cNvSpPr txBox="1"/>
          <p:nvPr/>
        </p:nvSpPr>
        <p:spPr>
          <a:xfrm>
            <a:off x="6438748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pairs</a:t>
            </a:r>
            <a:endParaRPr lang="en-US" sz="1800" dirty="0"/>
          </a:p>
        </p:txBody>
      </p:sp>
      <p:sp>
        <p:nvSpPr>
          <p:cNvPr id="20" name="a4_body"/>
          <p:cNvSpPr txBox="1"/>
          <p:nvPr/>
        </p:nvSpPr>
        <p:spPr>
          <a:xfrm>
            <a:off x="6438748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queries from documents, or mine titles and anchor text.</a:t>
            </a:r>
            <a:endParaRPr lang="en-US" sz="1600" dirty="0"/>
          </a:p>
        </p:txBody>
      </p:sp>
      <p:sp>
        <p:nvSpPr>
          <p:cNvPr id="21" name="a5_card"/>
          <p:cNvSpPr/>
          <p:nvPr/>
        </p:nvSpPr>
        <p:spPr>
          <a:xfrm>
            <a:off x="9040901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a5_bar"/>
          <p:cNvSpPr/>
          <p:nvPr/>
        </p:nvSpPr>
        <p:spPr>
          <a:xfrm>
            <a:off x="9269501" y="1508760"/>
            <a:ext cx="731520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a5_num"/>
          <p:cNvSpPr/>
          <p:nvPr/>
        </p:nvSpPr>
        <p:spPr>
          <a:xfrm>
            <a:off x="9269501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5_numt"/>
          <p:cNvSpPr txBox="1"/>
          <p:nvPr/>
        </p:nvSpPr>
        <p:spPr>
          <a:xfrm>
            <a:off x="9269501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a5_head"/>
          <p:cNvSpPr txBox="1"/>
          <p:nvPr/>
        </p:nvSpPr>
        <p:spPr>
          <a:xfrm>
            <a:off x="9269501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</a:t>
            </a:r>
            <a:endParaRPr lang="en-US" sz="1800" dirty="0"/>
          </a:p>
        </p:txBody>
      </p:sp>
      <p:sp>
        <p:nvSpPr>
          <p:cNvPr id="26" name="a5_body"/>
          <p:cNvSpPr txBox="1"/>
          <p:nvPr/>
        </p:nvSpPr>
        <p:spPr>
          <a:xfrm>
            <a:off x="9269501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from lexical top results to find convincing wrong answers.</a:t>
            </a:r>
            <a:endParaRPr lang="en-US" sz="1600" dirty="0"/>
          </a:p>
        </p:txBody>
      </p:sp>
      <p:sp>
        <p:nvSpPr>
          <p:cNvPr id="27" name="a8_co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4DC"/>
          </a:solidFill>
          <a:ln/>
        </p:spPr>
      </p:sp>
      <p:sp>
        <p:nvSpPr>
          <p:cNvPr id="28" name="a8_co_bar"/>
          <p:cNvSpPr/>
          <p:nvPr/>
        </p:nvSpPr>
        <p:spPr>
          <a:xfrm>
            <a:off x="548640" y="5230368"/>
            <a:ext cx="64008" cy="8321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a8_co_t"/>
          <p:cNvSpPr txBox="1"/>
          <p:nvPr/>
        </p:nvSpPr>
        <p:spPr>
          <a:xfrm>
            <a:off x="804672" y="5212080"/>
            <a:ext cx="10682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source, the model learns that source's notion of relevance, and may fail on very different domains.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Cross-encoders and rerankers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5410048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495284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49528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document encoded apart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vectors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good recall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6233008" y="1508760"/>
            <a:ext cx="5410048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6461608" y="1737360"/>
            <a:ext cx="495284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6461608" y="173736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6461608" y="2377440"/>
            <a:ext cx="49528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document read together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word interactions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but one pass per pair</a:t>
            </a:r>
            <a:endParaRPr lang="en-US" sz="1650" dirty="0"/>
          </a:p>
        </p:txBody>
      </p:sp>
      <p:sp>
        <p:nvSpPr>
          <p:cNvPr id="11" name="a7_co"/>
          <p:cNvSpPr/>
          <p:nvPr/>
        </p:nvSpPr>
        <p:spPr>
          <a:xfrm>
            <a:off x="548640" y="498348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FF4DC"/>
          </a:solidFill>
          <a:ln/>
        </p:spPr>
      </p:sp>
      <p:sp>
        <p:nvSpPr>
          <p:cNvPr id="12" name="a7_co_bar"/>
          <p:cNvSpPr/>
          <p:nvPr/>
        </p:nvSpPr>
        <p:spPr>
          <a:xfrm>
            <a:off x="548640" y="5093208"/>
            <a:ext cx="64008" cy="10607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a7_co_t"/>
          <p:cNvSpPr txBox="1"/>
          <p:nvPr/>
        </p:nvSpPr>
        <p:spPr>
          <a:xfrm>
            <a:off x="804672" y="5074920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architecture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 billion documents with a cross-encoder is infeasible. So retrieve a few hundred candidates cheaply, then rerank them with the expensive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Learned sparse retrieval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model predicts which terms describe a document, including words it never contains, and assigns weights.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sparse vector over the vocabulary that works with the inverted index from Module 2.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lookups, term-level explanations and handling of synonyms.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postings lists and a model pass over every document at index time.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bridge: neural understanding delivered through the same index structures and query processing as Modules 2 to 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Hybrid search with rank fusion</a:t>
            </a:r>
            <a:endParaRPr lang="en-US" sz="3200" dirty="0"/>
          </a:p>
        </p:txBody>
      </p:sp>
      <p:sp>
        <p:nvSpPr>
          <p:cNvPr id="3" name="a2_eq"/>
          <p:cNvSpPr/>
          <p:nvPr/>
        </p:nvSpPr>
        <p:spPr>
          <a:xfrm>
            <a:off x="548640" y="14630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eq_t"/>
          <p:cNvSpPr txBox="1"/>
          <p:nvPr/>
        </p:nvSpPr>
        <p:spPr>
          <a:xfrm>
            <a:off x="822960" y="146304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RRF(d) = Σ 1 / ( k + rankᵢ(d) )</a:t>
            </a:r>
            <a:endParaRPr lang="en-US" sz="3000" dirty="0"/>
          </a:p>
        </p:txBody>
      </p:sp>
      <p:sp>
        <p:nvSpPr>
          <p:cNvPr id="5" name="a3_where"/>
          <p:cNvSpPr txBox="1"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</p:txBody>
      </p:sp>
      <p:sp>
        <p:nvSpPr>
          <p:cNvPr id="6" name="a3_chip"/>
          <p:cNvSpPr/>
          <p:nvPr/>
        </p:nvSpPr>
        <p:spPr>
          <a:xfrm>
            <a:off x="548640" y="3264408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7" name="a3_chip_t"/>
          <p:cNvSpPr txBox="1"/>
          <p:nvPr/>
        </p:nvSpPr>
        <p:spPr>
          <a:xfrm>
            <a:off x="548640" y="32644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rankᵢ(d)</a:t>
            </a:r>
            <a:endParaRPr lang="en-US" sz="1500" dirty="0"/>
          </a:p>
        </p:txBody>
      </p:sp>
      <p:sp>
        <p:nvSpPr>
          <p:cNvPr id="8" name="a3_mean"/>
          <p:cNvSpPr txBox="1"/>
          <p:nvPr/>
        </p:nvSpPr>
        <p:spPr>
          <a:xfrm>
            <a:off x="1920240" y="326440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of document d in ranker i.</a:t>
            </a:r>
            <a:endParaRPr lang="en-US" sz="1450" dirty="0"/>
          </a:p>
        </p:txBody>
      </p:sp>
      <p:sp>
        <p:nvSpPr>
          <p:cNvPr id="9" name="a3_chip"/>
          <p:cNvSpPr/>
          <p:nvPr/>
        </p:nvSpPr>
        <p:spPr>
          <a:xfrm>
            <a:off x="548640" y="3831336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0" name="a3_chip_t"/>
          <p:cNvSpPr txBox="1"/>
          <p:nvPr/>
        </p:nvSpPr>
        <p:spPr>
          <a:xfrm>
            <a:off x="548640" y="3831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endParaRPr lang="en-US" sz="1500" dirty="0"/>
          </a:p>
        </p:txBody>
      </p:sp>
      <p:sp>
        <p:nvSpPr>
          <p:cNvPr id="11" name="a3_mean"/>
          <p:cNvSpPr txBox="1"/>
          <p:nvPr/>
        </p:nvSpPr>
        <p:spPr>
          <a:xfrm>
            <a:off x="1920240" y="383133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Constant, often around 60, damping the advantage of the very top ranks.</a:t>
            </a:r>
            <a:endParaRPr lang="en-US" sz="1450" dirty="0"/>
          </a:p>
        </p:txBody>
      </p:sp>
      <p:sp>
        <p:nvSpPr>
          <p:cNvPr id="12" name="a3_chip"/>
          <p:cNvSpPr/>
          <p:nvPr/>
        </p:nvSpPr>
        <p:spPr>
          <a:xfrm>
            <a:off x="548640" y="4398264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13" name="a3_chip_t"/>
          <p:cNvSpPr txBox="1"/>
          <p:nvPr/>
        </p:nvSpPr>
        <p:spPr>
          <a:xfrm>
            <a:off x="548640" y="43982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endParaRPr lang="en-US" sz="1500" dirty="0"/>
          </a:p>
        </p:txBody>
      </p:sp>
      <p:sp>
        <p:nvSpPr>
          <p:cNvPr id="14" name="a3_mean"/>
          <p:cNvSpPr txBox="1"/>
          <p:nvPr/>
        </p:nvSpPr>
        <p:spPr>
          <a:xfrm>
            <a:off x="1920240" y="439826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rankers, such as lexical and dense.</a:t>
            </a:r>
            <a:endParaRPr lang="en-US" sz="1450" dirty="0"/>
          </a:p>
        </p:txBody>
      </p:sp>
      <p:sp>
        <p:nvSpPr>
          <p:cNvPr id="15" name="a4_co"/>
          <p:cNvSpPr/>
          <p:nvPr/>
        </p:nvSpPr>
        <p:spPr>
          <a:xfrm>
            <a:off x="7818120" y="2880360"/>
            <a:ext cx="3822192" cy="3017520"/>
          </a:xfrm>
          <a:prstGeom prst="roundRect">
            <a:avLst>
              <a:gd name="adj" fmla="val 3030"/>
            </a:avLst>
          </a:prstGeom>
          <a:solidFill>
            <a:srgbClr val="FFF4DC"/>
          </a:solidFill>
          <a:ln/>
        </p:spPr>
      </p:sp>
      <p:sp>
        <p:nvSpPr>
          <p:cNvPr id="16" name="a4_co_bar"/>
          <p:cNvSpPr/>
          <p:nvPr/>
        </p:nvSpPr>
        <p:spPr>
          <a:xfrm>
            <a:off x="7818120" y="2990088"/>
            <a:ext cx="64008" cy="27980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4_co_t"/>
          <p:cNvSpPr txBox="1"/>
          <p:nvPr/>
        </p:nvSpPr>
        <p:spPr>
          <a:xfrm>
            <a:off x="8074152" y="297180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ranked 1st by BM25 and 3rd by a dense model scores 1/61 + 1/63 = 0.0323. Documents liked by both lists rise. Using ranks avoids comparing incompatible score scales.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Choosing an approach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305805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names, codes, rare terms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needed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paraphrases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4338218" y="1508760"/>
            <a:ext cx="3515258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4566818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4566818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4566818" y="2377440"/>
            <a:ext cx="305805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 and concept matching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training and vector search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on exact identifiers</a:t>
            </a:r>
            <a:endParaRPr lang="en-US" sz="1650" dirty="0"/>
          </a:p>
        </p:txBody>
      </p:sp>
      <p:sp>
        <p:nvSpPr>
          <p:cNvPr id="11" name="a4_card"/>
          <p:cNvSpPr/>
          <p:nvPr/>
        </p:nvSpPr>
        <p:spPr>
          <a:xfrm>
            <a:off x="8127797" y="1508760"/>
            <a:ext cx="3515258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a4_chip"/>
          <p:cNvSpPr/>
          <p:nvPr/>
        </p:nvSpPr>
        <p:spPr>
          <a:xfrm>
            <a:off x="8356397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3" name="a4_chip_t"/>
          <p:cNvSpPr txBox="1"/>
          <p:nvPr/>
        </p:nvSpPr>
        <p:spPr>
          <a:xfrm>
            <a:off x="8356397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+ rerank</a:t>
            </a:r>
            <a:endParaRPr lang="en-US" sz="1600" dirty="0"/>
          </a:p>
        </p:txBody>
      </p:sp>
      <p:sp>
        <p:nvSpPr>
          <p:cNvPr id="14" name="a4_items"/>
          <p:cNvSpPr txBox="1"/>
          <p:nvPr/>
        </p:nvSpPr>
        <p:spPr>
          <a:xfrm>
            <a:off x="8356397" y="2377440"/>
            <a:ext cx="305805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both strengths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components to run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production design</a:t>
            </a:r>
            <a:endParaRPr lang="en-US" sz="1650" dirty="0"/>
          </a:p>
        </p:txBody>
      </p:sp>
      <p:sp>
        <p:nvSpPr>
          <p:cNvPr id="15" name="a7_co"/>
          <p:cNvSpPr/>
          <p:nvPr/>
        </p:nvSpPr>
        <p:spPr>
          <a:xfrm>
            <a:off x="548640" y="516636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FF4DC"/>
          </a:solidFill>
          <a:ln/>
        </p:spPr>
      </p:sp>
      <p:sp>
        <p:nvSpPr>
          <p:cNvPr id="16" name="a7_co_bar"/>
          <p:cNvSpPr/>
          <p:nvPr/>
        </p:nvSpPr>
        <p:spPr>
          <a:xfrm>
            <a:off x="548640" y="5276088"/>
            <a:ext cx="64008" cy="8778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7_co_t"/>
          <p:cNvSpPr txBox="1"/>
          <p:nvPr/>
        </p:nvSpPr>
        <p:spPr>
          <a:xfrm>
            <a:off x="804672" y="5257800"/>
            <a:ext cx="10682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models are not strictly better. Evaluate on your own queries and keep a strong lexical baseline.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Limits and risks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on one domain can fail on another, such as legal or medical text.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scores.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hard to explain why a vector is close, unlike a matched term.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documents, storing vectors and serving models add compute and memory.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Exactness.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Identifiers, rare names and numbers are often matched better by lexical methods.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compare against a tuned BM25 baseline on your own judged queries before adopting a neural component.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a2_dot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" name="a2_tick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a2_pt"/>
          <p:cNvSpPr txBox="1"/>
          <p:nvPr/>
        </p:nvSpPr>
        <p:spPr>
          <a:xfrm>
            <a:off x="1234440" y="1463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mismatch limits any model that matches strings.</a:t>
            </a:r>
            <a:endParaRPr lang="en-US" sz="1650" dirty="0"/>
          </a:p>
        </p:txBody>
      </p:sp>
      <p:sp>
        <p:nvSpPr>
          <p:cNvPr id="6" name="a3_dot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a3_tick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a3_pt"/>
          <p:cNvSpPr txBox="1"/>
          <p:nvPr/>
        </p:nvSpPr>
        <p:spPr>
          <a:xfrm>
            <a:off x="1234440" y="23591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Bi-encoders embed texts independently, allowing precomputed vectors and fast search.</a:t>
            </a:r>
            <a:endParaRPr lang="en-US" sz="1650" dirty="0"/>
          </a:p>
        </p:txBody>
      </p:sp>
      <p:sp>
        <p:nvSpPr>
          <p:cNvPr id="9" name="a4_dot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a4_tick"/>
          <p:cNvSpPr txBox="1"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a4_pt"/>
          <p:cNvSpPr txBox="1"/>
          <p:nvPr/>
        </p:nvSpPr>
        <p:spPr>
          <a:xfrm>
            <a:off x="1234440" y="325526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training pulls relevant pairs together and pushes hard negatives away.</a:t>
            </a:r>
            <a:endParaRPr lang="en-US" sz="1650" dirty="0"/>
          </a:p>
        </p:txBody>
      </p:sp>
      <p:sp>
        <p:nvSpPr>
          <p:cNvPr id="12" name="a5_dot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a5_tick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a5_pt"/>
          <p:cNvSpPr txBox="1"/>
          <p:nvPr/>
        </p:nvSpPr>
        <p:spPr>
          <a:xfrm>
            <a:off x="1234440" y="415137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Cross-encoders rerank a short list; hybrid fusion combines lexical and dense strengths.</a:t>
            </a:r>
            <a:endParaRPr lang="en-US" sz="1650" dirty="0"/>
          </a:p>
        </p:txBody>
      </p:sp>
      <p:sp>
        <p:nvSpPr>
          <p:cNvPr id="15" name="a8_next"/>
          <p:cNvSpPr/>
          <p:nvPr/>
        </p:nvSpPr>
        <p:spPr>
          <a:xfrm>
            <a:off x="7955280" y="1463040"/>
            <a:ext cx="3685032" cy="3566160"/>
          </a:xfrm>
          <a:prstGeom prst="roundRect">
            <a:avLst>
              <a:gd name="adj" fmla="val 3590"/>
            </a:avLst>
          </a:prstGeom>
          <a:solidFill>
            <a:srgbClr val="16345C"/>
          </a:solidFill>
          <a:ln/>
        </p:spPr>
      </p:sp>
      <p:sp>
        <p:nvSpPr>
          <p:cNvPr id="16" name="a9_next_t"/>
          <p:cNvSpPr txBox="1"/>
          <p:nvPr/>
        </p:nvSpPr>
        <p:spPr>
          <a:xfrm>
            <a:off x="8229600" y="169164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shows how to measure whether any of these models is actually better.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</a:t>
            </a:r>
            <a:endParaRPr lang="en-US" sz="200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cross-encoder used only after a first-stage retriever?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Index Blue">
  <a:themeElements>
    <a:clrScheme name="Index Blue">
      <a:dk1>
        <a:srgbClr val="0B1F3A"/>
      </a:dk1>
      <a:lt1>
        <a:srgbClr val="FFFFFF"/>
      </a:lt1>
      <a:dk2>
        <a:srgbClr val="1B4B8A"/>
      </a:dk2>
      <a:lt2>
        <a:srgbClr val="EAF1FB"/>
      </a:lt2>
      <a:accent1>
        <a:srgbClr val="1F7AE0"/>
      </a:accent1>
      <a:accent2>
        <a:srgbClr val="F5A623"/>
      </a:accent2>
      <a:accent3>
        <a:srgbClr val="12B5A6"/>
      </a:accent3>
      <a:accent4>
        <a:srgbClr val="7B5CE0"/>
      </a:accent4>
      <a:accent5>
        <a:srgbClr val="E5484D"/>
      </a:accent5>
      <a:accent6>
        <a:srgbClr val="2FB170"/>
      </a:accent6>
      <a:hlink>
        <a:srgbClr val="1F7AE0"/>
      </a:hlink>
      <a:folHlink>
        <a:srgbClr val="7B5CE0"/>
      </a:folHlink>
    </a:clrScheme>
    <a:fontScheme name="Index Bl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Modeling - Module 5: Neural Approaches</dc:title>
  <dc:subject>PptxGenJS Presentation</dc:subject>
  <dc:creator>Information Retrieval Modeling series</dc:creator>
  <cp:lastModifiedBy>Information Retrieval Modeling series</cp:lastModifiedBy>
  <cp:revision>1</cp:revision>
  <dcterms:created xsi:type="dcterms:W3CDTF">2026-10-09T22:06:54Z</dcterms:created>
  <dcterms:modified xsi:type="dcterms:W3CDTF">2026-10-09T22:06:54Z</dcterms:modified>
</cp:coreProperties>
</file>