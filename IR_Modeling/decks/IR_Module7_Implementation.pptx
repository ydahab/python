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Modeling  |  Module 7: Practical Implementation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Modeling  |  Module 7: Practical Implementation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pill"/>
          <p:cNvSpPr/>
          <p:nvPr/>
        </p:nvSpPr>
        <p:spPr>
          <a:xfrm>
            <a:off x="731520" y="1325880"/>
            <a:ext cx="246888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" name="a1_pill_t"/>
          <p:cNvSpPr txBox="1"/>
          <p:nvPr/>
        </p:nvSpPr>
        <p:spPr>
          <a:xfrm>
            <a:off x="731520" y="132588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OF 7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Practical Implementation Considerations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4023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Architecture, scale, freshness and operations</a:t>
            </a:r>
            <a:endParaRPr lang="en-US" sz="2100" dirty="0"/>
          </a:p>
        </p:txBody>
      </p:sp>
      <p:sp>
        <p:nvSpPr>
          <p:cNvPr id="6" name="a4_meta"/>
          <p:cNvSpPr txBox="1"/>
          <p:nvPr/>
        </p:nvSpPr>
        <p:spPr>
          <a:xfrm>
            <a:off x="73152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|  Prior knowledge: databases, basic ML  |  ~45 min</a:t>
            </a:r>
            <a:endParaRPr lang="en-US" sz="1500" dirty="0"/>
          </a:p>
        </p:txBody>
      </p:sp>
      <p:sp>
        <p:nvSpPr>
          <p:cNvPr id="7" name="a5_term"/>
          <p:cNvSpPr/>
          <p:nvPr/>
        </p:nvSpPr>
        <p:spPr>
          <a:xfrm>
            <a:off x="7589520" y="137160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a5_post"/>
          <p:cNvSpPr/>
          <p:nvPr/>
        </p:nvSpPr>
        <p:spPr>
          <a:xfrm>
            <a:off x="8823960" y="1371600"/>
            <a:ext cx="2487168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9" name="a6_term"/>
          <p:cNvSpPr/>
          <p:nvPr/>
        </p:nvSpPr>
        <p:spPr>
          <a:xfrm>
            <a:off x="7589520" y="2084832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a6_post"/>
          <p:cNvSpPr/>
          <p:nvPr/>
        </p:nvSpPr>
        <p:spPr>
          <a:xfrm>
            <a:off x="8823960" y="2084832"/>
            <a:ext cx="3419856" cy="475488"/>
          </a:xfrm>
          <a:prstGeom prst="roundRect">
            <a:avLst>
              <a:gd name="adj" fmla="val 19231"/>
            </a:avLst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11" name="a7_term"/>
          <p:cNvSpPr/>
          <p:nvPr/>
        </p:nvSpPr>
        <p:spPr>
          <a:xfrm>
            <a:off x="7589520" y="2798064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2" name="a7_post"/>
          <p:cNvSpPr/>
          <p:nvPr/>
        </p:nvSpPr>
        <p:spPr>
          <a:xfrm>
            <a:off x="8823960" y="2798064"/>
            <a:ext cx="1865376" cy="475488"/>
          </a:xfrm>
          <a:prstGeom prst="roundRect">
            <a:avLst>
              <a:gd name="adj" fmla="val 19231"/>
            </a:avLst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13" name="a8_term"/>
          <p:cNvSpPr/>
          <p:nvPr/>
        </p:nvSpPr>
        <p:spPr>
          <a:xfrm>
            <a:off x="7589520" y="3511296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a8_post"/>
          <p:cNvSpPr/>
          <p:nvPr/>
        </p:nvSpPr>
        <p:spPr>
          <a:xfrm>
            <a:off x="8823960" y="3511296"/>
            <a:ext cx="2953512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5" name="a9_term"/>
          <p:cNvSpPr/>
          <p:nvPr/>
        </p:nvSpPr>
        <p:spPr>
          <a:xfrm>
            <a:off x="7589520" y="4224528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6" name="a9_post"/>
          <p:cNvSpPr/>
          <p:nvPr/>
        </p:nvSpPr>
        <p:spPr>
          <a:xfrm>
            <a:off x="8823960" y="4224528"/>
            <a:ext cx="2253996" cy="475488"/>
          </a:xfrm>
          <a:prstGeom prst="roundRect">
            <a:avLst>
              <a:gd name="adj" fmla="val 19231"/>
            </a:avLst>
          </a:prstGeom>
          <a:solidFill>
            <a:schemeClr val="accent6">
              <a:alpha val="85000"/>
            </a:schemeClr>
          </a:solidFill>
          <a:ln/>
        </p:spPr>
      </p:sp>
      <p:sp>
        <p:nvSpPr>
          <p:cNvPr id="17" name="a10_term"/>
          <p:cNvSpPr/>
          <p:nvPr/>
        </p:nvSpPr>
        <p:spPr>
          <a:xfrm>
            <a:off x="7589520" y="493776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a10_post"/>
          <p:cNvSpPr/>
          <p:nvPr/>
        </p:nvSpPr>
        <p:spPr>
          <a:xfrm>
            <a:off x="8823960" y="4937760"/>
            <a:ext cx="3186684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85000"/>
            </a:scheme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3" name="a2_lead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module you will be able to:</a:t>
            </a:r>
            <a:endParaRPr lang="en-US" sz="1800" dirty="0"/>
          </a:p>
        </p:txBody>
      </p:sp>
      <p:sp>
        <p:nvSpPr>
          <p:cNvPr id="4" name="a3_row"/>
          <p:cNvSpPr/>
          <p:nvPr/>
        </p:nvSpPr>
        <p:spPr>
          <a:xfrm>
            <a:off x="548640" y="20116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3_obj"/>
          <p:cNvSpPr txBox="1"/>
          <p:nvPr/>
        </p:nvSpPr>
        <p:spPr>
          <a:xfrm>
            <a:off x="1600200" y="2011680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multi-stage ranking architecture and justify each stage</a:t>
            </a:r>
            <a:endParaRPr lang="en-US" sz="1900" dirty="0"/>
          </a:p>
        </p:txBody>
      </p:sp>
      <p:sp>
        <p:nvSpPr>
          <p:cNvPr id="8" name="a4_row"/>
          <p:cNvSpPr/>
          <p:nvPr/>
        </p:nvSpPr>
        <p:spPr>
          <a:xfrm>
            <a:off x="548640" y="3035808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9" name="a4_num"/>
          <p:cNvSpPr/>
          <p:nvPr/>
        </p:nvSpPr>
        <p:spPr>
          <a:xfrm>
            <a:off x="822960" y="321868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a4_numt"/>
          <p:cNvSpPr txBox="1"/>
          <p:nvPr/>
        </p:nvSpPr>
        <p:spPr>
          <a:xfrm>
            <a:off x="82296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a4_obj"/>
          <p:cNvSpPr txBox="1"/>
          <p:nvPr/>
        </p:nvSpPr>
        <p:spPr>
          <a:xfrm>
            <a:off x="1600200" y="3035808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sharding, replication, caching and tail latency</a:t>
            </a:r>
            <a:endParaRPr lang="en-US" sz="1900" dirty="0"/>
          </a:p>
        </p:txBody>
      </p:sp>
      <p:sp>
        <p:nvSpPr>
          <p:cNvPr id="12" name="a5_row"/>
          <p:cNvSpPr/>
          <p:nvPr/>
        </p:nvSpPr>
        <p:spPr>
          <a:xfrm>
            <a:off x="548640" y="4059936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3" name="a5_num"/>
          <p:cNvSpPr/>
          <p:nvPr/>
        </p:nvSpPr>
        <p:spPr>
          <a:xfrm>
            <a:off x="822960" y="424281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a5_numt"/>
          <p:cNvSpPr txBox="1"/>
          <p:nvPr/>
        </p:nvSpPr>
        <p:spPr>
          <a:xfrm>
            <a:off x="822960" y="4242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a5_obj"/>
          <p:cNvSpPr txBox="1"/>
          <p:nvPr/>
        </p:nvSpPr>
        <p:spPr>
          <a:xfrm>
            <a:off x="1600200" y="4059936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approximate nearest neighbor search and the recall-speed trade-off</a:t>
            </a:r>
            <a:endParaRPr lang="en-US" sz="1900" dirty="0"/>
          </a:p>
        </p:txBody>
      </p:sp>
      <p:sp>
        <p:nvSpPr>
          <p:cNvPr id="16" name="a6_row"/>
          <p:cNvSpPr/>
          <p:nvPr/>
        </p:nvSpPr>
        <p:spPr>
          <a:xfrm>
            <a:off x="548640" y="5084064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7" name="a6_num"/>
          <p:cNvSpPr/>
          <p:nvPr/>
        </p:nvSpPr>
        <p:spPr>
          <a:xfrm>
            <a:off x="822960" y="5266944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a6_numt"/>
          <p:cNvSpPr txBox="1"/>
          <p:nvPr/>
        </p:nvSpPr>
        <p:spPr>
          <a:xfrm>
            <a:off x="82296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a6_obj"/>
          <p:cNvSpPr txBox="1"/>
          <p:nvPr/>
        </p:nvSpPr>
        <p:spPr>
          <a:xfrm>
            <a:off x="1600200" y="5084064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freshness, learning to rank, monitoring and responsible use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Multi-stage ranking</a:t>
            </a:r>
            <a:endParaRPr lang="en-US" sz="3200" dirty="0"/>
          </a:p>
        </p:txBody>
      </p:sp>
      <p:sp>
        <p:nvSpPr>
          <p:cNvPr id="3" name="a2_stage"/>
          <p:cNvSpPr/>
          <p:nvPr/>
        </p:nvSpPr>
        <p:spPr>
          <a:xfrm>
            <a:off x="548640" y="1463040"/>
            <a:ext cx="6766560" cy="804672"/>
          </a:xfrm>
          <a:prstGeom prst="roundRect">
            <a:avLst>
              <a:gd name="adj" fmla="val 11364"/>
            </a:avLst>
          </a:prstGeom>
          <a:solidFill>
            <a:schemeClr val="accent1"/>
          </a:solidFill>
          <a:ln/>
        </p:spPr>
      </p:sp>
      <p:sp>
        <p:nvSpPr>
          <p:cNvPr id="4" name="a2_stage_t"/>
          <p:cNvSpPr txBox="1"/>
          <p:nvPr/>
        </p:nvSpPr>
        <p:spPr>
          <a:xfrm>
            <a:off x="548640" y="1463040"/>
            <a:ext cx="6766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generation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to thousands</a:t>
            </a:r>
            <a:endParaRPr lang="en-US" sz="1600" dirty="0"/>
          </a:p>
        </p:txBody>
      </p:sp>
      <p:sp>
        <p:nvSpPr>
          <p:cNvPr id="5" name="a2_desc"/>
          <p:cNvSpPr txBox="1"/>
          <p:nvPr/>
        </p:nvSpPr>
        <p:spPr>
          <a:xfrm>
            <a:off x="7680960" y="1463040"/>
            <a:ext cx="3959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high-recall retrieval: inverted index and dense search.</a:t>
            </a:r>
            <a:endParaRPr lang="en-US" sz="1400" dirty="0"/>
          </a:p>
        </p:txBody>
      </p:sp>
      <p:sp>
        <p:nvSpPr>
          <p:cNvPr id="6" name="a3_stage"/>
          <p:cNvSpPr/>
          <p:nvPr/>
        </p:nvSpPr>
        <p:spPr>
          <a:xfrm>
            <a:off x="1179576" y="2377440"/>
            <a:ext cx="5504688" cy="804672"/>
          </a:xfrm>
          <a:prstGeom prst="roundRect">
            <a:avLst>
              <a:gd name="adj" fmla="val 11364"/>
            </a:avLst>
          </a:prstGeom>
          <a:solidFill>
            <a:schemeClr val="accent3"/>
          </a:solidFill>
          <a:ln/>
        </p:spPr>
      </p:sp>
      <p:sp>
        <p:nvSpPr>
          <p:cNvPr id="7" name="a3_stage_t"/>
          <p:cNvSpPr txBox="1"/>
          <p:nvPr/>
        </p:nvSpPr>
        <p:spPr>
          <a:xfrm>
            <a:off x="1179576" y="2377440"/>
            <a:ext cx="5504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ranker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to hundreds</a:t>
            </a:r>
            <a:endParaRPr lang="en-US" sz="1600" dirty="0"/>
          </a:p>
        </p:txBody>
      </p:sp>
      <p:sp>
        <p:nvSpPr>
          <p:cNvPr id="8" name="a3_desc"/>
          <p:cNvSpPr txBox="1"/>
          <p:nvPr/>
        </p:nvSpPr>
        <p:spPr>
          <a:xfrm>
            <a:off x="7680960" y="2377440"/>
            <a:ext cx="3959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learned model over simple features.</a:t>
            </a:r>
            <a:endParaRPr lang="en-US" sz="1400" dirty="0"/>
          </a:p>
        </p:txBody>
      </p:sp>
      <p:sp>
        <p:nvSpPr>
          <p:cNvPr id="9" name="a4_stage"/>
          <p:cNvSpPr/>
          <p:nvPr/>
        </p:nvSpPr>
        <p:spPr>
          <a:xfrm>
            <a:off x="1810512" y="3291840"/>
            <a:ext cx="4242816" cy="804672"/>
          </a:xfrm>
          <a:prstGeom prst="roundRect">
            <a:avLst>
              <a:gd name="adj" fmla="val 11364"/>
            </a:avLst>
          </a:prstGeom>
          <a:solidFill>
            <a:schemeClr val="accent4"/>
          </a:solidFill>
          <a:ln/>
        </p:spPr>
      </p:sp>
      <p:sp>
        <p:nvSpPr>
          <p:cNvPr id="10" name="a4_stage_t"/>
          <p:cNvSpPr txBox="1"/>
          <p:nvPr/>
        </p:nvSpPr>
        <p:spPr>
          <a:xfrm>
            <a:off x="1810512" y="3291840"/>
            <a:ext cx="42428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reranker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to tens</a:t>
            </a:r>
            <a:endParaRPr lang="en-US" sz="1600" dirty="0"/>
          </a:p>
        </p:txBody>
      </p:sp>
      <p:sp>
        <p:nvSpPr>
          <p:cNvPr id="11" name="a4_desc"/>
          <p:cNvSpPr txBox="1"/>
          <p:nvPr/>
        </p:nvSpPr>
        <p:spPr>
          <a:xfrm>
            <a:off x="7680960" y="3291840"/>
            <a:ext cx="3959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neural model on a short list.</a:t>
            </a:r>
            <a:endParaRPr lang="en-US" sz="1400" dirty="0"/>
          </a:p>
        </p:txBody>
      </p:sp>
      <p:sp>
        <p:nvSpPr>
          <p:cNvPr id="12" name="a5_stage"/>
          <p:cNvSpPr/>
          <p:nvPr/>
        </p:nvSpPr>
        <p:spPr>
          <a:xfrm>
            <a:off x="2441448" y="4206240"/>
            <a:ext cx="2980944" cy="804672"/>
          </a:xfrm>
          <a:prstGeom prst="roundRect">
            <a:avLst>
              <a:gd name="adj" fmla="val 11364"/>
            </a:avLst>
          </a:prstGeom>
          <a:solidFill>
            <a:schemeClr val="accent2"/>
          </a:solidFill>
          <a:ln/>
        </p:spPr>
      </p:sp>
      <p:sp>
        <p:nvSpPr>
          <p:cNvPr id="13" name="a5_stage_t"/>
          <p:cNvSpPr txBox="1"/>
          <p:nvPr/>
        </p:nvSpPr>
        <p:spPr>
          <a:xfrm>
            <a:off x="2441448" y="4206240"/>
            <a:ext cx="29809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assembly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results</a:t>
            </a:r>
            <a:endParaRPr lang="en-US" sz="1600" dirty="0"/>
          </a:p>
        </p:txBody>
      </p:sp>
      <p:sp>
        <p:nvSpPr>
          <p:cNvPr id="14" name="a5_desc"/>
          <p:cNvSpPr txBox="1"/>
          <p:nvPr/>
        </p:nvSpPr>
        <p:spPr>
          <a:xfrm>
            <a:off x="7680960" y="4206240"/>
            <a:ext cx="3959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Diversity, business rules, snippets.</a:t>
            </a:r>
            <a:endParaRPr lang="en-US" sz="1400" dirty="0"/>
          </a:p>
        </p:txBody>
      </p:sp>
      <p:sp>
        <p:nvSpPr>
          <p:cNvPr id="15" name="a9_co"/>
          <p:cNvSpPr/>
          <p:nvPr/>
        </p:nvSpPr>
        <p:spPr>
          <a:xfrm>
            <a:off x="548640" y="52120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4DC"/>
          </a:solidFill>
          <a:ln/>
        </p:spPr>
      </p:sp>
      <p:sp>
        <p:nvSpPr>
          <p:cNvPr id="16" name="a9_co_bar"/>
          <p:cNvSpPr/>
          <p:nvPr/>
        </p:nvSpPr>
        <p:spPr>
          <a:xfrm>
            <a:off x="548640" y="5321808"/>
            <a:ext cx="64008" cy="8321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9_co_t"/>
          <p:cNvSpPr txBox="1"/>
          <p:nvPr/>
        </p:nvSpPr>
        <p:spPr>
          <a:xfrm>
            <a:off x="804672" y="5303520"/>
            <a:ext cx="10682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stages?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document rises with model power, so apply expensive models only to the few candidates that survive cheaper stages.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latency budget (illustrative)</a:t>
            </a:r>
            <a:endParaRPr lang="en-US" sz="3200" dirty="0"/>
          </a:p>
        </p:txBody>
      </p:sp>
      <p:graphicFrame>
        <p:nvGraphicFramePr>
          <p:cNvPr id="5" name="a2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011680"/>
                <a:gridCol w="54223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buys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understanding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Spelling, intent, filters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generation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Lexical and dense retrieval across shards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Reranking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scoring of a short list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Snippets and result formatting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for most of the traffic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a3_co"/>
          <p:cNvSpPr/>
          <p:nvPr/>
        </p:nvSpPr>
        <p:spPr>
          <a:xfrm>
            <a:off x="548640" y="4901184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548640" y="5010912"/>
            <a:ext cx="64008" cy="8778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4672" y="4992624"/>
            <a:ext cx="10682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gains are bought with latency. A larger reranker is only affordable if earlier stages shrink the candidate list.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Scaling out: sharding and replication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collection into partitions held on different machines. Each query fans out to every shard.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shard returns its local top k, and a broker merges them into the global top k.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several copies of each shard to raise throughput and survive failures.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latency.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slowest shard sets the response time, so rare slowness is multiplied across many shards.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axes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scales data size, replication scales query volume and availability. They solve different problems.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Caching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demand.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share of queries accounts for a large share of traffic, so repeated work is common.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cache.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final results for popular queries and skip the pipeline.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cache.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hot postings or vectors in memory so disk reads are avoided.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answers can be out of date, so set expiry according to how fast content changes.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is the cheapest way to cut cost and latency, but it complicates evaluation, since logged results may come from the cache.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Approximate nearest neighbor search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5410048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chip"/>
          <p:cNvSpPr/>
          <p:nvPr/>
        </p:nvSpPr>
        <p:spPr>
          <a:xfrm>
            <a:off x="777240" y="1737360"/>
            <a:ext cx="4952848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5" name="a2_chip_t"/>
          <p:cNvSpPr txBox="1"/>
          <p:nvPr/>
        </p:nvSpPr>
        <p:spPr>
          <a:xfrm>
            <a:off x="777240" y="173736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search</a:t>
            </a:r>
            <a:endParaRPr lang="en-US" sz="1600" dirty="0"/>
          </a:p>
        </p:txBody>
      </p:sp>
      <p:sp>
        <p:nvSpPr>
          <p:cNvPr id="6" name="a2_items"/>
          <p:cNvSpPr txBox="1"/>
          <p:nvPr/>
        </p:nvSpPr>
        <p:spPr>
          <a:xfrm>
            <a:off x="777240" y="2377440"/>
            <a:ext cx="49528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query with every vector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grows with collection size and dimension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recall</a:t>
            </a:r>
            <a:endParaRPr lang="en-US" sz="1650" dirty="0"/>
          </a:p>
        </p:txBody>
      </p:sp>
      <p:sp>
        <p:nvSpPr>
          <p:cNvPr id="7" name="a3_card"/>
          <p:cNvSpPr/>
          <p:nvPr/>
        </p:nvSpPr>
        <p:spPr>
          <a:xfrm>
            <a:off x="6233008" y="1508760"/>
            <a:ext cx="5410048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a3_chip"/>
          <p:cNvSpPr/>
          <p:nvPr/>
        </p:nvSpPr>
        <p:spPr>
          <a:xfrm>
            <a:off x="6461608" y="1737360"/>
            <a:ext cx="4952848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9" name="a3_chip_t"/>
          <p:cNvSpPr txBox="1"/>
          <p:nvPr/>
        </p:nvSpPr>
        <p:spPr>
          <a:xfrm>
            <a:off x="6461608" y="173736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search</a:t>
            </a:r>
            <a:endParaRPr lang="en-US" sz="1600" dirty="0"/>
          </a:p>
        </p:txBody>
      </p:sp>
      <p:sp>
        <p:nvSpPr>
          <p:cNvPr id="10" name="a3_items"/>
          <p:cNvSpPr txBox="1"/>
          <p:nvPr/>
        </p:nvSpPr>
        <p:spPr>
          <a:xfrm>
            <a:off x="6461608" y="2377440"/>
            <a:ext cx="49528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graphs, clusters or compressed vectors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a small fraction of candidates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lower recall, far faster</a:t>
            </a:r>
            <a:endParaRPr lang="en-US" sz="1650" dirty="0"/>
          </a:p>
        </p:txBody>
      </p:sp>
      <p:sp>
        <p:nvSpPr>
          <p:cNvPr id="11" name="a7_co"/>
          <p:cNvSpPr/>
          <p:nvPr/>
        </p:nvSpPr>
        <p:spPr>
          <a:xfrm>
            <a:off x="548640" y="4846320"/>
            <a:ext cx="11094415" cy="1417320"/>
          </a:xfrm>
          <a:prstGeom prst="roundRect">
            <a:avLst>
              <a:gd name="adj" fmla="val 6452"/>
            </a:avLst>
          </a:prstGeom>
          <a:solidFill>
            <a:srgbClr val="FFF4DC"/>
          </a:solidFill>
          <a:ln/>
        </p:spPr>
      </p:sp>
      <p:sp>
        <p:nvSpPr>
          <p:cNvPr id="12" name="a7_co_bar"/>
          <p:cNvSpPr/>
          <p:nvPr/>
        </p:nvSpPr>
        <p:spPr>
          <a:xfrm>
            <a:off x="548640" y="4956048"/>
            <a:ext cx="64008" cy="1197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a7_co_t"/>
          <p:cNvSpPr txBox="1"/>
          <p:nvPr/>
        </p:nvSpPr>
        <p:spPr>
          <a:xfrm>
            <a:off x="804672" y="4937760"/>
            <a:ext cx="106829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budget: recall, latency, memory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search depth until recall of the true neighbors is acceptable at the latency and memory budget. Measure end-to-end relevance, since small recall losses often barely move final quality.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Query processing shortcuts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termination.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reading a postings list once remaining documents cannot reach the current top k.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indexes.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 small, high-quality tier first and consult larger tiers only if needed.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quality scores.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postings by a precomputed quality value so the best candidates come first.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can miss results, so measure the effect on relevance, not only on speed.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Keeping the index fresh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bar"/>
          <p:cNvSpPr/>
          <p:nvPr/>
        </p:nvSpPr>
        <p:spPr>
          <a:xfrm>
            <a:off x="777240" y="1508760"/>
            <a:ext cx="73152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2_head"/>
          <p:cNvSpPr txBox="1"/>
          <p:nvPr/>
        </p:nvSpPr>
        <p:spPr>
          <a:xfrm>
            <a:off x="777240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800" dirty="0"/>
          </a:p>
        </p:txBody>
      </p:sp>
      <p:sp>
        <p:nvSpPr>
          <p:cNvPr id="8" name="a2_body"/>
          <p:cNvSpPr txBox="1"/>
          <p:nvPr/>
        </p:nvSpPr>
        <p:spPr>
          <a:xfrm>
            <a:off x="777240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documents go into a small in-memory structure and become searchable quickly.</a:t>
            </a:r>
            <a:endParaRPr lang="en-US" sz="1600" dirty="0"/>
          </a:p>
        </p:txBody>
      </p:sp>
      <p:sp>
        <p:nvSpPr>
          <p:cNvPr id="9" name="a3_card"/>
          <p:cNvSpPr/>
          <p:nvPr/>
        </p:nvSpPr>
        <p:spPr>
          <a:xfrm>
            <a:off x="3379394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a3_bar"/>
          <p:cNvSpPr/>
          <p:nvPr/>
        </p:nvSpPr>
        <p:spPr>
          <a:xfrm>
            <a:off x="3607994" y="1508760"/>
            <a:ext cx="731520" cy="731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a3_num"/>
          <p:cNvSpPr/>
          <p:nvPr/>
        </p:nvSpPr>
        <p:spPr>
          <a:xfrm>
            <a:off x="3607994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360799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a3_head"/>
          <p:cNvSpPr txBox="1"/>
          <p:nvPr/>
        </p:nvSpPr>
        <p:spPr>
          <a:xfrm>
            <a:off x="3607994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</a:t>
            </a:r>
            <a:endParaRPr lang="en-US" sz="1800" dirty="0"/>
          </a:p>
        </p:txBody>
      </p:sp>
      <p:sp>
        <p:nvSpPr>
          <p:cNvPr id="14" name="a3_body"/>
          <p:cNvSpPr txBox="1"/>
          <p:nvPr/>
        </p:nvSpPr>
        <p:spPr>
          <a:xfrm>
            <a:off x="3607994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write the buffer as an immutable segment.</a:t>
            </a:r>
            <a:endParaRPr lang="en-US" sz="1600" dirty="0"/>
          </a:p>
        </p:txBody>
      </p:sp>
      <p:sp>
        <p:nvSpPr>
          <p:cNvPr id="15" name="a4_card"/>
          <p:cNvSpPr/>
          <p:nvPr/>
        </p:nvSpPr>
        <p:spPr>
          <a:xfrm>
            <a:off x="6210148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a4_bar"/>
          <p:cNvSpPr/>
          <p:nvPr/>
        </p:nvSpPr>
        <p:spPr>
          <a:xfrm>
            <a:off x="6438748" y="1508760"/>
            <a:ext cx="731520" cy="7315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a4_num"/>
          <p:cNvSpPr/>
          <p:nvPr/>
        </p:nvSpPr>
        <p:spPr>
          <a:xfrm>
            <a:off x="6438748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4_numt"/>
          <p:cNvSpPr txBox="1"/>
          <p:nvPr/>
        </p:nvSpPr>
        <p:spPr>
          <a:xfrm>
            <a:off x="643874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a4_head"/>
          <p:cNvSpPr txBox="1"/>
          <p:nvPr/>
        </p:nvSpPr>
        <p:spPr>
          <a:xfrm>
            <a:off x="6438748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800" dirty="0"/>
          </a:p>
        </p:txBody>
      </p:sp>
      <p:sp>
        <p:nvSpPr>
          <p:cNvPr id="20" name="a4_body"/>
          <p:cNvSpPr txBox="1"/>
          <p:nvPr/>
        </p:nvSpPr>
        <p:spPr>
          <a:xfrm>
            <a:off x="6438748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small segments into larger ones in the background.</a:t>
            </a:r>
            <a:endParaRPr lang="en-US" sz="1600" dirty="0"/>
          </a:p>
        </p:txBody>
      </p:sp>
      <p:sp>
        <p:nvSpPr>
          <p:cNvPr id="21" name="a5_card"/>
          <p:cNvSpPr/>
          <p:nvPr/>
        </p:nvSpPr>
        <p:spPr>
          <a:xfrm>
            <a:off x="9040901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a5_bar"/>
          <p:cNvSpPr/>
          <p:nvPr/>
        </p:nvSpPr>
        <p:spPr>
          <a:xfrm>
            <a:off x="9269501" y="1508760"/>
            <a:ext cx="731520" cy="731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a5_num"/>
          <p:cNvSpPr/>
          <p:nvPr/>
        </p:nvSpPr>
        <p:spPr>
          <a:xfrm>
            <a:off x="9269501" y="1783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5_numt"/>
          <p:cNvSpPr txBox="1"/>
          <p:nvPr/>
        </p:nvSpPr>
        <p:spPr>
          <a:xfrm>
            <a:off x="9269501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a5_head"/>
          <p:cNvSpPr txBox="1"/>
          <p:nvPr/>
        </p:nvSpPr>
        <p:spPr>
          <a:xfrm>
            <a:off x="9269501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800" dirty="0"/>
          </a:p>
        </p:txBody>
      </p:sp>
      <p:sp>
        <p:nvSpPr>
          <p:cNvPr id="26" name="a5_body"/>
          <p:cNvSpPr txBox="1"/>
          <p:nvPr/>
        </p:nvSpPr>
        <p:spPr>
          <a:xfrm>
            <a:off x="9269501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removed documents with tombstones and drop them when segments merge.</a:t>
            </a:r>
            <a:endParaRPr lang="en-US" sz="1600" dirty="0"/>
          </a:p>
        </p:txBody>
      </p:sp>
      <p:sp>
        <p:nvSpPr>
          <p:cNvPr id="27" name="a8_co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4DC"/>
          </a:solidFill>
          <a:ln/>
        </p:spPr>
      </p:sp>
      <p:sp>
        <p:nvSpPr>
          <p:cNvPr id="28" name="a8_co_bar"/>
          <p:cNvSpPr/>
          <p:nvPr/>
        </p:nvSpPr>
        <p:spPr>
          <a:xfrm>
            <a:off x="548640" y="5230368"/>
            <a:ext cx="64008" cy="8321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a8_co_t"/>
          <p:cNvSpPr txBox="1"/>
          <p:nvPr/>
        </p:nvSpPr>
        <p:spPr>
          <a:xfrm>
            <a:off x="804672" y="5212080"/>
            <a:ext cx="10682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immutable segments?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editing a written segment avoids locks and makes readers simple and fast. Cost is background merge 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Understanding the query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correction, normalization and handling of abbreviations.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synonyms or related terms to reduce vocabulary mismatch, at the risk of drift.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need (navigate, find facts, shop) and choose filters or result types.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location and session history can disambiguate queries like jaguar speed.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to rank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signals such as BM25, dense similarity, freshness, popularity and quality into a feature vector.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model on judged or click-derived data. Pointwise models score items, pairwise models order pairs, listwise models optimize the list.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learned rather than hand-set, and new signals are easy to add.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inherits bias and noise from its labels, and needs retraining as content drifts.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rankers usually sit in the second stage, where features are cheap to compute for a few thousand candidates.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Operating the system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chip"/>
          <p:cNvSpPr/>
          <p:nvPr/>
        </p:nvSpPr>
        <p:spPr>
          <a:xfrm>
            <a:off x="777240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5" name="a2_chip_t"/>
          <p:cNvSpPr txBox="1"/>
          <p:nvPr/>
        </p:nvSpPr>
        <p:spPr>
          <a:xfrm>
            <a:off x="777240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600" dirty="0"/>
          </a:p>
        </p:txBody>
      </p:sp>
      <p:sp>
        <p:nvSpPr>
          <p:cNvPr id="6" name="a2_items"/>
          <p:cNvSpPr txBox="1"/>
          <p:nvPr/>
        </p:nvSpPr>
        <p:spPr>
          <a:xfrm>
            <a:off x="777240" y="2377440"/>
            <a:ext cx="30580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metrics on fixed judgments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tests for launches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error budgets</a:t>
            </a:r>
            <a:endParaRPr lang="en-US" sz="1650" dirty="0"/>
          </a:p>
        </p:txBody>
      </p:sp>
      <p:sp>
        <p:nvSpPr>
          <p:cNvPr id="7" name="a3_card"/>
          <p:cNvSpPr/>
          <p:nvPr/>
        </p:nvSpPr>
        <p:spPr>
          <a:xfrm>
            <a:off x="4338218" y="1508760"/>
            <a:ext cx="3515258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a3_chip"/>
          <p:cNvSpPr/>
          <p:nvPr/>
        </p:nvSpPr>
        <p:spPr>
          <a:xfrm>
            <a:off x="4566818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9" name="a3_chip_t"/>
          <p:cNvSpPr txBox="1"/>
          <p:nvPr/>
        </p:nvSpPr>
        <p:spPr>
          <a:xfrm>
            <a:off x="4566818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600" dirty="0"/>
          </a:p>
        </p:txBody>
      </p:sp>
      <p:sp>
        <p:nvSpPr>
          <p:cNvPr id="10" name="a3_items"/>
          <p:cNvSpPr txBox="1"/>
          <p:nvPr/>
        </p:nvSpPr>
        <p:spPr>
          <a:xfrm>
            <a:off x="4566818" y="2377440"/>
            <a:ext cx="30580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Zero-result queries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patterns and quality drift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freshness</a:t>
            </a:r>
            <a:endParaRPr lang="en-US" sz="1650" dirty="0"/>
          </a:p>
        </p:txBody>
      </p:sp>
      <p:sp>
        <p:nvSpPr>
          <p:cNvPr id="11" name="a4_card"/>
          <p:cNvSpPr/>
          <p:nvPr/>
        </p:nvSpPr>
        <p:spPr>
          <a:xfrm>
            <a:off x="8127797" y="1508760"/>
            <a:ext cx="3515258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a4_chip"/>
          <p:cNvSpPr/>
          <p:nvPr/>
        </p:nvSpPr>
        <p:spPr>
          <a:xfrm>
            <a:off x="8356397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13" name="a4_chip_t"/>
          <p:cNvSpPr txBox="1"/>
          <p:nvPr/>
        </p:nvSpPr>
        <p:spPr>
          <a:xfrm>
            <a:off x="8356397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responsibly</a:t>
            </a:r>
            <a:endParaRPr lang="en-US" sz="1600" dirty="0"/>
          </a:p>
        </p:txBody>
      </p:sp>
      <p:sp>
        <p:nvSpPr>
          <p:cNvPr id="14" name="a4_items"/>
          <p:cNvSpPr txBox="1"/>
          <p:nvPr/>
        </p:nvSpPr>
        <p:spPr>
          <a:xfrm>
            <a:off x="8356397" y="2377440"/>
            <a:ext cx="30580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bias and fairness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user privacy in logs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ways to report problems</a:t>
            </a:r>
            <a:endParaRPr lang="en-US" sz="1650" dirty="0"/>
          </a:p>
        </p:txBody>
      </p:sp>
      <p:sp>
        <p:nvSpPr>
          <p:cNvPr id="15" name="a7_co"/>
          <p:cNvSpPr/>
          <p:nvPr/>
        </p:nvSpPr>
        <p:spPr>
          <a:xfrm>
            <a:off x="548640" y="4937760"/>
            <a:ext cx="11094415" cy="1325880"/>
          </a:xfrm>
          <a:prstGeom prst="roundRect">
            <a:avLst>
              <a:gd name="adj" fmla="val 6897"/>
            </a:avLst>
          </a:prstGeom>
          <a:solidFill>
            <a:srgbClr val="FFF4DC"/>
          </a:solidFill>
          <a:ln/>
        </p:spPr>
      </p:sp>
      <p:sp>
        <p:nvSpPr>
          <p:cNvPr id="16" name="a7_co_bar"/>
          <p:cNvSpPr/>
          <p:nvPr/>
        </p:nvSpPr>
        <p:spPr>
          <a:xfrm>
            <a:off x="548640" y="5047488"/>
            <a:ext cx="64008" cy="1106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7_co_t"/>
          <p:cNvSpPr txBox="1"/>
          <p:nvPr/>
        </p:nvSpPr>
        <p:spPr>
          <a:xfrm>
            <a:off x="804672" y="5029200"/>
            <a:ext cx="10682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thinking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decays as content and language change. Treat evaluation and monitoring as permanent parts of the system.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a2_dot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4" name="a2_tick"/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a2_pt"/>
          <p:cNvSpPr txBox="1"/>
          <p:nvPr/>
        </p:nvSpPr>
        <p:spPr>
          <a:xfrm>
            <a:off x="1234440" y="14630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cheap, high-recall candidate generation, then progressively stronger rankers on smaller sets.</a:t>
            </a:r>
            <a:endParaRPr lang="en-US" sz="1650" dirty="0"/>
          </a:p>
        </p:txBody>
      </p:sp>
      <p:sp>
        <p:nvSpPr>
          <p:cNvPr id="6" name="a3_dot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a3_tick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a3_pt"/>
          <p:cNvSpPr txBox="1"/>
          <p:nvPr/>
        </p:nvSpPr>
        <p:spPr>
          <a:xfrm>
            <a:off x="1234440" y="235915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for data size, replicate for load, cache for skewed demand, and watch tail latency.</a:t>
            </a:r>
            <a:endParaRPr lang="en-US" sz="1650" dirty="0"/>
          </a:p>
        </p:txBody>
      </p:sp>
      <p:sp>
        <p:nvSpPr>
          <p:cNvPr id="9" name="a4_dot"/>
          <p:cNvSpPr/>
          <p:nvPr/>
        </p:nvSpPr>
        <p:spPr>
          <a:xfrm>
            <a:off x="548640" y="3364992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0" name="a4_tick"/>
          <p:cNvSpPr txBox="1"/>
          <p:nvPr/>
        </p:nvSpPr>
        <p:spPr>
          <a:xfrm>
            <a:off x="54864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a4_pt"/>
          <p:cNvSpPr txBox="1"/>
          <p:nvPr/>
        </p:nvSpPr>
        <p:spPr>
          <a:xfrm>
            <a:off x="1234440" y="325526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vector search trades a little recall for large speed and memory gains.</a:t>
            </a:r>
            <a:endParaRPr lang="en-US" sz="1650" dirty="0"/>
          </a:p>
        </p:txBody>
      </p:sp>
      <p:sp>
        <p:nvSpPr>
          <p:cNvPr id="12" name="a5_dot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a5_tick"/>
          <p:cNvSpPr txBox="1"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a5_pt"/>
          <p:cNvSpPr txBox="1"/>
          <p:nvPr/>
        </p:nvSpPr>
        <p:spPr>
          <a:xfrm>
            <a:off x="1234440" y="4151376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segments, learned ranking and continuous monitoring keep quality high over time.</a:t>
            </a:r>
            <a:endParaRPr lang="en-US" sz="1650" dirty="0"/>
          </a:p>
        </p:txBody>
      </p:sp>
      <p:sp>
        <p:nvSpPr>
          <p:cNvPr id="15" name="a8_next"/>
          <p:cNvSpPr/>
          <p:nvPr/>
        </p:nvSpPr>
        <p:spPr>
          <a:xfrm>
            <a:off x="7955280" y="1463040"/>
            <a:ext cx="3685032" cy="3566160"/>
          </a:xfrm>
          <a:prstGeom prst="roundRect">
            <a:avLst>
              <a:gd name="adj" fmla="val 3590"/>
            </a:avLst>
          </a:prstGeom>
          <a:solidFill>
            <a:srgbClr val="16345C"/>
          </a:solidFill>
          <a:ln/>
        </p:spPr>
      </p:sp>
      <p:sp>
        <p:nvSpPr>
          <p:cNvPr id="16" name="a9_next_t"/>
          <p:cNvSpPr txBox="1"/>
          <p:nvPr/>
        </p:nvSpPr>
        <p:spPr>
          <a:xfrm>
            <a:off x="8229600" y="169164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Module 1 and map each stage of your own system to the three design questions.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yourself</a:t>
            </a:r>
            <a:endParaRPr lang="en-US" sz="2000" dirty="0"/>
          </a:p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problem does replication solve that sharding does not?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Index Blue">
  <a:themeElements>
    <a:clrScheme name="Index Blue">
      <a:dk1>
        <a:srgbClr val="0B1F3A"/>
      </a:dk1>
      <a:lt1>
        <a:srgbClr val="FFFFFF"/>
      </a:lt1>
      <a:dk2>
        <a:srgbClr val="1B4B8A"/>
      </a:dk2>
      <a:lt2>
        <a:srgbClr val="EAF1FB"/>
      </a:lt2>
      <a:accent1>
        <a:srgbClr val="1F7AE0"/>
      </a:accent1>
      <a:accent2>
        <a:srgbClr val="F5A623"/>
      </a:accent2>
      <a:accent3>
        <a:srgbClr val="12B5A6"/>
      </a:accent3>
      <a:accent4>
        <a:srgbClr val="7B5CE0"/>
      </a:accent4>
      <a:accent5>
        <a:srgbClr val="E5484D"/>
      </a:accent5>
      <a:accent6>
        <a:srgbClr val="2FB170"/>
      </a:accent6>
      <a:hlink>
        <a:srgbClr val="1F7AE0"/>
      </a:hlink>
      <a:folHlink>
        <a:srgbClr val="7B5CE0"/>
      </a:folHlink>
    </a:clrScheme>
    <a:fontScheme name="Index Blu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Modeling - Module 7: Practical Implementation</dc:title>
  <dc:subject>PptxGenJS Presentation</dc:subject>
  <dc:creator>Information Retrieval Modeling series</dc:creator>
  <cp:lastModifiedBy>Information Retrieval Modeling series</cp:lastModifiedBy>
  <cp:revision>1</cp:revision>
  <dcterms:created xsi:type="dcterms:W3CDTF">2026-10-09T22:06:54Z</dcterms:created>
  <dcterms:modified xsi:type="dcterms:W3CDTF">2026-10-09T22:06:54Z</dcterms:modified>
</cp:coreProperties>
</file>