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865f9fa-cd2c-4804-44dc-e43ab5ce848d}">
          <p14:sldIdLst>
            <p14:sldId id="256"/>
            <p14:sldId id="257"/>
          </p14:sldIdLst>
        </p14:section>
        <p14:section name="لماذا نحتاجها؟" id="{71a87786-8104-bffd-e8d6-9b6cd019071e}">
          <p14:sldIdLst>
            <p14:sldId id="258"/>
            <p14:sldId id="259"/>
            <p14:sldId id="260"/>
          </p14:sldIdLst>
        </p14:section>
        <p14:section name="ما هي الحوسبة الكمية؟" id="{48503a62-5ab7-93a4-5d77-e0b820bf47f2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التطبيقات والفوائد" id="{5a72ef3f-d428-22e2-5573-823310d036c7}">
          <p14:sldIdLst>
            <p14:sldId id="268"/>
            <p14:sldId id="269"/>
            <p14:sldId id="270"/>
            <p14:sldId id="271"/>
            <p14:sldId id="272"/>
          </p14:sldIdLst>
        </p14:section>
        <p14:section name="الحوسبة الكمية وصناعة العتاد" id="{49a9a77f-e521-fcb8-447c-b54553fdf3b1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عدد الترانزستورات في الرقاقة</c:v>
                </c:pt>
              </c:strCache>
            </c:strRef>
          </c:tx>
          <c:spPr>
            <a:solidFill>
              <a:srgbClr val="A78BFA"/>
            </a:solidFill>
            <a:ln w="38100" cap="flat">
              <a:solidFill>
                <a:srgbClr val="A78BFA"/>
              </a:solidFill>
              <a:prstDash val="solid"/>
              <a:round/>
            </a:ln>
            <a:effectLst/>
          </c:spPr>
          <c:invertIfNegative val="0"/>
          <c:dLbls>
            <c:numFmt formatCode="[&gt;=1000000000]0.0,,,&quot;B&quot;;[&gt;=1000000]0.0,,&quot;M&quot;;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03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0"/>
            <c:spPr>
              <a:solidFill>
                <a:srgbClr val="A78BFA"/>
              </a:solidFill>
              <a:ln w="9525" cap="flat">
                <a:solidFill>
                  <a:srgbClr val="A78BF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1971</c:v>
                  </c:pt>
                  <c:pt idx="1">
                    <c:v>1982</c:v>
                  </c:pt>
                  <c:pt idx="2">
                    <c:v>1993</c:v>
                  </c:pt>
                  <c:pt idx="3">
                    <c:v>2000</c:v>
                  </c:pt>
                  <c:pt idx="4">
                    <c:v>2006</c:v>
                  </c:pt>
                  <c:pt idx="5">
                    <c:v>2012</c:v>
                  </c:pt>
                  <c:pt idx="6">
                    <c:v>2017</c:v>
                  </c:pt>
                  <c:pt idx="7">
                    <c:v>2022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2300</c:v>
                </c:pt>
                <c:pt idx="1">
                  <c:v>134000</c:v>
                </c:pt>
                <c:pt idx="2">
                  <c:v>3100000</c:v>
                </c:pt>
                <c:pt idx="3">
                  <c:v>42000000</c:v>
                </c:pt>
                <c:pt idx="4">
                  <c:v>291000000</c:v>
                </c:pt>
                <c:pt idx="5">
                  <c:v>1400000000</c:v>
                </c:pt>
                <c:pt idx="6">
                  <c:v>19200000000</c:v>
                </c:pt>
                <c:pt idx="7">
                  <c:v>114000000000</c:v>
                </c:pt>
              </c:numCache>
            </c:numRef>
          </c:val>
          <c:smooth val="0"/>
        </c:ser>
        <c:dLbls>
          <c:numFmt formatCode="[&gt;=1000000000]0.0,,,&quot;B&quot;;[&gt;=1000000]0.0,,&quot;M&quot;;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B103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0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00000000"/>
          <c:min val="1000"/>
        </c:scaling>
        <c:delete val="1"/>
        <c:axPos val="l"/>
        <c:majorGridlines>
          <c:spPr>
            <a:ln w="9525" cap="flat">
              <a:solidFill>
                <a:srgbClr val="CBD5F5"/>
              </a:solidFill>
              <a:prstDash val="solid"/>
              <a:round/>
            </a:ln>
          </c:spPr>
        </c:majorGridlines>
        <c:numFmt formatCode="[&gt;=1000000000]0,,,&quot;B&quot;;[&gt;=1000000]0,,&quot;M&quot;;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03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بسؤال: هاتفك يحتوي على نحو 15 إلى 20 مليار ترانزستور. هل يمكن أن تستمر الرقائق في الصغر إلى ما لا نهاية؟ اليوم نتعرّف على فكرة قد تكمّلها.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أجزاء، نحو 40 إلى 45 دقيقة مع الأنشطة.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الأول يعرض المشكلة قبل فكرة الحل.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نبّه إلى المحور اللوغاريتمي: الخط المستقيم يعني مضاعفة ثابتة. إنتل 4004 = 2,300؛ 286 = 134 ألفًا؛ بنتيوم = 3.1 مليون؛ بنتيوم 4 = 42 مليونًا؛ كور 2 ديو = 291 مليونًا؛ آيفي بريدج رباعي النوى = 1.4 مليار؛ AMD EPYC (2017) = 19.2 مليارًا؛ أبل M1 Ultra (2022) = 114 مليارًا.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وضّح أن الرقائق التقليدية لم تمت. فكرة الحوسبة الكمية حلّ بعض المسائل بطريقة مختلفة، لا تسريع كل شيء.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الثاني: الأفكار الأساسية. اجعل التشبيهات بسيطة وكن صريحًا في حدودها.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الكرة هي كرة بلوخ: القطب الشمالي = 0، والقطب الجنوبي = 1، وأي نقطة أخرى = حالة تراكب.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أشيع سوء فهم، فاذكره بصوت مسموع. تشبيه التشابك: عملتان سحريتان تسقطان دائمًا على الوجه نفسه، مع أن كل واحدة وحدها عشوائية.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2^50 = 1.13 × 10^15؛ وبمعدل 16 بايتًا للعدد المركب يعادل ذلك نحو 18 بيتابايت. و2^300 يقارب 2 × 10^90.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لم تفز أي تقنية بعد. لكل منها مقايضات في السرعة والدقة وسهولة التوسّع.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تستخدم الأنظمة الحقيقية مبرّد تخفيف. درجات الحرارة تقريبية وتختلف بين الأجهزة.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أعداد الكيوبتات وإنجازات تصحيح الأخطاء تتغيّر بسرعة. راجع آخر أخبار IBM وGoogle وQuantinuum وغيرها قبل الحصة.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الثالث: أين قد تفيد الحوسبة الكمية، وأين لا تفيد.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اسأل: أيّ هذه المجالات أهم لمصر؟ الأسمدة والمياه والطب والخدمات اللوجستية أمثلة محلية جيدة.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كن متوازنًا: الفوائد حقيقية لكنها خاصة بمسائل معيّنة. خوارزمية غروفر للبحث تعطي تسريعًا بالجذر التربيعي، وخوارزمية شور لتحليل الأعداد تعطي تسريعًا أسّيًا.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نشرت NIST في أغسطس 2024 المعايير FIPS 203 (ML-KEM) وFIPS 204 (ML-DSA) وFIPS 205 (SLH-DSA). تقدّر أبحاث حديثة أن RSA-2048 قد يُكسر بأقل من مليون كيوبت مضطرب؛ وأجهزة اليوم أصغر من ذلك بكثير.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ممتازة للنقاش: اسأل الطلاب أيّ خرافة كانوا يصدّقونها قبل اليوم.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الرابع يجيب عن السؤال: هل الحوسبة الكمية هي الحل لنهاية التصغير؟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صحّح الفرضية بلطف: الحوسبة الكمية لا تنقذ قانون مور للرقائق اليومية، بل تضيف نوعًا جديدًا من المعالجات.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أظهرت إنتل رقائق كيوبتات سيليكونية مصنّعة في مصانعها. وتستخدم رقائق الكيوبتات فائقة التوصيل خطوات تصنيع قريبة من تصنيع أشباه الموصلات.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دائرة حالة بيل. شغّلها على محاكٍ في الحصة (pip install qiskit qiskit-aer) ليرى الطلاب التشابك في النتائج.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انقر لإظهار كل إجابة. أعطِ الطلاب 20 ثانية لكل سؤال أولًا.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أعطِ المجموعات خمس دقائق ثم شاركوا الأفكار.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مقترح للمتابعة: معمل يشغّل فيه الطلاب دائرة حالة بيل ويرسمون النتائج.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93615" y="1828800"/>
            <a:ext cx="67665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4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EG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59375" y="4023360"/>
            <a:ext cx="6400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22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EG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78815" y="2103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44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EG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78815" y="361188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22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EG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34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ar-EG" sz="3400" dirty="0"/>
          </a:p>
        </p:txBody>
      </p:sp>
      <p:sp>
        <p:nvSpPr>
          <p:cNvPr id="3" name="Text 0"/>
          <p:cNvSpPr/>
          <p:nvPr/>
        </p:nvSpPr>
        <p:spPr>
          <a:xfrm>
            <a:off x="6156655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100" dirty="0">
                <a:solidFill>
                  <a:schemeClr val="tx2"/>
                </a:solidFill>
              </a:rPr>
              <a:t>الحوسبة الكمية  |  تكنولوجيا للمرحلة الثانوية</a:t>
            </a:r>
            <a:endParaRPr lang="ar-EG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EG" altLang="en-US" sz="34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EG" sz="3400" dirty="0"/>
          </a:p>
        </p:txBody>
      </p:sp>
      <p:sp>
        <p:nvSpPr>
          <p:cNvPr id="3" name="Text 0"/>
          <p:cNvSpPr/>
          <p:nvPr/>
        </p:nvSpPr>
        <p:spPr>
          <a:xfrm>
            <a:off x="6156655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100" dirty="0">
                <a:solidFill>
                  <a:schemeClr val="bg2"/>
                </a:solidFill>
              </a:rPr>
              <a:t>الحوسبة الكمية  |  تكنولوجيا للمرحلة الثانوية</a:t>
            </a:r>
            <a:endParaRPr lang="ar-EG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4_halo0"/>
          <p:cNvSpPr/>
          <p:nvPr/>
        </p:nvSpPr>
        <p:spPr>
          <a:xfrm>
            <a:off x="-61265" y="914400"/>
            <a:ext cx="5029200" cy="5029200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4" name="a4_halo1"/>
          <p:cNvSpPr/>
          <p:nvPr/>
        </p:nvSpPr>
        <p:spPr>
          <a:xfrm>
            <a:off x="743407" y="1719072"/>
            <a:ext cx="3419856" cy="3419856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2">
                <a:alpha val="55000"/>
              </a:schemeClr>
            </a:solidFill>
            <a:prstDash val="solid"/>
          </a:ln>
        </p:spPr>
      </p:sp>
      <p:sp>
        <p:nvSpPr>
          <p:cNvPr id="5" name="a4_halo2"/>
          <p:cNvSpPr/>
          <p:nvPr/>
        </p:nvSpPr>
        <p:spPr>
          <a:xfrm>
            <a:off x="1497787" y="2473452"/>
            <a:ext cx="1911096" cy="1911096"/>
          </a:xfrm>
          <a:prstGeom prst="ellipse">
            <a:avLst/>
          </a:prstGeom>
          <a:solidFill>
            <a:schemeClr val="accent1">
              <a:alpha val="0"/>
            </a:schemeClr>
          </a:solidFill>
          <a:ln w="19050">
            <a:solidFill>
              <a:schemeClr val="accent1">
                <a:alpha val="55000"/>
              </a:schemeClr>
            </a:solidFill>
            <a:prstDash val="solid"/>
          </a:ln>
        </p:spPr>
      </p:sp>
      <p:sp>
        <p:nvSpPr>
          <p:cNvPr id="6" name="a4_ico_core"/>
          <p:cNvSpPr/>
          <p:nvPr/>
        </p:nvSpPr>
        <p:spPr>
          <a:xfrm>
            <a:off x="2133295" y="31089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a4_ico_e0"/>
          <p:cNvSpPr/>
          <p:nvPr/>
        </p:nvSpPr>
        <p:spPr>
          <a:xfrm>
            <a:off x="63686" y="2040557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a4_ico_e1"/>
          <p:cNvSpPr/>
          <p:nvPr/>
        </p:nvSpPr>
        <p:spPr>
          <a:xfrm>
            <a:off x="3437171" y="4548654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a4_ico_e2"/>
          <p:cNvSpPr/>
          <p:nvPr/>
        </p:nvSpPr>
        <p:spPr>
          <a:xfrm>
            <a:off x="1594476" y="3916565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a1_pill"/>
          <p:cNvSpPr/>
          <p:nvPr/>
        </p:nvSpPr>
        <p:spPr>
          <a:xfrm>
            <a:off x="6339535" y="914400"/>
            <a:ext cx="51206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a1_pill_t"/>
          <p:cNvSpPr txBox="1"/>
          <p:nvPr/>
        </p:nvSpPr>
        <p:spPr>
          <a:xfrm>
            <a:off x="6339535" y="914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التكنولوجيا  ·  المرحلة الثانوية</a:t>
            </a:r>
            <a:endParaRPr lang="ar-EG" sz="13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693615" y="18288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EG" altLang="en-US" sz="4600" b="1" dirty="0">
                <a:solidFill>
                  <a:schemeClr val="bg1"/>
                </a:solidFill>
              </a:rPr>
              <a:t>الحوسبة الكمية</a:t>
            </a:r>
            <a:endParaRPr lang="ar-EG" sz="4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059375" y="4023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200" dirty="0">
                <a:solidFill>
                  <a:schemeClr val="bg2"/>
                </a:solidFill>
              </a:rPr>
              <a:t>طريقة جديدة للحساب، وما تعنيه لرقائق المستقبل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رحلة اليوم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9075191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ico_bg"/>
          <p:cNvSpPr/>
          <p:nvPr/>
        </p:nvSpPr>
        <p:spPr>
          <a:xfrm>
            <a:off x="10454335" y="19659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8879" y="2200504"/>
            <a:ext cx="399593" cy="399593"/>
          </a:xfrm>
          <a:prstGeom prst="rect">
            <a:avLst/>
          </a:prstGeom>
        </p:spPr>
      </p:pic>
      <p:sp>
        <p:nvSpPr>
          <p:cNvPr id="7" name="a1_no"/>
          <p:cNvSpPr txBox="1"/>
          <p:nvPr/>
        </p:nvSpPr>
        <p:spPr>
          <a:xfrm>
            <a:off x="9395231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_head"/>
          <p:cNvSpPr txBox="1"/>
          <p:nvPr/>
        </p:nvSpPr>
        <p:spPr>
          <a:xfrm>
            <a:off x="9395231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نحتاجها؟</a:t>
            </a:r>
            <a:endParaRPr lang="ar-EG" sz="2300" dirty="0"/>
          </a:p>
        </p:txBody>
      </p:sp>
      <p:sp>
        <p:nvSpPr>
          <p:cNvPr id="9" name="a1_body"/>
          <p:cNvSpPr txBox="1"/>
          <p:nvPr/>
        </p:nvSpPr>
        <p:spPr>
          <a:xfrm>
            <a:off x="9395231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حدود تصغير الترانزستورات (قانون مور).</a:t>
            </a:r>
            <a:endParaRPr lang="ar-EG" sz="1600" dirty="0"/>
          </a:p>
        </p:txBody>
      </p:sp>
      <p:sp>
        <p:nvSpPr>
          <p:cNvPr id="10" name="a2_card"/>
          <p:cNvSpPr/>
          <p:nvPr/>
        </p:nvSpPr>
        <p:spPr>
          <a:xfrm>
            <a:off x="6233008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a2_ico_bg"/>
          <p:cNvSpPr/>
          <p:nvPr/>
        </p:nvSpPr>
        <p:spPr>
          <a:xfrm>
            <a:off x="7612151" y="19659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695" y="2200504"/>
            <a:ext cx="399593" cy="399593"/>
          </a:xfrm>
          <a:prstGeom prst="rect">
            <a:avLst/>
          </a:prstGeom>
        </p:spPr>
      </p:pic>
      <p:sp>
        <p:nvSpPr>
          <p:cNvPr id="13" name="a2_no"/>
          <p:cNvSpPr txBox="1"/>
          <p:nvPr/>
        </p:nvSpPr>
        <p:spPr>
          <a:xfrm>
            <a:off x="6553048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a2_head"/>
          <p:cNvSpPr txBox="1"/>
          <p:nvPr/>
        </p:nvSpPr>
        <p:spPr>
          <a:xfrm>
            <a:off x="6553048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هي؟</a:t>
            </a:r>
            <a:endParaRPr lang="ar-EG" sz="2300" dirty="0"/>
          </a:p>
        </p:txBody>
      </p:sp>
      <p:sp>
        <p:nvSpPr>
          <p:cNvPr id="15" name="a2_body"/>
          <p:cNvSpPr txBox="1"/>
          <p:nvPr/>
        </p:nvSpPr>
        <p:spPr>
          <a:xfrm>
            <a:off x="6553048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الكيوبت، والتراكب، والتشابك، والتداخل.</a:t>
            </a:r>
            <a:endParaRPr lang="ar-EG" sz="1600" dirty="0"/>
          </a:p>
        </p:txBody>
      </p:sp>
      <p:sp>
        <p:nvSpPr>
          <p:cNvPr id="16" name="a3_card"/>
          <p:cNvSpPr/>
          <p:nvPr/>
        </p:nvSpPr>
        <p:spPr>
          <a:xfrm>
            <a:off x="3390824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a3_ico_bg"/>
          <p:cNvSpPr/>
          <p:nvPr/>
        </p:nvSpPr>
        <p:spPr>
          <a:xfrm>
            <a:off x="4769968" y="19659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511" y="2200504"/>
            <a:ext cx="399593" cy="399593"/>
          </a:xfrm>
          <a:prstGeom prst="rect">
            <a:avLst/>
          </a:prstGeom>
        </p:spPr>
      </p:pic>
      <p:sp>
        <p:nvSpPr>
          <p:cNvPr id="19" name="a3_no"/>
          <p:cNvSpPr txBox="1"/>
          <p:nvPr/>
        </p:nvSpPr>
        <p:spPr>
          <a:xfrm>
            <a:off x="3710864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a3_head"/>
          <p:cNvSpPr txBox="1"/>
          <p:nvPr/>
        </p:nvSpPr>
        <p:spPr>
          <a:xfrm>
            <a:off x="3710864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الاستخدامات والفوائد</a:t>
            </a:r>
            <a:endParaRPr lang="ar-EG" sz="2300" dirty="0"/>
          </a:p>
        </p:txBody>
      </p:sp>
      <p:sp>
        <p:nvSpPr>
          <p:cNvPr id="21" name="a3_body"/>
          <p:cNvSpPr txBox="1"/>
          <p:nvPr/>
        </p:nvSpPr>
        <p:spPr>
          <a:xfrm>
            <a:off x="3710864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الطب والمواد والأمن والتحسين.</a:t>
            </a:r>
            <a:endParaRPr lang="ar-EG" sz="1600" dirty="0"/>
          </a:p>
        </p:txBody>
      </p:sp>
      <p:sp>
        <p:nvSpPr>
          <p:cNvPr id="22" name="a4_card"/>
          <p:cNvSpPr/>
          <p:nvPr/>
        </p:nvSpPr>
        <p:spPr>
          <a:xfrm>
            <a:off x="548640" y="1645920"/>
            <a:ext cx="2567864" cy="4023360"/>
          </a:xfrm>
          <a:prstGeom prst="roundRect">
            <a:avLst>
              <a:gd name="adj" fmla="val 641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a4_ico_bg"/>
          <p:cNvSpPr/>
          <p:nvPr/>
        </p:nvSpPr>
        <p:spPr>
          <a:xfrm>
            <a:off x="1927784" y="19659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2327" y="2200504"/>
            <a:ext cx="399593" cy="399593"/>
          </a:xfrm>
          <a:prstGeom prst="rect">
            <a:avLst/>
          </a:prstGeom>
        </p:spPr>
      </p:pic>
      <p:sp>
        <p:nvSpPr>
          <p:cNvPr id="25" name="a4_no"/>
          <p:cNvSpPr txBox="1"/>
          <p:nvPr/>
        </p:nvSpPr>
        <p:spPr>
          <a:xfrm>
            <a:off x="86868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4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26" name="a4_head"/>
          <p:cNvSpPr txBox="1"/>
          <p:nvPr/>
        </p:nvSpPr>
        <p:spPr>
          <a:xfrm>
            <a:off x="868680" y="3246120"/>
            <a:ext cx="1927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صناعة العتاد</a:t>
            </a:r>
            <a:endParaRPr lang="ar-EG" sz="2300" dirty="0"/>
          </a:p>
        </p:txBody>
      </p:sp>
      <p:sp>
        <p:nvSpPr>
          <p:cNvPr id="27" name="a4_body"/>
          <p:cNvSpPr txBox="1"/>
          <p:nvPr/>
        </p:nvSpPr>
        <p:spPr>
          <a:xfrm>
            <a:off x="868680" y="4160520"/>
            <a:ext cx="19277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كيف تتكامل مع الرقائق التي نصنعها اليوم.</a:t>
            </a:r>
            <a:endParaRPr lang="ar-EG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8808415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-1158545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8442655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78815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EG" altLang="en-US" sz="4400" b="1" dirty="0">
                <a:solidFill>
                  <a:schemeClr val="bg1"/>
                </a:solidFill>
              </a:rPr>
              <a:t>لماذا نحتاجها؟</a:t>
            </a:r>
            <a:endParaRPr lang="ar-EG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78815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200" dirty="0">
                <a:solidFill>
                  <a:schemeClr val="bg2"/>
                </a:solidFill>
              </a:rPr>
              <a:t>نهاية التصغير السهل للرقائق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ترانزستورات أكثر كل عامين… حتى الآن</a:t>
            </a:r>
            <a:endParaRPr lang="ar-EG" sz="3400" dirty="0"/>
          </a:p>
        </p:txBody>
      </p:sp>
      <p:graphicFrame>
        <p:nvGraphicFramePr>
          <p:cNvPr id="4" name="a1_chart" descr=""/>
          <p:cNvGraphicFramePr/>
          <p:nvPr/>
        </p:nvGraphicFramePr>
        <p:xfrm>
          <a:off x="4602175" y="1463040"/>
          <a:ext cx="7040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2_card"/>
          <p:cNvSpPr/>
          <p:nvPr/>
        </p:nvSpPr>
        <p:spPr>
          <a:xfrm>
            <a:off x="551383" y="1508760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a2_big"/>
          <p:cNvSpPr txBox="1"/>
          <p:nvPr/>
        </p:nvSpPr>
        <p:spPr>
          <a:xfrm>
            <a:off x="761695" y="1581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قانون مور</a:t>
            </a:r>
            <a:endParaRPr lang="ar-EG" sz="1900" dirty="0"/>
          </a:p>
        </p:txBody>
      </p:sp>
      <p:sp>
        <p:nvSpPr>
          <p:cNvPr id="7" name="a2_text"/>
          <p:cNvSpPr txBox="1"/>
          <p:nvPr/>
        </p:nvSpPr>
        <p:spPr>
          <a:xfrm>
            <a:off x="761695" y="21031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عام 1965: يتضاعف عدد الترانزستورات في الرقاقة تقريبًا كل عامين.</a:t>
            </a:r>
            <a:endParaRPr lang="ar-EG" sz="1400" dirty="0"/>
          </a:p>
        </p:txBody>
      </p:sp>
      <p:sp>
        <p:nvSpPr>
          <p:cNvPr id="8" name="a3_card"/>
          <p:cNvSpPr/>
          <p:nvPr/>
        </p:nvSpPr>
        <p:spPr>
          <a:xfrm>
            <a:off x="551383" y="2990088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9" name="a3_big"/>
          <p:cNvSpPr txBox="1"/>
          <p:nvPr/>
        </p:nvSpPr>
        <p:spPr>
          <a:xfrm>
            <a:off x="761695" y="30632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إلى 114 مليار</a:t>
            </a:r>
            <a:endParaRPr lang="ar-EG" sz="1900" dirty="0"/>
          </a:p>
        </p:txBody>
      </p:sp>
      <p:sp>
        <p:nvSpPr>
          <p:cNvPr id="10" name="a3_text"/>
          <p:cNvSpPr txBox="1"/>
          <p:nvPr/>
        </p:nvSpPr>
        <p:spPr>
          <a:xfrm>
            <a:off x="761695" y="358444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 أول معالج دقيق (إنتل 4004، عام 1971) إلى M1 Ultra من أبل (عام 2022).</a:t>
            </a:r>
            <a:endParaRPr lang="ar-EG" sz="1400" dirty="0"/>
          </a:p>
        </p:txBody>
      </p:sp>
      <p:sp>
        <p:nvSpPr>
          <p:cNvPr id="11" name="a4_card"/>
          <p:cNvSpPr/>
          <p:nvPr/>
        </p:nvSpPr>
        <p:spPr>
          <a:xfrm>
            <a:off x="551383" y="4471416"/>
            <a:ext cx="3685032" cy="13716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12" name="a4_big"/>
          <p:cNvSpPr txBox="1"/>
          <p:nvPr/>
        </p:nvSpPr>
        <p:spPr>
          <a:xfrm>
            <a:off x="761695" y="45445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لكن الوتيرة تتباطأ</a:t>
            </a:r>
            <a:endParaRPr lang="ar-EG" sz="1900" dirty="0"/>
          </a:p>
        </p:txBody>
      </p:sp>
      <p:sp>
        <p:nvSpPr>
          <p:cNvPr id="13" name="a4_text"/>
          <p:cNvSpPr txBox="1"/>
          <p:nvPr/>
        </p:nvSpPr>
        <p:spPr>
          <a:xfrm>
            <a:off x="761695" y="506577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تتوقف سرعات المعالجات قرب 3 إلى 5 غيغاهرتز منذ منتصف العقد الأول من الألفية.</a:t>
            </a:r>
            <a:endParaRPr lang="ar-EG" sz="1400" dirty="0"/>
          </a:p>
        </p:txBody>
      </p:sp>
      <p:sp>
        <p:nvSpPr>
          <p:cNvPr id="14" name="a6_source"/>
          <p:cNvSpPr txBox="1"/>
          <p:nvPr/>
        </p:nvSpPr>
        <p:spPr>
          <a:xfrm>
            <a:off x="548640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أرقام عامة تقريبية لمعالجات معروفة. المقياس الرأسي لوغاريتمي: كل خط شبكة يعني ألف ضعف.</a:t>
            </a:r>
            <a:endParaRPr lang="ar-EG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لماذا أصبح التصغير أصعب؟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500055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2254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الذرّة هي الحدّ</a:t>
            </a:r>
            <a:endParaRPr lang="ar-EG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عرض ذرة السيليكون نحو 0.2 نانومتر. وأصغر أجزاء الترانزستور الحديث لا يتجاوز عرضها عشرات الذرات.</a:t>
            </a:r>
            <a:endParaRPr lang="ar-EG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6710477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676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الحرارة</a:t>
            </a:r>
            <a:endParaRPr lang="ar-EG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مليارات المفاتيح في رقاقة بحجم الظفر تولّد حرارة شديدة يصعب إخراجها.</a:t>
            </a:r>
            <a:endParaRPr lang="ar-EG" sz="1600" dirty="0"/>
          </a:p>
        </p:txBody>
      </p:sp>
      <p:sp>
        <p:nvSpPr>
          <p:cNvPr id="14" name="a3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292089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098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التسرّب الكمي</a:t>
            </a:r>
            <a:endParaRPr lang="ar-EG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عند هذا الحجم تستطيع الإلكترونات «النفاذ» عبر حواجز رقيقة، فيتسرّب التيار وتصبح المفاتيح غير موثوقة.</a:t>
            </a:r>
            <a:endParaRPr lang="ar-EG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91440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زال المهندسون يبتكرون حلولًا (التكديس الثلاثي الأبعاد، الرقائق المصغّرة، مواد جديدة). والحوسبة الكمية مسار مختلف: ليست رقاقة أسرع، بل نوعًا آخر من الحواسيب.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8808415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-1158545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8442655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78815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EG" altLang="en-US" sz="4400" b="1" dirty="0">
                <a:solidFill>
                  <a:schemeClr val="bg1"/>
                </a:solidFill>
              </a:rPr>
              <a:t>ما هي الحوسبة الكمية؟</a:t>
            </a:r>
            <a:endParaRPr lang="ar-EG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78815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200" dirty="0">
                <a:solidFill>
                  <a:schemeClr val="bg2"/>
                </a:solidFill>
              </a:rPr>
              <a:t>الحساب بقوانين العالم متناهي الصغر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البت والكيوبت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6202375" y="1508760"/>
            <a:ext cx="5440680" cy="38862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a1_head"/>
          <p:cNvSpPr txBox="1"/>
          <p:nvPr/>
        </p:nvSpPr>
        <p:spPr>
          <a:xfrm>
            <a:off x="6568135" y="16459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البت التقليدي</a:t>
            </a:r>
            <a:endParaRPr lang="ar-EG" sz="2300" dirty="0"/>
          </a:p>
        </p:txBody>
      </p:sp>
      <p:sp>
        <p:nvSpPr>
          <p:cNvPr id="6" name="a1_sw0"/>
          <p:cNvSpPr/>
          <p:nvPr/>
        </p:nvSpPr>
        <p:spPr>
          <a:xfrm>
            <a:off x="9174175" y="2514600"/>
            <a:ext cx="1645920" cy="1005840"/>
          </a:xfrm>
          <a:prstGeom prst="roundRect">
            <a:avLst>
              <a:gd name="adj" fmla="val 12727"/>
            </a:avLst>
          </a:prstGeom>
          <a:solidFill>
            <a:schemeClr val="accent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7" name="a1_swt0"/>
          <p:cNvSpPr txBox="1"/>
          <p:nvPr/>
        </p:nvSpPr>
        <p:spPr>
          <a:xfrm>
            <a:off x="9174175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a1_sw1"/>
          <p:cNvSpPr/>
          <p:nvPr/>
        </p:nvSpPr>
        <p:spPr>
          <a:xfrm>
            <a:off x="7162495" y="2514600"/>
            <a:ext cx="164592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9" name="a1_swt1"/>
          <p:cNvSpPr txBox="1"/>
          <p:nvPr/>
        </p:nvSpPr>
        <p:spPr>
          <a:xfrm>
            <a:off x="7162495" y="25146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10" name="a1_body"/>
          <p:cNvSpPr txBox="1"/>
          <p:nvPr/>
        </p:nvSpPr>
        <p:spPr>
          <a:xfrm>
            <a:off x="6568135" y="4206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قيمته دائمًا 0 أو 1 بالضبط، مثل مفتاح الإضاءة: مطفأ أو مضاء. وكل ملف في هاتفك مليارات من البتات.</a:t>
            </a:r>
            <a:endParaRPr lang="ar-EG" sz="1600" dirty="0"/>
          </a:p>
        </p:txBody>
      </p:sp>
      <p:sp>
        <p:nvSpPr>
          <p:cNvPr id="11" name="a2_card"/>
          <p:cNvSpPr/>
          <p:nvPr/>
        </p:nvSpPr>
        <p:spPr>
          <a:xfrm>
            <a:off x="551383" y="1508760"/>
            <a:ext cx="5440680" cy="388620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2" name="a2_head"/>
          <p:cNvSpPr txBox="1"/>
          <p:nvPr/>
        </p:nvSpPr>
        <p:spPr>
          <a:xfrm>
            <a:off x="917143" y="16459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3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البت الكمي (الكيوبت)</a:t>
            </a:r>
            <a:endParaRPr lang="ar-EG" sz="2300" dirty="0"/>
          </a:p>
        </p:txBody>
      </p:sp>
      <p:sp>
        <p:nvSpPr>
          <p:cNvPr id="13" name="a2_ico_sph"/>
          <p:cNvSpPr/>
          <p:nvPr/>
        </p:nvSpPr>
        <p:spPr>
          <a:xfrm>
            <a:off x="2613355" y="2542032"/>
            <a:ext cx="1316736" cy="1316736"/>
          </a:xfrm>
          <a:prstGeom prst="ellipse">
            <a:avLst/>
          </a:prstGeom>
          <a:solidFill>
            <a:schemeClr val="accent2">
              <a:alpha val="25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a2_eq"/>
          <p:cNvSpPr/>
          <p:nvPr/>
        </p:nvSpPr>
        <p:spPr>
          <a:xfrm>
            <a:off x="2613355" y="2999232"/>
            <a:ext cx="1316736" cy="402336"/>
          </a:xfrm>
          <a:prstGeom prst="ellipse">
            <a:avLst/>
          </a:prstGeom>
          <a:solidFill>
            <a:schemeClr val="accent2">
              <a:alpha val="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sp>
        <p:nvSpPr>
          <p:cNvPr id="15" name="a2_axis"/>
          <p:cNvSpPr/>
          <p:nvPr/>
        </p:nvSpPr>
        <p:spPr>
          <a:xfrm>
            <a:off x="3271723" y="2432304"/>
            <a:ext cx="0" cy="1536192"/>
          </a:xfrm>
          <a:prstGeom prst="line">
            <a:avLst/>
          </a:prstGeom>
          <a:noFill/>
          <a:ln w="15875">
            <a:solidFill>
              <a:schemeClr val="accent1">
                <a:alpha val="70000"/>
              </a:schemeClr>
            </a:solidFill>
            <a:prstDash val="solid"/>
          </a:ln>
        </p:spPr>
      </p:sp>
      <p:sp>
        <p:nvSpPr>
          <p:cNvPr id="16" name="a2_vec"/>
          <p:cNvSpPr/>
          <p:nvPr/>
        </p:nvSpPr>
        <p:spPr>
          <a:xfrm flipV="1">
            <a:off x="2814523" y="2697480"/>
            <a:ext cx="457200" cy="50292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7" name="a2_l0"/>
          <p:cNvSpPr txBox="1"/>
          <p:nvPr/>
        </p:nvSpPr>
        <p:spPr>
          <a:xfrm>
            <a:off x="2521915" y="21579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|0⟩</a:t>
            </a:r>
            <a:endParaRPr lang="en-US" sz="1500" dirty="0"/>
          </a:p>
        </p:txBody>
      </p:sp>
      <p:sp>
        <p:nvSpPr>
          <p:cNvPr id="18" name="a2_l1"/>
          <p:cNvSpPr txBox="1"/>
          <p:nvPr/>
        </p:nvSpPr>
        <p:spPr>
          <a:xfrm>
            <a:off x="2521915" y="39684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|1⟩</a:t>
            </a:r>
            <a:endParaRPr lang="en-US" sz="1500" dirty="0"/>
          </a:p>
        </p:txBody>
      </p:sp>
      <p:sp>
        <p:nvSpPr>
          <p:cNvPr id="19" name="a2_body"/>
          <p:cNvSpPr txBox="1"/>
          <p:nvPr/>
        </p:nvSpPr>
        <p:spPr>
          <a:xfrm>
            <a:off x="917143" y="420624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يمكن أن يكون 0 أو 1 أو مزيجًا منهما (التراكب). وعند قياسه نحصل على 0 أو 1، باحتمالات يحدّدها المزيج.</a:t>
            </a:r>
            <a:endParaRPr lang="ar-EG" sz="1600" dirty="0"/>
          </a:p>
        </p:txBody>
      </p:sp>
      <p:sp>
        <p:nvSpPr>
          <p:cNvPr id="20" name="a3_note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21333"/>
            </a:avLst>
          </a:prstGeom>
          <a:solidFill>
            <a:schemeClr val="accent4"/>
          </a:solidFill>
          <a:ln/>
        </p:spPr>
      </p:sp>
      <p:sp>
        <p:nvSpPr>
          <p:cNvPr id="21" name="a3_note_t"/>
          <p:cNvSpPr txBox="1"/>
          <p:nvPr/>
        </p:nvSpPr>
        <p:spPr>
          <a:xfrm>
            <a:off x="914400" y="55321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تخيّل عملة تدور: وهي تدور لا تكون «صورة» ولا «كتابة»، وعندما تسقط نرى وجهًا واحدًا.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ثلاث أفكار كمية تقوم عليها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500055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2254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التراكب</a:t>
            </a:r>
            <a:endParaRPr lang="ar-EG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يحمل الكيوبت مزيجًا من 0 و1 إلى أن نقيسه.</a:t>
            </a:r>
            <a:endParaRPr lang="ar-EG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6710477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676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التشابك</a:t>
            </a:r>
            <a:endParaRPr lang="ar-EG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يمكن ربط كيوبتين بحيث ترتبط نتيجتاهما مهما بعدا. ولا تنتقل أي رسالة أسرع من الضوء.</a:t>
            </a:r>
            <a:endParaRPr lang="ar-EG" sz="1600" dirty="0"/>
          </a:p>
        </p:txBody>
      </p:sp>
      <p:sp>
        <p:nvSpPr>
          <p:cNvPr id="14" name="a3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292089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098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التداخل</a:t>
            </a:r>
            <a:endParaRPr lang="ar-EG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ترتّب الخوارزميات «الموجات» بحيث تُلغي الإجابات الخاطئة بعضها وتقوى الإجابة الصحيحة.</a:t>
            </a:r>
            <a:endParaRPr lang="ar-EG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91440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مهم: الحاسوب الكمي لا يجرّب كل الإجابات دفعة واحدة. المهارة في استخدام التداخل لجعل الإجابة الصحيحة هي الأرجح.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bg1"/>
                </a:solidFill>
              </a:rPr>
              <a:t>لماذا تعطي الكيوبتات الكثيرة قوة كبيرة؟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27797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q"/>
          <p:cNvSpPr txBox="1"/>
          <p:nvPr/>
        </p:nvSpPr>
        <p:spPr>
          <a:xfrm>
            <a:off x="8402117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كيوبتات</a:t>
            </a:r>
            <a:endParaRPr lang="ar-EG" sz="2000" dirty="0"/>
          </a:p>
        </p:txBody>
      </p:sp>
      <p:sp>
        <p:nvSpPr>
          <p:cNvPr id="6" name="a1_big"/>
          <p:cNvSpPr txBox="1"/>
          <p:nvPr/>
        </p:nvSpPr>
        <p:spPr>
          <a:xfrm>
            <a:off x="8402117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</a:t>
            </a:r>
            <a:endParaRPr lang="ar-EG" sz="4000" dirty="0"/>
          </a:p>
        </p:txBody>
      </p:sp>
      <p:sp>
        <p:nvSpPr>
          <p:cNvPr id="7" name="a1_text"/>
          <p:cNvSpPr txBox="1"/>
          <p:nvPr/>
        </p:nvSpPr>
        <p:spPr>
          <a:xfrm>
            <a:off x="8402117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حالة تُوصف في وقت واحد (2¹⁰).</a:t>
            </a:r>
            <a:endParaRPr lang="ar-EG" sz="1600" dirty="0"/>
          </a:p>
        </p:txBody>
      </p:sp>
      <p:sp>
        <p:nvSpPr>
          <p:cNvPr id="8" name="a2_card"/>
          <p:cNvSpPr/>
          <p:nvPr/>
        </p:nvSpPr>
        <p:spPr>
          <a:xfrm>
            <a:off x="4338218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a2_q"/>
          <p:cNvSpPr txBox="1"/>
          <p:nvPr/>
        </p:nvSpPr>
        <p:spPr>
          <a:xfrm>
            <a:off x="4612538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كيوبتًا</a:t>
            </a:r>
            <a:endParaRPr lang="ar-EG" sz="2000" dirty="0"/>
          </a:p>
        </p:txBody>
      </p:sp>
      <p:sp>
        <p:nvSpPr>
          <p:cNvPr id="10" name="a2_big"/>
          <p:cNvSpPr txBox="1"/>
          <p:nvPr/>
        </p:nvSpPr>
        <p:spPr>
          <a:xfrm>
            <a:off x="4612538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10</a:t>
            </a:r>
            <a:pPr algn="r" indent="0" marL="0">
              <a:buNone/>
            </a:pPr>
            <a:r>
              <a:rPr lang="ar-EG" altLang="en-US" sz="4000" b="1" baseline="30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ar-EG" sz="4000" dirty="0"/>
          </a:p>
        </p:txBody>
      </p:sp>
      <p:sp>
        <p:nvSpPr>
          <p:cNvPr id="11" name="a2_text"/>
          <p:cNvSpPr txBox="1"/>
          <p:nvPr/>
        </p:nvSpPr>
        <p:spPr>
          <a:xfrm>
            <a:off x="4612538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حالة. ومحاكاتها على حاسوب عادي تحتاج نحو 18 بيتابايت من الذاكرة.</a:t>
            </a:r>
            <a:endParaRPr lang="ar-EG" sz="1600" dirty="0"/>
          </a:p>
        </p:txBody>
      </p:sp>
      <p:sp>
        <p:nvSpPr>
          <p:cNvPr id="12" name="a3_card"/>
          <p:cNvSpPr/>
          <p:nvPr/>
        </p:nvSpPr>
        <p:spPr>
          <a:xfrm>
            <a:off x="548640" y="1600200"/>
            <a:ext cx="3515258" cy="3291840"/>
          </a:xfrm>
          <a:prstGeom prst="roundRect">
            <a:avLst>
              <a:gd name="adj" fmla="val 555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a3_q"/>
          <p:cNvSpPr txBox="1"/>
          <p:nvPr/>
        </p:nvSpPr>
        <p:spPr>
          <a:xfrm>
            <a:off x="822960" y="1783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كيوبت</a:t>
            </a:r>
            <a:endParaRPr lang="ar-EG" sz="2000" dirty="0"/>
          </a:p>
        </p:txBody>
      </p:sp>
      <p:sp>
        <p:nvSpPr>
          <p:cNvPr id="14" name="a3_big"/>
          <p:cNvSpPr txBox="1"/>
          <p:nvPr/>
        </p:nvSpPr>
        <p:spPr>
          <a:xfrm>
            <a:off x="822960" y="237744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4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</a:t>
            </a:r>
            <a:pPr algn="r" indent="0" marL="0">
              <a:buNone/>
            </a:pPr>
            <a:r>
              <a:rPr lang="ar-EG" altLang="en-US" sz="4000" b="1" baseline="300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ar-EG" sz="4000" dirty="0"/>
          </a:p>
        </p:txBody>
      </p:sp>
      <p:sp>
        <p:nvSpPr>
          <p:cNvPr id="15" name="a3_text"/>
          <p:cNvSpPr txBox="1"/>
          <p:nvPr/>
        </p:nvSpPr>
        <p:spPr>
          <a:xfrm>
            <a:off x="822960" y="370332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حالة: أكثر من عدد الذرات في الكون المرصود (نحو 10⁸⁰).</a:t>
            </a:r>
            <a:endParaRPr lang="ar-EG" sz="1600" dirty="0"/>
          </a:p>
        </p:txBody>
      </p:sp>
      <p:sp>
        <p:nvSpPr>
          <p:cNvPr id="16" name="a4_note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15238"/>
            </a:avLst>
          </a:prstGeom>
          <a:solidFill>
            <a:schemeClr val="accent4"/>
          </a:solidFill>
          <a:ln/>
        </p:spPr>
      </p:sp>
      <p:sp>
        <p:nvSpPr>
          <p:cNvPr id="17" name="a4_note_t"/>
          <p:cNvSpPr txBox="1"/>
          <p:nvPr/>
        </p:nvSpPr>
        <p:spPr>
          <a:xfrm>
            <a:off x="914400" y="51663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كيوبت تصف 2ᴺ حالة. لكن زيادة الحالات لا تعني تسريع كل مسألة، بل المسائل ذات البنية المناسبة فقط.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كيف نصنع كيوبتًا؟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15605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774375" y="17099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7197" y="1882750"/>
            <a:ext cx="294437" cy="294437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298485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دوائر فائقة التوصيل</a:t>
            </a:r>
            <a:endParaRPr lang="ar-EG" sz="1700" dirty="0"/>
          </a:p>
        </p:txBody>
      </p:sp>
      <p:sp>
        <p:nvSpPr>
          <p:cNvPr id="8" name="a1_body"/>
          <p:cNvSpPr txBox="1"/>
          <p:nvPr/>
        </p:nvSpPr>
        <p:spPr>
          <a:xfrm>
            <a:off x="8344205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دوائر صغيرة تُبرَّد قرب الصفر المطلق. تستخدمها IBM وGoogle.</a:t>
            </a:r>
            <a:endParaRPr lang="ar-EG" sz="1400" dirty="0"/>
          </a:p>
        </p:txBody>
      </p:sp>
      <p:sp>
        <p:nvSpPr>
          <p:cNvPr id="9" name="a1_tag"/>
          <p:cNvSpPr/>
          <p:nvPr/>
        </p:nvSpPr>
        <p:spPr>
          <a:xfrm>
            <a:off x="8945575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a1_tag_t"/>
          <p:cNvSpPr txBox="1"/>
          <p:nvPr/>
        </p:nvSpPr>
        <p:spPr>
          <a:xfrm>
            <a:off x="8945575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انتشارًا</a:t>
            </a:r>
            <a:endParaRPr lang="ar-EG" sz="1200" dirty="0"/>
          </a:p>
        </p:txBody>
      </p:sp>
      <p:sp>
        <p:nvSpPr>
          <p:cNvPr id="11" name="a2_card"/>
          <p:cNvSpPr/>
          <p:nvPr/>
        </p:nvSpPr>
        <p:spPr>
          <a:xfrm>
            <a:off x="4332122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a2_ico_bg"/>
          <p:cNvSpPr/>
          <p:nvPr/>
        </p:nvSpPr>
        <p:spPr>
          <a:xfrm>
            <a:off x="6990893" y="17099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714" y="1882750"/>
            <a:ext cx="294437" cy="294437"/>
          </a:xfrm>
          <a:prstGeom prst="rect">
            <a:avLst/>
          </a:prstGeom>
        </p:spPr>
      </p:pic>
      <p:sp>
        <p:nvSpPr>
          <p:cNvPr id="14" name="a2_head"/>
          <p:cNvSpPr txBox="1"/>
          <p:nvPr/>
        </p:nvSpPr>
        <p:spPr>
          <a:xfrm>
            <a:off x="4515002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أيونات محتجزة</a:t>
            </a:r>
            <a:endParaRPr lang="ar-EG" sz="1700" dirty="0"/>
          </a:p>
        </p:txBody>
      </p:sp>
      <p:sp>
        <p:nvSpPr>
          <p:cNvPr id="15" name="a2_body"/>
          <p:cNvSpPr txBox="1"/>
          <p:nvPr/>
        </p:nvSpPr>
        <p:spPr>
          <a:xfrm>
            <a:off x="4560722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ذرات مشحونة تحتجزها مجالات كهربائية ويتحكم بها الليزر. IonQ وQuantinuum.</a:t>
            </a:r>
            <a:endParaRPr lang="ar-EG" sz="1400" dirty="0"/>
          </a:p>
        </p:txBody>
      </p:sp>
      <p:sp>
        <p:nvSpPr>
          <p:cNvPr id="16" name="a2_tag"/>
          <p:cNvSpPr/>
          <p:nvPr/>
        </p:nvSpPr>
        <p:spPr>
          <a:xfrm>
            <a:off x="5162093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a2_tag_t"/>
          <p:cNvSpPr txBox="1"/>
          <p:nvPr/>
        </p:nvSpPr>
        <p:spPr>
          <a:xfrm>
            <a:off x="5162093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دقة عالية</a:t>
            </a:r>
            <a:endParaRPr lang="ar-EG" sz="1200" dirty="0"/>
          </a:p>
        </p:txBody>
      </p:sp>
      <p:sp>
        <p:nvSpPr>
          <p:cNvPr id="18" name="a3_card"/>
          <p:cNvSpPr/>
          <p:nvPr/>
        </p:nvSpPr>
        <p:spPr>
          <a:xfrm>
            <a:off x="548640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a3_ico_bg"/>
          <p:cNvSpPr/>
          <p:nvPr/>
        </p:nvSpPr>
        <p:spPr>
          <a:xfrm>
            <a:off x="3207410" y="1709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0232" y="1882750"/>
            <a:ext cx="294437" cy="294437"/>
          </a:xfrm>
          <a:prstGeom prst="rect">
            <a:avLst/>
          </a:prstGeom>
        </p:spPr>
      </p:pic>
      <p:sp>
        <p:nvSpPr>
          <p:cNvPr id="21" name="a3_head"/>
          <p:cNvSpPr txBox="1"/>
          <p:nvPr/>
        </p:nvSpPr>
        <p:spPr>
          <a:xfrm>
            <a:off x="731520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فوتونات</a:t>
            </a:r>
            <a:endParaRPr lang="ar-EG" sz="1700" dirty="0"/>
          </a:p>
        </p:txBody>
      </p:sp>
      <p:sp>
        <p:nvSpPr>
          <p:cNvPr id="22" name="a3_body"/>
          <p:cNvSpPr txBox="1"/>
          <p:nvPr/>
        </p:nvSpPr>
        <p:spPr>
          <a:xfrm>
            <a:off x="777240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جسيمات الضوء تُوجَّه عبر رقائق. PsiQuantum وXanadu.</a:t>
            </a:r>
            <a:endParaRPr lang="ar-EG" sz="1400" dirty="0"/>
          </a:p>
        </p:txBody>
      </p:sp>
      <p:sp>
        <p:nvSpPr>
          <p:cNvPr id="23" name="a3_tag"/>
          <p:cNvSpPr/>
          <p:nvPr/>
        </p:nvSpPr>
        <p:spPr>
          <a:xfrm>
            <a:off x="1378610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a3_tag_t"/>
          <p:cNvSpPr txBox="1"/>
          <p:nvPr/>
        </p:nvSpPr>
        <p:spPr>
          <a:xfrm>
            <a:off x="1378610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تعمل في حرارة الغرفة</a:t>
            </a:r>
            <a:endParaRPr lang="ar-EG" sz="1200" dirty="0"/>
          </a:p>
        </p:txBody>
      </p:sp>
      <p:sp>
        <p:nvSpPr>
          <p:cNvPr id="25" name="a4_card"/>
          <p:cNvSpPr/>
          <p:nvPr/>
        </p:nvSpPr>
        <p:spPr>
          <a:xfrm>
            <a:off x="8115605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6" name="a4_ico_bg"/>
          <p:cNvSpPr/>
          <p:nvPr/>
        </p:nvSpPr>
        <p:spPr>
          <a:xfrm>
            <a:off x="10774375" y="408736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7197" y="4260190"/>
            <a:ext cx="294437" cy="294437"/>
          </a:xfrm>
          <a:prstGeom prst="rect">
            <a:avLst/>
          </a:prstGeom>
        </p:spPr>
      </p:pic>
      <p:sp>
        <p:nvSpPr>
          <p:cNvPr id="28" name="a4_head"/>
          <p:cNvSpPr txBox="1"/>
          <p:nvPr/>
        </p:nvSpPr>
        <p:spPr>
          <a:xfrm>
            <a:off x="8298485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ذرات متعادلة</a:t>
            </a:r>
            <a:endParaRPr lang="ar-EG" sz="1700" dirty="0"/>
          </a:p>
        </p:txBody>
      </p:sp>
      <p:sp>
        <p:nvSpPr>
          <p:cNvPr id="29" name="a4_body"/>
          <p:cNvSpPr txBox="1"/>
          <p:nvPr/>
        </p:nvSpPr>
        <p:spPr>
          <a:xfrm>
            <a:off x="8344205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ذرات تُمسك في مصفوفات بملاقط ليزرية. QuEra وPasqal.</a:t>
            </a:r>
            <a:endParaRPr lang="ar-EG" sz="1400" dirty="0"/>
          </a:p>
        </p:txBody>
      </p:sp>
      <p:sp>
        <p:nvSpPr>
          <p:cNvPr id="30" name="a4_tag"/>
          <p:cNvSpPr/>
          <p:nvPr/>
        </p:nvSpPr>
        <p:spPr>
          <a:xfrm>
            <a:off x="8945575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a4_tag_t"/>
          <p:cNvSpPr txBox="1"/>
          <p:nvPr/>
        </p:nvSpPr>
        <p:spPr>
          <a:xfrm>
            <a:off x="8945575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قابلة للتوسّع</a:t>
            </a:r>
            <a:endParaRPr lang="ar-EG" sz="1200" dirty="0"/>
          </a:p>
        </p:txBody>
      </p:sp>
      <p:sp>
        <p:nvSpPr>
          <p:cNvPr id="32" name="a5_card"/>
          <p:cNvSpPr/>
          <p:nvPr/>
        </p:nvSpPr>
        <p:spPr>
          <a:xfrm>
            <a:off x="4332122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3" name="a5_ico_bg"/>
          <p:cNvSpPr/>
          <p:nvPr/>
        </p:nvSpPr>
        <p:spPr>
          <a:xfrm>
            <a:off x="6990893" y="4087368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4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714" y="4260190"/>
            <a:ext cx="294437" cy="294437"/>
          </a:xfrm>
          <a:prstGeom prst="rect">
            <a:avLst/>
          </a:prstGeom>
        </p:spPr>
      </p:pic>
      <p:sp>
        <p:nvSpPr>
          <p:cNvPr id="35" name="a5_head"/>
          <p:cNvSpPr txBox="1"/>
          <p:nvPr/>
        </p:nvSpPr>
        <p:spPr>
          <a:xfrm>
            <a:off x="4515002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سبين الإلكترونات في السيليكون</a:t>
            </a:r>
            <a:endParaRPr lang="ar-EG" sz="1700" dirty="0"/>
          </a:p>
        </p:txBody>
      </p:sp>
      <p:sp>
        <p:nvSpPr>
          <p:cNvPr id="36" name="a5_body"/>
          <p:cNvSpPr txBox="1"/>
          <p:nvPr/>
        </p:nvSpPr>
        <p:spPr>
          <a:xfrm>
            <a:off x="4560722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سبين إلكترونات منفردة في أجهزة تشبه الترانزستور. إنتل وغيرها.</a:t>
            </a:r>
            <a:endParaRPr lang="ar-EG" sz="1400" dirty="0"/>
          </a:p>
        </p:txBody>
      </p:sp>
      <p:sp>
        <p:nvSpPr>
          <p:cNvPr id="37" name="a5_tag"/>
          <p:cNvSpPr/>
          <p:nvPr/>
        </p:nvSpPr>
        <p:spPr>
          <a:xfrm>
            <a:off x="5162093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8" name="a5_tag_t"/>
          <p:cNvSpPr txBox="1"/>
          <p:nvPr/>
        </p:nvSpPr>
        <p:spPr>
          <a:xfrm>
            <a:off x="5162093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تستفيد من مصانع الرقائق</a:t>
            </a:r>
            <a:endParaRPr lang="ar-EG" sz="1200" dirty="0"/>
          </a:p>
        </p:txBody>
      </p:sp>
      <p:sp>
        <p:nvSpPr>
          <p:cNvPr id="39" name="a6_card"/>
          <p:cNvSpPr/>
          <p:nvPr/>
        </p:nvSpPr>
        <p:spPr>
          <a:xfrm>
            <a:off x="548640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a6_ico_bg"/>
          <p:cNvSpPr/>
          <p:nvPr/>
        </p:nvSpPr>
        <p:spPr>
          <a:xfrm>
            <a:off x="3207410" y="4087368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a6_ico_im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0232" y="4260190"/>
            <a:ext cx="294437" cy="294437"/>
          </a:xfrm>
          <a:prstGeom prst="rect">
            <a:avLst/>
          </a:prstGeom>
        </p:spPr>
      </p:pic>
      <p:sp>
        <p:nvSpPr>
          <p:cNvPr id="42" name="a6_head"/>
          <p:cNvSpPr txBox="1"/>
          <p:nvPr/>
        </p:nvSpPr>
        <p:spPr>
          <a:xfrm>
            <a:off x="731520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طوبولوجية</a:t>
            </a:r>
            <a:endParaRPr lang="ar-EG" sz="1700" dirty="0"/>
          </a:p>
        </p:txBody>
      </p:sp>
      <p:sp>
        <p:nvSpPr>
          <p:cNvPr id="43" name="a6_body"/>
          <p:cNvSpPr txBox="1"/>
          <p:nvPr/>
        </p:nvSpPr>
        <p:spPr>
          <a:xfrm>
            <a:off x="777240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كيوبت مقترح أكثر ثباتًا. ما زال قيد الإثبات والنقاش.</a:t>
            </a:r>
            <a:endParaRPr lang="ar-EG" sz="1400" dirty="0"/>
          </a:p>
        </p:txBody>
      </p:sp>
      <p:sp>
        <p:nvSpPr>
          <p:cNvPr id="44" name="a6_tag"/>
          <p:cNvSpPr/>
          <p:nvPr/>
        </p:nvSpPr>
        <p:spPr>
          <a:xfrm>
            <a:off x="1378610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5" name="a6_tag_t"/>
          <p:cNvSpPr txBox="1"/>
          <p:nvPr/>
        </p:nvSpPr>
        <p:spPr>
          <a:xfrm>
            <a:off x="1378610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بحثي</a:t>
            </a:r>
            <a:endParaRPr lang="ar-EG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داخل حاسوب كمي فائق التوصيل</a:t>
            </a:r>
            <a:endParaRPr lang="ar-EG" sz="3400" dirty="0"/>
          </a:p>
        </p:txBody>
      </p:sp>
      <p:sp>
        <p:nvSpPr>
          <p:cNvPr id="4" name="a1_layer"/>
          <p:cNvSpPr/>
          <p:nvPr/>
        </p:nvSpPr>
        <p:spPr>
          <a:xfrm>
            <a:off x="5608015" y="1554480"/>
            <a:ext cx="6035040" cy="804672"/>
          </a:xfrm>
          <a:prstGeom prst="roundRect">
            <a:avLst>
              <a:gd name="adj" fmla="val 11364"/>
            </a:avLst>
          </a:prstGeom>
          <a:solidFill>
            <a:schemeClr val="bg2"/>
          </a:solidFill>
          <a:ln/>
        </p:spPr>
      </p:sp>
      <p:sp>
        <p:nvSpPr>
          <p:cNvPr id="5" name="a1_temp"/>
          <p:cNvSpPr txBox="1"/>
          <p:nvPr/>
        </p:nvSpPr>
        <p:spPr>
          <a:xfrm>
            <a:off x="5836615" y="162763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 °C</a:t>
            </a:r>
            <a:endParaRPr lang="en-US" sz="1600" dirty="0"/>
          </a:p>
        </p:txBody>
      </p:sp>
      <p:sp>
        <p:nvSpPr>
          <p:cNvPr id="6" name="a1_name"/>
          <p:cNvSpPr txBox="1"/>
          <p:nvPr/>
        </p:nvSpPr>
        <p:spPr>
          <a:xfrm>
            <a:off x="5836615" y="197510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حرارة الغرفة: حواسيب التحكم والإلكترونيات</a:t>
            </a:r>
            <a:endParaRPr lang="ar-EG" sz="1400" dirty="0"/>
          </a:p>
        </p:txBody>
      </p:sp>
      <p:sp>
        <p:nvSpPr>
          <p:cNvPr id="7" name="a2_layer"/>
          <p:cNvSpPr/>
          <p:nvPr/>
        </p:nvSpPr>
        <p:spPr>
          <a:xfrm>
            <a:off x="5882335" y="2450592"/>
            <a:ext cx="548640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52000"/>
            </a:schemeClr>
          </a:solidFill>
          <a:ln/>
        </p:spPr>
      </p:sp>
      <p:sp>
        <p:nvSpPr>
          <p:cNvPr id="8" name="a2_temp"/>
          <p:cNvSpPr txBox="1"/>
          <p:nvPr/>
        </p:nvSpPr>
        <p:spPr>
          <a:xfrm>
            <a:off x="6110935" y="25237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−223 °C (50 K)</a:t>
            </a:r>
            <a:endParaRPr lang="en-US" sz="1600" dirty="0"/>
          </a:p>
        </p:txBody>
      </p:sp>
      <p:sp>
        <p:nvSpPr>
          <p:cNvPr id="9" name="a2_name"/>
          <p:cNvSpPr txBox="1"/>
          <p:nvPr/>
        </p:nvSpPr>
        <p:spPr>
          <a:xfrm>
            <a:off x="6110935" y="287121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الأولى من التبريد</a:t>
            </a:r>
            <a:endParaRPr lang="ar-EG" sz="1400" dirty="0"/>
          </a:p>
        </p:txBody>
      </p:sp>
      <p:sp>
        <p:nvSpPr>
          <p:cNvPr id="10" name="a3_layer"/>
          <p:cNvSpPr/>
          <p:nvPr/>
        </p:nvSpPr>
        <p:spPr>
          <a:xfrm>
            <a:off x="6156655" y="3346704"/>
            <a:ext cx="493776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65000"/>
            </a:schemeClr>
          </a:solidFill>
          <a:ln/>
        </p:spPr>
      </p:sp>
      <p:sp>
        <p:nvSpPr>
          <p:cNvPr id="11" name="a3_temp"/>
          <p:cNvSpPr txBox="1"/>
          <p:nvPr/>
        </p:nvSpPr>
        <p:spPr>
          <a:xfrm>
            <a:off x="6385255" y="341985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−269 °C (4 K)</a:t>
            </a:r>
            <a:endParaRPr lang="en-US" sz="1600" dirty="0"/>
          </a:p>
        </p:txBody>
      </p:sp>
      <p:sp>
        <p:nvSpPr>
          <p:cNvPr id="12" name="a3_name"/>
          <p:cNvSpPr txBox="1"/>
          <p:nvPr/>
        </p:nvSpPr>
        <p:spPr>
          <a:xfrm>
            <a:off x="6385255" y="37673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المضخّمات والأسلاك</a:t>
            </a:r>
            <a:endParaRPr lang="ar-EG" sz="1400" dirty="0"/>
          </a:p>
        </p:txBody>
      </p:sp>
      <p:sp>
        <p:nvSpPr>
          <p:cNvPr id="13" name="a4_layer"/>
          <p:cNvSpPr/>
          <p:nvPr/>
        </p:nvSpPr>
        <p:spPr>
          <a:xfrm>
            <a:off x="6430975" y="4242816"/>
            <a:ext cx="4389120" cy="804672"/>
          </a:xfrm>
          <a:prstGeom prst="roundRect">
            <a:avLst>
              <a:gd name="adj" fmla="val 11364"/>
            </a:avLst>
          </a:prstGeom>
          <a:solidFill>
            <a:schemeClr val="tx2">
              <a:alpha val="77000"/>
            </a:schemeClr>
          </a:solidFill>
          <a:ln/>
        </p:spPr>
      </p:sp>
      <p:sp>
        <p:nvSpPr>
          <p:cNvPr id="14" name="a4_temp"/>
          <p:cNvSpPr txBox="1"/>
          <p:nvPr/>
        </p:nvSpPr>
        <p:spPr>
          <a:xfrm>
            <a:off x="6659575" y="43159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−273.05 °C (0.1 K)</a:t>
            </a:r>
            <a:endParaRPr lang="en-US" sz="1600" dirty="0"/>
          </a:p>
        </p:txBody>
      </p:sp>
      <p:sp>
        <p:nvSpPr>
          <p:cNvPr id="15" name="a4_name"/>
          <p:cNvSpPr txBox="1"/>
          <p:nvPr/>
        </p:nvSpPr>
        <p:spPr>
          <a:xfrm>
            <a:off x="6659575" y="46634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اللوح البارد</a:t>
            </a:r>
            <a:endParaRPr lang="ar-EG" sz="1400" dirty="0"/>
          </a:p>
        </p:txBody>
      </p:sp>
      <p:sp>
        <p:nvSpPr>
          <p:cNvPr id="16" name="a5_layer"/>
          <p:cNvSpPr/>
          <p:nvPr/>
        </p:nvSpPr>
        <p:spPr>
          <a:xfrm>
            <a:off x="6705295" y="5138928"/>
            <a:ext cx="3840480" cy="804672"/>
          </a:xfrm>
          <a:prstGeom prst="roundRect">
            <a:avLst>
              <a:gd name="adj" fmla="val 11364"/>
            </a:avLst>
          </a:prstGeom>
          <a:solidFill>
            <a:schemeClr val="accent1"/>
          </a:solidFill>
          <a:ln/>
        </p:spPr>
      </p:sp>
      <p:sp>
        <p:nvSpPr>
          <p:cNvPr id="17" name="a5_temp"/>
          <p:cNvSpPr txBox="1"/>
          <p:nvPr/>
        </p:nvSpPr>
        <p:spPr>
          <a:xfrm>
            <a:off x="6933895" y="5212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−273.14 °C (15 mK)</a:t>
            </a:r>
            <a:endParaRPr lang="en-US" sz="1600" dirty="0"/>
          </a:p>
        </p:txBody>
      </p:sp>
      <p:sp>
        <p:nvSpPr>
          <p:cNvPr id="18" name="a5_name"/>
          <p:cNvSpPr txBox="1"/>
          <p:nvPr/>
        </p:nvSpPr>
        <p:spPr>
          <a:xfrm>
            <a:off x="6933895" y="555955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الرقاقة الكمية (الكيوبتات)</a:t>
            </a:r>
            <a:endParaRPr lang="ar-EG" sz="1400" dirty="0"/>
          </a:p>
        </p:txBody>
      </p:sp>
      <p:sp>
        <p:nvSpPr>
          <p:cNvPr id="19" name="a6_pc"/>
          <p:cNvSpPr/>
          <p:nvPr/>
        </p:nvSpPr>
        <p:spPr>
          <a:xfrm>
            <a:off x="551383" y="160020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0" name="a6_ico_bg"/>
          <p:cNvSpPr/>
          <p:nvPr/>
        </p:nvSpPr>
        <p:spPr>
          <a:xfrm>
            <a:off x="4373575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a6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086" y="2117750"/>
            <a:ext cx="336499" cy="336499"/>
          </a:xfrm>
          <a:prstGeom prst="rect">
            <a:avLst/>
          </a:prstGeom>
        </p:spPr>
      </p:pic>
      <p:sp>
        <p:nvSpPr>
          <p:cNvPr id="22" name="a6_pt"/>
          <p:cNvSpPr txBox="1"/>
          <p:nvPr/>
        </p:nvSpPr>
        <p:spPr>
          <a:xfrm>
            <a:off x="670255" y="167335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أبرد من الفضاء الخارجي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الفضاء العميق نحو 2.7 كلفن، والرقاقة قرب 0.015 كلفن.</a:t>
            </a:r>
            <a:endParaRPr lang="ar-EG" sz="1800" dirty="0"/>
          </a:p>
        </p:txBody>
      </p:sp>
      <p:sp>
        <p:nvSpPr>
          <p:cNvPr id="23" name="a7_pc"/>
          <p:cNvSpPr/>
          <p:nvPr/>
        </p:nvSpPr>
        <p:spPr>
          <a:xfrm>
            <a:off x="551383" y="310896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4" name="a7_ico_bg"/>
          <p:cNvSpPr/>
          <p:nvPr/>
        </p:nvSpPr>
        <p:spPr>
          <a:xfrm>
            <a:off x="4373575" y="3429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a7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086" y="3626510"/>
            <a:ext cx="336499" cy="336499"/>
          </a:xfrm>
          <a:prstGeom prst="rect">
            <a:avLst/>
          </a:prstGeom>
        </p:spPr>
      </p:pic>
      <p:sp>
        <p:nvSpPr>
          <p:cNvPr id="26" name="a7_pt"/>
          <p:cNvSpPr txBox="1"/>
          <p:nvPr/>
        </p:nvSpPr>
        <p:spPr>
          <a:xfrm>
            <a:off x="670255" y="318211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هذا البرد؟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الحرارة تجعل الذرات تهتزّ فتدمّر الحالات الكمية الهشّة.</a:t>
            </a:r>
            <a:endParaRPr lang="ar-EG" sz="1800" dirty="0"/>
          </a:p>
        </p:txBody>
      </p:sp>
      <p:sp>
        <p:nvSpPr>
          <p:cNvPr id="27" name="a8_pc"/>
          <p:cNvSpPr/>
          <p:nvPr/>
        </p:nvSpPr>
        <p:spPr>
          <a:xfrm>
            <a:off x="551383" y="461772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28" name="a8_ico_bg"/>
          <p:cNvSpPr/>
          <p:nvPr/>
        </p:nvSpPr>
        <p:spPr>
          <a:xfrm>
            <a:off x="4373575" y="493776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9" name="a8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86" y="5135270"/>
            <a:ext cx="336499" cy="336499"/>
          </a:xfrm>
          <a:prstGeom prst="rect">
            <a:avLst/>
          </a:prstGeom>
        </p:spPr>
      </p:pic>
      <p:sp>
        <p:nvSpPr>
          <p:cNvPr id="30" name="a8_pt"/>
          <p:cNvSpPr txBox="1"/>
          <p:nvPr/>
        </p:nvSpPr>
        <p:spPr>
          <a:xfrm>
            <a:off x="670255" y="469087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ثلاجة لا حاسوب مكتبي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معظم الجهاز مبرّد تخفيفي (Dilution Refrigerator) وأسلاك وإلكترونيات تحكّم.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53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53" presetClass="entr" presetSubtype="0" fill="hold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تحديات اليوم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27797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500055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2254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447837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الضجيج</a:t>
            </a:r>
            <a:endParaRPr lang="ar-EG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447837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يفقد الكيوبت حالته الكمية في أجزاء صغيرة جدًا من الثانية (فقدان الترابط الكمي).</a:t>
            </a:r>
            <a:endParaRPr lang="ar-EG" sz="1600" dirty="0"/>
          </a:p>
        </p:txBody>
      </p:sp>
      <p:sp>
        <p:nvSpPr>
          <p:cNvPr id="9" name="a2_card"/>
          <p:cNvSpPr/>
          <p:nvPr/>
        </p:nvSpPr>
        <p:spPr>
          <a:xfrm>
            <a:off x="4338218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6710477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676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4658258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الأخطاء</a:t>
            </a:r>
            <a:endParaRPr lang="ar-EG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4658258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تصحيح الأخطاء الكمية يحتاج كيوبتات فيزيائية كثيرة لصنع كيوبت «منطقي» موثوق واحد.</a:t>
            </a:r>
            <a:endParaRPr lang="ar-EG" sz="1600" dirty="0"/>
          </a:p>
        </p:txBody>
      </p:sp>
      <p:sp>
        <p:nvSpPr>
          <p:cNvPr id="14" name="a3_card"/>
          <p:cNvSpPr/>
          <p:nvPr/>
        </p:nvSpPr>
        <p:spPr>
          <a:xfrm>
            <a:off x="548640" y="1600200"/>
            <a:ext cx="3515258" cy="3520440"/>
          </a:xfrm>
          <a:prstGeom prst="roundRect">
            <a:avLst>
              <a:gd name="adj" fmla="val 4682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292089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098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868680" y="278892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الحجم</a:t>
            </a:r>
            <a:endParaRPr lang="ar-EG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868680" y="365760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لدى أجهزة اليوم نحو 100 إلى أكثر من 1,000 كيوبت فيزيائي. وقد تحتاج مهام مفيدة كثيرة إلى ملايين.</a:t>
            </a:r>
            <a:endParaRPr lang="ar-EG" sz="1600" dirty="0"/>
          </a:p>
        </p:txBody>
      </p:sp>
      <p:sp>
        <p:nvSpPr>
          <p:cNvPr id="19" name="a4_note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6842"/>
            </a:avLst>
          </a:prstGeom>
          <a:solidFill>
            <a:schemeClr val="tx2"/>
          </a:solidFill>
          <a:ln/>
        </p:spPr>
      </p:sp>
      <p:pic>
        <p:nvPicPr>
          <p:cNvPr id="20" name="a4_note_ic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5550408"/>
            <a:ext cx="365760" cy="365760"/>
          </a:xfrm>
          <a:prstGeom prst="rect">
            <a:avLst/>
          </a:prstGeom>
        </p:spPr>
      </p:pic>
      <p:sp>
        <p:nvSpPr>
          <p:cNvPr id="21" name="a4_note_t"/>
          <p:cNvSpPr txBox="1"/>
          <p:nvPr/>
        </p:nvSpPr>
        <p:spPr>
          <a:xfrm>
            <a:off x="914400" y="5303520"/>
            <a:ext cx="9814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نحن في عصر «NISQ»: حواسيب كمية متوسطة الحجم وفيها ضجيج. التقدّم حقيقي وسريع، لكن الأجهزة الكبيرة المقاومة للأخطاء لا تزال قيد البناء.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8808415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-1158545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8442655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78815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EG" altLang="en-US" sz="4400" b="1" dirty="0">
                <a:solidFill>
                  <a:schemeClr val="bg1"/>
                </a:solidFill>
              </a:rPr>
              <a:t>التطبيقات والفوائد</a:t>
            </a:r>
            <a:endParaRPr lang="ar-EG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78815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200" dirty="0">
                <a:solidFill>
                  <a:schemeClr val="bg2"/>
                </a:solidFill>
              </a:rPr>
              <a:t>ماذا يمكننا أن نفعل بها؟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أين يمكن أن تفيد؟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115605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774375" y="17099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7197" y="1882750"/>
            <a:ext cx="294437" cy="294437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298485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الطب</a:t>
            </a:r>
            <a:endParaRPr lang="ar-EG" sz="1700" dirty="0"/>
          </a:p>
        </p:txBody>
      </p:sp>
      <p:sp>
        <p:nvSpPr>
          <p:cNvPr id="8" name="a1_body"/>
          <p:cNvSpPr txBox="1"/>
          <p:nvPr/>
        </p:nvSpPr>
        <p:spPr>
          <a:xfrm>
            <a:off x="8344205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محاكاة الجزيئات بدقة لتصميم أدوية جديدة وفهم الأمراض.</a:t>
            </a:r>
            <a:endParaRPr lang="ar-EG" sz="1400" dirty="0"/>
          </a:p>
        </p:txBody>
      </p:sp>
      <p:sp>
        <p:nvSpPr>
          <p:cNvPr id="9" name="a1_tag"/>
          <p:cNvSpPr/>
          <p:nvPr/>
        </p:nvSpPr>
        <p:spPr>
          <a:xfrm>
            <a:off x="8945575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a1_tag_t"/>
          <p:cNvSpPr txBox="1"/>
          <p:nvPr/>
        </p:nvSpPr>
        <p:spPr>
          <a:xfrm>
            <a:off x="8945575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واعد</a:t>
            </a:r>
            <a:endParaRPr lang="ar-EG" sz="1200" dirty="0"/>
          </a:p>
        </p:txBody>
      </p:sp>
      <p:sp>
        <p:nvSpPr>
          <p:cNvPr id="11" name="a2_card"/>
          <p:cNvSpPr/>
          <p:nvPr/>
        </p:nvSpPr>
        <p:spPr>
          <a:xfrm>
            <a:off x="4332122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a2_ico_bg"/>
          <p:cNvSpPr/>
          <p:nvPr/>
        </p:nvSpPr>
        <p:spPr>
          <a:xfrm>
            <a:off x="6990893" y="17099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714" y="1882750"/>
            <a:ext cx="294437" cy="294437"/>
          </a:xfrm>
          <a:prstGeom prst="rect">
            <a:avLst/>
          </a:prstGeom>
        </p:spPr>
      </p:pic>
      <p:sp>
        <p:nvSpPr>
          <p:cNvPr id="14" name="a2_head"/>
          <p:cNvSpPr txBox="1"/>
          <p:nvPr/>
        </p:nvSpPr>
        <p:spPr>
          <a:xfrm>
            <a:off x="4515002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المواد والطاقة</a:t>
            </a:r>
            <a:endParaRPr lang="ar-EG" sz="1700" dirty="0"/>
          </a:p>
        </p:txBody>
      </p:sp>
      <p:sp>
        <p:nvSpPr>
          <p:cNvPr id="15" name="a2_body"/>
          <p:cNvSpPr txBox="1"/>
          <p:nvPr/>
        </p:nvSpPr>
        <p:spPr>
          <a:xfrm>
            <a:off x="4560722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بطاريات ومواد شمسية ومحفزات أفضل، مثل أسمدة بطاقة أقل.</a:t>
            </a:r>
            <a:endParaRPr lang="ar-EG" sz="1400" dirty="0"/>
          </a:p>
        </p:txBody>
      </p:sp>
      <p:sp>
        <p:nvSpPr>
          <p:cNvPr id="16" name="a2_tag"/>
          <p:cNvSpPr/>
          <p:nvPr/>
        </p:nvSpPr>
        <p:spPr>
          <a:xfrm>
            <a:off x="5162093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7" name="a2_tag_t"/>
          <p:cNvSpPr txBox="1"/>
          <p:nvPr/>
        </p:nvSpPr>
        <p:spPr>
          <a:xfrm>
            <a:off x="5162093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واعد</a:t>
            </a:r>
            <a:endParaRPr lang="ar-EG" sz="1200" dirty="0"/>
          </a:p>
        </p:txBody>
      </p:sp>
      <p:sp>
        <p:nvSpPr>
          <p:cNvPr id="18" name="a3_card"/>
          <p:cNvSpPr/>
          <p:nvPr/>
        </p:nvSpPr>
        <p:spPr>
          <a:xfrm>
            <a:off x="548640" y="150876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a3_ico_bg"/>
          <p:cNvSpPr/>
          <p:nvPr/>
        </p:nvSpPr>
        <p:spPr>
          <a:xfrm>
            <a:off x="3207410" y="17099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0232" y="1882750"/>
            <a:ext cx="294437" cy="294437"/>
          </a:xfrm>
          <a:prstGeom prst="rect">
            <a:avLst/>
          </a:prstGeom>
        </p:spPr>
      </p:pic>
      <p:sp>
        <p:nvSpPr>
          <p:cNvPr id="21" name="a3_head"/>
          <p:cNvSpPr txBox="1"/>
          <p:nvPr/>
        </p:nvSpPr>
        <p:spPr>
          <a:xfrm>
            <a:off x="731520" y="167335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الأمن</a:t>
            </a:r>
            <a:endParaRPr lang="ar-EG" sz="1700" dirty="0"/>
          </a:p>
        </p:txBody>
      </p:sp>
      <p:sp>
        <p:nvSpPr>
          <p:cNvPr id="22" name="a3_body"/>
          <p:cNvSpPr txBox="1"/>
          <p:nvPr/>
        </p:nvSpPr>
        <p:spPr>
          <a:xfrm>
            <a:off x="777240" y="246888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قد تكسر التشفير الحالي، وتتيح أيضًا طرقًا جديدة أكثر أمانًا.</a:t>
            </a:r>
            <a:endParaRPr lang="ar-EG" sz="1400" dirty="0"/>
          </a:p>
        </p:txBody>
      </p:sp>
      <p:sp>
        <p:nvSpPr>
          <p:cNvPr id="23" name="a3_tag"/>
          <p:cNvSpPr/>
          <p:nvPr/>
        </p:nvSpPr>
        <p:spPr>
          <a:xfrm>
            <a:off x="1378610" y="324612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a3_tag_t"/>
          <p:cNvSpPr txBox="1"/>
          <p:nvPr/>
        </p:nvSpPr>
        <p:spPr>
          <a:xfrm>
            <a:off x="1378610" y="32461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خطر بعيد المدى</a:t>
            </a:r>
            <a:endParaRPr lang="ar-EG" sz="1200" dirty="0"/>
          </a:p>
        </p:txBody>
      </p:sp>
      <p:sp>
        <p:nvSpPr>
          <p:cNvPr id="25" name="a4_card"/>
          <p:cNvSpPr/>
          <p:nvPr/>
        </p:nvSpPr>
        <p:spPr>
          <a:xfrm>
            <a:off x="8115605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6" name="a4_ico_bg"/>
          <p:cNvSpPr/>
          <p:nvPr/>
        </p:nvSpPr>
        <p:spPr>
          <a:xfrm>
            <a:off x="10774375" y="4087368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7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7197" y="4260190"/>
            <a:ext cx="294437" cy="294437"/>
          </a:xfrm>
          <a:prstGeom prst="rect">
            <a:avLst/>
          </a:prstGeom>
        </p:spPr>
      </p:pic>
      <p:sp>
        <p:nvSpPr>
          <p:cNvPr id="28" name="a4_head"/>
          <p:cNvSpPr txBox="1"/>
          <p:nvPr/>
        </p:nvSpPr>
        <p:spPr>
          <a:xfrm>
            <a:off x="8298485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التحسين</a:t>
            </a:r>
            <a:endParaRPr lang="ar-EG" sz="1700" dirty="0"/>
          </a:p>
        </p:txBody>
      </p:sp>
      <p:sp>
        <p:nvSpPr>
          <p:cNvPr id="29" name="a4_body"/>
          <p:cNvSpPr txBox="1"/>
          <p:nvPr/>
        </p:nvSpPr>
        <p:spPr>
          <a:xfrm>
            <a:off x="8344205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المسارات والجداول وسلاسل الإمداد والمال: الأفضل بين أعداد ضخمة.</a:t>
            </a:r>
            <a:endParaRPr lang="ar-EG" sz="1400" dirty="0"/>
          </a:p>
        </p:txBody>
      </p:sp>
      <p:sp>
        <p:nvSpPr>
          <p:cNvPr id="30" name="a4_tag"/>
          <p:cNvSpPr/>
          <p:nvPr/>
        </p:nvSpPr>
        <p:spPr>
          <a:xfrm>
            <a:off x="8945575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a4_tag_t"/>
          <p:cNvSpPr txBox="1"/>
          <p:nvPr/>
        </p:nvSpPr>
        <p:spPr>
          <a:xfrm>
            <a:off x="8945575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قيد التجريب</a:t>
            </a:r>
            <a:endParaRPr lang="ar-EG" sz="1200" dirty="0"/>
          </a:p>
        </p:txBody>
      </p:sp>
      <p:sp>
        <p:nvSpPr>
          <p:cNvPr id="32" name="a5_card"/>
          <p:cNvSpPr/>
          <p:nvPr/>
        </p:nvSpPr>
        <p:spPr>
          <a:xfrm>
            <a:off x="4332122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3" name="a5_ico_bg"/>
          <p:cNvSpPr/>
          <p:nvPr/>
        </p:nvSpPr>
        <p:spPr>
          <a:xfrm>
            <a:off x="6990893" y="4087368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4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714" y="4260190"/>
            <a:ext cx="294437" cy="294437"/>
          </a:xfrm>
          <a:prstGeom prst="rect">
            <a:avLst/>
          </a:prstGeom>
        </p:spPr>
      </p:pic>
      <p:sp>
        <p:nvSpPr>
          <p:cNvPr id="35" name="a5_head"/>
          <p:cNvSpPr txBox="1"/>
          <p:nvPr/>
        </p:nvSpPr>
        <p:spPr>
          <a:xfrm>
            <a:off x="4515002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الذكاء الاصطناعي</a:t>
            </a:r>
            <a:endParaRPr lang="ar-EG" sz="1700" dirty="0"/>
          </a:p>
        </p:txBody>
      </p:sp>
      <p:sp>
        <p:nvSpPr>
          <p:cNvPr id="36" name="a5_body"/>
          <p:cNvSpPr txBox="1"/>
          <p:nvPr/>
        </p:nvSpPr>
        <p:spPr>
          <a:xfrm>
            <a:off x="4560722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قد تساعد في بعض مهام التعلّم، لكن الفوائد لم تثبت بعد.</a:t>
            </a:r>
            <a:endParaRPr lang="ar-EG" sz="1400" dirty="0"/>
          </a:p>
        </p:txBody>
      </p:sp>
      <p:sp>
        <p:nvSpPr>
          <p:cNvPr id="37" name="a5_tag"/>
          <p:cNvSpPr/>
          <p:nvPr/>
        </p:nvSpPr>
        <p:spPr>
          <a:xfrm>
            <a:off x="5162093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8" name="a5_tag_t"/>
          <p:cNvSpPr txBox="1"/>
          <p:nvPr/>
        </p:nvSpPr>
        <p:spPr>
          <a:xfrm>
            <a:off x="5162093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بحث مبكر</a:t>
            </a:r>
            <a:endParaRPr lang="ar-EG" sz="1200" dirty="0"/>
          </a:p>
        </p:txBody>
      </p:sp>
      <p:sp>
        <p:nvSpPr>
          <p:cNvPr id="39" name="a6_card"/>
          <p:cNvSpPr/>
          <p:nvPr/>
        </p:nvSpPr>
        <p:spPr>
          <a:xfrm>
            <a:off x="548640" y="3886200"/>
            <a:ext cx="3527450" cy="21945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0" name="a6_ico_bg"/>
          <p:cNvSpPr/>
          <p:nvPr/>
        </p:nvSpPr>
        <p:spPr>
          <a:xfrm>
            <a:off x="3207410" y="4087368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a6_ico_img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0232" y="4260190"/>
            <a:ext cx="294437" cy="294437"/>
          </a:xfrm>
          <a:prstGeom prst="rect">
            <a:avLst/>
          </a:prstGeom>
        </p:spPr>
      </p:pic>
      <p:sp>
        <p:nvSpPr>
          <p:cNvPr id="42" name="a6_head"/>
          <p:cNvSpPr txBox="1"/>
          <p:nvPr/>
        </p:nvSpPr>
        <p:spPr>
          <a:xfrm>
            <a:off x="731520" y="4050792"/>
            <a:ext cx="23387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العلوم</a:t>
            </a:r>
            <a:endParaRPr lang="ar-EG" sz="1700" dirty="0"/>
          </a:p>
        </p:txBody>
      </p:sp>
      <p:sp>
        <p:nvSpPr>
          <p:cNvPr id="43" name="a6_body"/>
          <p:cNvSpPr txBox="1"/>
          <p:nvPr/>
        </p:nvSpPr>
        <p:spPr>
          <a:xfrm>
            <a:off x="777240" y="4846320"/>
            <a:ext cx="3070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محاكاة الجسيمات والأنظمة الكمية التي تعجز عنها الحواسيب العادية.</a:t>
            </a:r>
            <a:endParaRPr lang="ar-EG" sz="1400" dirty="0"/>
          </a:p>
        </p:txBody>
      </p:sp>
      <p:sp>
        <p:nvSpPr>
          <p:cNvPr id="44" name="a6_tag"/>
          <p:cNvSpPr/>
          <p:nvPr/>
        </p:nvSpPr>
        <p:spPr>
          <a:xfrm>
            <a:off x="1378610" y="5623560"/>
            <a:ext cx="2468880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5" name="a6_tag_t"/>
          <p:cNvSpPr txBox="1"/>
          <p:nvPr/>
        </p:nvSpPr>
        <p:spPr>
          <a:xfrm>
            <a:off x="1378610" y="5623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نشِط</a:t>
            </a:r>
            <a:endParaRPr lang="ar-EG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6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6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6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6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6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6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6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6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6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فوائد الحوسبة الكمية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9040901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500055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2254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9360941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تسريع كبير</a:t>
            </a:r>
            <a:endParaRPr lang="ar-EG" sz="1900" dirty="0"/>
          </a:p>
        </p:txBody>
      </p:sp>
      <p:sp>
        <p:nvSpPr>
          <p:cNvPr id="8" name="a1_body"/>
          <p:cNvSpPr txBox="1"/>
          <p:nvPr/>
        </p:nvSpPr>
        <p:spPr>
          <a:xfrm>
            <a:off x="9360941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لبعض المسائل خطوات أقل بكثير: تحليل الأعداد (مكسب أسّي) أو البحث (مكسب بالجذر التربيعي).</a:t>
            </a:r>
            <a:endParaRPr lang="ar-EG" sz="1600" dirty="0"/>
          </a:p>
        </p:txBody>
      </p:sp>
      <p:sp>
        <p:nvSpPr>
          <p:cNvPr id="9" name="a2_card"/>
          <p:cNvSpPr/>
          <p:nvPr/>
        </p:nvSpPr>
        <p:spPr>
          <a:xfrm>
            <a:off x="6210148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7669301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501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6530188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محاكاة الطبيعة</a:t>
            </a:r>
            <a:endParaRPr lang="ar-EG" sz="1900" dirty="0"/>
          </a:p>
        </p:txBody>
      </p:sp>
      <p:sp>
        <p:nvSpPr>
          <p:cNvPr id="13" name="a2_body"/>
          <p:cNvSpPr txBox="1"/>
          <p:nvPr/>
        </p:nvSpPr>
        <p:spPr>
          <a:xfrm>
            <a:off x="6530188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الأنظمة الكمية تُحاكى بأنظمة كمية: الجزيئات والمواد كما تتصرّف فعلًا.</a:t>
            </a:r>
            <a:endParaRPr lang="ar-EG" sz="1600" dirty="0"/>
          </a:p>
        </p:txBody>
      </p:sp>
      <p:sp>
        <p:nvSpPr>
          <p:cNvPr id="14" name="a3_card"/>
          <p:cNvSpPr/>
          <p:nvPr/>
        </p:nvSpPr>
        <p:spPr>
          <a:xfrm>
            <a:off x="3379394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483854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747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3699434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تحسين أفضل</a:t>
            </a:r>
            <a:endParaRPr lang="ar-EG" sz="1900" dirty="0"/>
          </a:p>
        </p:txBody>
      </p:sp>
      <p:sp>
        <p:nvSpPr>
          <p:cNvPr id="18" name="a3_body"/>
          <p:cNvSpPr txBox="1"/>
          <p:nvPr/>
        </p:nvSpPr>
        <p:spPr>
          <a:xfrm>
            <a:off x="3699434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حلول جيدة في فضاءات بحث هائلة، كالنقل والجدولة.</a:t>
            </a:r>
            <a:endParaRPr lang="ar-EG" sz="1600" dirty="0"/>
          </a:p>
        </p:txBody>
      </p:sp>
      <p:sp>
        <p:nvSpPr>
          <p:cNvPr id="19" name="a4_card"/>
          <p:cNvSpPr/>
          <p:nvPr/>
        </p:nvSpPr>
        <p:spPr>
          <a:xfrm>
            <a:off x="548640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20" name="a4_ico_bg"/>
          <p:cNvSpPr/>
          <p:nvPr/>
        </p:nvSpPr>
        <p:spPr>
          <a:xfrm>
            <a:off x="2007794" y="18745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993" y="2096719"/>
            <a:ext cx="378562" cy="378562"/>
          </a:xfrm>
          <a:prstGeom prst="rect">
            <a:avLst/>
          </a:prstGeom>
        </p:spPr>
      </p:pic>
      <p:sp>
        <p:nvSpPr>
          <p:cNvPr id="22" name="a4_head"/>
          <p:cNvSpPr txBox="1"/>
          <p:nvPr/>
        </p:nvSpPr>
        <p:spPr>
          <a:xfrm>
            <a:off x="868680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توفير محتمل للطاقة</a:t>
            </a:r>
            <a:endParaRPr lang="ar-EG" sz="1900" dirty="0"/>
          </a:p>
        </p:txBody>
      </p:sp>
      <p:sp>
        <p:nvSpPr>
          <p:cNvPr id="23" name="a4_body"/>
          <p:cNvSpPr txBox="1"/>
          <p:nvPr/>
        </p:nvSpPr>
        <p:spPr>
          <a:xfrm>
            <a:off x="868680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لبعض المهام قد تستهلك طاقة أقل من حواسيب عملاقة ضخمة. لا يزال قيد البحث.</a:t>
            </a:r>
            <a:endParaRPr lang="ar-EG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الحوسبة الكمية والأمن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8432597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9580626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7514" y="2075688"/>
            <a:ext cx="420624" cy="420624"/>
          </a:xfrm>
          <a:prstGeom prst="rect">
            <a:avLst/>
          </a:prstGeom>
        </p:spPr>
      </p:pic>
      <p:sp>
        <p:nvSpPr>
          <p:cNvPr id="7" name="a1_label"/>
          <p:cNvSpPr txBox="1"/>
          <p:nvPr/>
        </p:nvSpPr>
        <p:spPr>
          <a:xfrm>
            <a:off x="8661197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2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اليوم</a:t>
            </a:r>
            <a:endParaRPr lang="ar-EG" sz="2100" dirty="0"/>
          </a:p>
        </p:txBody>
      </p:sp>
      <p:sp>
        <p:nvSpPr>
          <p:cNvPr id="8" name="a1_text"/>
          <p:cNvSpPr txBox="1"/>
          <p:nvPr/>
        </p:nvSpPr>
        <p:spPr>
          <a:xfrm>
            <a:off x="8661197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يحمي تشفير RSA والمنحنيات الإهليلجية المعاملات البنكية والرسائل والمواقع.</a:t>
            </a:r>
            <a:endParaRPr lang="ar-EG" sz="1500" dirty="0"/>
          </a:p>
        </p:txBody>
      </p:sp>
      <p:pic>
        <p:nvPicPr>
          <p:cNvPr id="9" name="a1_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957" y="3063240"/>
            <a:ext cx="365760" cy="365760"/>
          </a:xfrm>
          <a:prstGeom prst="rect">
            <a:avLst/>
          </a:prstGeom>
        </p:spPr>
      </p:pic>
      <p:sp>
        <p:nvSpPr>
          <p:cNvPr id="10" name="a2_card"/>
          <p:cNvSpPr/>
          <p:nvPr/>
        </p:nvSpPr>
        <p:spPr>
          <a:xfrm>
            <a:off x="4490618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tx2"/>
          </a:solidFill>
          <a:ln/>
        </p:spPr>
      </p:sp>
      <p:sp>
        <p:nvSpPr>
          <p:cNvPr id="11" name="a2_ico_bg"/>
          <p:cNvSpPr/>
          <p:nvPr/>
        </p:nvSpPr>
        <p:spPr>
          <a:xfrm>
            <a:off x="5638648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a2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075688"/>
            <a:ext cx="420624" cy="420624"/>
          </a:xfrm>
          <a:prstGeom prst="rect">
            <a:avLst/>
          </a:prstGeom>
        </p:spPr>
      </p:pic>
      <p:sp>
        <p:nvSpPr>
          <p:cNvPr id="13" name="a2_label"/>
          <p:cNvSpPr txBox="1"/>
          <p:nvPr/>
        </p:nvSpPr>
        <p:spPr>
          <a:xfrm>
            <a:off x="4719218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21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تهديد مستقبلي</a:t>
            </a:r>
            <a:endParaRPr lang="ar-EG" sz="2100" dirty="0"/>
          </a:p>
        </p:txBody>
      </p:sp>
      <p:sp>
        <p:nvSpPr>
          <p:cNvPr id="14" name="a2_text"/>
          <p:cNvSpPr txBox="1"/>
          <p:nvPr/>
        </p:nvSpPr>
        <p:spPr>
          <a:xfrm>
            <a:off x="4719218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قد تكسره خوارزمية شور على حاسوب كمي كبير مقاوم للأخطاء. أجهزة اليوم أصغر من ذلك بكثير.</a:t>
            </a:r>
            <a:endParaRPr lang="ar-EG" sz="1500" dirty="0"/>
          </a:p>
        </p:txBody>
      </p:sp>
      <p:pic>
        <p:nvPicPr>
          <p:cNvPr id="15" name="a2_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978" y="3063240"/>
            <a:ext cx="365760" cy="365760"/>
          </a:xfrm>
          <a:prstGeom prst="rect">
            <a:avLst/>
          </a:prstGeom>
        </p:spPr>
      </p:pic>
      <p:sp>
        <p:nvSpPr>
          <p:cNvPr id="16" name="a3_card"/>
          <p:cNvSpPr/>
          <p:nvPr/>
        </p:nvSpPr>
        <p:spPr>
          <a:xfrm>
            <a:off x="548640" y="1600200"/>
            <a:ext cx="3210458" cy="3291840"/>
          </a:xfrm>
          <a:prstGeom prst="roundRect">
            <a:avLst>
              <a:gd name="adj" fmla="val 5127"/>
            </a:avLst>
          </a:prstGeom>
          <a:solidFill>
            <a:schemeClr val="bg2"/>
          </a:solidFill>
          <a:ln/>
        </p:spPr>
      </p:sp>
      <p:sp>
        <p:nvSpPr>
          <p:cNvPr id="17" name="a3_ico_bg"/>
          <p:cNvSpPr/>
          <p:nvPr/>
        </p:nvSpPr>
        <p:spPr>
          <a:xfrm>
            <a:off x="1696669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a3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3557" y="2075688"/>
            <a:ext cx="420624" cy="420624"/>
          </a:xfrm>
          <a:prstGeom prst="rect">
            <a:avLst/>
          </a:prstGeom>
        </p:spPr>
      </p:pic>
      <p:sp>
        <p:nvSpPr>
          <p:cNvPr id="19" name="a3_label"/>
          <p:cNvSpPr txBox="1"/>
          <p:nvPr/>
        </p:nvSpPr>
        <p:spPr>
          <a:xfrm>
            <a:off x="777240" y="29260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EG" altLang="en-US" sz="2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الحل، الآن</a:t>
            </a:r>
            <a:endParaRPr lang="ar-EG" sz="2100" dirty="0"/>
          </a:p>
        </p:txBody>
      </p:sp>
      <p:sp>
        <p:nvSpPr>
          <p:cNvPr id="20" name="a3_text"/>
          <p:cNvSpPr txBox="1"/>
          <p:nvPr/>
        </p:nvSpPr>
        <p:spPr>
          <a:xfrm>
            <a:off x="777240" y="347472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تُطبَّق حاليًا معايير تشفير جديدة «ما بعد الكم» (NIST، 2024).</a:t>
            </a:r>
            <a:endParaRPr lang="ar-EG" sz="1500" dirty="0"/>
          </a:p>
        </p:txBody>
      </p:sp>
      <p:sp>
        <p:nvSpPr>
          <p:cNvPr id="21" name="a4_note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15238"/>
            </a:avLst>
          </a:prstGeom>
          <a:solidFill>
            <a:schemeClr val="accent4"/>
          </a:solidFill>
          <a:ln/>
        </p:spPr>
      </p:sp>
      <p:sp>
        <p:nvSpPr>
          <p:cNvPr id="22" name="a4_note_t"/>
          <p:cNvSpPr txBox="1"/>
          <p:nvPr/>
        </p:nvSpPr>
        <p:spPr>
          <a:xfrm>
            <a:off x="914400" y="51663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قد يخزّن المهاجمون البيانات المشفّرة اليوم ليفكّوها مستقبلًا. ولهذا يهم الانتقال مبكرًا.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conveyor dir="l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خرافات وحقائق</a:t>
            </a:r>
            <a:endParaRPr lang="ar-EG" sz="3400" dirty="0"/>
          </a:p>
        </p:txBody>
      </p:sp>
      <p:sp>
        <p:nvSpPr>
          <p:cNvPr id="4" name="a1_ml"/>
          <p:cNvSpPr txBox="1"/>
          <p:nvPr/>
        </p:nvSpPr>
        <p:spPr>
          <a:xfrm>
            <a:off x="6324448" y="1417320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خرافة</a:t>
            </a:r>
            <a:endParaRPr lang="ar-EG" sz="1600" dirty="0"/>
          </a:p>
        </p:txBody>
      </p:sp>
      <p:sp>
        <p:nvSpPr>
          <p:cNvPr id="5" name="a1_fl"/>
          <p:cNvSpPr txBox="1"/>
          <p:nvPr/>
        </p:nvSpPr>
        <p:spPr>
          <a:xfrm>
            <a:off x="548640" y="1417320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حقيقة</a:t>
            </a:r>
            <a:endParaRPr lang="ar-EG" sz="1600" dirty="0"/>
          </a:p>
        </p:txBody>
      </p:sp>
      <p:sp>
        <p:nvSpPr>
          <p:cNvPr id="6" name="a1_m"/>
          <p:cNvSpPr/>
          <p:nvPr/>
        </p:nvSpPr>
        <p:spPr>
          <a:xfrm>
            <a:off x="6324448" y="182880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7" name="a1_ico_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1535" y="2286000"/>
            <a:ext cx="457200" cy="457200"/>
          </a:xfrm>
          <a:prstGeom prst="rect">
            <a:avLst/>
          </a:prstGeom>
        </p:spPr>
      </p:pic>
      <p:sp>
        <p:nvSpPr>
          <p:cNvPr id="8" name="a1_mt"/>
          <p:cNvSpPr txBox="1"/>
          <p:nvPr/>
        </p:nvSpPr>
        <p:spPr>
          <a:xfrm>
            <a:off x="6598768" y="182880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ستحلّ الحواسيب الكمية محلّ حواسيبنا وهواتفنا.</a:t>
            </a:r>
            <a:endParaRPr lang="ar-EG" sz="18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10" name="a1_ico_v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28" y="2286000"/>
            <a:ext cx="457200" cy="457200"/>
          </a:xfrm>
          <a:prstGeom prst="rect">
            <a:avLst/>
          </a:prstGeom>
        </p:spPr>
      </p:pic>
      <p:sp>
        <p:nvSpPr>
          <p:cNvPr id="11" name="a1_ft"/>
          <p:cNvSpPr txBox="1"/>
          <p:nvPr/>
        </p:nvSpPr>
        <p:spPr>
          <a:xfrm>
            <a:off x="822960" y="182880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ستكون مساعدًا متخصصًا لمسائل معيّنة، يعمل مع الحواسيب التقليدية.</a:t>
            </a:r>
            <a:endParaRPr lang="ar-EG" sz="1700" dirty="0"/>
          </a:p>
        </p:txBody>
      </p:sp>
      <p:sp>
        <p:nvSpPr>
          <p:cNvPr id="12" name="a2_m"/>
          <p:cNvSpPr/>
          <p:nvPr/>
        </p:nvSpPr>
        <p:spPr>
          <a:xfrm>
            <a:off x="6324448" y="338328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13" name="a2_ico_x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0"/>
            <a:ext cx="457200" cy="457200"/>
          </a:xfrm>
          <a:prstGeom prst="rect">
            <a:avLst/>
          </a:prstGeom>
        </p:spPr>
      </p:pic>
      <p:sp>
        <p:nvSpPr>
          <p:cNvPr id="14" name="a2_mt"/>
          <p:cNvSpPr txBox="1"/>
          <p:nvPr/>
        </p:nvSpPr>
        <p:spPr>
          <a:xfrm>
            <a:off x="6598768" y="338328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تجرّب كل الإجابات الممكنة دفعة واحدة.</a:t>
            </a:r>
            <a:endParaRPr lang="ar-EG" sz="1800" dirty="0"/>
          </a:p>
        </p:txBody>
      </p:sp>
      <p:sp>
        <p:nvSpPr>
          <p:cNvPr id="15" name="a2_f"/>
          <p:cNvSpPr/>
          <p:nvPr/>
        </p:nvSpPr>
        <p:spPr>
          <a:xfrm>
            <a:off x="548640" y="338328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16" name="a2_ico_v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8" y="3840480"/>
            <a:ext cx="457200" cy="457200"/>
          </a:xfrm>
          <a:prstGeom prst="rect">
            <a:avLst/>
          </a:prstGeom>
        </p:spPr>
      </p:pic>
      <p:sp>
        <p:nvSpPr>
          <p:cNvPr id="17" name="a2_ft"/>
          <p:cNvSpPr txBox="1"/>
          <p:nvPr/>
        </p:nvSpPr>
        <p:spPr>
          <a:xfrm>
            <a:off x="822960" y="338328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تستخدم التداخل لترجيح الإجابات الصحيحة. والتسريع الكبير يوجد لمسائل معيّنة فقط.</a:t>
            </a:r>
            <a:endParaRPr lang="ar-EG" sz="1700" dirty="0"/>
          </a:p>
        </p:txBody>
      </p:sp>
      <p:sp>
        <p:nvSpPr>
          <p:cNvPr id="18" name="a3_m"/>
          <p:cNvSpPr/>
          <p:nvPr/>
        </p:nvSpPr>
        <p:spPr>
          <a:xfrm>
            <a:off x="6324448" y="493776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bg2"/>
          </a:solidFill>
          <a:ln/>
        </p:spPr>
      </p:sp>
      <p:pic>
        <p:nvPicPr>
          <p:cNvPr id="19" name="a3_ico_x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11535" y="5394960"/>
            <a:ext cx="457200" cy="457200"/>
          </a:xfrm>
          <a:prstGeom prst="rect">
            <a:avLst/>
          </a:prstGeom>
        </p:spPr>
      </p:pic>
      <p:sp>
        <p:nvSpPr>
          <p:cNvPr id="20" name="a3_mt"/>
          <p:cNvSpPr txBox="1"/>
          <p:nvPr/>
        </p:nvSpPr>
        <p:spPr>
          <a:xfrm>
            <a:off x="6598768" y="493776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تتفوّق الآن على الحواسيب العادية في أعمال مفيدة.</a:t>
            </a:r>
            <a:endParaRPr lang="ar-EG" sz="1800" dirty="0"/>
          </a:p>
        </p:txBody>
      </p:sp>
      <p:sp>
        <p:nvSpPr>
          <p:cNvPr id="21" name="a3_f"/>
          <p:cNvSpPr/>
          <p:nvPr/>
        </p:nvSpPr>
        <p:spPr>
          <a:xfrm>
            <a:off x="548640" y="4937760"/>
            <a:ext cx="5318608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pic>
        <p:nvPicPr>
          <p:cNvPr id="22" name="a3_ico_v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5728" y="5394960"/>
            <a:ext cx="457200" cy="457200"/>
          </a:xfrm>
          <a:prstGeom prst="rect">
            <a:avLst/>
          </a:prstGeom>
        </p:spPr>
      </p:pic>
      <p:sp>
        <p:nvSpPr>
          <p:cNvPr id="23" name="a3_ft"/>
          <p:cNvSpPr txBox="1"/>
          <p:nvPr/>
        </p:nvSpPr>
        <p:spPr>
          <a:xfrm>
            <a:off x="822960" y="4937760"/>
            <a:ext cx="412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تُظهر التجارب «تفوقًا كميًا» في اختبارات خاصة. أما التفوق العملي فما زال قيد السعي.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halo"/>
          <p:cNvSpPr/>
          <p:nvPr/>
        </p:nvSpPr>
        <p:spPr>
          <a:xfrm>
            <a:off x="8808415" y="3931920"/>
            <a:ext cx="4754880" cy="475488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4" name="a5_halo2"/>
          <p:cNvSpPr/>
          <p:nvPr/>
        </p:nvSpPr>
        <p:spPr>
          <a:xfrm>
            <a:off x="-1158545" y="-1371600"/>
            <a:ext cx="3657600" cy="3657600"/>
          </a:xfrm>
          <a:prstGeom prst="ellipse">
            <a:avLst/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5" name="a1_num"/>
          <p:cNvSpPr txBox="1"/>
          <p:nvPr/>
        </p:nvSpPr>
        <p:spPr>
          <a:xfrm>
            <a:off x="8442655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9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78815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EG" altLang="en-US" sz="4400" b="1" dirty="0">
                <a:solidFill>
                  <a:schemeClr val="bg1"/>
                </a:solidFill>
              </a:rPr>
              <a:t>الحوسبة الكمية وصناعة العتاد</a:t>
            </a:r>
            <a:endParaRPr lang="ar-EG" sz="4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78815" y="3611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2200" dirty="0">
                <a:solidFill>
                  <a:schemeClr val="bg2"/>
                </a:solidFill>
              </a:rPr>
              <a:t>شريك للرقائق التي نصنعها اليوم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شريك وليست بديلًا</a:t>
            </a:r>
            <a:endParaRPr lang="ar-EG" sz="3400" dirty="0"/>
          </a:p>
        </p:txBody>
      </p:sp>
      <p:sp>
        <p:nvSpPr>
          <p:cNvPr id="4" name="a1_dc"/>
          <p:cNvSpPr/>
          <p:nvPr/>
        </p:nvSpPr>
        <p:spPr>
          <a:xfrm>
            <a:off x="4876495" y="1554480"/>
            <a:ext cx="6766560" cy="448056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dash"/>
          </a:ln>
        </p:spPr>
      </p:sp>
      <p:sp>
        <p:nvSpPr>
          <p:cNvPr id="5" name="a1_dct"/>
          <p:cNvSpPr txBox="1"/>
          <p:nvPr/>
        </p:nvSpPr>
        <p:spPr>
          <a:xfrm>
            <a:off x="5150815" y="16459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مركز بيانات / حاسوب عملاق</a:t>
            </a:r>
            <a:endParaRPr lang="ar-EG" sz="1600" dirty="0"/>
          </a:p>
        </p:txBody>
      </p:sp>
      <p:sp>
        <p:nvSpPr>
          <p:cNvPr id="6" name="a2_chip"/>
          <p:cNvSpPr/>
          <p:nvPr/>
        </p:nvSpPr>
        <p:spPr>
          <a:xfrm>
            <a:off x="9448495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a2_ico_bg"/>
          <p:cNvSpPr/>
          <p:nvPr/>
        </p:nvSpPr>
        <p:spPr>
          <a:xfrm>
            <a:off x="9951415" y="24688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8303" y="2715768"/>
            <a:ext cx="420624" cy="420624"/>
          </a:xfrm>
          <a:prstGeom prst="rect">
            <a:avLst/>
          </a:prstGeom>
        </p:spPr>
      </p:pic>
      <p:sp>
        <p:nvSpPr>
          <p:cNvPr id="9" name="a2_nm"/>
          <p:cNvSpPr txBox="1"/>
          <p:nvPr/>
        </p:nvSpPr>
        <p:spPr>
          <a:xfrm>
            <a:off x="9539935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2400" dirty="0"/>
          </a:p>
        </p:txBody>
      </p:sp>
      <p:sp>
        <p:nvSpPr>
          <p:cNvPr id="10" name="a2_tt"/>
          <p:cNvSpPr txBox="1"/>
          <p:nvPr/>
        </p:nvSpPr>
        <p:spPr>
          <a:xfrm>
            <a:off x="9585655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المهام العامة والتحكم</a:t>
            </a:r>
            <a:endParaRPr lang="ar-EG" sz="1400" dirty="0"/>
          </a:p>
        </p:txBody>
      </p:sp>
      <p:sp>
        <p:nvSpPr>
          <p:cNvPr id="11" name="a3_chip"/>
          <p:cNvSpPr/>
          <p:nvPr/>
        </p:nvSpPr>
        <p:spPr>
          <a:xfrm>
            <a:off x="7345375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a3_ico_bg"/>
          <p:cNvSpPr/>
          <p:nvPr/>
        </p:nvSpPr>
        <p:spPr>
          <a:xfrm>
            <a:off x="7848295" y="24688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183" y="2715768"/>
            <a:ext cx="420624" cy="420624"/>
          </a:xfrm>
          <a:prstGeom prst="rect">
            <a:avLst/>
          </a:prstGeom>
        </p:spPr>
      </p:pic>
      <p:sp>
        <p:nvSpPr>
          <p:cNvPr id="14" name="a3_nm"/>
          <p:cNvSpPr txBox="1"/>
          <p:nvPr/>
        </p:nvSpPr>
        <p:spPr>
          <a:xfrm>
            <a:off x="7436815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2400" dirty="0"/>
          </a:p>
        </p:txBody>
      </p:sp>
      <p:sp>
        <p:nvSpPr>
          <p:cNvPr id="15" name="a3_tt"/>
          <p:cNvSpPr txBox="1"/>
          <p:nvPr/>
        </p:nvSpPr>
        <p:spPr>
          <a:xfrm>
            <a:off x="7482535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الحساب المتوازي الضخم والذكاء الاصطناعي</a:t>
            </a:r>
            <a:endParaRPr lang="ar-EG" sz="1400" dirty="0"/>
          </a:p>
        </p:txBody>
      </p:sp>
      <p:sp>
        <p:nvSpPr>
          <p:cNvPr id="16" name="a4_chip"/>
          <p:cNvSpPr/>
          <p:nvPr/>
        </p:nvSpPr>
        <p:spPr>
          <a:xfrm>
            <a:off x="5242255" y="2286000"/>
            <a:ext cx="1920240" cy="3383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381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a4_ico_bg"/>
          <p:cNvSpPr/>
          <p:nvPr/>
        </p:nvSpPr>
        <p:spPr>
          <a:xfrm>
            <a:off x="5745175" y="2468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063" y="2715768"/>
            <a:ext cx="420624" cy="420624"/>
          </a:xfrm>
          <a:prstGeom prst="rect">
            <a:avLst/>
          </a:prstGeom>
        </p:spPr>
      </p:pic>
      <p:sp>
        <p:nvSpPr>
          <p:cNvPr id="19" name="a4_nm"/>
          <p:cNvSpPr txBox="1"/>
          <p:nvPr/>
        </p:nvSpPr>
        <p:spPr>
          <a:xfrm>
            <a:off x="5333695" y="35204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QPU</a:t>
            </a:r>
            <a:endParaRPr lang="en-US" sz="2400" dirty="0"/>
          </a:p>
        </p:txBody>
      </p:sp>
      <p:sp>
        <p:nvSpPr>
          <p:cNvPr id="20" name="a4_tt"/>
          <p:cNvSpPr txBox="1"/>
          <p:nvPr/>
        </p:nvSpPr>
        <p:spPr>
          <a:xfrm>
            <a:off x="5379415" y="411480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EG" alt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المسائل الكمية الخاصة</a:t>
            </a:r>
            <a:endParaRPr lang="ar-EG" sz="1400" dirty="0"/>
          </a:p>
        </p:txBody>
      </p:sp>
      <p:sp>
        <p:nvSpPr>
          <p:cNvPr id="21" name="a6_pc"/>
          <p:cNvSpPr/>
          <p:nvPr/>
        </p:nvSpPr>
        <p:spPr>
          <a:xfrm>
            <a:off x="551383" y="155448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tx2"/>
          </a:solidFill>
          <a:ln/>
        </p:spPr>
      </p:sp>
      <p:sp>
        <p:nvSpPr>
          <p:cNvPr id="22" name="a6_pt"/>
          <p:cNvSpPr txBox="1"/>
          <p:nvPr/>
        </p:nvSpPr>
        <p:spPr>
          <a:xfrm>
            <a:off x="761695" y="16002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التقليدي يواصل التطور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التكديس ثلاثي الأبعاد والرقائق المصغّرة والمواد الجديدة تدفع الرقائق إلى الأمام.</a:t>
            </a:r>
            <a:endParaRPr lang="ar-EG" sz="1800" dirty="0"/>
          </a:p>
        </p:txBody>
      </p:sp>
      <p:sp>
        <p:nvSpPr>
          <p:cNvPr id="23" name="a7_pc"/>
          <p:cNvSpPr/>
          <p:nvPr/>
        </p:nvSpPr>
        <p:spPr>
          <a:xfrm>
            <a:off x="551383" y="310896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tx2"/>
          </a:solidFill>
          <a:ln/>
        </p:spPr>
      </p:sp>
      <p:sp>
        <p:nvSpPr>
          <p:cNvPr id="24" name="a7_pt"/>
          <p:cNvSpPr txBox="1"/>
          <p:nvPr/>
        </p:nvSpPr>
        <p:spPr>
          <a:xfrm>
            <a:off x="761695" y="315468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المعالج الكمي مسرّع جديد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كما أُضيفت وحدات GPU للرسوميات والذكاء الاصطناعي، ستُضاف المعالجات الكمية لمهام محددة.</a:t>
            </a:r>
            <a:endParaRPr lang="ar-EG" sz="1800" dirty="0"/>
          </a:p>
        </p:txBody>
      </p:sp>
      <p:sp>
        <p:nvSpPr>
          <p:cNvPr id="25" name="a8_pc"/>
          <p:cNvSpPr/>
          <p:nvPr/>
        </p:nvSpPr>
        <p:spPr>
          <a:xfrm>
            <a:off x="551383" y="4663440"/>
            <a:ext cx="4050792" cy="1417320"/>
          </a:xfrm>
          <a:prstGeom prst="roundRect">
            <a:avLst>
              <a:gd name="adj" fmla="val 10323"/>
            </a:avLst>
          </a:prstGeom>
          <a:solidFill>
            <a:schemeClr val="accent4"/>
          </a:solidFill>
          <a:ln/>
        </p:spPr>
      </p:sp>
      <p:sp>
        <p:nvSpPr>
          <p:cNvPr id="26" name="a8_pt"/>
          <p:cNvSpPr txBox="1"/>
          <p:nvPr/>
        </p:nvSpPr>
        <p:spPr>
          <a:xfrm>
            <a:off x="761695" y="47091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المستقبل هجين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تجهّز الرقائق التقليدية البيانات وتفحص النتائج، ويتولى QPU الجزء الكمي.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الحوسبة الكمية في صناعة العتاد</a:t>
            </a:r>
            <a:endParaRPr lang="ar-EG" sz="3400" dirty="0"/>
          </a:p>
        </p:txBody>
      </p:sp>
      <p:sp>
        <p:nvSpPr>
          <p:cNvPr id="4" name="a1_card"/>
          <p:cNvSpPr/>
          <p:nvPr/>
        </p:nvSpPr>
        <p:spPr>
          <a:xfrm>
            <a:off x="9040901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500055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2254" y="209671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9360941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بناء الأجهزة الكمية</a:t>
            </a:r>
            <a:endParaRPr lang="ar-EG" sz="1900" dirty="0"/>
          </a:p>
        </p:txBody>
      </p:sp>
      <p:sp>
        <p:nvSpPr>
          <p:cNvPr id="8" name="a1_body"/>
          <p:cNvSpPr txBox="1"/>
          <p:nvPr/>
        </p:nvSpPr>
        <p:spPr>
          <a:xfrm>
            <a:off x="9360941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سلسلة توريد جديدة: التبريد العميق وإلكترونيات الميكروويف والليزر وأنظمة التفريغ ورقائق خاصة.</a:t>
            </a:r>
            <a:endParaRPr lang="ar-EG" sz="1600" dirty="0"/>
          </a:p>
        </p:txBody>
      </p:sp>
      <p:sp>
        <p:nvSpPr>
          <p:cNvPr id="9" name="a2_card"/>
          <p:cNvSpPr/>
          <p:nvPr/>
        </p:nvSpPr>
        <p:spPr>
          <a:xfrm>
            <a:off x="6210148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7669301" y="18745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501" y="209671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6530188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استخدام مصانع اليوم</a:t>
            </a:r>
            <a:endParaRPr lang="ar-EG" sz="1900" dirty="0"/>
          </a:p>
        </p:txBody>
      </p:sp>
      <p:sp>
        <p:nvSpPr>
          <p:cNvPr id="13" name="a2_body"/>
          <p:cNvSpPr txBox="1"/>
          <p:nvPr/>
        </p:nvSpPr>
        <p:spPr>
          <a:xfrm>
            <a:off x="6530188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يمكن تصنيع كيوبتات السيليكون والدوائر فائقة التوصيل بتقنيات مصانع الرقائق.</a:t>
            </a:r>
            <a:endParaRPr lang="ar-EG" sz="1600" dirty="0"/>
          </a:p>
        </p:txBody>
      </p:sp>
      <p:sp>
        <p:nvSpPr>
          <p:cNvPr id="14" name="a3_card"/>
          <p:cNvSpPr/>
          <p:nvPr/>
        </p:nvSpPr>
        <p:spPr>
          <a:xfrm>
            <a:off x="3379394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4838548" y="187452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747" y="209671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3699434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تصميم رقائق أفضل</a:t>
            </a:r>
            <a:endParaRPr lang="ar-EG" sz="1900" dirty="0"/>
          </a:p>
        </p:txBody>
      </p:sp>
      <p:sp>
        <p:nvSpPr>
          <p:cNvPr id="18" name="a3_body"/>
          <p:cNvSpPr txBox="1"/>
          <p:nvPr/>
        </p:nvSpPr>
        <p:spPr>
          <a:xfrm>
            <a:off x="3699434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محاكاة مواد جديدة وتحسين تخطيط الرقائق التقليدية. بحث مبكر.</a:t>
            </a:r>
            <a:endParaRPr lang="ar-EG" sz="1600" dirty="0"/>
          </a:p>
        </p:txBody>
      </p:sp>
      <p:sp>
        <p:nvSpPr>
          <p:cNvPr id="19" name="a4_card"/>
          <p:cNvSpPr/>
          <p:nvPr/>
        </p:nvSpPr>
        <p:spPr>
          <a:xfrm>
            <a:off x="548640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20" name="a4_ico_bg"/>
          <p:cNvSpPr/>
          <p:nvPr/>
        </p:nvSpPr>
        <p:spPr>
          <a:xfrm>
            <a:off x="2007794" y="187452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993" y="2096719"/>
            <a:ext cx="378562" cy="378562"/>
          </a:xfrm>
          <a:prstGeom prst="rect">
            <a:avLst/>
          </a:prstGeom>
        </p:spPr>
      </p:pic>
      <p:sp>
        <p:nvSpPr>
          <p:cNvPr id="22" name="a4_head"/>
          <p:cNvSpPr txBox="1"/>
          <p:nvPr/>
        </p:nvSpPr>
        <p:spPr>
          <a:xfrm>
            <a:off x="868680" y="2788920"/>
            <a:ext cx="19620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تأمين العتاد</a:t>
            </a:r>
            <a:endParaRPr lang="ar-EG" sz="1900" dirty="0"/>
          </a:p>
        </p:txBody>
      </p:sp>
      <p:sp>
        <p:nvSpPr>
          <p:cNvPr id="23" name="a4_body"/>
          <p:cNvSpPr txBox="1"/>
          <p:nvPr/>
        </p:nvSpPr>
        <p:spPr>
          <a:xfrm>
            <a:off x="868680" y="3657600"/>
            <a:ext cx="19620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تشفير ما بعد الكم في الرقائق، ومولّدات أرقام عشوائية كمية، ومستشعرات كمية.</a:t>
            </a:r>
            <a:endParaRPr lang="ar-EG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جرّبها بنفسك: مجانًا وبلغة بايثون</a:t>
            </a:r>
            <a:endParaRPr lang="ar-EG" sz="3400" dirty="0"/>
          </a:p>
        </p:txBody>
      </p:sp>
      <p:sp>
        <p:nvSpPr>
          <p:cNvPr id="4" name="a1_code"/>
          <p:cNvSpPr/>
          <p:nvPr/>
        </p:nvSpPr>
        <p:spPr>
          <a:xfrm>
            <a:off x="5608015" y="1600200"/>
            <a:ext cx="6035040" cy="2807208"/>
          </a:xfrm>
          <a:prstGeom prst="roundRect">
            <a:avLst>
              <a:gd name="adj" fmla="val 4560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a1_dot"/>
          <p:cNvSpPr/>
          <p:nvPr/>
        </p:nvSpPr>
        <p:spPr>
          <a:xfrm>
            <a:off x="11249863" y="181965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dot"/>
          <p:cNvSpPr/>
          <p:nvPr/>
        </p:nvSpPr>
        <p:spPr>
          <a:xfrm>
            <a:off x="11012119" y="1819656"/>
            <a:ext cx="137160" cy="1371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a1_dot"/>
          <p:cNvSpPr/>
          <p:nvPr/>
        </p:nvSpPr>
        <p:spPr>
          <a:xfrm>
            <a:off x="10774375" y="181965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t"/>
          <p:cNvSpPr txBox="1"/>
          <p:nvPr/>
        </p:nvSpPr>
        <p:spPr>
          <a:xfrm>
            <a:off x="5928055" y="2240280"/>
            <a:ext cx="539496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qiskit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QuantumCircuit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 =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QuantumCircuit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superposition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entangle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qc.</a:t>
            </a:r>
            <a:pPr algn="l" indent="0" marL="0">
              <a:buNone/>
            </a:pPr>
            <a:r>
              <a:rPr lang="en-US" alt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measure_all</a:t>
            </a:r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algn="l" indent="0" marL="0">
              <a:buNone/>
            </a:pPr>
            <a:r>
              <a:rPr lang="en-US" alt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print(qc)</a:t>
            </a:r>
            <a:endParaRPr lang="en-US" sz="1700" dirty="0"/>
          </a:p>
        </p:txBody>
      </p:sp>
      <p:sp>
        <p:nvSpPr>
          <p:cNvPr id="9" name="a2_pc"/>
          <p:cNvSpPr/>
          <p:nvPr/>
        </p:nvSpPr>
        <p:spPr>
          <a:xfrm>
            <a:off x="551383" y="1600200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4373575" y="19202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086" y="2117750"/>
            <a:ext cx="336499" cy="336499"/>
          </a:xfrm>
          <a:prstGeom prst="rect">
            <a:avLst/>
          </a:prstGeom>
        </p:spPr>
      </p:pic>
      <p:sp>
        <p:nvSpPr>
          <p:cNvPr id="12" name="a2_pt"/>
          <p:cNvSpPr txBox="1"/>
          <p:nvPr/>
        </p:nvSpPr>
        <p:spPr>
          <a:xfrm>
            <a:off x="670255" y="1673352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 من IBM، مجانية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صمّم دوائر بلغة بايثون وشغّلها على محاكيات أو حواسيب كمية حقيقية عبر السحابة.</a:t>
            </a:r>
            <a:endParaRPr lang="ar-EG" sz="1800" dirty="0"/>
          </a:p>
        </p:txBody>
      </p:sp>
      <p:sp>
        <p:nvSpPr>
          <p:cNvPr id="13" name="a3_pc"/>
          <p:cNvSpPr/>
          <p:nvPr/>
        </p:nvSpPr>
        <p:spPr>
          <a:xfrm>
            <a:off x="551383" y="3081528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4" name="a3_ico_bg"/>
          <p:cNvSpPr/>
          <p:nvPr/>
        </p:nvSpPr>
        <p:spPr>
          <a:xfrm>
            <a:off x="4373575" y="340156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a3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086" y="3599078"/>
            <a:ext cx="336499" cy="336499"/>
          </a:xfrm>
          <a:prstGeom prst="rect">
            <a:avLst/>
          </a:prstGeom>
        </p:spPr>
      </p:pic>
      <p:sp>
        <p:nvSpPr>
          <p:cNvPr id="16" name="a3_pt"/>
          <p:cNvSpPr txBox="1"/>
          <p:nvPr/>
        </p:nvSpPr>
        <p:spPr>
          <a:xfrm>
            <a:off x="670255" y="315468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h(0)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تضع الكيوبت 0 في حالة تراكب: 0 و1 باحتمال متساوٍ.</a:t>
            </a:r>
            <a:endParaRPr lang="ar-EG" sz="1800" dirty="0"/>
          </a:p>
        </p:txBody>
      </p:sp>
      <p:sp>
        <p:nvSpPr>
          <p:cNvPr id="17" name="a4_pc"/>
          <p:cNvSpPr/>
          <p:nvPr/>
        </p:nvSpPr>
        <p:spPr>
          <a:xfrm>
            <a:off x="551383" y="4562856"/>
            <a:ext cx="4782312" cy="13716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18" name="a4_ico_bg"/>
          <p:cNvSpPr/>
          <p:nvPr/>
        </p:nvSpPr>
        <p:spPr>
          <a:xfrm>
            <a:off x="4373575" y="4882896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a4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86" y="5080406"/>
            <a:ext cx="336499" cy="336499"/>
          </a:xfrm>
          <a:prstGeom prst="rect">
            <a:avLst/>
          </a:prstGeom>
        </p:spPr>
      </p:pic>
      <p:sp>
        <p:nvSpPr>
          <p:cNvPr id="20" name="a4_pt"/>
          <p:cNvSpPr txBox="1"/>
          <p:nvPr/>
        </p:nvSpPr>
        <p:spPr>
          <a:xfrm>
            <a:off x="670255" y="4636008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cx(0, 1)</a:t>
            </a:r>
            <a:endParaRPr lang="ar-EG" sz="1800" dirty="0"/>
          </a:p>
          <a:p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تشابك الكيوبت 1 مع الكيوبت 0. النتائج: 00 أو 11 بنسبة النصف تقريبًا لكل منهما، ولا 01 أو 10 أبدًا.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اختبر فهمك</a:t>
            </a:r>
            <a:endParaRPr lang="ar-EG" sz="3400" dirty="0"/>
          </a:p>
        </p:txBody>
      </p:sp>
      <p:sp>
        <p:nvSpPr>
          <p:cNvPr id="4" name="a1_q"/>
          <p:cNvSpPr/>
          <p:nvPr/>
        </p:nvSpPr>
        <p:spPr>
          <a:xfrm>
            <a:off x="548640" y="150876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5" name="a1_ico_n"/>
          <p:cNvSpPr/>
          <p:nvPr/>
        </p:nvSpPr>
        <p:spPr>
          <a:xfrm>
            <a:off x="10682935" y="1874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a1_ico_nt"/>
          <p:cNvSpPr txBox="1"/>
          <p:nvPr/>
        </p:nvSpPr>
        <p:spPr>
          <a:xfrm>
            <a:off x="10682935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a1_qt"/>
          <p:cNvSpPr txBox="1"/>
          <p:nvPr/>
        </p:nvSpPr>
        <p:spPr>
          <a:xfrm>
            <a:off x="822960" y="155448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الذي يمكن أن يكونه الكيوبت ولا يمكن للبت التقليدي أن يكونه؟</a:t>
            </a:r>
            <a:endParaRPr lang="ar-EG" sz="2100" dirty="0"/>
          </a:p>
        </p:txBody>
      </p:sp>
      <p:sp>
        <p:nvSpPr>
          <p:cNvPr id="8" name="k1_ans"/>
          <p:cNvSpPr/>
          <p:nvPr/>
        </p:nvSpPr>
        <p:spPr>
          <a:xfrm>
            <a:off x="822960" y="225856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9" name="k1_ans_t"/>
          <p:cNvSpPr txBox="1"/>
          <p:nvPr/>
        </p:nvSpPr>
        <p:spPr>
          <a:xfrm>
            <a:off x="1051560" y="225856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مزيج من 0 و1 (تراكب) إلى أن يُقاس.</a:t>
            </a:r>
            <a:endParaRPr lang="ar-EG" sz="1700" dirty="0"/>
          </a:p>
        </p:txBody>
      </p:sp>
      <p:sp>
        <p:nvSpPr>
          <p:cNvPr id="10" name="a2_q"/>
          <p:cNvSpPr/>
          <p:nvPr/>
        </p:nvSpPr>
        <p:spPr>
          <a:xfrm>
            <a:off x="548640" y="306324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11" name="a2_ico_n"/>
          <p:cNvSpPr/>
          <p:nvPr/>
        </p:nvSpPr>
        <p:spPr>
          <a:xfrm>
            <a:off x="10682935" y="34290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a2_ico_nt"/>
          <p:cNvSpPr txBox="1"/>
          <p:nvPr/>
        </p:nvSpPr>
        <p:spPr>
          <a:xfrm>
            <a:off x="10682935" y="3429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a2_qt"/>
          <p:cNvSpPr txBox="1"/>
          <p:nvPr/>
        </p:nvSpPr>
        <p:spPr>
          <a:xfrm>
            <a:off x="822960" y="310896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تُبرَّد الحواسيب الكمية فائقة التوصيل إلى نحو 273 درجة مئوية تحت الصفر؟</a:t>
            </a:r>
            <a:endParaRPr lang="ar-EG" sz="2100" dirty="0"/>
          </a:p>
        </p:txBody>
      </p:sp>
      <p:sp>
        <p:nvSpPr>
          <p:cNvPr id="14" name="k2_ans"/>
          <p:cNvSpPr/>
          <p:nvPr/>
        </p:nvSpPr>
        <p:spPr>
          <a:xfrm>
            <a:off x="822960" y="381304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15" name="k2_ans_t"/>
          <p:cNvSpPr txBox="1"/>
          <p:nvPr/>
        </p:nvSpPr>
        <p:spPr>
          <a:xfrm>
            <a:off x="1051560" y="381304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لأن الحرارة تدمّر الحالات الكمية الهشّة (فقدان الترابط الكمي).</a:t>
            </a:r>
            <a:endParaRPr lang="ar-EG" sz="1700" dirty="0"/>
          </a:p>
        </p:txBody>
      </p:sp>
      <p:sp>
        <p:nvSpPr>
          <p:cNvPr id="16" name="a3_q"/>
          <p:cNvSpPr/>
          <p:nvPr/>
        </p:nvSpPr>
        <p:spPr>
          <a:xfrm>
            <a:off x="548640" y="4617720"/>
            <a:ext cx="11094415" cy="1417320"/>
          </a:xfrm>
          <a:prstGeom prst="roundRect">
            <a:avLst>
              <a:gd name="adj" fmla="val 10323"/>
            </a:avLst>
          </a:prstGeom>
          <a:solidFill>
            <a:schemeClr val="bg2"/>
          </a:solidFill>
          <a:ln/>
        </p:spPr>
      </p:sp>
      <p:sp>
        <p:nvSpPr>
          <p:cNvPr id="17" name="a3_ico_n"/>
          <p:cNvSpPr/>
          <p:nvPr/>
        </p:nvSpPr>
        <p:spPr>
          <a:xfrm>
            <a:off x="10682935" y="49834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a3_ico_nt"/>
          <p:cNvSpPr txBox="1"/>
          <p:nvPr/>
        </p:nvSpPr>
        <p:spPr>
          <a:xfrm>
            <a:off x="10682935" y="4983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a3_qt"/>
          <p:cNvSpPr txBox="1"/>
          <p:nvPr/>
        </p:nvSpPr>
        <p:spPr>
          <a:xfrm>
            <a:off x="822960" y="4663440"/>
            <a:ext cx="963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هل ستحل الحواسيب الكمية محل المعالج في هاتفك؟</a:t>
            </a:r>
            <a:endParaRPr lang="ar-EG" sz="2100" dirty="0"/>
          </a:p>
        </p:txBody>
      </p:sp>
      <p:sp>
        <p:nvSpPr>
          <p:cNvPr id="20" name="k3_ans"/>
          <p:cNvSpPr/>
          <p:nvPr/>
        </p:nvSpPr>
        <p:spPr>
          <a:xfrm>
            <a:off x="822960" y="5367528"/>
            <a:ext cx="9631375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/>
        </p:spPr>
      </p:sp>
      <p:sp>
        <p:nvSpPr>
          <p:cNvPr id="21" name="k3_ans_t"/>
          <p:cNvSpPr txBox="1"/>
          <p:nvPr/>
        </p:nvSpPr>
        <p:spPr>
          <a:xfrm>
            <a:off x="1051560" y="5367528"/>
            <a:ext cx="9174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لا. ستعمل مع الرقائق التقليدية في مسائل محددة.</a:t>
            </a:r>
            <a:endParaRPr lang="ar-EG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bg1"/>
                </a:solidFill>
              </a:rPr>
              <a:t>أهم الخلاصات</a:t>
            </a:r>
            <a:endParaRPr lang="ar-EG" sz="3400" dirty="0"/>
          </a:p>
        </p:txBody>
      </p:sp>
      <p:pic>
        <p:nvPicPr>
          <p:cNvPr id="4" name="a1_ico_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1600200"/>
            <a:ext cx="457200" cy="457200"/>
          </a:xfrm>
          <a:prstGeom prst="rect">
            <a:avLst/>
          </a:prstGeom>
        </p:spPr>
      </p:pic>
      <p:sp>
        <p:nvSpPr>
          <p:cNvPr id="5" name="a1_tt"/>
          <p:cNvSpPr txBox="1"/>
          <p:nvPr/>
        </p:nvSpPr>
        <p:spPr>
          <a:xfrm>
            <a:off x="4327855" y="1554480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تصغير الترانزستورات يصطدم بحدود فيزيائية: الذرات والحرارة والتسرّب الكمي.</a:t>
            </a:r>
            <a:endParaRPr lang="ar-EG" sz="1900" dirty="0"/>
          </a:p>
        </p:txBody>
      </p:sp>
      <p:pic>
        <p:nvPicPr>
          <p:cNvPr id="6" name="a2_ico_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5855" y="2496312"/>
            <a:ext cx="457200" cy="457200"/>
          </a:xfrm>
          <a:prstGeom prst="rect">
            <a:avLst/>
          </a:prstGeom>
        </p:spPr>
      </p:pic>
      <p:sp>
        <p:nvSpPr>
          <p:cNvPr id="7" name="a2_tt"/>
          <p:cNvSpPr txBox="1"/>
          <p:nvPr/>
        </p:nvSpPr>
        <p:spPr>
          <a:xfrm>
            <a:off x="4327855" y="2450592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تعتمد الكيوبتات على التراكب والتشابك والتداخل.</a:t>
            </a:r>
            <a:endParaRPr lang="ar-EG" sz="1900" dirty="0"/>
          </a:p>
        </p:txBody>
      </p:sp>
      <p:pic>
        <p:nvPicPr>
          <p:cNvPr id="8" name="a3_ico_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5855" y="3392424"/>
            <a:ext cx="457200" cy="457200"/>
          </a:xfrm>
          <a:prstGeom prst="rect">
            <a:avLst/>
          </a:prstGeom>
        </p:spPr>
      </p:pic>
      <p:sp>
        <p:nvSpPr>
          <p:cNvPr id="9" name="a3_tt"/>
          <p:cNvSpPr txBox="1"/>
          <p:nvPr/>
        </p:nvSpPr>
        <p:spPr>
          <a:xfrm>
            <a:off x="4327855" y="3346704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وعود كبيرة في الكيمياء والمواد والأمن والتحسين.</a:t>
            </a:r>
            <a:endParaRPr lang="ar-EG" sz="1900" dirty="0"/>
          </a:p>
        </p:txBody>
      </p:sp>
      <p:pic>
        <p:nvPicPr>
          <p:cNvPr id="10" name="a4_ico_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5855" y="4288536"/>
            <a:ext cx="457200" cy="457200"/>
          </a:xfrm>
          <a:prstGeom prst="rect">
            <a:avLst/>
          </a:prstGeom>
        </p:spPr>
      </p:pic>
      <p:sp>
        <p:nvSpPr>
          <p:cNvPr id="11" name="a4_tt"/>
          <p:cNvSpPr txBox="1"/>
          <p:nvPr/>
        </p:nvSpPr>
        <p:spPr>
          <a:xfrm>
            <a:off x="4327855" y="4242816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أجهزة اليوم صغيرة وفيها ضجيج، لكن التقدّم سريع.</a:t>
            </a:r>
            <a:endParaRPr lang="ar-EG" sz="1900" dirty="0"/>
          </a:p>
        </p:txBody>
      </p:sp>
      <p:pic>
        <p:nvPicPr>
          <p:cNvPr id="12" name="a5_ico_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5855" y="5184648"/>
            <a:ext cx="457200" cy="457200"/>
          </a:xfrm>
          <a:prstGeom prst="rect">
            <a:avLst/>
          </a:prstGeom>
        </p:spPr>
      </p:pic>
      <p:sp>
        <p:nvSpPr>
          <p:cNvPr id="13" name="a5_tt"/>
          <p:cNvSpPr txBox="1"/>
          <p:nvPr/>
        </p:nvSpPr>
        <p:spPr>
          <a:xfrm>
            <a:off x="4327855" y="5138928"/>
            <a:ext cx="6583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ستكون الحواسيب الكمية شريكة للمعالجات CPU وGPU لا بديلة عنها.</a:t>
            </a:r>
            <a:endParaRPr lang="ar-EG" sz="1900" dirty="0"/>
          </a:p>
        </p:txBody>
      </p:sp>
      <p:sp>
        <p:nvSpPr>
          <p:cNvPr id="14" name="a6_dc"/>
          <p:cNvSpPr/>
          <p:nvPr/>
        </p:nvSpPr>
        <p:spPr>
          <a:xfrm>
            <a:off x="551383" y="1554480"/>
            <a:ext cx="3410712" cy="4526280"/>
          </a:xfrm>
          <a:prstGeom prst="roundRect">
            <a:avLst>
              <a:gd name="adj" fmla="val 5362"/>
            </a:avLst>
          </a:prstGeom>
          <a:solidFill>
            <a:schemeClr val="accent4"/>
          </a:solidFill>
          <a:ln/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pic>
        <p:nvPicPr>
          <p:cNvPr id="15" name="a6_ico_dc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6255" y="1874520"/>
            <a:ext cx="640080" cy="640080"/>
          </a:xfrm>
          <a:prstGeom prst="rect">
            <a:avLst/>
          </a:prstGeom>
        </p:spPr>
      </p:pic>
      <p:sp>
        <p:nvSpPr>
          <p:cNvPr id="16" name="a6_dl"/>
          <p:cNvSpPr txBox="1"/>
          <p:nvPr/>
        </p:nvSpPr>
        <p:spPr>
          <a:xfrm>
            <a:off x="853135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ناقشوا</a:t>
            </a:r>
            <a:endParaRPr lang="ar-EG" sz="1500" dirty="0"/>
          </a:p>
        </p:txBody>
      </p:sp>
      <p:sp>
        <p:nvSpPr>
          <p:cNvPr id="17" name="a6_dt"/>
          <p:cNvSpPr txBox="1"/>
          <p:nvPr/>
        </p:nvSpPr>
        <p:spPr>
          <a:xfrm>
            <a:off x="853135" y="3154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EG" alt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أيّ مشكلة في مصر (الأسمدة، المياه، المرور، الطب…) يمكن أن تستفيد أكثر من الحوسبة الكمية؟ ولماذا؟</a:t>
            </a:r>
            <a:endParaRPr lang="ar-EG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3400" b="1" dirty="0">
                <a:solidFill>
                  <a:schemeClr val="tx1"/>
                </a:solidFill>
              </a:rPr>
              <a:t>للمزيد</a:t>
            </a:r>
            <a:endParaRPr lang="ar-EG" sz="3400" dirty="0"/>
          </a:p>
        </p:txBody>
      </p:sp>
      <p:sp>
        <p:nvSpPr>
          <p:cNvPr id="4" name="a1_r"/>
          <p:cNvSpPr/>
          <p:nvPr/>
        </p:nvSpPr>
        <p:spPr>
          <a:xfrm>
            <a:off x="548640" y="15544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10911535" y="167335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59668" y="1821485"/>
            <a:ext cx="252374" cy="252374"/>
          </a:xfrm>
          <a:prstGeom prst="rect">
            <a:avLst/>
          </a:prstGeom>
        </p:spPr>
      </p:pic>
      <p:sp>
        <p:nvSpPr>
          <p:cNvPr id="7" name="a1_rt"/>
          <p:cNvSpPr txBox="1"/>
          <p:nvPr/>
        </p:nvSpPr>
        <p:spPr>
          <a:xfrm>
            <a:off x="822960" y="1554480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Quantum Learning  </a:t>
            </a:r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دورات مجانية ودروس Qiskit.</a:t>
            </a:r>
            <a:endParaRPr lang="ar-EG" sz="1800" dirty="0"/>
          </a:p>
        </p:txBody>
      </p:sp>
      <p:sp>
        <p:nvSpPr>
          <p:cNvPr id="8" name="a2_r"/>
          <p:cNvSpPr/>
          <p:nvPr/>
        </p:nvSpPr>
        <p:spPr>
          <a:xfrm>
            <a:off x="548640" y="2450592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9" name="a2_ico_bg"/>
          <p:cNvSpPr/>
          <p:nvPr/>
        </p:nvSpPr>
        <p:spPr>
          <a:xfrm>
            <a:off x="10911535" y="2569464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9668" y="2717597"/>
            <a:ext cx="252374" cy="252374"/>
          </a:xfrm>
          <a:prstGeom prst="rect">
            <a:avLst/>
          </a:prstGeom>
        </p:spPr>
      </p:pic>
      <p:sp>
        <p:nvSpPr>
          <p:cNvPr id="11" name="a2_rt"/>
          <p:cNvSpPr txBox="1"/>
          <p:nvPr/>
        </p:nvSpPr>
        <p:spPr>
          <a:xfrm>
            <a:off x="822960" y="2450592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Quantum AI  </a:t>
            </a:r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أخبار الأبحاث وشروح مبسطة.</a:t>
            </a:r>
            <a:endParaRPr lang="ar-EG" sz="1800" dirty="0"/>
          </a:p>
        </p:txBody>
      </p:sp>
      <p:sp>
        <p:nvSpPr>
          <p:cNvPr id="12" name="a3_r"/>
          <p:cNvSpPr/>
          <p:nvPr/>
        </p:nvSpPr>
        <p:spPr>
          <a:xfrm>
            <a:off x="548640" y="3346704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a3_ico_bg"/>
          <p:cNvSpPr/>
          <p:nvPr/>
        </p:nvSpPr>
        <p:spPr>
          <a:xfrm>
            <a:off x="10911535" y="346557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668" y="3613709"/>
            <a:ext cx="252374" cy="252374"/>
          </a:xfrm>
          <a:prstGeom prst="rect">
            <a:avLst/>
          </a:prstGeom>
        </p:spPr>
      </p:pic>
      <p:sp>
        <p:nvSpPr>
          <p:cNvPr id="15" name="a3_rt"/>
          <p:cNvSpPr txBox="1"/>
          <p:nvPr/>
        </p:nvSpPr>
        <p:spPr>
          <a:xfrm>
            <a:off x="822960" y="3346704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Post-Quantum Cryptography  </a:t>
            </a:r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معايير التشفير المقاوم للحوسبة الكمية.</a:t>
            </a:r>
            <a:endParaRPr lang="ar-EG" sz="1800" dirty="0"/>
          </a:p>
        </p:txBody>
      </p:sp>
      <p:sp>
        <p:nvSpPr>
          <p:cNvPr id="16" name="a4_r"/>
          <p:cNvSpPr/>
          <p:nvPr/>
        </p:nvSpPr>
        <p:spPr>
          <a:xfrm>
            <a:off x="548640" y="4242816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a4_ico_bg"/>
          <p:cNvSpPr/>
          <p:nvPr/>
        </p:nvSpPr>
        <p:spPr>
          <a:xfrm>
            <a:off x="10911535" y="43616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9668" y="4509821"/>
            <a:ext cx="252374" cy="252374"/>
          </a:xfrm>
          <a:prstGeom prst="rect">
            <a:avLst/>
          </a:prstGeom>
        </p:spPr>
      </p:pic>
      <p:sp>
        <p:nvSpPr>
          <p:cNvPr id="19" name="a4_rt"/>
          <p:cNvSpPr txBox="1"/>
          <p:nvPr/>
        </p:nvSpPr>
        <p:spPr>
          <a:xfrm>
            <a:off x="822960" y="4242816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وQuanta Magazine  </a:t>
            </a:r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مقالات مبسطة عن الحوسبة الكمية.</a:t>
            </a:r>
            <a:endParaRPr lang="ar-EG" sz="1800" dirty="0"/>
          </a:p>
        </p:txBody>
      </p:sp>
      <p:sp>
        <p:nvSpPr>
          <p:cNvPr id="20" name="a5_r"/>
          <p:cNvSpPr/>
          <p:nvPr/>
        </p:nvSpPr>
        <p:spPr>
          <a:xfrm>
            <a:off x="548640" y="5138928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a5_ico_bg"/>
          <p:cNvSpPr/>
          <p:nvPr/>
        </p:nvSpPr>
        <p:spPr>
          <a:xfrm>
            <a:off x="10911535" y="525780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2" name="a5_ico_img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9668" y="5405933"/>
            <a:ext cx="252374" cy="252374"/>
          </a:xfrm>
          <a:prstGeom prst="rect">
            <a:avLst/>
          </a:prstGeom>
        </p:spPr>
      </p:pic>
      <p:sp>
        <p:nvSpPr>
          <p:cNvPr id="23" name="a5_rt"/>
          <p:cNvSpPr txBox="1"/>
          <p:nvPr/>
        </p:nvSpPr>
        <p:spPr>
          <a:xfrm>
            <a:off x="822960" y="5138928"/>
            <a:ext cx="98142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EG" alt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Moore (1965)  </a:t>
            </a:r>
            <a:pPr algn="r" indent="0" marL="0">
              <a:buNone/>
            </a:pPr>
            <a:r>
              <a:rPr lang="ar-EG" alt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“Cramming more components onto integrated circuits”، مجلة Electronics.</a:t>
            </a:r>
            <a:endParaRPr lang="ar-EG" sz="1800" dirty="0"/>
          </a:p>
        </p:txBody>
      </p:sp>
      <p:sp>
        <p:nvSpPr>
          <p:cNvPr id="24" name="a8_n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EG" alt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تعكس الحقائق معلومات منشورة حتى عام 2025. هذا المجال يتغيّر بسرعة، فراجع الأخبار الحديثة قبل التدريس.</a:t>
            </a:r>
            <a:endParaRPr lang="ar-EG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51383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Quantum">
  <a:themeElements>
    <a:clrScheme name="Quantum">
      <a:dk1>
        <a:srgbClr val="0B1030"/>
      </a:dk1>
      <a:lt1>
        <a:srgbClr val="FFFFFF"/>
      </a:lt1>
      <a:dk2>
        <a:srgbClr val="2A1B6E"/>
      </a:dk2>
      <a:lt2>
        <a:srgbClr val="ECEFFE"/>
      </a:lt2>
      <a:accent1>
        <a:srgbClr val="22D3EE"/>
      </a:accent1>
      <a:accent2>
        <a:srgbClr val="A78BFA"/>
      </a:accent2>
      <a:accent3>
        <a:srgbClr val="F472B6"/>
      </a:accent3>
      <a:accent4>
        <a:srgbClr val="FBBF24"/>
      </a:accent4>
      <a:accent5>
        <a:srgbClr val="34D399"/>
      </a:accent5>
      <a:accent6>
        <a:srgbClr val="60A5FA"/>
      </a:accent6>
      <a:hlink>
        <a:srgbClr val="6D28D9"/>
      </a:hlink>
      <a:folHlink>
        <a:srgbClr val="A78BFA"/>
      </a:folHlink>
    </a:clrScheme>
    <a:fontScheme name="Quantu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الحوسبة الكمية: طريقة جديدة للحساب</dc:title>
  <dc:subject>الحوسبة الكمية: طريقة جديدة للحساب</dc:subject>
  <dc:creator>Technology Dept.</dc:creator>
  <cp:lastModifiedBy>Technology Dept.</cp:lastModifiedBy>
  <cp:revision>1</cp:revision>
  <dcterms:created xsi:type="dcterms:W3CDTF">2026-10-08T08:44:03Z</dcterms:created>
  <dcterms:modified xsi:type="dcterms:W3CDTF">2026-10-08T08:44:03Z</dcterms:modified>
</cp:coreProperties>
</file>