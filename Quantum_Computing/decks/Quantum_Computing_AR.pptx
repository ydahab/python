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a7474d0-6525-0dcd-16fa-702c566c4770}">
          <p14:sldIdLst>
            <p14:sldId id="256"/>
            <p14:sldId id="257"/>
          </p14:sldIdLst>
        </p14:section>
        <p14:section name="لماذا نحتاجها؟" id="{404cbe18-fb98-4a63-81b0-9bdb98361397}">
          <p14:sldIdLst>
            <p14:sldId id="258"/>
            <p14:sldId id="259"/>
            <p14:sldId id="260"/>
            <p14:sldId id="261"/>
          </p14:sldIdLst>
        </p14:section>
        <p14:section name="ما هي الحوسبة الكمومية؟" id="{0fa2125f-dfb5-7dea-528f-7a56332c1ae2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التطبيقات والفوائد" id="{8dffadc6-8dc0-659f-6b7a-8195a87fcf9b}">
          <p14:sldIdLst>
            <p14:sldId id="269"/>
            <p14:sldId id="270"/>
            <p14:sldId id="271"/>
            <p14:sldId id="272"/>
            <p14:sldId id="273"/>
          </p14:sldIdLst>
        </p14:section>
        <p14:section name="الحوسبة الكمومية وصناعة العتاد" id="{2924d0fc-fdac-4cbd-b9cf-8564374c6772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الترانزستورات في الرقاقة</c:v>
                </c:pt>
              </c:strCache>
            </c:strRef>
          </c:tx>
          <c:spPr>
            <a:solidFill>
              <a:srgbClr val="A78BFA"/>
            </a:solidFill>
            <a:ln w="38100" cap="flat">
              <a:solidFill>
                <a:srgbClr val="A78BFA"/>
              </a:solidFill>
              <a:prstDash val="solid"/>
              <a:round/>
            </a:ln>
            <a:effectLst/>
          </c:spPr>
          <c:invertIfNegative val="0"/>
          <c:dLbls>
            <c:numFmt formatCode="[&gt;=1000000000]0.0,,,&quot;B&quot;;[&gt;=1000000]0.0,,&quot;M&quot;;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03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1971</c:v>
                  </c:pt>
                  <c:pt idx="1">
                    <c:v>1982</c:v>
                  </c:pt>
                  <c:pt idx="2">
                    <c:v>1993</c:v>
                  </c:pt>
                  <c:pt idx="3">
                    <c:v>2000</c:v>
                  </c:pt>
                  <c:pt idx="4">
                    <c:v>2006</c:v>
                  </c:pt>
                  <c:pt idx="5">
                    <c:v>2012</c:v>
                  </c:pt>
                  <c:pt idx="6">
                    <c:v>2017</c:v>
                  </c:pt>
                  <c:pt idx="7">
                    <c:v>2022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2300</c:v>
                </c:pt>
                <c:pt idx="1">
                  <c:v>134000</c:v>
                </c:pt>
                <c:pt idx="2">
                  <c:v>3100000</c:v>
                </c:pt>
                <c:pt idx="3">
                  <c:v>42000000</c:v>
                </c:pt>
                <c:pt idx="4">
                  <c:v>291000000</c:v>
                </c:pt>
                <c:pt idx="5">
                  <c:v>1400000000</c:v>
                </c:pt>
                <c:pt idx="6">
                  <c:v>19200000000</c:v>
                </c:pt>
                <c:pt idx="7">
                  <c:v>114000000000</c:v>
                </c:pt>
              </c:numCache>
            </c:numRef>
          </c:val>
          <c:smooth val="0"/>
        </c:ser>
        <c:dLbls>
          <c:numFmt formatCode="[&gt;=1000000000]0.0,,,&quot;B&quot;;[&gt;=1000000]0.0,,&quot;M&quot;;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103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0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0000000"/>
          <c:min val="1000"/>
        </c:scaling>
        <c:delete val="1"/>
        <c:axPos val="l"/>
        <c:majorGridlines>
          <c:spPr>
            <a:ln w="9525" cap="flat">
              <a:solidFill>
                <a:srgbClr val="CBD5F5"/>
              </a:solidFill>
              <a:prstDash val="solid"/>
              <a:round/>
            </a:ln>
          </c:spPr>
        </c:majorGridlines>
        <c:numFmt formatCode="[&gt;=1000000000]0,,,&quot;B&quot;;[&gt;=1000000]0,,&quot;M&quot;;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03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بسؤال: هاتفك يحتوي على نحو 15 إلى 20 مليار ترانزستور. هل يمكن أن تستمر الرقائق في الصغر إلى ما لا نهاية؟ اليوم نتعرّف على فكرة قد تكمّلها.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أجزاء، نحو 40 إلى 45 دقيقة مع الأنشطة.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الأول يعرض المشكلة قبل فكرة الحل.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نبّه إلى المحور اللوغاريتمي: الخط المستقيم يعني مضاعفة ثابتة. إنتل 4004 = 2,300؛ 286 = 134 ألفًا؛ بنتيوم = 3.1 مليون؛ بنتيوم 4 = 42 مليونًا؛ كور 2 ديو = 291 مليونًا؛ آيفي بريدج رباعي النوى = 1.4 مليار؛ AMD EPYC (2017) = 19.2 مليارًا؛ أبل M1 Ultra (2022) = 114 مليارًا.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وضّح أن الرقائق التقليدية لم تمت. فكرة الحوسبة الكمومية حلّ بعض المسائل بطريقة مختلفة، لا تسريع كل شيء.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الإلكترون يسلك سلوك موجة احتمالية. والموجة لا تتوقف فجأة عند الجدار: يستمر جزء صغير منها داخله، وإذا كان الجدار رقيقًا بما يكفي خرج جزء من الجانب الآخر. وقواعد الكم نفسها التي تسبّب هذا التسرّب هي التي تجعل الحواسيب الكمومية ممكنة.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الثاني: الأفكار الأساسية. اجعل التشبيهات بسيطة وكن صريحًا في حدودها.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الكرة هي كرة بلوخ: القطب الشمالي = 0، والقطب الجنوبي = 1، وأي نقطة أخرى = حالة تراكب.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أشيع سوء فهم، فاذكره بصوت مسموع. تشبيه التشابك: عملتان سحريتان تسقطان دائمًا على الوجه نفسه، مع أن كل واحدة وحدها عشوائية.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2^50 = 1.13 × 10^15؛ وبمعدل 16 بايتًا للعدد المركب يعادل ذلك نحو 18 بيتابايت. و2^300 يقارب 2 × 10^90.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 تفز أي تقنية بعد. لكل منها مقايضات في السرعة والدقة وسهولة التوسّع.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تستخدم الأنظمة الحقيقية مبرّد تخفيف. درجات الحرارة تقريبية وتختلف بين الأجهزة.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أعداد الكيوبتات وإنجازات تصحيح الأخطاء تتغيّر بسرعة. راجع آخر أخبار IBM وGoogle وQuantinuum وغيرها قبل الحصة.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الثالث: أين قد تفيد الحوسبة الكمومية، وأين لا تفيد.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اسأل: أيّ هذه المجالات أهم لمصر؟ الأسمدة والمياه والطب والخدمات اللوجستية أمثلة محلية جيدة.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كن متوازنًا: الفوائد حقيقية لكنها خاصة بمسائل معيّنة. خوارزمية غروفر للبحث تعطي تسريعًا بالجذر التربيعي، وخوارزمية شور لتحليل الأعداد تعطي تسريعًا أسّيًا.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نشرت NIST في أغسطس 2024 المعايير FIPS 203 (ML-KEM) وFIPS 204 (ML-DSA) وFIPS 205 (SLH-DSA). تقدّر أبحاث حديثة أن RSA-2048 قد يُكسر بأقل من مليون كيوبت مضطرب؛ وأجهزة اليوم أصغر من ذلك بكثير.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ممتازة للنقاش: اسأل الطلاب أيّ خرافة كانوا يصدّقونها قبل اليوم.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الرابع يجيب عن السؤال: هل الحوسبة الكمومية هي الحل لنهاية التصغير؟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صحّح الفرضية بلطف: الحوسبة الكمومية لا تنقذ قانون مور للرقائق اليومية، بل تضيف نوعًا جديدًا من المعالجات.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أظهرت إنتل رقائق كيوبتات سيليكونية مصنّعة في مصانعها. وتستخدم رقائق الكيوبتات فائقة التوصيل خطوات تصنيع قريبة من تصنيع أشباه الموصلات.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دائرة حالة بيل. شغّلها على محاكٍ في الحصة (pip install qiskit qiskit-aer) ليرى الطلاب التشابك في النتائج.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لإظهار كل إجابة. أعطِ الطلاب 20 ثانية لكل سؤال أولًا.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أعطِ المجموعات خمس دقائق ثم شاركوا الأفكار.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مقترح للمتابعة: معمل يشغّل فيه الطلاب دائرة حالة بيل ويرسمون النتائج.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693615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78815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78815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Text 0"/>
          <p:cNvSpPr/>
          <p:nvPr/>
        </p:nvSpPr>
        <p:spPr>
          <a:xfrm>
            <a:off x="6156655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</a:rPr>
              <a:t>الحوسبة الكمومية  |  تكنولوجيا للمرحلة الثانوية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Text 0"/>
          <p:cNvSpPr/>
          <p:nvPr/>
        </p:nvSpPr>
        <p:spPr>
          <a:xfrm>
            <a:off x="6156655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</a:rPr>
              <a:t>الحوسبة الكمومية  |  تكنولوجيا للمرحلة الثانوية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4_halo0"/>
          <p:cNvSpPr/>
          <p:nvPr/>
        </p:nvSpPr>
        <p:spPr>
          <a:xfrm>
            <a:off x="-61265" y="914400"/>
            <a:ext cx="5029200" cy="5029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4" name="a4_halo1"/>
          <p:cNvSpPr/>
          <p:nvPr/>
        </p:nvSpPr>
        <p:spPr>
          <a:xfrm>
            <a:off x="743407" y="1719072"/>
            <a:ext cx="3419856" cy="3419856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5" name="a4_halo2"/>
          <p:cNvSpPr/>
          <p:nvPr/>
        </p:nvSpPr>
        <p:spPr>
          <a:xfrm>
            <a:off x="1497787" y="2473452"/>
            <a:ext cx="1911096" cy="1911096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6" name="a4_ico_core"/>
          <p:cNvSpPr/>
          <p:nvPr/>
        </p:nvSpPr>
        <p:spPr>
          <a:xfrm>
            <a:off x="2133295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a4_ico_e0"/>
          <p:cNvSpPr/>
          <p:nvPr/>
        </p:nvSpPr>
        <p:spPr>
          <a:xfrm>
            <a:off x="63686" y="2040557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a4_ico_e1"/>
          <p:cNvSpPr/>
          <p:nvPr/>
        </p:nvSpPr>
        <p:spPr>
          <a:xfrm>
            <a:off x="3437171" y="4548654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ico_e2"/>
          <p:cNvSpPr/>
          <p:nvPr/>
        </p:nvSpPr>
        <p:spPr>
          <a:xfrm>
            <a:off x="1594476" y="3916565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1_pill"/>
          <p:cNvSpPr/>
          <p:nvPr/>
        </p:nvSpPr>
        <p:spPr>
          <a:xfrm>
            <a:off x="6339535" y="914400"/>
            <a:ext cx="512064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a1_pill_t"/>
          <p:cNvSpPr txBox="1"/>
          <p:nvPr/>
        </p:nvSpPr>
        <p:spPr>
          <a:xfrm>
            <a:off x="6339535" y="914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التكنولوجيا  ·  المرحلة الثانوية</a:t>
            </a:r>
            <a:endParaRPr lang="ar-EG" sz="13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693615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600" b="1" dirty="0">
                <a:solidFill>
                  <a:schemeClr val="bg1"/>
                </a:solidFill>
              </a:rPr>
              <a:t>الحوسبة الكمومية</a:t>
            </a:r>
            <a:endParaRPr lang="ar-EG" sz="46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5059375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طريقة جديدة للحساب، وما تعنيه لرقائق المستقبل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رحلة اليوم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9075191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a1_ico_bg"/>
          <p:cNvSpPr/>
          <p:nvPr/>
        </p:nvSpPr>
        <p:spPr>
          <a:xfrm>
            <a:off x="10454335" y="1965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8879" y="2200504"/>
            <a:ext cx="399593" cy="399593"/>
          </a:xfrm>
          <a:prstGeom prst="rect">
            <a:avLst/>
          </a:prstGeom>
        </p:spPr>
      </p:pic>
      <p:sp>
        <p:nvSpPr>
          <p:cNvPr id="7" name="a1_no"/>
          <p:cNvSpPr txBox="1"/>
          <p:nvPr/>
        </p:nvSpPr>
        <p:spPr>
          <a:xfrm>
            <a:off x="9395231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a1_head"/>
          <p:cNvSpPr txBox="1"/>
          <p:nvPr/>
        </p:nvSpPr>
        <p:spPr>
          <a:xfrm>
            <a:off x="9395231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نحتاجها؟</a:t>
            </a:r>
            <a:endParaRPr lang="ar-EG" sz="2300" dirty="0"/>
          </a:p>
        </p:txBody>
      </p:sp>
      <p:sp>
        <p:nvSpPr>
          <p:cNvPr id="9" name="a1_body"/>
          <p:cNvSpPr txBox="1"/>
          <p:nvPr/>
        </p:nvSpPr>
        <p:spPr>
          <a:xfrm>
            <a:off x="9395231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حدود تصغير الترانزستورات (قانون مور).</a:t>
            </a:r>
            <a:endParaRPr lang="ar-EG" sz="1600" dirty="0"/>
          </a:p>
        </p:txBody>
      </p:sp>
      <p:sp>
        <p:nvSpPr>
          <p:cNvPr id="10" name="a2_card"/>
          <p:cNvSpPr/>
          <p:nvPr/>
        </p:nvSpPr>
        <p:spPr>
          <a:xfrm>
            <a:off x="6233008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a2_ico_bg"/>
          <p:cNvSpPr/>
          <p:nvPr/>
        </p:nvSpPr>
        <p:spPr>
          <a:xfrm>
            <a:off x="7612151" y="19659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695" y="2200504"/>
            <a:ext cx="399593" cy="399593"/>
          </a:xfrm>
          <a:prstGeom prst="rect">
            <a:avLst/>
          </a:prstGeom>
        </p:spPr>
      </p:pic>
      <p:sp>
        <p:nvSpPr>
          <p:cNvPr id="13" name="a2_no"/>
          <p:cNvSpPr txBox="1"/>
          <p:nvPr/>
        </p:nvSpPr>
        <p:spPr>
          <a:xfrm>
            <a:off x="6553048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a2_head"/>
          <p:cNvSpPr txBox="1"/>
          <p:nvPr/>
        </p:nvSpPr>
        <p:spPr>
          <a:xfrm>
            <a:off x="6553048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هي؟</a:t>
            </a:r>
            <a:endParaRPr lang="ar-EG" sz="2300" dirty="0"/>
          </a:p>
        </p:txBody>
      </p:sp>
      <p:sp>
        <p:nvSpPr>
          <p:cNvPr id="15" name="a2_body"/>
          <p:cNvSpPr txBox="1"/>
          <p:nvPr/>
        </p:nvSpPr>
        <p:spPr>
          <a:xfrm>
            <a:off x="6553048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الكيوبت، والتراكب، والتشابك، والتداخل.</a:t>
            </a:r>
            <a:endParaRPr lang="ar-EG" sz="1600" dirty="0"/>
          </a:p>
        </p:txBody>
      </p:sp>
      <p:sp>
        <p:nvSpPr>
          <p:cNvPr id="16" name="a3_card"/>
          <p:cNvSpPr/>
          <p:nvPr/>
        </p:nvSpPr>
        <p:spPr>
          <a:xfrm>
            <a:off x="3390824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a3_ico_bg"/>
          <p:cNvSpPr/>
          <p:nvPr/>
        </p:nvSpPr>
        <p:spPr>
          <a:xfrm>
            <a:off x="4769968" y="19659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511" y="2200504"/>
            <a:ext cx="399593" cy="399593"/>
          </a:xfrm>
          <a:prstGeom prst="rect">
            <a:avLst/>
          </a:prstGeom>
        </p:spPr>
      </p:pic>
      <p:sp>
        <p:nvSpPr>
          <p:cNvPr id="19" name="a3_no"/>
          <p:cNvSpPr txBox="1"/>
          <p:nvPr/>
        </p:nvSpPr>
        <p:spPr>
          <a:xfrm>
            <a:off x="3710864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a3_head"/>
          <p:cNvSpPr txBox="1"/>
          <p:nvPr/>
        </p:nvSpPr>
        <p:spPr>
          <a:xfrm>
            <a:off x="3710864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الاستخدامات والفوائد</a:t>
            </a:r>
            <a:endParaRPr lang="ar-EG" sz="2300" dirty="0"/>
          </a:p>
        </p:txBody>
      </p:sp>
      <p:sp>
        <p:nvSpPr>
          <p:cNvPr id="21" name="a3_body"/>
          <p:cNvSpPr txBox="1"/>
          <p:nvPr/>
        </p:nvSpPr>
        <p:spPr>
          <a:xfrm>
            <a:off x="3710864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الطب والمواد والأمن والتحسين.</a:t>
            </a:r>
            <a:endParaRPr lang="ar-EG" sz="1600" dirty="0"/>
          </a:p>
        </p:txBody>
      </p:sp>
      <p:sp>
        <p:nvSpPr>
          <p:cNvPr id="22" name="a4_card"/>
          <p:cNvSpPr/>
          <p:nvPr/>
        </p:nvSpPr>
        <p:spPr>
          <a:xfrm>
            <a:off x="548640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a4_ico_bg"/>
          <p:cNvSpPr/>
          <p:nvPr/>
        </p:nvSpPr>
        <p:spPr>
          <a:xfrm>
            <a:off x="1927784" y="19659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327" y="2200504"/>
            <a:ext cx="399593" cy="399593"/>
          </a:xfrm>
          <a:prstGeom prst="rect">
            <a:avLst/>
          </a:prstGeom>
        </p:spPr>
      </p:pic>
      <p:sp>
        <p:nvSpPr>
          <p:cNvPr id="25" name="a4_no"/>
          <p:cNvSpPr txBox="1"/>
          <p:nvPr/>
        </p:nvSpPr>
        <p:spPr>
          <a:xfrm>
            <a:off x="86868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a4_head"/>
          <p:cNvSpPr txBox="1"/>
          <p:nvPr/>
        </p:nvSpPr>
        <p:spPr>
          <a:xfrm>
            <a:off x="868680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صناعة العتاد</a:t>
            </a:r>
            <a:endParaRPr lang="ar-EG" sz="2300" dirty="0"/>
          </a:p>
        </p:txBody>
      </p:sp>
      <p:sp>
        <p:nvSpPr>
          <p:cNvPr id="27" name="a4_body"/>
          <p:cNvSpPr txBox="1"/>
          <p:nvPr/>
        </p:nvSpPr>
        <p:spPr>
          <a:xfrm>
            <a:off x="868680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تتكامل مع الرقائق التي نصنعها اليوم.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8808415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-1158545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8442655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78815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400" b="1" dirty="0">
                <a:solidFill>
                  <a:schemeClr val="bg1"/>
                </a:solidFill>
              </a:rPr>
              <a:t>لماذا نحتاجها؟</a:t>
            </a:r>
            <a:endParaRPr lang="ar-EG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78815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نهاية التصغير السهل للرقائق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ترانزستورات أكثر كل عامين… حتى الآن</a:t>
            </a:r>
            <a:endParaRPr lang="ar-EG" sz="3400" dirty="0"/>
          </a:p>
        </p:txBody>
      </p:sp>
      <p:graphicFrame>
        <p:nvGraphicFramePr>
          <p:cNvPr id="4" name="a1_chart" descr=""/>
          <p:cNvGraphicFramePr/>
          <p:nvPr/>
        </p:nvGraphicFramePr>
        <p:xfrm>
          <a:off x="4602175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2_card"/>
          <p:cNvSpPr/>
          <p:nvPr/>
        </p:nvSpPr>
        <p:spPr>
          <a:xfrm>
            <a:off x="551383" y="1508760"/>
            <a:ext cx="368503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6" name="a2_big"/>
          <p:cNvSpPr txBox="1"/>
          <p:nvPr/>
        </p:nvSpPr>
        <p:spPr>
          <a:xfrm>
            <a:off x="761695" y="15819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قانون مور</a:t>
            </a:r>
            <a:endParaRPr lang="ar-EG" sz="1900" dirty="0"/>
          </a:p>
        </p:txBody>
      </p:sp>
      <p:sp>
        <p:nvSpPr>
          <p:cNvPr id="7" name="a2_text"/>
          <p:cNvSpPr txBox="1"/>
          <p:nvPr/>
        </p:nvSpPr>
        <p:spPr>
          <a:xfrm>
            <a:off x="761695" y="21031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عام 1965: يتضاعف عدد الترانزستورات في الرقاقة تقريبًا كل عامين.</a:t>
            </a:r>
            <a:endParaRPr lang="ar-EG" sz="1400" dirty="0"/>
          </a:p>
        </p:txBody>
      </p:sp>
      <p:sp>
        <p:nvSpPr>
          <p:cNvPr id="8" name="a3_card"/>
          <p:cNvSpPr/>
          <p:nvPr/>
        </p:nvSpPr>
        <p:spPr>
          <a:xfrm>
            <a:off x="551383" y="2990088"/>
            <a:ext cx="368503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9" name="a3_big"/>
          <p:cNvSpPr txBox="1"/>
          <p:nvPr/>
        </p:nvSpPr>
        <p:spPr>
          <a:xfrm>
            <a:off x="761695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إلى 114 مليار</a:t>
            </a:r>
            <a:endParaRPr lang="ar-EG" sz="1900" dirty="0"/>
          </a:p>
        </p:txBody>
      </p:sp>
      <p:sp>
        <p:nvSpPr>
          <p:cNvPr id="10" name="a3_text"/>
          <p:cNvSpPr txBox="1"/>
          <p:nvPr/>
        </p:nvSpPr>
        <p:spPr>
          <a:xfrm>
            <a:off x="761695" y="35844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أول معالج دقيق (إنتل 4004، عام 1971) إلى M1 Ultra من أبل (عام 2022).</a:t>
            </a:r>
            <a:endParaRPr lang="ar-EG" sz="1400" dirty="0"/>
          </a:p>
        </p:txBody>
      </p:sp>
      <p:sp>
        <p:nvSpPr>
          <p:cNvPr id="11" name="a4_card"/>
          <p:cNvSpPr/>
          <p:nvPr/>
        </p:nvSpPr>
        <p:spPr>
          <a:xfrm>
            <a:off x="551383" y="4471416"/>
            <a:ext cx="3685032" cy="13716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2" name="a4_big"/>
          <p:cNvSpPr txBox="1"/>
          <p:nvPr/>
        </p:nvSpPr>
        <p:spPr>
          <a:xfrm>
            <a:off x="761695" y="4544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لكن الوتيرة تتباطأ</a:t>
            </a:r>
            <a:endParaRPr lang="ar-EG" sz="1900" dirty="0"/>
          </a:p>
        </p:txBody>
      </p:sp>
      <p:sp>
        <p:nvSpPr>
          <p:cNvPr id="13" name="a4_text"/>
          <p:cNvSpPr txBox="1"/>
          <p:nvPr/>
        </p:nvSpPr>
        <p:spPr>
          <a:xfrm>
            <a:off x="761695" y="506577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تتوقف سرعات المعالجات قرب 3 إلى 5 غيغاهرتز منذ منتصف العقد الأول من الألفية.</a:t>
            </a:r>
            <a:endParaRPr lang="ar-EG" sz="1400" dirty="0"/>
          </a:p>
        </p:txBody>
      </p:sp>
      <p:sp>
        <p:nvSpPr>
          <p:cNvPr id="14" name="a6_source"/>
          <p:cNvSpPr txBox="1"/>
          <p:nvPr/>
        </p:nvSpPr>
        <p:spPr>
          <a:xfrm>
            <a:off x="548640" y="5989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أرقام عامة تقريبية لمعالجات معروفة. المقياس الرأسي لوغاريتمي: كل خط شبكة يعني ألف ضعف.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لماذا أصبح التصغير أصعب؟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500055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254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447837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الذرّة هي الحدّ</a:t>
            </a:r>
            <a:endParaRPr lang="ar-EG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447837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ذرة السيليكون نحو 0.2 نانومتر. وأصغر أجزاء الترانزستور الحديث لا يتجاوز عرضها عشرات الذرات.</a:t>
            </a:r>
            <a:endParaRPr lang="ar-EG" sz="16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6710477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76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الحرارة</a:t>
            </a:r>
            <a:endParaRPr lang="ar-EG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مليارات المفاتيح في رقاقة بحجم الظفر تولّد حرارة شديدة يصعب إخراجها.</a:t>
            </a:r>
            <a:endParaRPr lang="ar-EG" sz="1600" dirty="0"/>
          </a:p>
        </p:txBody>
      </p:sp>
      <p:sp>
        <p:nvSpPr>
          <p:cNvPr id="14" name="a3_card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292089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98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68680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التسرّب الكمومي</a:t>
            </a:r>
            <a:endParaRPr lang="ar-EG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868680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هذا الحجم تستطيع الإلكترونات «النفاذ» عبر حواجز رقيقة (الشريحة التالية)، فيتسرّب التيار.</a:t>
            </a:r>
            <a:endParaRPr lang="ar-EG" sz="1600" dirty="0"/>
          </a:p>
        </p:txBody>
      </p:sp>
      <p:sp>
        <p:nvSpPr>
          <p:cNvPr id="19" name="a4_not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pic>
        <p:nvPicPr>
          <p:cNvPr id="20" name="a4_note_ic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5550408"/>
            <a:ext cx="365760" cy="365760"/>
          </a:xfrm>
          <a:prstGeom prst="rect">
            <a:avLst/>
          </a:prstGeom>
        </p:spPr>
      </p:pic>
      <p:sp>
        <p:nvSpPr>
          <p:cNvPr id="21" name="a4_note_t"/>
          <p:cNvSpPr txBox="1"/>
          <p:nvPr/>
        </p:nvSpPr>
        <p:spPr>
          <a:xfrm>
            <a:off x="914400" y="53035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زال المهندسون يبتكرون حلولًا (التكديس الثلاثي الأبعاد، الرقائق المصغّرة، مواد جديدة). والحوسبة الكمومية مسار مختلف: ليست رقاقة أسرع، بل نوعًا آخر من الحواسيب.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النفق الكمومي: إلكترونات تتسلل عبر الحاجز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6202375" y="1463040"/>
            <a:ext cx="5440680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5" name="a1_head"/>
          <p:cNvSpPr txBox="1"/>
          <p:nvPr/>
        </p:nvSpPr>
        <p:spPr>
          <a:xfrm>
            <a:off x="6522415" y="15544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حاجز سميك</a:t>
            </a:r>
            <a:endParaRPr lang="ar-EG" sz="1900" dirty="0"/>
          </a:p>
        </p:txBody>
      </p:sp>
      <p:sp>
        <p:nvSpPr>
          <p:cNvPr id="6" name="a1_barrier"/>
          <p:cNvSpPr/>
          <p:nvPr/>
        </p:nvSpPr>
        <p:spPr>
          <a:xfrm>
            <a:off x="8259775" y="2029968"/>
            <a:ext cx="1371600" cy="1188720"/>
          </a:xfrm>
          <a:prstGeom prst="rect">
            <a:avLst/>
          </a:prstGeom>
          <a:solidFill>
            <a:schemeClr val="accent3">
              <a:alpha val="7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a1_ico_wave"/>
          <p:cNvSpPr/>
          <p:nvPr/>
        </p:nvSpPr>
        <p:spPr>
          <a:xfrm>
            <a:off x="6522415" y="2029968"/>
            <a:ext cx="4617720" cy="1188720"/>
          </a:xfrm>
          <a:custGeom>
            <a:avLst/>
            <a:gdLst/>
            <a:ahLst/>
            <a:cxnLst/>
            <a:rect l="l" t="t" r="r" b="b"/>
            <a:pathLst>
              <a:path w="4617720" h="1188720">
                <a:moveTo>
                  <a:pt x="4617720" y="594360"/>
                </a:moveTo>
                <a:lnTo>
                  <a:pt x="4588859" y="445999"/>
                </a:lnTo>
                <a:lnTo>
                  <a:pt x="4559999" y="320673"/>
                </a:lnTo>
                <a:lnTo>
                  <a:pt x="4531138" y="237839"/>
                </a:lnTo>
                <a:lnTo>
                  <a:pt x="4502277" y="210359"/>
                </a:lnTo>
                <a:lnTo>
                  <a:pt x="4473416" y="242500"/>
                </a:lnTo>
                <a:lnTo>
                  <a:pt x="4444556" y="329270"/>
                </a:lnTo>
                <a:lnTo>
                  <a:pt x="4415695" y="457199"/>
                </a:lnTo>
                <a:lnTo>
                  <a:pt x="4386834" y="606423"/>
                </a:lnTo>
                <a:lnTo>
                  <a:pt x="4357973" y="753775"/>
                </a:lnTo>
                <a:lnTo>
                  <a:pt x="4329113" y="876375"/>
                </a:lnTo>
                <a:lnTo>
                  <a:pt x="4300252" y="955190"/>
                </a:lnTo>
                <a:lnTo>
                  <a:pt x="4271391" y="977982"/>
                </a:lnTo>
                <a:lnTo>
                  <a:pt x="4242530" y="941212"/>
                </a:lnTo>
                <a:lnTo>
                  <a:pt x="4213670" y="850590"/>
                </a:lnTo>
                <a:lnTo>
                  <a:pt x="4184809" y="720186"/>
                </a:lnTo>
                <a:lnTo>
                  <a:pt x="4155948" y="570245"/>
                </a:lnTo>
                <a:lnTo>
                  <a:pt x="4127087" y="424049"/>
                </a:lnTo>
                <a:lnTo>
                  <a:pt x="4098227" y="304296"/>
                </a:lnTo>
                <a:lnTo>
                  <a:pt x="4069366" y="229578"/>
                </a:lnTo>
                <a:lnTo>
                  <a:pt x="4040505" y="211496"/>
                </a:lnTo>
                <a:lnTo>
                  <a:pt x="4011644" y="252858"/>
                </a:lnTo>
                <a:lnTo>
                  <a:pt x="3982784" y="347242"/>
                </a:lnTo>
                <a:lnTo>
                  <a:pt x="3953923" y="479994"/>
                </a:lnTo>
                <a:lnTo>
                  <a:pt x="3925062" y="630502"/>
                </a:lnTo>
                <a:lnTo>
                  <a:pt x="3896201" y="775399"/>
                </a:lnTo>
                <a:lnTo>
                  <a:pt x="3867341" y="892188"/>
                </a:lnTo>
                <a:lnTo>
                  <a:pt x="3838480" y="962735"/>
                </a:lnTo>
                <a:lnTo>
                  <a:pt x="3809619" y="976089"/>
                </a:lnTo>
                <a:lnTo>
                  <a:pt x="3780758" y="930175"/>
                </a:lnTo>
                <a:lnTo>
                  <a:pt x="3751898" y="832122"/>
                </a:lnTo>
                <a:lnTo>
                  <a:pt x="3723037" y="697154"/>
                </a:lnTo>
                <a:lnTo>
                  <a:pt x="3694176" y="546226"/>
                </a:lnTo>
                <a:lnTo>
                  <a:pt x="3665315" y="402772"/>
                </a:lnTo>
                <a:lnTo>
                  <a:pt x="3636455" y="289063"/>
                </a:lnTo>
                <a:lnTo>
                  <a:pt x="3607594" y="222756"/>
                </a:lnTo>
                <a:lnTo>
                  <a:pt x="3578733" y="214143"/>
                </a:lnTo>
                <a:lnTo>
                  <a:pt x="3549872" y="264564"/>
                </a:lnTo>
                <a:lnTo>
                  <a:pt x="3521012" y="366189"/>
                </a:lnTo>
                <a:lnTo>
                  <a:pt x="3492151" y="503240"/>
                </a:lnTo>
                <a:lnTo>
                  <a:pt x="3463290" y="654438"/>
                </a:lnTo>
                <a:lnTo>
                  <a:pt x="3434429" y="796309"/>
                </a:lnTo>
                <a:lnTo>
                  <a:pt x="3405569" y="906825"/>
                </a:lnTo>
                <a:lnTo>
                  <a:pt x="3376708" y="968827"/>
                </a:lnTo>
                <a:lnTo>
                  <a:pt x="3347847" y="972689"/>
                </a:lnTo>
                <a:lnTo>
                  <a:pt x="3318986" y="917812"/>
                </a:lnTo>
                <a:lnTo>
                  <a:pt x="3290126" y="812715"/>
                </a:lnTo>
                <a:lnTo>
                  <a:pt x="3261265" y="673716"/>
                </a:lnTo>
                <a:lnTo>
                  <a:pt x="3232404" y="522397"/>
                </a:lnTo>
                <a:lnTo>
                  <a:pt x="3203543" y="382250"/>
                </a:lnTo>
                <a:lnTo>
                  <a:pt x="3174683" y="275036"/>
                </a:lnTo>
                <a:lnTo>
                  <a:pt x="3145822" y="217400"/>
                </a:lnTo>
                <a:lnTo>
                  <a:pt x="3116961" y="218291"/>
                </a:lnTo>
                <a:lnTo>
                  <a:pt x="3088100" y="294084"/>
                </a:lnTo>
                <a:lnTo>
                  <a:pt x="3059240" y="410992"/>
                </a:lnTo>
                <a:lnTo>
                  <a:pt x="3030379" y="539176"/>
                </a:lnTo>
                <a:lnTo>
                  <a:pt x="3001518" y="657948"/>
                </a:lnTo>
                <a:lnTo>
                  <a:pt x="2972657" y="750876"/>
                </a:lnTo>
                <a:lnTo>
                  <a:pt x="2943797" y="807645"/>
                </a:lnTo>
                <a:lnTo>
                  <a:pt x="2914936" y="824760"/>
                </a:lnTo>
                <a:lnTo>
                  <a:pt x="2886075" y="805126"/>
                </a:lnTo>
                <a:lnTo>
                  <a:pt x="2857214" y="756734"/>
                </a:lnTo>
                <a:lnTo>
                  <a:pt x="2828354" y="690766"/>
                </a:lnTo>
                <a:lnTo>
                  <a:pt x="2799493" y="619491"/>
                </a:lnTo>
                <a:lnTo>
                  <a:pt x="2770632" y="554277"/>
                </a:lnTo>
                <a:lnTo>
                  <a:pt x="2741771" y="504026"/>
                </a:lnTo>
                <a:lnTo>
                  <a:pt x="2712911" y="474178"/>
                </a:lnTo>
                <a:lnTo>
                  <a:pt x="2684050" y="466379"/>
                </a:lnTo>
                <a:lnTo>
                  <a:pt x="2655189" y="478759"/>
                </a:lnTo>
                <a:lnTo>
                  <a:pt x="2626328" y="506690"/>
                </a:lnTo>
                <a:lnTo>
                  <a:pt x="2597468" y="543862"/>
                </a:lnTo>
                <a:lnTo>
                  <a:pt x="2568607" y="583454"/>
                </a:lnTo>
                <a:lnTo>
                  <a:pt x="2539746" y="619223"/>
                </a:lnTo>
                <a:lnTo>
                  <a:pt x="2510885" y="646356"/>
                </a:lnTo>
                <a:lnTo>
                  <a:pt x="2482025" y="661991"/>
                </a:lnTo>
                <a:lnTo>
                  <a:pt x="2453164" y="665379"/>
                </a:lnTo>
                <a:lnTo>
                  <a:pt x="2424303" y="657698"/>
                </a:lnTo>
                <a:lnTo>
                  <a:pt x="2395442" y="641620"/>
                </a:lnTo>
                <a:lnTo>
                  <a:pt x="2366582" y="620702"/>
                </a:lnTo>
                <a:lnTo>
                  <a:pt x="2337721" y="598731"/>
                </a:lnTo>
                <a:lnTo>
                  <a:pt x="2308860" y="579133"/>
                </a:lnTo>
                <a:lnTo>
                  <a:pt x="2279999" y="564506"/>
                </a:lnTo>
                <a:lnTo>
                  <a:pt x="2251139" y="556350"/>
                </a:lnTo>
                <a:lnTo>
                  <a:pt x="2222278" y="554990"/>
                </a:lnTo>
                <a:lnTo>
                  <a:pt x="2193417" y="559694"/>
                </a:lnTo>
                <a:lnTo>
                  <a:pt x="2164556" y="568926"/>
                </a:lnTo>
                <a:lnTo>
                  <a:pt x="2135696" y="580683"/>
                </a:lnTo>
                <a:lnTo>
                  <a:pt x="2106835" y="592863"/>
                </a:lnTo>
                <a:lnTo>
                  <a:pt x="2077974" y="603589"/>
                </a:lnTo>
                <a:lnTo>
                  <a:pt x="2049113" y="611461"/>
                </a:lnTo>
                <a:lnTo>
                  <a:pt x="2020253" y="615696"/>
                </a:lnTo>
                <a:lnTo>
                  <a:pt x="1991392" y="616164"/>
                </a:lnTo>
                <a:lnTo>
                  <a:pt x="1962531" y="613312"/>
                </a:lnTo>
                <a:lnTo>
                  <a:pt x="1933670" y="608024"/>
                </a:lnTo>
                <a:lnTo>
                  <a:pt x="1904810" y="601424"/>
                </a:lnTo>
                <a:lnTo>
                  <a:pt x="1875949" y="594679"/>
                </a:lnTo>
                <a:lnTo>
                  <a:pt x="1847088" y="588814"/>
                </a:lnTo>
                <a:lnTo>
                  <a:pt x="1818227" y="584585"/>
                </a:lnTo>
                <a:lnTo>
                  <a:pt x="1789367" y="582398"/>
                </a:lnTo>
                <a:lnTo>
                  <a:pt x="1760506" y="582297"/>
                </a:lnTo>
                <a:lnTo>
                  <a:pt x="1731645" y="573240"/>
                </a:lnTo>
                <a:lnTo>
                  <a:pt x="1702784" y="578259"/>
                </a:lnTo>
                <a:lnTo>
                  <a:pt x="1673924" y="585778"/>
                </a:lnTo>
                <a:lnTo>
                  <a:pt x="1645063" y="594629"/>
                </a:lnTo>
                <a:lnTo>
                  <a:pt x="1616202" y="603439"/>
                </a:lnTo>
                <a:lnTo>
                  <a:pt x="1587341" y="610839"/>
                </a:lnTo>
                <a:lnTo>
                  <a:pt x="1558480" y="615680"/>
                </a:lnTo>
                <a:lnTo>
                  <a:pt x="1529620" y="617211"/>
                </a:lnTo>
                <a:lnTo>
                  <a:pt x="1500759" y="615195"/>
                </a:lnTo>
                <a:lnTo>
                  <a:pt x="1471898" y="609943"/>
                </a:lnTo>
                <a:lnTo>
                  <a:pt x="1443038" y="602272"/>
                </a:lnTo>
                <a:lnTo>
                  <a:pt x="1414177" y="593373"/>
                </a:lnTo>
                <a:lnTo>
                  <a:pt x="1385316" y="584627"/>
                </a:lnTo>
                <a:lnTo>
                  <a:pt x="1356455" y="577392"/>
                </a:lnTo>
                <a:lnTo>
                  <a:pt x="1327595" y="572791"/>
                </a:lnTo>
                <a:lnTo>
                  <a:pt x="1298734" y="571540"/>
                </a:lnTo>
                <a:lnTo>
                  <a:pt x="1269873" y="573831"/>
                </a:lnTo>
                <a:lnTo>
                  <a:pt x="1241012" y="579310"/>
                </a:lnTo>
                <a:lnTo>
                  <a:pt x="1212151" y="587125"/>
                </a:lnTo>
                <a:lnTo>
                  <a:pt x="1183291" y="596064"/>
                </a:lnTo>
                <a:lnTo>
                  <a:pt x="1154430" y="604738"/>
                </a:lnTo>
                <a:lnTo>
                  <a:pt x="1125569" y="611801"/>
                </a:lnTo>
                <a:lnTo>
                  <a:pt x="1096708" y="616156"/>
                </a:lnTo>
                <a:lnTo>
                  <a:pt x="1067848" y="617127"/>
                </a:lnTo>
                <a:lnTo>
                  <a:pt x="1038987" y="614563"/>
                </a:lnTo>
                <a:lnTo>
                  <a:pt x="1010126" y="608862"/>
                </a:lnTo>
                <a:lnTo>
                  <a:pt x="981266" y="600910"/>
                </a:lnTo>
                <a:lnTo>
                  <a:pt x="952405" y="591941"/>
                </a:lnTo>
                <a:lnTo>
                  <a:pt x="923544" y="583347"/>
                </a:lnTo>
                <a:lnTo>
                  <a:pt x="894683" y="576463"/>
                </a:lnTo>
                <a:lnTo>
                  <a:pt x="865823" y="572358"/>
                </a:lnTo>
                <a:lnTo>
                  <a:pt x="836962" y="571669"/>
                </a:lnTo>
                <a:lnTo>
                  <a:pt x="808101" y="574503"/>
                </a:lnTo>
                <a:lnTo>
                  <a:pt x="779240" y="580420"/>
                </a:lnTo>
                <a:lnTo>
                  <a:pt x="750380" y="588501"/>
                </a:lnTo>
                <a:lnTo>
                  <a:pt x="721519" y="597492"/>
                </a:lnTo>
                <a:lnTo>
                  <a:pt x="692658" y="605997"/>
                </a:lnTo>
                <a:lnTo>
                  <a:pt x="663797" y="612695"/>
                </a:lnTo>
                <a:lnTo>
                  <a:pt x="634937" y="616546"/>
                </a:lnTo>
                <a:lnTo>
                  <a:pt x="606076" y="616952"/>
                </a:lnTo>
                <a:lnTo>
                  <a:pt x="577215" y="613851"/>
                </a:lnTo>
                <a:lnTo>
                  <a:pt x="548354" y="607724"/>
                </a:lnTo>
                <a:lnTo>
                  <a:pt x="519494" y="599522"/>
                </a:lnTo>
                <a:lnTo>
                  <a:pt x="490633" y="590518"/>
                </a:lnTo>
                <a:lnTo>
                  <a:pt x="461772" y="582111"/>
                </a:lnTo>
                <a:lnTo>
                  <a:pt x="432911" y="575606"/>
                </a:lnTo>
                <a:lnTo>
                  <a:pt x="404051" y="572012"/>
                </a:lnTo>
                <a:lnTo>
                  <a:pt x="375190" y="571888"/>
                </a:lnTo>
                <a:lnTo>
                  <a:pt x="346329" y="575253"/>
                </a:lnTo>
                <a:lnTo>
                  <a:pt x="317468" y="581585"/>
                </a:lnTo>
                <a:lnTo>
                  <a:pt x="288607" y="589900"/>
                </a:lnTo>
                <a:lnTo>
                  <a:pt x="259747" y="598908"/>
                </a:lnTo>
                <a:lnTo>
                  <a:pt x="230886" y="607209"/>
                </a:lnTo>
                <a:lnTo>
                  <a:pt x="202025" y="613516"/>
                </a:lnTo>
                <a:lnTo>
                  <a:pt x="173165" y="616848"/>
                </a:lnTo>
                <a:lnTo>
                  <a:pt x="144304" y="616689"/>
                </a:lnTo>
                <a:lnTo>
                  <a:pt x="115443" y="613063"/>
                </a:lnTo>
                <a:lnTo>
                  <a:pt x="86582" y="606533"/>
                </a:lnTo>
                <a:lnTo>
                  <a:pt x="57722" y="598113"/>
                </a:lnTo>
                <a:lnTo>
                  <a:pt x="28861" y="589111"/>
                </a:lnTo>
                <a:lnTo>
                  <a:pt x="0" y="580923"/>
                </a:lnTo>
              </a:path>
            </a:pathLst>
          </a:cu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8" name="a1_ico_e"/>
          <p:cNvSpPr/>
          <p:nvPr/>
        </p:nvSpPr>
        <p:spPr>
          <a:xfrm>
            <a:off x="11204143" y="2496312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a1_cap"/>
          <p:cNvSpPr txBox="1"/>
          <p:nvPr/>
        </p:nvSpPr>
        <p:spPr>
          <a:xfrm>
            <a:off x="6522415" y="32735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تتلاشى موجة الإلكترون، ونادرًا ما يعبر الحاجز.</a:t>
            </a:r>
            <a:endParaRPr lang="ar-EG" sz="1600" dirty="0"/>
          </a:p>
        </p:txBody>
      </p:sp>
      <p:sp>
        <p:nvSpPr>
          <p:cNvPr id="10" name="a2_card"/>
          <p:cNvSpPr/>
          <p:nvPr/>
        </p:nvSpPr>
        <p:spPr>
          <a:xfrm>
            <a:off x="551383" y="1463040"/>
            <a:ext cx="5440680" cy="2331720"/>
          </a:xfrm>
          <a:prstGeom prst="roundRect">
            <a:avLst>
              <a:gd name="adj" fmla="val 7843"/>
            </a:avLst>
          </a:prstGeom>
          <a:solidFill>
            <a:schemeClr val="tx2"/>
          </a:solidFill>
          <a:ln/>
        </p:spPr>
      </p:sp>
      <p:sp>
        <p:nvSpPr>
          <p:cNvPr id="11" name="a2_head"/>
          <p:cNvSpPr txBox="1"/>
          <p:nvPr/>
        </p:nvSpPr>
        <p:spPr>
          <a:xfrm>
            <a:off x="871423" y="15544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حاجز بسمك بضع ذرات</a:t>
            </a:r>
            <a:endParaRPr lang="ar-EG" sz="1900" dirty="0"/>
          </a:p>
        </p:txBody>
      </p:sp>
      <p:sp>
        <p:nvSpPr>
          <p:cNvPr id="12" name="a2_barrier"/>
          <p:cNvSpPr/>
          <p:nvPr/>
        </p:nvSpPr>
        <p:spPr>
          <a:xfrm>
            <a:off x="3065983" y="2029968"/>
            <a:ext cx="320040" cy="1188720"/>
          </a:xfrm>
          <a:prstGeom prst="rect">
            <a:avLst/>
          </a:prstGeom>
          <a:solidFill>
            <a:schemeClr val="accent3">
              <a:alpha val="7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a2_ico_wave"/>
          <p:cNvSpPr/>
          <p:nvPr/>
        </p:nvSpPr>
        <p:spPr>
          <a:xfrm>
            <a:off x="871423" y="2029968"/>
            <a:ext cx="4617720" cy="1188720"/>
          </a:xfrm>
          <a:custGeom>
            <a:avLst/>
            <a:gdLst/>
            <a:ahLst/>
            <a:cxnLst/>
            <a:rect l="l" t="t" r="r" b="b"/>
            <a:pathLst>
              <a:path w="4617720" h="1188720">
                <a:moveTo>
                  <a:pt x="4617720" y="594360"/>
                </a:moveTo>
                <a:lnTo>
                  <a:pt x="4588859" y="445999"/>
                </a:lnTo>
                <a:lnTo>
                  <a:pt x="4559999" y="320673"/>
                </a:lnTo>
                <a:lnTo>
                  <a:pt x="4531138" y="237839"/>
                </a:lnTo>
                <a:lnTo>
                  <a:pt x="4502277" y="210359"/>
                </a:lnTo>
                <a:lnTo>
                  <a:pt x="4473416" y="242500"/>
                </a:lnTo>
                <a:lnTo>
                  <a:pt x="4444556" y="329270"/>
                </a:lnTo>
                <a:lnTo>
                  <a:pt x="4415695" y="457199"/>
                </a:lnTo>
                <a:lnTo>
                  <a:pt x="4386834" y="606423"/>
                </a:lnTo>
                <a:lnTo>
                  <a:pt x="4357973" y="753775"/>
                </a:lnTo>
                <a:lnTo>
                  <a:pt x="4329113" y="876375"/>
                </a:lnTo>
                <a:lnTo>
                  <a:pt x="4300252" y="955190"/>
                </a:lnTo>
                <a:lnTo>
                  <a:pt x="4271391" y="977982"/>
                </a:lnTo>
                <a:lnTo>
                  <a:pt x="4242530" y="941212"/>
                </a:lnTo>
                <a:lnTo>
                  <a:pt x="4213670" y="850590"/>
                </a:lnTo>
                <a:lnTo>
                  <a:pt x="4184809" y="720186"/>
                </a:lnTo>
                <a:lnTo>
                  <a:pt x="4155948" y="570245"/>
                </a:lnTo>
                <a:lnTo>
                  <a:pt x="4127087" y="424049"/>
                </a:lnTo>
                <a:lnTo>
                  <a:pt x="4098227" y="304296"/>
                </a:lnTo>
                <a:lnTo>
                  <a:pt x="4069366" y="229578"/>
                </a:lnTo>
                <a:lnTo>
                  <a:pt x="4040505" y="211496"/>
                </a:lnTo>
                <a:lnTo>
                  <a:pt x="4011644" y="252858"/>
                </a:lnTo>
                <a:lnTo>
                  <a:pt x="3982784" y="347242"/>
                </a:lnTo>
                <a:lnTo>
                  <a:pt x="3953923" y="479994"/>
                </a:lnTo>
                <a:lnTo>
                  <a:pt x="3925062" y="630502"/>
                </a:lnTo>
                <a:lnTo>
                  <a:pt x="3896201" y="775399"/>
                </a:lnTo>
                <a:lnTo>
                  <a:pt x="3867341" y="892188"/>
                </a:lnTo>
                <a:lnTo>
                  <a:pt x="3838480" y="962735"/>
                </a:lnTo>
                <a:lnTo>
                  <a:pt x="3809619" y="976089"/>
                </a:lnTo>
                <a:lnTo>
                  <a:pt x="3780758" y="930175"/>
                </a:lnTo>
                <a:lnTo>
                  <a:pt x="3751898" y="832122"/>
                </a:lnTo>
                <a:lnTo>
                  <a:pt x="3723037" y="697154"/>
                </a:lnTo>
                <a:lnTo>
                  <a:pt x="3694176" y="546226"/>
                </a:lnTo>
                <a:lnTo>
                  <a:pt x="3665315" y="402772"/>
                </a:lnTo>
                <a:lnTo>
                  <a:pt x="3636455" y="289063"/>
                </a:lnTo>
                <a:lnTo>
                  <a:pt x="3607594" y="222756"/>
                </a:lnTo>
                <a:lnTo>
                  <a:pt x="3578733" y="214143"/>
                </a:lnTo>
                <a:lnTo>
                  <a:pt x="3549872" y="264564"/>
                </a:lnTo>
                <a:lnTo>
                  <a:pt x="3521012" y="366189"/>
                </a:lnTo>
                <a:lnTo>
                  <a:pt x="3492151" y="503240"/>
                </a:lnTo>
                <a:lnTo>
                  <a:pt x="3463290" y="654438"/>
                </a:lnTo>
                <a:lnTo>
                  <a:pt x="3434429" y="796309"/>
                </a:lnTo>
                <a:lnTo>
                  <a:pt x="3405569" y="906825"/>
                </a:lnTo>
                <a:lnTo>
                  <a:pt x="3376708" y="968827"/>
                </a:lnTo>
                <a:lnTo>
                  <a:pt x="3347847" y="972689"/>
                </a:lnTo>
                <a:lnTo>
                  <a:pt x="3318986" y="917812"/>
                </a:lnTo>
                <a:lnTo>
                  <a:pt x="3290126" y="812715"/>
                </a:lnTo>
                <a:lnTo>
                  <a:pt x="3261265" y="673716"/>
                </a:lnTo>
                <a:lnTo>
                  <a:pt x="3232404" y="522397"/>
                </a:lnTo>
                <a:lnTo>
                  <a:pt x="3203543" y="382250"/>
                </a:lnTo>
                <a:lnTo>
                  <a:pt x="3174683" y="275036"/>
                </a:lnTo>
                <a:lnTo>
                  <a:pt x="3145822" y="217400"/>
                </a:lnTo>
                <a:lnTo>
                  <a:pt x="3116961" y="218291"/>
                </a:lnTo>
                <a:lnTo>
                  <a:pt x="3088100" y="277572"/>
                </a:lnTo>
                <a:lnTo>
                  <a:pt x="3059240" y="386036"/>
                </a:lnTo>
                <a:lnTo>
                  <a:pt x="3030379" y="526846"/>
                </a:lnTo>
                <a:lnTo>
                  <a:pt x="3001518" y="678137"/>
                </a:lnTo>
                <a:lnTo>
                  <a:pt x="2972657" y="816422"/>
                </a:lnTo>
                <a:lnTo>
                  <a:pt x="2943797" y="920229"/>
                </a:lnTo>
                <a:lnTo>
                  <a:pt x="2914936" y="973441"/>
                </a:lnTo>
                <a:lnTo>
                  <a:pt x="2886075" y="967797"/>
                </a:lnTo>
                <a:lnTo>
                  <a:pt x="2857214" y="904172"/>
                </a:lnTo>
                <a:lnTo>
                  <a:pt x="2828354" y="792447"/>
                </a:lnTo>
                <a:lnTo>
                  <a:pt x="2799493" y="649966"/>
                </a:lnTo>
                <a:lnTo>
                  <a:pt x="2770632" y="498851"/>
                </a:lnTo>
                <a:lnTo>
                  <a:pt x="2741771" y="362566"/>
                </a:lnTo>
                <a:lnTo>
                  <a:pt x="2712911" y="262269"/>
                </a:lnTo>
                <a:lnTo>
                  <a:pt x="2684050" y="213532"/>
                </a:lnTo>
                <a:lnTo>
                  <a:pt x="2655189" y="223924"/>
                </a:lnTo>
                <a:lnTo>
                  <a:pt x="2626328" y="291829"/>
                </a:lnTo>
                <a:lnTo>
                  <a:pt x="2597468" y="406706"/>
                </a:lnTo>
                <a:lnTo>
                  <a:pt x="2568607" y="550718"/>
                </a:lnTo>
                <a:lnTo>
                  <a:pt x="2539746" y="701506"/>
                </a:lnTo>
                <a:lnTo>
                  <a:pt x="2510885" y="830176"/>
                </a:lnTo>
                <a:lnTo>
                  <a:pt x="2482025" y="870655"/>
                </a:lnTo>
                <a:lnTo>
                  <a:pt x="2453164" y="855708"/>
                </a:lnTo>
                <a:lnTo>
                  <a:pt x="2424303" y="804319"/>
                </a:lnTo>
                <a:lnTo>
                  <a:pt x="2395442" y="735480"/>
                </a:lnTo>
                <a:lnTo>
                  <a:pt x="2366582" y="665213"/>
                </a:lnTo>
                <a:lnTo>
                  <a:pt x="2337721" y="604951"/>
                </a:lnTo>
                <a:lnTo>
                  <a:pt x="2308860" y="561127"/>
                </a:lnTo>
                <a:lnTo>
                  <a:pt x="2279999" y="535668"/>
                </a:lnTo>
                <a:lnTo>
                  <a:pt x="2251139" y="527046"/>
                </a:lnTo>
                <a:lnTo>
                  <a:pt x="2222278" y="531556"/>
                </a:lnTo>
                <a:lnTo>
                  <a:pt x="2193417" y="447293"/>
                </a:lnTo>
                <a:lnTo>
                  <a:pt x="2164556" y="478161"/>
                </a:lnTo>
                <a:lnTo>
                  <a:pt x="2135696" y="527071"/>
                </a:lnTo>
                <a:lnTo>
                  <a:pt x="2106835" y="586428"/>
                </a:lnTo>
                <a:lnTo>
                  <a:pt x="2077974" y="647016"/>
                </a:lnTo>
                <a:lnTo>
                  <a:pt x="2049113" y="699429"/>
                </a:lnTo>
                <a:lnTo>
                  <a:pt x="2020253" y="735529"/>
                </a:lnTo>
                <a:lnTo>
                  <a:pt x="1991392" y="749711"/>
                </a:lnTo>
                <a:lnTo>
                  <a:pt x="1962531" y="739773"/>
                </a:lnTo>
                <a:lnTo>
                  <a:pt x="1933670" y="707258"/>
                </a:lnTo>
                <a:lnTo>
                  <a:pt x="1904810" y="657214"/>
                </a:lnTo>
                <a:lnTo>
                  <a:pt x="1875949" y="597412"/>
                </a:lnTo>
                <a:lnTo>
                  <a:pt x="1847088" y="537136"/>
                </a:lnTo>
                <a:lnTo>
                  <a:pt x="1818227" y="485744"/>
                </a:lnTo>
                <a:lnTo>
                  <a:pt x="1789367" y="451216"/>
                </a:lnTo>
                <a:lnTo>
                  <a:pt x="1760506" y="438913"/>
                </a:lnTo>
                <a:lnTo>
                  <a:pt x="1731645" y="450745"/>
                </a:lnTo>
                <a:lnTo>
                  <a:pt x="1702784" y="484874"/>
                </a:lnTo>
                <a:lnTo>
                  <a:pt x="1673924" y="536002"/>
                </a:lnTo>
                <a:lnTo>
                  <a:pt x="1645063" y="596191"/>
                </a:lnTo>
                <a:lnTo>
                  <a:pt x="1616202" y="656096"/>
                </a:lnTo>
                <a:lnTo>
                  <a:pt x="1587341" y="706415"/>
                </a:lnTo>
                <a:lnTo>
                  <a:pt x="1558480" y="739337"/>
                </a:lnTo>
                <a:lnTo>
                  <a:pt x="1529620" y="749749"/>
                </a:lnTo>
                <a:lnTo>
                  <a:pt x="1500759" y="736036"/>
                </a:lnTo>
                <a:lnTo>
                  <a:pt x="1471898" y="700326"/>
                </a:lnTo>
                <a:lnTo>
                  <a:pt x="1443038" y="648163"/>
                </a:lnTo>
                <a:lnTo>
                  <a:pt x="1414177" y="587647"/>
                </a:lnTo>
                <a:lnTo>
                  <a:pt x="1385316" y="528173"/>
                </a:lnTo>
                <a:lnTo>
                  <a:pt x="1356455" y="478976"/>
                </a:lnTo>
                <a:lnTo>
                  <a:pt x="1327595" y="447693"/>
                </a:lnTo>
                <a:lnTo>
                  <a:pt x="1298734" y="439182"/>
                </a:lnTo>
                <a:lnTo>
                  <a:pt x="1269873" y="454763"/>
                </a:lnTo>
                <a:lnTo>
                  <a:pt x="1241012" y="492019"/>
                </a:lnTo>
                <a:lnTo>
                  <a:pt x="1212151" y="545164"/>
                </a:lnTo>
                <a:lnTo>
                  <a:pt x="1183291" y="605948"/>
                </a:lnTo>
                <a:lnTo>
                  <a:pt x="1154430" y="664932"/>
                </a:lnTo>
                <a:lnTo>
                  <a:pt x="1125569" y="712959"/>
                </a:lnTo>
                <a:lnTo>
                  <a:pt x="1096708" y="742573"/>
                </a:lnTo>
                <a:lnTo>
                  <a:pt x="1067848" y="749174"/>
                </a:lnTo>
                <a:lnTo>
                  <a:pt x="1038987" y="731740"/>
                </a:lnTo>
                <a:lnTo>
                  <a:pt x="1010126" y="692975"/>
                </a:lnTo>
                <a:lnTo>
                  <a:pt x="981266" y="638900"/>
                </a:lnTo>
                <a:lnTo>
                  <a:pt x="952405" y="577909"/>
                </a:lnTo>
                <a:lnTo>
                  <a:pt x="923544" y="519472"/>
                </a:lnTo>
                <a:lnTo>
                  <a:pt x="894683" y="472663"/>
                </a:lnTo>
                <a:lnTo>
                  <a:pt x="865823" y="444748"/>
                </a:lnTo>
                <a:lnTo>
                  <a:pt x="836962" y="440062"/>
                </a:lnTo>
                <a:lnTo>
                  <a:pt x="808101" y="459333"/>
                </a:lnTo>
                <a:lnTo>
                  <a:pt x="779240" y="499568"/>
                </a:lnTo>
                <a:lnTo>
                  <a:pt x="750380" y="554520"/>
                </a:lnTo>
                <a:lnTo>
                  <a:pt x="721519" y="615658"/>
                </a:lnTo>
                <a:lnTo>
                  <a:pt x="692658" y="673489"/>
                </a:lnTo>
                <a:lnTo>
                  <a:pt x="663797" y="719035"/>
                </a:lnTo>
                <a:lnTo>
                  <a:pt x="634937" y="745223"/>
                </a:lnTo>
                <a:lnTo>
                  <a:pt x="606076" y="747988"/>
                </a:lnTo>
                <a:lnTo>
                  <a:pt x="577215" y="726901"/>
                </a:lnTo>
                <a:lnTo>
                  <a:pt x="548354" y="685235"/>
                </a:lnTo>
                <a:lnTo>
                  <a:pt x="519494" y="629460"/>
                </a:lnTo>
                <a:lnTo>
                  <a:pt x="490633" y="568236"/>
                </a:lnTo>
                <a:lnTo>
                  <a:pt x="461772" y="511067"/>
                </a:lnTo>
                <a:lnTo>
                  <a:pt x="432911" y="466830"/>
                </a:lnTo>
                <a:lnTo>
                  <a:pt x="404051" y="442394"/>
                </a:lnTo>
                <a:lnTo>
                  <a:pt x="375190" y="441552"/>
                </a:lnTo>
                <a:lnTo>
                  <a:pt x="346329" y="464435"/>
                </a:lnTo>
                <a:lnTo>
                  <a:pt x="317468" y="507491"/>
                </a:lnTo>
                <a:lnTo>
                  <a:pt x="288607" y="564034"/>
                </a:lnTo>
                <a:lnTo>
                  <a:pt x="259747" y="625285"/>
                </a:lnTo>
                <a:lnTo>
                  <a:pt x="230886" y="681735"/>
                </a:lnTo>
                <a:lnTo>
                  <a:pt x="202025" y="724619"/>
                </a:lnTo>
                <a:lnTo>
                  <a:pt x="173165" y="747279"/>
                </a:lnTo>
                <a:lnTo>
                  <a:pt x="144304" y="746196"/>
                </a:lnTo>
                <a:lnTo>
                  <a:pt x="115443" y="721540"/>
                </a:lnTo>
                <a:lnTo>
                  <a:pt x="86582" y="677137"/>
                </a:lnTo>
                <a:lnTo>
                  <a:pt x="57722" y="619883"/>
                </a:lnTo>
                <a:lnTo>
                  <a:pt x="28861" y="558665"/>
                </a:lnTo>
                <a:lnTo>
                  <a:pt x="0" y="502990"/>
                </a:lnTo>
              </a:path>
            </a:pathLst>
          </a:cu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4" name="a2_ico_e"/>
          <p:cNvSpPr/>
          <p:nvPr/>
        </p:nvSpPr>
        <p:spPr>
          <a:xfrm>
            <a:off x="5553151" y="2496312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2_cap"/>
          <p:cNvSpPr txBox="1"/>
          <p:nvPr/>
        </p:nvSpPr>
        <p:spPr>
          <a:xfrm>
            <a:off x="871423" y="32735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يتسرّب جزء من الموجة، فقد يظهر الإلكترون على الجانب الآخر.</a:t>
            </a:r>
            <a:endParaRPr lang="ar-EG" sz="1600" dirty="0"/>
          </a:p>
        </p:txBody>
      </p:sp>
      <p:sp>
        <p:nvSpPr>
          <p:cNvPr id="16" name="a3_card"/>
          <p:cNvSpPr/>
          <p:nvPr/>
        </p:nvSpPr>
        <p:spPr>
          <a:xfrm>
            <a:off x="6202375" y="3977640"/>
            <a:ext cx="5440680" cy="2148840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/>
        </p:spPr>
      </p:sp>
      <p:sp>
        <p:nvSpPr>
          <p:cNvPr id="17" name="a3_ico_bg"/>
          <p:cNvSpPr/>
          <p:nvPr/>
        </p:nvSpPr>
        <p:spPr>
          <a:xfrm>
            <a:off x="10591495" y="4206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006" y="4403750"/>
            <a:ext cx="336499" cy="336499"/>
          </a:xfrm>
          <a:prstGeom prst="rect">
            <a:avLst/>
          </a:prstGeom>
        </p:spPr>
      </p:pic>
      <p:sp>
        <p:nvSpPr>
          <p:cNvPr id="19" name="a3_head"/>
          <p:cNvSpPr txBox="1"/>
          <p:nvPr/>
        </p:nvSpPr>
        <p:spPr>
          <a:xfrm>
            <a:off x="6522415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يعني هذا داخل الترانزستور؟</a:t>
            </a:r>
            <a:endParaRPr lang="ar-EG" sz="2100" dirty="0"/>
          </a:p>
        </p:txBody>
      </p:sp>
      <p:sp>
        <p:nvSpPr>
          <p:cNvPr id="20" name="a3_body"/>
          <p:cNvSpPr txBox="1"/>
          <p:nvPr/>
        </p:nvSpPr>
        <p:spPr>
          <a:xfrm>
            <a:off x="6522415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«الحاجز» طبقة عازلة رقيقة. وعندما يبلغ سمكها بضع ذرات فقط يتسرّب بعض الإلكترونات حتى والمفتاح مغلق (OFF)، فيضيع جزء من الطاقة وتتولّد حرارة.</a:t>
            </a:r>
            <a:endParaRPr lang="ar-EG" sz="1500" dirty="0"/>
          </a:p>
        </p:txBody>
      </p:sp>
      <p:sp>
        <p:nvSpPr>
          <p:cNvPr id="21" name="a4_card"/>
          <p:cNvSpPr/>
          <p:nvPr/>
        </p:nvSpPr>
        <p:spPr>
          <a:xfrm>
            <a:off x="551383" y="3977640"/>
            <a:ext cx="5440680" cy="2148840"/>
          </a:xfrm>
          <a:prstGeom prst="roundRect">
            <a:avLst>
              <a:gd name="adj" fmla="val 8511"/>
            </a:avLst>
          </a:prstGeom>
          <a:solidFill>
            <a:schemeClr val="accent4"/>
          </a:solidFill>
          <a:ln/>
        </p:spPr>
      </p:sp>
      <p:sp>
        <p:nvSpPr>
          <p:cNvPr id="22" name="a4_ico_bg"/>
          <p:cNvSpPr/>
          <p:nvPr/>
        </p:nvSpPr>
        <p:spPr>
          <a:xfrm>
            <a:off x="4940503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014" y="4403750"/>
            <a:ext cx="336499" cy="336499"/>
          </a:xfrm>
          <a:prstGeom prst="rect">
            <a:avLst/>
          </a:prstGeom>
        </p:spPr>
      </p:pic>
      <p:sp>
        <p:nvSpPr>
          <p:cNvPr id="24" name="a4_head"/>
          <p:cNvSpPr txBox="1"/>
          <p:nvPr/>
        </p:nvSpPr>
        <p:spPr>
          <a:xfrm>
            <a:off x="871423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فعل المهندسون؟</a:t>
            </a:r>
            <a:endParaRPr lang="ar-EG" sz="2100" dirty="0"/>
          </a:p>
        </p:txBody>
      </p:sp>
      <p:sp>
        <p:nvSpPr>
          <p:cNvPr id="25" name="a4_body"/>
          <p:cNvSpPr txBox="1"/>
          <p:nvPr/>
        </p:nvSpPr>
        <p:spPr>
          <a:xfrm>
            <a:off x="871423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قلّلت مواد عازلة جديدة (high-k) وأشكال ترانزستور ثلاثية الأبعاد (FinFET وGAA) من التسرّب. لكن كل تصغير جديد يعيد المشكلة أصعب من قبل.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8808415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-1158545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8442655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78815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400" b="1" dirty="0">
                <a:solidFill>
                  <a:schemeClr val="bg1"/>
                </a:solidFill>
              </a:rPr>
              <a:t>ما هي الحوسبة الكمومية؟</a:t>
            </a:r>
            <a:endParaRPr lang="ar-EG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78815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الحساب بقوانين العالم متناهي الصغر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البت والكيوبت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6202375" y="1508760"/>
            <a:ext cx="5440680" cy="3886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a1_head"/>
          <p:cNvSpPr txBox="1"/>
          <p:nvPr/>
        </p:nvSpPr>
        <p:spPr>
          <a:xfrm>
            <a:off x="6568135" y="1645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البت التقليدي</a:t>
            </a:r>
            <a:endParaRPr lang="ar-EG" sz="2300" dirty="0"/>
          </a:p>
        </p:txBody>
      </p:sp>
      <p:sp>
        <p:nvSpPr>
          <p:cNvPr id="6" name="a1_sw0"/>
          <p:cNvSpPr/>
          <p:nvPr/>
        </p:nvSpPr>
        <p:spPr>
          <a:xfrm>
            <a:off x="9174175" y="2514600"/>
            <a:ext cx="1645920" cy="1005840"/>
          </a:xfrm>
          <a:prstGeom prst="roundRect">
            <a:avLst>
              <a:gd name="adj" fmla="val 12727"/>
            </a:avLst>
          </a:prstGeom>
          <a:solidFill>
            <a:schemeClr val="accent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7" name="a1_swt0"/>
          <p:cNvSpPr txBox="1"/>
          <p:nvPr/>
        </p:nvSpPr>
        <p:spPr>
          <a:xfrm>
            <a:off x="9174175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a1_sw1"/>
          <p:cNvSpPr/>
          <p:nvPr/>
        </p:nvSpPr>
        <p:spPr>
          <a:xfrm>
            <a:off x="7162495" y="2514600"/>
            <a:ext cx="164592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9" name="a1_swt1"/>
          <p:cNvSpPr txBox="1"/>
          <p:nvPr/>
        </p:nvSpPr>
        <p:spPr>
          <a:xfrm>
            <a:off x="7162495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a1_body"/>
          <p:cNvSpPr txBox="1"/>
          <p:nvPr/>
        </p:nvSpPr>
        <p:spPr>
          <a:xfrm>
            <a:off x="6568135" y="42062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قيمته دائمًا 0 أو 1 بالضبط، مثل مفتاح الإضاءة: مطفأ أو مضاء. وكل ملف في هاتفك مليارات من البتات.</a:t>
            </a:r>
            <a:endParaRPr lang="ar-EG" sz="1600" dirty="0"/>
          </a:p>
        </p:txBody>
      </p:sp>
      <p:sp>
        <p:nvSpPr>
          <p:cNvPr id="11" name="a2_card"/>
          <p:cNvSpPr/>
          <p:nvPr/>
        </p:nvSpPr>
        <p:spPr>
          <a:xfrm>
            <a:off x="551383" y="1508760"/>
            <a:ext cx="5440680" cy="388620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2" name="a2_head"/>
          <p:cNvSpPr txBox="1"/>
          <p:nvPr/>
        </p:nvSpPr>
        <p:spPr>
          <a:xfrm>
            <a:off x="917143" y="1645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البت الكمومي (الكيوبت)</a:t>
            </a:r>
            <a:endParaRPr lang="ar-EG" sz="2300" dirty="0"/>
          </a:p>
        </p:txBody>
      </p:sp>
      <p:sp>
        <p:nvSpPr>
          <p:cNvPr id="13" name="a2_ico_sph"/>
          <p:cNvSpPr/>
          <p:nvPr/>
        </p:nvSpPr>
        <p:spPr>
          <a:xfrm>
            <a:off x="2613355" y="2542032"/>
            <a:ext cx="1316736" cy="1316736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a2_eq"/>
          <p:cNvSpPr/>
          <p:nvPr/>
        </p:nvSpPr>
        <p:spPr>
          <a:xfrm>
            <a:off x="2613355" y="2999232"/>
            <a:ext cx="1316736" cy="402336"/>
          </a:xfrm>
          <a:prstGeom prst="ellipse">
            <a:avLst/>
          </a:prstGeom>
          <a:solidFill>
            <a:schemeClr val="accent2">
              <a:alpha val="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5" name="a2_axis"/>
          <p:cNvSpPr/>
          <p:nvPr/>
        </p:nvSpPr>
        <p:spPr>
          <a:xfrm>
            <a:off x="3271723" y="2432304"/>
            <a:ext cx="0" cy="1536192"/>
          </a:xfrm>
          <a:prstGeom prst="line">
            <a:avLst/>
          </a:prstGeom>
          <a:noFill/>
          <a:ln w="1587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6" name="a2_vec"/>
          <p:cNvSpPr/>
          <p:nvPr/>
        </p:nvSpPr>
        <p:spPr>
          <a:xfrm flipV="1">
            <a:off x="2814523" y="2697480"/>
            <a:ext cx="457200" cy="50292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a2_l0"/>
          <p:cNvSpPr txBox="1"/>
          <p:nvPr/>
        </p:nvSpPr>
        <p:spPr>
          <a:xfrm>
            <a:off x="2521915" y="2157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500" dirty="0"/>
          </a:p>
        </p:txBody>
      </p:sp>
      <p:sp>
        <p:nvSpPr>
          <p:cNvPr id="18" name="a2_l1"/>
          <p:cNvSpPr txBox="1"/>
          <p:nvPr/>
        </p:nvSpPr>
        <p:spPr>
          <a:xfrm>
            <a:off x="2521915" y="39684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</a:t>
            </a:r>
            <a:endParaRPr lang="en-US" sz="1500" dirty="0"/>
          </a:p>
        </p:txBody>
      </p:sp>
      <p:sp>
        <p:nvSpPr>
          <p:cNvPr id="19" name="a2_body"/>
          <p:cNvSpPr txBox="1"/>
          <p:nvPr/>
        </p:nvSpPr>
        <p:spPr>
          <a:xfrm>
            <a:off x="917143" y="42062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 أن يكون 0 أو 1 أو مزيجًا منهما (التراكب). وعند قياسه نحصل على 0 أو 1، باحتمالات يحدّدها المزيج.</a:t>
            </a:r>
            <a:endParaRPr lang="ar-EG" sz="1600" dirty="0"/>
          </a:p>
        </p:txBody>
      </p:sp>
      <p:sp>
        <p:nvSpPr>
          <p:cNvPr id="20" name="a3_note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21333"/>
            </a:avLst>
          </a:prstGeom>
          <a:solidFill>
            <a:schemeClr val="accent4"/>
          </a:solidFill>
          <a:ln/>
        </p:spPr>
      </p:sp>
      <p:sp>
        <p:nvSpPr>
          <p:cNvPr id="21" name="a3_note_t"/>
          <p:cNvSpPr txBox="1"/>
          <p:nvPr/>
        </p:nvSpPr>
        <p:spPr>
          <a:xfrm>
            <a:off x="914400" y="55321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تخيّل عملة تدور: وهي تدور لا تكون «صورة» ولا «كتابة»، وعندما تسقط نرى وجهًا واحدًا.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ثلاث أفكار كمومية تقوم عليها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500055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254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447837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التراكب</a:t>
            </a:r>
            <a:endParaRPr lang="ar-EG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447837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يحمل الكيوبت مزيجًا من 0 و1 إلى أن نقيسه.</a:t>
            </a:r>
            <a:endParaRPr lang="ar-EG" sz="16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6710477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76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التشابك</a:t>
            </a:r>
            <a:endParaRPr lang="ar-EG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 ربط كيوبتين بحيث ترتبط نتيجتاهما مهما بعدا. ولا تنتقل أي رسالة أسرع من الضوء.</a:t>
            </a:r>
            <a:endParaRPr lang="ar-EG" sz="1600" dirty="0"/>
          </a:p>
        </p:txBody>
      </p:sp>
      <p:sp>
        <p:nvSpPr>
          <p:cNvPr id="14" name="a3_card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292089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98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68680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التداخل</a:t>
            </a:r>
            <a:endParaRPr lang="ar-EG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868680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ترتّب الخوارزميات «الموجات» بحيث تُلغي الإجابات الخاطئة بعضها وتقوى الإجابة الصحيحة.</a:t>
            </a:r>
            <a:endParaRPr lang="ar-EG" sz="1600" dirty="0"/>
          </a:p>
        </p:txBody>
      </p:sp>
      <p:sp>
        <p:nvSpPr>
          <p:cNvPr id="19" name="a4_not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pic>
        <p:nvPicPr>
          <p:cNvPr id="20" name="a4_note_ic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5550408"/>
            <a:ext cx="365760" cy="365760"/>
          </a:xfrm>
          <a:prstGeom prst="rect">
            <a:avLst/>
          </a:prstGeom>
        </p:spPr>
      </p:pic>
      <p:sp>
        <p:nvSpPr>
          <p:cNvPr id="21" name="a4_note_t"/>
          <p:cNvSpPr txBox="1"/>
          <p:nvPr/>
        </p:nvSpPr>
        <p:spPr>
          <a:xfrm>
            <a:off x="914400" y="53035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مهم: الحاسوب الكمومي لا يجرّب كل الإجابات دفعة واحدة. المهارة في استخدام التداخل لجعل الإجابة الصحيحة هي الأرجح.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لماذا تعطي الكيوبتات الكثيرة قوة كبيرة؟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127797" y="1600200"/>
            <a:ext cx="3515258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a1_q"/>
          <p:cNvSpPr txBox="1"/>
          <p:nvPr/>
        </p:nvSpPr>
        <p:spPr>
          <a:xfrm>
            <a:off x="8402117" y="1783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كيوبتات</a:t>
            </a:r>
            <a:endParaRPr lang="ar-EG" sz="2000" dirty="0"/>
          </a:p>
        </p:txBody>
      </p:sp>
      <p:sp>
        <p:nvSpPr>
          <p:cNvPr id="6" name="a1_big"/>
          <p:cNvSpPr txBox="1"/>
          <p:nvPr/>
        </p:nvSpPr>
        <p:spPr>
          <a:xfrm>
            <a:off x="8402117" y="23774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4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ar-EG" sz="4000" dirty="0"/>
          </a:p>
        </p:txBody>
      </p:sp>
      <p:sp>
        <p:nvSpPr>
          <p:cNvPr id="7" name="a1_text"/>
          <p:cNvSpPr txBox="1"/>
          <p:nvPr/>
        </p:nvSpPr>
        <p:spPr>
          <a:xfrm>
            <a:off x="8402117" y="37033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 تُوصف في وقت واحد (2¹⁰).</a:t>
            </a:r>
            <a:endParaRPr lang="ar-EG" sz="1600" dirty="0"/>
          </a:p>
        </p:txBody>
      </p:sp>
      <p:sp>
        <p:nvSpPr>
          <p:cNvPr id="8" name="a2_card"/>
          <p:cNvSpPr/>
          <p:nvPr/>
        </p:nvSpPr>
        <p:spPr>
          <a:xfrm>
            <a:off x="4338218" y="1600200"/>
            <a:ext cx="3515258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a2_q"/>
          <p:cNvSpPr txBox="1"/>
          <p:nvPr/>
        </p:nvSpPr>
        <p:spPr>
          <a:xfrm>
            <a:off x="4612538" y="1783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كيوبتًا</a:t>
            </a:r>
            <a:endParaRPr lang="ar-EG" sz="2000" dirty="0"/>
          </a:p>
        </p:txBody>
      </p:sp>
      <p:sp>
        <p:nvSpPr>
          <p:cNvPr id="10" name="a2_big"/>
          <p:cNvSpPr txBox="1"/>
          <p:nvPr/>
        </p:nvSpPr>
        <p:spPr>
          <a:xfrm>
            <a:off x="4612538" y="23774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4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</a:t>
            </a:r>
            <a:pPr algn="r" indent="0" marL="0">
              <a:buNone/>
            </a:pPr>
            <a:r>
              <a:rPr lang="ar-EG" altLang="en-US" sz="4000" b="1" baseline="30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ar-EG" sz="4000" dirty="0"/>
          </a:p>
        </p:txBody>
      </p:sp>
      <p:sp>
        <p:nvSpPr>
          <p:cNvPr id="11" name="a2_text"/>
          <p:cNvSpPr txBox="1"/>
          <p:nvPr/>
        </p:nvSpPr>
        <p:spPr>
          <a:xfrm>
            <a:off x="4612538" y="37033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حالة. ومحاكاتها على حاسوب عادي تحتاج نحو 18 بيتابايت من الذاكرة.</a:t>
            </a:r>
            <a:endParaRPr lang="ar-EG" sz="1600" dirty="0"/>
          </a:p>
        </p:txBody>
      </p:sp>
      <p:sp>
        <p:nvSpPr>
          <p:cNvPr id="12" name="a3_card"/>
          <p:cNvSpPr/>
          <p:nvPr/>
        </p:nvSpPr>
        <p:spPr>
          <a:xfrm>
            <a:off x="548640" y="1600200"/>
            <a:ext cx="3515258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a3_q"/>
          <p:cNvSpPr txBox="1"/>
          <p:nvPr/>
        </p:nvSpPr>
        <p:spPr>
          <a:xfrm>
            <a:off x="822960" y="1783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كيوبت</a:t>
            </a:r>
            <a:endParaRPr lang="ar-EG" sz="2000" dirty="0"/>
          </a:p>
        </p:txBody>
      </p:sp>
      <p:sp>
        <p:nvSpPr>
          <p:cNvPr id="14" name="a3_big"/>
          <p:cNvSpPr txBox="1"/>
          <p:nvPr/>
        </p:nvSpPr>
        <p:spPr>
          <a:xfrm>
            <a:off x="822960" y="23774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4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</a:t>
            </a:r>
            <a:pPr algn="r" indent="0" marL="0">
              <a:buNone/>
            </a:pPr>
            <a:r>
              <a:rPr lang="ar-EG" altLang="en-US" sz="4000" b="1" baseline="30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ar-EG" sz="4000" dirty="0"/>
          </a:p>
        </p:txBody>
      </p:sp>
      <p:sp>
        <p:nvSpPr>
          <p:cNvPr id="15" name="a3_text"/>
          <p:cNvSpPr txBox="1"/>
          <p:nvPr/>
        </p:nvSpPr>
        <p:spPr>
          <a:xfrm>
            <a:off x="822960" y="37033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حالة: أكثر من عدد الذرات في الكون المرصود (نحو 10⁸⁰).</a:t>
            </a:r>
            <a:endParaRPr lang="ar-EG" sz="1600" dirty="0"/>
          </a:p>
        </p:txBody>
      </p:sp>
      <p:sp>
        <p:nvSpPr>
          <p:cNvPr id="16" name="a4_note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5238"/>
            </a:avLst>
          </a:prstGeom>
          <a:solidFill>
            <a:schemeClr val="accent4"/>
          </a:solidFill>
          <a:ln/>
        </p:spPr>
      </p:sp>
      <p:sp>
        <p:nvSpPr>
          <p:cNvPr id="17" name="a4_note_t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كيوبت تصف 2ᴺ حالة. لكن زيادة الحالات لا تعني تسريع كل مسألة، بل المسائل ذات البنية المناسبة فقط.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كيف نصنع كيوبتًا؟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115605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774375" y="17099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197" y="1882750"/>
            <a:ext cx="294437" cy="294437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298485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دوائر فائقة التوصيل</a:t>
            </a:r>
            <a:endParaRPr lang="ar-EG" sz="1700" dirty="0"/>
          </a:p>
        </p:txBody>
      </p:sp>
      <p:sp>
        <p:nvSpPr>
          <p:cNvPr id="8" name="a1_body"/>
          <p:cNvSpPr txBox="1"/>
          <p:nvPr/>
        </p:nvSpPr>
        <p:spPr>
          <a:xfrm>
            <a:off x="8344205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دوائر صغيرة تُبرَّد قرب الصفر المطلق. تستخدمها IBM وGoogle.</a:t>
            </a:r>
            <a:endParaRPr lang="ar-EG" sz="1400" dirty="0"/>
          </a:p>
        </p:txBody>
      </p:sp>
      <p:sp>
        <p:nvSpPr>
          <p:cNvPr id="9" name="a1_tag"/>
          <p:cNvSpPr/>
          <p:nvPr/>
        </p:nvSpPr>
        <p:spPr>
          <a:xfrm>
            <a:off x="8945575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a1_tag_t"/>
          <p:cNvSpPr txBox="1"/>
          <p:nvPr/>
        </p:nvSpPr>
        <p:spPr>
          <a:xfrm>
            <a:off x="8945575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الأكثر انتشارًا</a:t>
            </a:r>
            <a:endParaRPr lang="ar-EG" sz="1200" dirty="0"/>
          </a:p>
        </p:txBody>
      </p:sp>
      <p:sp>
        <p:nvSpPr>
          <p:cNvPr id="11" name="a2_card"/>
          <p:cNvSpPr/>
          <p:nvPr/>
        </p:nvSpPr>
        <p:spPr>
          <a:xfrm>
            <a:off x="4332122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a2_ico_bg"/>
          <p:cNvSpPr/>
          <p:nvPr/>
        </p:nvSpPr>
        <p:spPr>
          <a:xfrm>
            <a:off x="6990893" y="17099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714" y="1882750"/>
            <a:ext cx="294437" cy="294437"/>
          </a:xfrm>
          <a:prstGeom prst="rect">
            <a:avLst/>
          </a:prstGeom>
        </p:spPr>
      </p:pic>
      <p:sp>
        <p:nvSpPr>
          <p:cNvPr id="14" name="a2_head"/>
          <p:cNvSpPr txBox="1"/>
          <p:nvPr/>
        </p:nvSpPr>
        <p:spPr>
          <a:xfrm>
            <a:off x="4515002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أيونات محتجزة</a:t>
            </a:r>
            <a:endParaRPr lang="ar-EG" sz="1700" dirty="0"/>
          </a:p>
        </p:txBody>
      </p:sp>
      <p:sp>
        <p:nvSpPr>
          <p:cNvPr id="15" name="a2_body"/>
          <p:cNvSpPr txBox="1"/>
          <p:nvPr/>
        </p:nvSpPr>
        <p:spPr>
          <a:xfrm>
            <a:off x="4560722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ذرات مشحونة تحتجزها مجالات كهربائية ويتحكم بها الليزر. IonQ وQuantinuum.</a:t>
            </a:r>
            <a:endParaRPr lang="ar-EG" sz="1400" dirty="0"/>
          </a:p>
        </p:txBody>
      </p:sp>
      <p:sp>
        <p:nvSpPr>
          <p:cNvPr id="16" name="a2_tag"/>
          <p:cNvSpPr/>
          <p:nvPr/>
        </p:nvSpPr>
        <p:spPr>
          <a:xfrm>
            <a:off x="5162093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a2_tag_t"/>
          <p:cNvSpPr txBox="1"/>
          <p:nvPr/>
        </p:nvSpPr>
        <p:spPr>
          <a:xfrm>
            <a:off x="5162093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دقة عالية</a:t>
            </a:r>
            <a:endParaRPr lang="ar-EG" sz="1200" dirty="0"/>
          </a:p>
        </p:txBody>
      </p:sp>
      <p:sp>
        <p:nvSpPr>
          <p:cNvPr id="18" name="a3_card"/>
          <p:cNvSpPr/>
          <p:nvPr/>
        </p:nvSpPr>
        <p:spPr>
          <a:xfrm>
            <a:off x="548640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a3_ico_bg"/>
          <p:cNvSpPr/>
          <p:nvPr/>
        </p:nvSpPr>
        <p:spPr>
          <a:xfrm>
            <a:off x="3207410" y="17099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232" y="1882750"/>
            <a:ext cx="294437" cy="294437"/>
          </a:xfrm>
          <a:prstGeom prst="rect">
            <a:avLst/>
          </a:prstGeom>
        </p:spPr>
      </p:pic>
      <p:sp>
        <p:nvSpPr>
          <p:cNvPr id="21" name="a3_head"/>
          <p:cNvSpPr txBox="1"/>
          <p:nvPr/>
        </p:nvSpPr>
        <p:spPr>
          <a:xfrm>
            <a:off x="731520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فوتونات</a:t>
            </a:r>
            <a:endParaRPr lang="ar-EG" sz="1700" dirty="0"/>
          </a:p>
        </p:txBody>
      </p:sp>
      <p:sp>
        <p:nvSpPr>
          <p:cNvPr id="22" name="a3_body"/>
          <p:cNvSpPr txBox="1"/>
          <p:nvPr/>
        </p:nvSpPr>
        <p:spPr>
          <a:xfrm>
            <a:off x="777240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جسيمات الضوء تُوجَّه عبر رقائق. PsiQuantum وXanadu.</a:t>
            </a:r>
            <a:endParaRPr lang="ar-EG" sz="1400" dirty="0"/>
          </a:p>
        </p:txBody>
      </p:sp>
      <p:sp>
        <p:nvSpPr>
          <p:cNvPr id="23" name="a3_tag"/>
          <p:cNvSpPr/>
          <p:nvPr/>
        </p:nvSpPr>
        <p:spPr>
          <a:xfrm>
            <a:off x="1378610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a3_tag_t"/>
          <p:cNvSpPr txBox="1"/>
          <p:nvPr/>
        </p:nvSpPr>
        <p:spPr>
          <a:xfrm>
            <a:off x="137861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تعمل في حرارة الغرفة</a:t>
            </a:r>
            <a:endParaRPr lang="ar-EG" sz="1200" dirty="0"/>
          </a:p>
        </p:txBody>
      </p:sp>
      <p:sp>
        <p:nvSpPr>
          <p:cNvPr id="25" name="a4_card"/>
          <p:cNvSpPr/>
          <p:nvPr/>
        </p:nvSpPr>
        <p:spPr>
          <a:xfrm>
            <a:off x="8115605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6" name="a4_ico_bg"/>
          <p:cNvSpPr/>
          <p:nvPr/>
        </p:nvSpPr>
        <p:spPr>
          <a:xfrm>
            <a:off x="10774375" y="408736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197" y="4260190"/>
            <a:ext cx="294437" cy="294437"/>
          </a:xfrm>
          <a:prstGeom prst="rect">
            <a:avLst/>
          </a:prstGeom>
        </p:spPr>
      </p:pic>
      <p:sp>
        <p:nvSpPr>
          <p:cNvPr id="28" name="a4_head"/>
          <p:cNvSpPr txBox="1"/>
          <p:nvPr/>
        </p:nvSpPr>
        <p:spPr>
          <a:xfrm>
            <a:off x="8298485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ذرات متعادلة</a:t>
            </a:r>
            <a:endParaRPr lang="ar-EG" sz="1700" dirty="0"/>
          </a:p>
        </p:txBody>
      </p:sp>
      <p:sp>
        <p:nvSpPr>
          <p:cNvPr id="29" name="a4_body"/>
          <p:cNvSpPr txBox="1"/>
          <p:nvPr/>
        </p:nvSpPr>
        <p:spPr>
          <a:xfrm>
            <a:off x="8344205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ذرات تُمسك في مصفوفات بملاقط ليزرية. QuEra وPasqal.</a:t>
            </a:r>
            <a:endParaRPr lang="ar-EG" sz="1400" dirty="0"/>
          </a:p>
        </p:txBody>
      </p:sp>
      <p:sp>
        <p:nvSpPr>
          <p:cNvPr id="30" name="a4_tag"/>
          <p:cNvSpPr/>
          <p:nvPr/>
        </p:nvSpPr>
        <p:spPr>
          <a:xfrm>
            <a:off x="8945575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a4_tag_t"/>
          <p:cNvSpPr txBox="1"/>
          <p:nvPr/>
        </p:nvSpPr>
        <p:spPr>
          <a:xfrm>
            <a:off x="8945575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قابلة للتوسّع</a:t>
            </a:r>
            <a:endParaRPr lang="ar-EG" sz="1200" dirty="0"/>
          </a:p>
        </p:txBody>
      </p:sp>
      <p:sp>
        <p:nvSpPr>
          <p:cNvPr id="32" name="a5_card"/>
          <p:cNvSpPr/>
          <p:nvPr/>
        </p:nvSpPr>
        <p:spPr>
          <a:xfrm>
            <a:off x="4332122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3" name="a5_ico_bg"/>
          <p:cNvSpPr/>
          <p:nvPr/>
        </p:nvSpPr>
        <p:spPr>
          <a:xfrm>
            <a:off x="6990893" y="4087368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4" name="a5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714" y="4260190"/>
            <a:ext cx="294437" cy="294437"/>
          </a:xfrm>
          <a:prstGeom prst="rect">
            <a:avLst/>
          </a:prstGeom>
        </p:spPr>
      </p:pic>
      <p:sp>
        <p:nvSpPr>
          <p:cNvPr id="35" name="a5_head"/>
          <p:cNvSpPr txBox="1"/>
          <p:nvPr/>
        </p:nvSpPr>
        <p:spPr>
          <a:xfrm>
            <a:off x="4515002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سبين الإلكترونات في السيليكون</a:t>
            </a:r>
            <a:endParaRPr lang="ar-EG" sz="1700" dirty="0"/>
          </a:p>
        </p:txBody>
      </p:sp>
      <p:sp>
        <p:nvSpPr>
          <p:cNvPr id="36" name="a5_body"/>
          <p:cNvSpPr txBox="1"/>
          <p:nvPr/>
        </p:nvSpPr>
        <p:spPr>
          <a:xfrm>
            <a:off x="4560722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سبين إلكترونات منفردة في أجهزة تشبه الترانزستور. إنتل وغيرها.</a:t>
            </a:r>
            <a:endParaRPr lang="ar-EG" sz="1400" dirty="0"/>
          </a:p>
        </p:txBody>
      </p:sp>
      <p:sp>
        <p:nvSpPr>
          <p:cNvPr id="37" name="a5_tag"/>
          <p:cNvSpPr/>
          <p:nvPr/>
        </p:nvSpPr>
        <p:spPr>
          <a:xfrm>
            <a:off x="5162093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a5_tag_t"/>
          <p:cNvSpPr txBox="1"/>
          <p:nvPr/>
        </p:nvSpPr>
        <p:spPr>
          <a:xfrm>
            <a:off x="5162093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تستفيد من مصانع الرقائق</a:t>
            </a:r>
            <a:endParaRPr lang="ar-EG" sz="1200" dirty="0"/>
          </a:p>
        </p:txBody>
      </p:sp>
      <p:sp>
        <p:nvSpPr>
          <p:cNvPr id="39" name="a6_card"/>
          <p:cNvSpPr/>
          <p:nvPr/>
        </p:nvSpPr>
        <p:spPr>
          <a:xfrm>
            <a:off x="548640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a6_ico_bg"/>
          <p:cNvSpPr/>
          <p:nvPr/>
        </p:nvSpPr>
        <p:spPr>
          <a:xfrm>
            <a:off x="3207410" y="4087368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a6_ico_im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232" y="4260190"/>
            <a:ext cx="294437" cy="294437"/>
          </a:xfrm>
          <a:prstGeom prst="rect">
            <a:avLst/>
          </a:prstGeom>
        </p:spPr>
      </p:pic>
      <p:sp>
        <p:nvSpPr>
          <p:cNvPr id="42" name="a6_head"/>
          <p:cNvSpPr txBox="1"/>
          <p:nvPr/>
        </p:nvSpPr>
        <p:spPr>
          <a:xfrm>
            <a:off x="731520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طوبولوجية</a:t>
            </a:r>
            <a:endParaRPr lang="ar-EG" sz="1700" dirty="0"/>
          </a:p>
        </p:txBody>
      </p:sp>
      <p:sp>
        <p:nvSpPr>
          <p:cNvPr id="43" name="a6_body"/>
          <p:cNvSpPr txBox="1"/>
          <p:nvPr/>
        </p:nvSpPr>
        <p:spPr>
          <a:xfrm>
            <a:off x="777240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كيوبت مقترح أكثر ثباتًا. ما زال قيد الإثبات والنقاش.</a:t>
            </a:r>
            <a:endParaRPr lang="ar-EG" sz="1400" dirty="0"/>
          </a:p>
        </p:txBody>
      </p:sp>
      <p:sp>
        <p:nvSpPr>
          <p:cNvPr id="44" name="a6_tag"/>
          <p:cNvSpPr/>
          <p:nvPr/>
        </p:nvSpPr>
        <p:spPr>
          <a:xfrm>
            <a:off x="1378610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5" name="a6_tag_t"/>
          <p:cNvSpPr txBox="1"/>
          <p:nvPr/>
        </p:nvSpPr>
        <p:spPr>
          <a:xfrm>
            <a:off x="137861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بحثي</a:t>
            </a:r>
            <a:endParaRPr lang="ar-EG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داخل حاسوب كمومي فائق التوصيل</a:t>
            </a:r>
            <a:endParaRPr lang="ar-EG" sz="3400" dirty="0"/>
          </a:p>
        </p:txBody>
      </p:sp>
      <p:sp>
        <p:nvSpPr>
          <p:cNvPr id="4" name="a1_layer"/>
          <p:cNvSpPr/>
          <p:nvPr/>
        </p:nvSpPr>
        <p:spPr>
          <a:xfrm>
            <a:off x="5608015" y="1554480"/>
            <a:ext cx="603504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5" name="a1_temp"/>
          <p:cNvSpPr txBox="1"/>
          <p:nvPr/>
        </p:nvSpPr>
        <p:spPr>
          <a:xfrm>
            <a:off x="5836615" y="16276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 °C</a:t>
            </a:r>
            <a:endParaRPr lang="en-US" sz="1600" dirty="0"/>
          </a:p>
        </p:txBody>
      </p:sp>
      <p:sp>
        <p:nvSpPr>
          <p:cNvPr id="6" name="a1_name"/>
          <p:cNvSpPr txBox="1"/>
          <p:nvPr/>
        </p:nvSpPr>
        <p:spPr>
          <a:xfrm>
            <a:off x="5836615" y="197510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حرارة الغرفة: حواسيب التحكم والإلكترونيات</a:t>
            </a:r>
            <a:endParaRPr lang="ar-EG" sz="1400" dirty="0"/>
          </a:p>
        </p:txBody>
      </p:sp>
      <p:sp>
        <p:nvSpPr>
          <p:cNvPr id="7" name="a2_layer"/>
          <p:cNvSpPr/>
          <p:nvPr/>
        </p:nvSpPr>
        <p:spPr>
          <a:xfrm>
            <a:off x="5882335" y="2450592"/>
            <a:ext cx="5486400" cy="804672"/>
          </a:xfrm>
          <a:prstGeom prst="roundRect">
            <a:avLst>
              <a:gd name="adj" fmla="val 11364"/>
            </a:avLst>
          </a:prstGeom>
          <a:solidFill>
            <a:schemeClr val="tx2">
              <a:alpha val="52000"/>
            </a:schemeClr>
          </a:solidFill>
          <a:ln/>
        </p:spPr>
      </p:sp>
      <p:sp>
        <p:nvSpPr>
          <p:cNvPr id="8" name="a2_temp"/>
          <p:cNvSpPr txBox="1"/>
          <p:nvPr/>
        </p:nvSpPr>
        <p:spPr>
          <a:xfrm>
            <a:off x="6110935" y="25237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−223 °C (50 K)</a:t>
            </a:r>
            <a:endParaRPr lang="en-US" sz="1600" dirty="0"/>
          </a:p>
        </p:txBody>
      </p:sp>
      <p:sp>
        <p:nvSpPr>
          <p:cNvPr id="9" name="a2_name"/>
          <p:cNvSpPr txBox="1"/>
          <p:nvPr/>
        </p:nvSpPr>
        <p:spPr>
          <a:xfrm>
            <a:off x="6110935" y="28712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الأولى من التبريد</a:t>
            </a:r>
            <a:endParaRPr lang="ar-EG" sz="1400" dirty="0"/>
          </a:p>
        </p:txBody>
      </p:sp>
      <p:sp>
        <p:nvSpPr>
          <p:cNvPr id="10" name="a3_layer"/>
          <p:cNvSpPr/>
          <p:nvPr/>
        </p:nvSpPr>
        <p:spPr>
          <a:xfrm>
            <a:off x="6156655" y="3346704"/>
            <a:ext cx="4937760" cy="804672"/>
          </a:xfrm>
          <a:prstGeom prst="roundRect">
            <a:avLst>
              <a:gd name="adj" fmla="val 11364"/>
            </a:avLst>
          </a:prstGeom>
          <a:solidFill>
            <a:schemeClr val="tx2">
              <a:alpha val="65000"/>
            </a:schemeClr>
          </a:solidFill>
          <a:ln/>
        </p:spPr>
      </p:sp>
      <p:sp>
        <p:nvSpPr>
          <p:cNvPr id="11" name="a3_temp"/>
          <p:cNvSpPr txBox="1"/>
          <p:nvPr/>
        </p:nvSpPr>
        <p:spPr>
          <a:xfrm>
            <a:off x="6385255" y="34198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−269 °C (4 K)</a:t>
            </a:r>
            <a:endParaRPr lang="en-US" sz="1600" dirty="0"/>
          </a:p>
        </p:txBody>
      </p:sp>
      <p:sp>
        <p:nvSpPr>
          <p:cNvPr id="12" name="a3_name"/>
          <p:cNvSpPr txBox="1"/>
          <p:nvPr/>
        </p:nvSpPr>
        <p:spPr>
          <a:xfrm>
            <a:off x="6385255" y="37673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المضخّمات والأسلاك</a:t>
            </a:r>
            <a:endParaRPr lang="ar-EG" sz="1400" dirty="0"/>
          </a:p>
        </p:txBody>
      </p:sp>
      <p:sp>
        <p:nvSpPr>
          <p:cNvPr id="13" name="a4_layer"/>
          <p:cNvSpPr/>
          <p:nvPr/>
        </p:nvSpPr>
        <p:spPr>
          <a:xfrm>
            <a:off x="6430975" y="4242816"/>
            <a:ext cx="4389120" cy="804672"/>
          </a:xfrm>
          <a:prstGeom prst="roundRect">
            <a:avLst>
              <a:gd name="adj" fmla="val 11364"/>
            </a:avLst>
          </a:prstGeom>
          <a:solidFill>
            <a:schemeClr val="tx2">
              <a:alpha val="77000"/>
            </a:schemeClr>
          </a:solidFill>
          <a:ln/>
        </p:spPr>
      </p:sp>
      <p:sp>
        <p:nvSpPr>
          <p:cNvPr id="14" name="a4_temp"/>
          <p:cNvSpPr txBox="1"/>
          <p:nvPr/>
        </p:nvSpPr>
        <p:spPr>
          <a:xfrm>
            <a:off x="6659575" y="4315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−273.05 °C (0.1 K)</a:t>
            </a:r>
            <a:endParaRPr lang="en-US" sz="1600" dirty="0"/>
          </a:p>
        </p:txBody>
      </p:sp>
      <p:sp>
        <p:nvSpPr>
          <p:cNvPr id="15" name="a4_name"/>
          <p:cNvSpPr txBox="1"/>
          <p:nvPr/>
        </p:nvSpPr>
        <p:spPr>
          <a:xfrm>
            <a:off x="6659575" y="4663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اللوح البارد</a:t>
            </a:r>
            <a:endParaRPr lang="ar-EG" sz="1400" dirty="0"/>
          </a:p>
        </p:txBody>
      </p:sp>
      <p:sp>
        <p:nvSpPr>
          <p:cNvPr id="16" name="a5_layer"/>
          <p:cNvSpPr/>
          <p:nvPr/>
        </p:nvSpPr>
        <p:spPr>
          <a:xfrm>
            <a:off x="6705295" y="5138928"/>
            <a:ext cx="3840480" cy="804672"/>
          </a:xfrm>
          <a:prstGeom prst="roundRect">
            <a:avLst>
              <a:gd name="adj" fmla="val 11364"/>
            </a:avLst>
          </a:prstGeom>
          <a:solidFill>
            <a:schemeClr val="accent1"/>
          </a:solidFill>
          <a:ln/>
        </p:spPr>
      </p:sp>
      <p:sp>
        <p:nvSpPr>
          <p:cNvPr id="17" name="a5_temp"/>
          <p:cNvSpPr txBox="1"/>
          <p:nvPr/>
        </p:nvSpPr>
        <p:spPr>
          <a:xfrm>
            <a:off x="6933895" y="5212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−273.14 °C (15 mK)</a:t>
            </a:r>
            <a:endParaRPr lang="en-US" sz="1600" dirty="0"/>
          </a:p>
        </p:txBody>
      </p:sp>
      <p:sp>
        <p:nvSpPr>
          <p:cNvPr id="18" name="a5_name"/>
          <p:cNvSpPr txBox="1"/>
          <p:nvPr/>
        </p:nvSpPr>
        <p:spPr>
          <a:xfrm>
            <a:off x="6933895" y="5559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الرقاقة الكمومية (الكيوبتات)</a:t>
            </a:r>
            <a:endParaRPr lang="ar-EG" sz="1400" dirty="0"/>
          </a:p>
        </p:txBody>
      </p:sp>
      <p:sp>
        <p:nvSpPr>
          <p:cNvPr id="19" name="a6_pc"/>
          <p:cNvSpPr/>
          <p:nvPr/>
        </p:nvSpPr>
        <p:spPr>
          <a:xfrm>
            <a:off x="551383" y="160020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0" name="a6_ico_bg"/>
          <p:cNvSpPr/>
          <p:nvPr/>
        </p:nvSpPr>
        <p:spPr>
          <a:xfrm>
            <a:off x="4373575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6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086" y="2117750"/>
            <a:ext cx="336499" cy="336499"/>
          </a:xfrm>
          <a:prstGeom prst="rect">
            <a:avLst/>
          </a:prstGeom>
        </p:spPr>
      </p:pic>
      <p:sp>
        <p:nvSpPr>
          <p:cNvPr id="22" name="a6_pt"/>
          <p:cNvSpPr txBox="1"/>
          <p:nvPr/>
        </p:nvSpPr>
        <p:spPr>
          <a:xfrm>
            <a:off x="670255" y="167335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أبرد من الفضاء الخارجي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الفضاء العميق نحو 2.7 كلفن، والرقاقة قرب 0.015 كلفن.</a:t>
            </a:r>
            <a:endParaRPr lang="ar-EG" sz="1800" dirty="0"/>
          </a:p>
        </p:txBody>
      </p:sp>
      <p:sp>
        <p:nvSpPr>
          <p:cNvPr id="23" name="a7_pc"/>
          <p:cNvSpPr/>
          <p:nvPr/>
        </p:nvSpPr>
        <p:spPr>
          <a:xfrm>
            <a:off x="551383" y="310896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4" name="a7_ico_bg"/>
          <p:cNvSpPr/>
          <p:nvPr/>
        </p:nvSpPr>
        <p:spPr>
          <a:xfrm>
            <a:off x="4373575" y="3429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a7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086" y="3626510"/>
            <a:ext cx="336499" cy="336499"/>
          </a:xfrm>
          <a:prstGeom prst="rect">
            <a:avLst/>
          </a:prstGeom>
        </p:spPr>
      </p:pic>
      <p:sp>
        <p:nvSpPr>
          <p:cNvPr id="26" name="a7_pt"/>
          <p:cNvSpPr txBox="1"/>
          <p:nvPr/>
        </p:nvSpPr>
        <p:spPr>
          <a:xfrm>
            <a:off x="670255" y="318211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هذا البرد؟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الحرارة تجعل الذرات تهتزّ فتدمّر الحالات الكمومية الهشّة.</a:t>
            </a:r>
            <a:endParaRPr lang="ar-EG" sz="1800" dirty="0"/>
          </a:p>
        </p:txBody>
      </p:sp>
      <p:sp>
        <p:nvSpPr>
          <p:cNvPr id="27" name="a8_pc"/>
          <p:cNvSpPr/>
          <p:nvPr/>
        </p:nvSpPr>
        <p:spPr>
          <a:xfrm>
            <a:off x="551383" y="461772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8" name="a8_ico_bg"/>
          <p:cNvSpPr/>
          <p:nvPr/>
        </p:nvSpPr>
        <p:spPr>
          <a:xfrm>
            <a:off x="4373575" y="4937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a8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086" y="5135270"/>
            <a:ext cx="336499" cy="336499"/>
          </a:xfrm>
          <a:prstGeom prst="rect">
            <a:avLst/>
          </a:prstGeom>
        </p:spPr>
      </p:pic>
      <p:sp>
        <p:nvSpPr>
          <p:cNvPr id="30" name="a8_pt"/>
          <p:cNvSpPr txBox="1"/>
          <p:nvPr/>
        </p:nvSpPr>
        <p:spPr>
          <a:xfrm>
            <a:off x="670255" y="469087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ثلاجة لا حاسوب مكتبي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معظم الجهاز مبرّد تخفيفي (Dilution Refrigerator) وأسلاك وإلكترونيات تحكّم.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تحديات اليوم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500055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254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447837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الضجيج</a:t>
            </a:r>
            <a:endParaRPr lang="ar-EG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447837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يفقد الكيوبت حالته الكمومية في أجزاء صغيرة جدًا من الثانية (فقدان الترابط الكمومي).</a:t>
            </a:r>
            <a:endParaRPr lang="ar-EG" sz="16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6710477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76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الأخطاء</a:t>
            </a:r>
            <a:endParaRPr lang="ar-EG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تصحيح الأخطاء الكمومية يحتاج كيوبتات فيزيائية كثيرة لصنع كيوبت «منطقي» موثوق واحد.</a:t>
            </a:r>
            <a:endParaRPr lang="ar-EG" sz="1600" dirty="0"/>
          </a:p>
        </p:txBody>
      </p:sp>
      <p:sp>
        <p:nvSpPr>
          <p:cNvPr id="14" name="a3_card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292089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98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68680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الحجم</a:t>
            </a:r>
            <a:endParaRPr lang="ar-EG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868680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لدى أجهزة اليوم نحو 100 إلى أكثر من 1,000 كيوبت فيزيائي. وقد تحتاج مهام مفيدة كثيرة إلى ملايين.</a:t>
            </a:r>
            <a:endParaRPr lang="ar-EG" sz="1600" dirty="0"/>
          </a:p>
        </p:txBody>
      </p:sp>
      <p:sp>
        <p:nvSpPr>
          <p:cNvPr id="19" name="a4_not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pic>
        <p:nvPicPr>
          <p:cNvPr id="20" name="a4_note_ic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5550408"/>
            <a:ext cx="365760" cy="365760"/>
          </a:xfrm>
          <a:prstGeom prst="rect">
            <a:avLst/>
          </a:prstGeom>
        </p:spPr>
      </p:pic>
      <p:sp>
        <p:nvSpPr>
          <p:cNvPr id="21" name="a4_note_t"/>
          <p:cNvSpPr txBox="1"/>
          <p:nvPr/>
        </p:nvSpPr>
        <p:spPr>
          <a:xfrm>
            <a:off x="914400" y="53035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نحن في عصر «NISQ»: حواسيب كمومية متوسطة الحجم وفيها ضجيج. التقدّم حقيقي وسريع، لكن الأجهزة الكبيرة المقاومة للأخطاء لا تزال قيد البناء.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8808415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-1158545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8442655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78815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400" b="1" dirty="0">
                <a:solidFill>
                  <a:schemeClr val="bg1"/>
                </a:solidFill>
              </a:rPr>
              <a:t>التطبيقات والفوائد</a:t>
            </a:r>
            <a:endParaRPr lang="ar-EG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78815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ماذا يمكننا أن نفعل بها؟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أين يمكن أن تفيد؟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115605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774375" y="17099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197" y="1882750"/>
            <a:ext cx="294437" cy="294437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298485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الطب</a:t>
            </a:r>
            <a:endParaRPr lang="ar-EG" sz="1700" dirty="0"/>
          </a:p>
        </p:txBody>
      </p:sp>
      <p:sp>
        <p:nvSpPr>
          <p:cNvPr id="8" name="a1_body"/>
          <p:cNvSpPr txBox="1"/>
          <p:nvPr/>
        </p:nvSpPr>
        <p:spPr>
          <a:xfrm>
            <a:off x="8344205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محاكاة الجزيئات بدقة لتصميم أدوية جديدة وفهم الأمراض.</a:t>
            </a:r>
            <a:endParaRPr lang="ar-EG" sz="1400" dirty="0"/>
          </a:p>
        </p:txBody>
      </p:sp>
      <p:sp>
        <p:nvSpPr>
          <p:cNvPr id="9" name="a1_tag"/>
          <p:cNvSpPr/>
          <p:nvPr/>
        </p:nvSpPr>
        <p:spPr>
          <a:xfrm>
            <a:off x="8945575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a1_tag_t"/>
          <p:cNvSpPr txBox="1"/>
          <p:nvPr/>
        </p:nvSpPr>
        <p:spPr>
          <a:xfrm>
            <a:off x="8945575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واعد</a:t>
            </a:r>
            <a:endParaRPr lang="ar-EG" sz="1200" dirty="0"/>
          </a:p>
        </p:txBody>
      </p:sp>
      <p:sp>
        <p:nvSpPr>
          <p:cNvPr id="11" name="a2_card"/>
          <p:cNvSpPr/>
          <p:nvPr/>
        </p:nvSpPr>
        <p:spPr>
          <a:xfrm>
            <a:off x="4332122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a2_ico_bg"/>
          <p:cNvSpPr/>
          <p:nvPr/>
        </p:nvSpPr>
        <p:spPr>
          <a:xfrm>
            <a:off x="6990893" y="17099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714" y="1882750"/>
            <a:ext cx="294437" cy="294437"/>
          </a:xfrm>
          <a:prstGeom prst="rect">
            <a:avLst/>
          </a:prstGeom>
        </p:spPr>
      </p:pic>
      <p:sp>
        <p:nvSpPr>
          <p:cNvPr id="14" name="a2_head"/>
          <p:cNvSpPr txBox="1"/>
          <p:nvPr/>
        </p:nvSpPr>
        <p:spPr>
          <a:xfrm>
            <a:off x="4515002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المواد والطاقة</a:t>
            </a:r>
            <a:endParaRPr lang="ar-EG" sz="1700" dirty="0"/>
          </a:p>
        </p:txBody>
      </p:sp>
      <p:sp>
        <p:nvSpPr>
          <p:cNvPr id="15" name="a2_body"/>
          <p:cNvSpPr txBox="1"/>
          <p:nvPr/>
        </p:nvSpPr>
        <p:spPr>
          <a:xfrm>
            <a:off x="4560722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بطاريات ومواد شمسية ومحفزات أفضل، مثل أسمدة بطاقة أقل.</a:t>
            </a:r>
            <a:endParaRPr lang="ar-EG" sz="1400" dirty="0"/>
          </a:p>
        </p:txBody>
      </p:sp>
      <p:sp>
        <p:nvSpPr>
          <p:cNvPr id="16" name="a2_tag"/>
          <p:cNvSpPr/>
          <p:nvPr/>
        </p:nvSpPr>
        <p:spPr>
          <a:xfrm>
            <a:off x="5162093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a2_tag_t"/>
          <p:cNvSpPr txBox="1"/>
          <p:nvPr/>
        </p:nvSpPr>
        <p:spPr>
          <a:xfrm>
            <a:off x="5162093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واعد</a:t>
            </a:r>
            <a:endParaRPr lang="ar-EG" sz="1200" dirty="0"/>
          </a:p>
        </p:txBody>
      </p:sp>
      <p:sp>
        <p:nvSpPr>
          <p:cNvPr id="18" name="a3_card"/>
          <p:cNvSpPr/>
          <p:nvPr/>
        </p:nvSpPr>
        <p:spPr>
          <a:xfrm>
            <a:off x="548640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a3_ico_bg"/>
          <p:cNvSpPr/>
          <p:nvPr/>
        </p:nvSpPr>
        <p:spPr>
          <a:xfrm>
            <a:off x="3207410" y="17099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232" y="1882750"/>
            <a:ext cx="294437" cy="294437"/>
          </a:xfrm>
          <a:prstGeom prst="rect">
            <a:avLst/>
          </a:prstGeom>
        </p:spPr>
      </p:pic>
      <p:sp>
        <p:nvSpPr>
          <p:cNvPr id="21" name="a3_head"/>
          <p:cNvSpPr txBox="1"/>
          <p:nvPr/>
        </p:nvSpPr>
        <p:spPr>
          <a:xfrm>
            <a:off x="731520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الأمن</a:t>
            </a:r>
            <a:endParaRPr lang="ar-EG" sz="1700" dirty="0"/>
          </a:p>
        </p:txBody>
      </p:sp>
      <p:sp>
        <p:nvSpPr>
          <p:cNvPr id="22" name="a3_body"/>
          <p:cNvSpPr txBox="1"/>
          <p:nvPr/>
        </p:nvSpPr>
        <p:spPr>
          <a:xfrm>
            <a:off x="777240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قد تكسر التشفير الحالي، وتتيح أيضًا طرقًا جديدة أكثر أمانًا.</a:t>
            </a:r>
            <a:endParaRPr lang="ar-EG" sz="1400" dirty="0"/>
          </a:p>
        </p:txBody>
      </p:sp>
      <p:sp>
        <p:nvSpPr>
          <p:cNvPr id="23" name="a3_tag"/>
          <p:cNvSpPr/>
          <p:nvPr/>
        </p:nvSpPr>
        <p:spPr>
          <a:xfrm>
            <a:off x="1378610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a3_tag_t"/>
          <p:cNvSpPr txBox="1"/>
          <p:nvPr/>
        </p:nvSpPr>
        <p:spPr>
          <a:xfrm>
            <a:off x="137861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 بعيد المدى</a:t>
            </a:r>
            <a:endParaRPr lang="ar-EG" sz="1200" dirty="0"/>
          </a:p>
        </p:txBody>
      </p:sp>
      <p:sp>
        <p:nvSpPr>
          <p:cNvPr id="25" name="a4_card"/>
          <p:cNvSpPr/>
          <p:nvPr/>
        </p:nvSpPr>
        <p:spPr>
          <a:xfrm>
            <a:off x="8115605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6" name="a4_ico_bg"/>
          <p:cNvSpPr/>
          <p:nvPr/>
        </p:nvSpPr>
        <p:spPr>
          <a:xfrm>
            <a:off x="10774375" y="408736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197" y="4260190"/>
            <a:ext cx="294437" cy="294437"/>
          </a:xfrm>
          <a:prstGeom prst="rect">
            <a:avLst/>
          </a:prstGeom>
        </p:spPr>
      </p:pic>
      <p:sp>
        <p:nvSpPr>
          <p:cNvPr id="28" name="a4_head"/>
          <p:cNvSpPr txBox="1"/>
          <p:nvPr/>
        </p:nvSpPr>
        <p:spPr>
          <a:xfrm>
            <a:off x="8298485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التحسين</a:t>
            </a:r>
            <a:endParaRPr lang="ar-EG" sz="1700" dirty="0"/>
          </a:p>
        </p:txBody>
      </p:sp>
      <p:sp>
        <p:nvSpPr>
          <p:cNvPr id="29" name="a4_body"/>
          <p:cNvSpPr txBox="1"/>
          <p:nvPr/>
        </p:nvSpPr>
        <p:spPr>
          <a:xfrm>
            <a:off x="8344205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المسارات والجداول وسلاسل الإمداد والمال: الأفضل بين أعداد ضخمة.</a:t>
            </a:r>
            <a:endParaRPr lang="ar-EG" sz="1400" dirty="0"/>
          </a:p>
        </p:txBody>
      </p:sp>
      <p:sp>
        <p:nvSpPr>
          <p:cNvPr id="30" name="a4_tag"/>
          <p:cNvSpPr/>
          <p:nvPr/>
        </p:nvSpPr>
        <p:spPr>
          <a:xfrm>
            <a:off x="8945575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a4_tag_t"/>
          <p:cNvSpPr txBox="1"/>
          <p:nvPr/>
        </p:nvSpPr>
        <p:spPr>
          <a:xfrm>
            <a:off x="8945575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قيد التجريب</a:t>
            </a:r>
            <a:endParaRPr lang="ar-EG" sz="1200" dirty="0"/>
          </a:p>
        </p:txBody>
      </p:sp>
      <p:sp>
        <p:nvSpPr>
          <p:cNvPr id="32" name="a5_card"/>
          <p:cNvSpPr/>
          <p:nvPr/>
        </p:nvSpPr>
        <p:spPr>
          <a:xfrm>
            <a:off x="4332122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3" name="a5_ico_bg"/>
          <p:cNvSpPr/>
          <p:nvPr/>
        </p:nvSpPr>
        <p:spPr>
          <a:xfrm>
            <a:off x="6990893" y="4087368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4" name="a5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714" y="4260190"/>
            <a:ext cx="294437" cy="294437"/>
          </a:xfrm>
          <a:prstGeom prst="rect">
            <a:avLst/>
          </a:prstGeom>
        </p:spPr>
      </p:pic>
      <p:sp>
        <p:nvSpPr>
          <p:cNvPr id="35" name="a5_head"/>
          <p:cNvSpPr txBox="1"/>
          <p:nvPr/>
        </p:nvSpPr>
        <p:spPr>
          <a:xfrm>
            <a:off x="4515002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الاصطناعي</a:t>
            </a:r>
            <a:endParaRPr lang="ar-EG" sz="1700" dirty="0"/>
          </a:p>
        </p:txBody>
      </p:sp>
      <p:sp>
        <p:nvSpPr>
          <p:cNvPr id="36" name="a5_body"/>
          <p:cNvSpPr txBox="1"/>
          <p:nvPr/>
        </p:nvSpPr>
        <p:spPr>
          <a:xfrm>
            <a:off x="4560722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قد تساعد في بعض مهام التعلّم، لكن الفوائد لم تثبت بعد.</a:t>
            </a:r>
            <a:endParaRPr lang="ar-EG" sz="1400" dirty="0"/>
          </a:p>
        </p:txBody>
      </p:sp>
      <p:sp>
        <p:nvSpPr>
          <p:cNvPr id="37" name="a5_tag"/>
          <p:cNvSpPr/>
          <p:nvPr/>
        </p:nvSpPr>
        <p:spPr>
          <a:xfrm>
            <a:off x="5162093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a5_tag_t"/>
          <p:cNvSpPr txBox="1"/>
          <p:nvPr/>
        </p:nvSpPr>
        <p:spPr>
          <a:xfrm>
            <a:off x="5162093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بحث مبكر</a:t>
            </a:r>
            <a:endParaRPr lang="ar-EG" sz="1200" dirty="0"/>
          </a:p>
        </p:txBody>
      </p:sp>
      <p:sp>
        <p:nvSpPr>
          <p:cNvPr id="39" name="a6_card"/>
          <p:cNvSpPr/>
          <p:nvPr/>
        </p:nvSpPr>
        <p:spPr>
          <a:xfrm>
            <a:off x="548640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a6_ico_bg"/>
          <p:cNvSpPr/>
          <p:nvPr/>
        </p:nvSpPr>
        <p:spPr>
          <a:xfrm>
            <a:off x="3207410" y="4087368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a6_ico_im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232" y="4260190"/>
            <a:ext cx="294437" cy="294437"/>
          </a:xfrm>
          <a:prstGeom prst="rect">
            <a:avLst/>
          </a:prstGeom>
        </p:spPr>
      </p:pic>
      <p:sp>
        <p:nvSpPr>
          <p:cNvPr id="42" name="a6_head"/>
          <p:cNvSpPr txBox="1"/>
          <p:nvPr/>
        </p:nvSpPr>
        <p:spPr>
          <a:xfrm>
            <a:off x="731520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العلوم</a:t>
            </a:r>
            <a:endParaRPr lang="ar-EG" sz="1700" dirty="0"/>
          </a:p>
        </p:txBody>
      </p:sp>
      <p:sp>
        <p:nvSpPr>
          <p:cNvPr id="43" name="a6_body"/>
          <p:cNvSpPr txBox="1"/>
          <p:nvPr/>
        </p:nvSpPr>
        <p:spPr>
          <a:xfrm>
            <a:off x="777240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محاكاة الجسيمات والأنظمة الكمومية التي تعجز عنها الحواسيب العادية.</a:t>
            </a:r>
            <a:endParaRPr lang="ar-EG" sz="1400" dirty="0"/>
          </a:p>
        </p:txBody>
      </p:sp>
      <p:sp>
        <p:nvSpPr>
          <p:cNvPr id="44" name="a6_tag"/>
          <p:cNvSpPr/>
          <p:nvPr/>
        </p:nvSpPr>
        <p:spPr>
          <a:xfrm>
            <a:off x="1378610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5" name="a6_tag_t"/>
          <p:cNvSpPr txBox="1"/>
          <p:nvPr/>
        </p:nvSpPr>
        <p:spPr>
          <a:xfrm>
            <a:off x="137861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نشِط</a:t>
            </a:r>
            <a:endParaRPr lang="ar-EG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فوائد الحوسبة الكمومية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500055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254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9360941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تسريع كبير</a:t>
            </a:r>
            <a:endParaRPr lang="ar-EG" sz="1900" dirty="0"/>
          </a:p>
        </p:txBody>
      </p:sp>
      <p:sp>
        <p:nvSpPr>
          <p:cNvPr id="8" name="a1_body"/>
          <p:cNvSpPr txBox="1"/>
          <p:nvPr/>
        </p:nvSpPr>
        <p:spPr>
          <a:xfrm>
            <a:off x="9360941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لبعض المسائل خطوات أقل بكثير: تحليل الأعداد (مكسب أسّي) أو البحث (مكسب بالجذر التربيعي).</a:t>
            </a:r>
            <a:endParaRPr lang="ar-EG" sz="1600" dirty="0"/>
          </a:p>
        </p:txBody>
      </p:sp>
      <p:sp>
        <p:nvSpPr>
          <p:cNvPr id="9" name="a2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7669301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501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6530188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محاكاة الطبيعة</a:t>
            </a:r>
            <a:endParaRPr lang="ar-EG" sz="1900" dirty="0"/>
          </a:p>
        </p:txBody>
      </p:sp>
      <p:sp>
        <p:nvSpPr>
          <p:cNvPr id="13" name="a2_body"/>
          <p:cNvSpPr txBox="1"/>
          <p:nvPr/>
        </p:nvSpPr>
        <p:spPr>
          <a:xfrm>
            <a:off x="6530188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الأنظمة الكمومية تُحاكى بأنظمة كمومية: الجزيئات والمواد كما تتصرّف فعلًا.</a:t>
            </a:r>
            <a:endParaRPr lang="ar-EG" sz="1600" dirty="0"/>
          </a:p>
        </p:txBody>
      </p:sp>
      <p:sp>
        <p:nvSpPr>
          <p:cNvPr id="14" name="a3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483854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47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3699434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تحسين أفضل</a:t>
            </a:r>
            <a:endParaRPr lang="ar-EG" sz="1900" dirty="0"/>
          </a:p>
        </p:txBody>
      </p:sp>
      <p:sp>
        <p:nvSpPr>
          <p:cNvPr id="18" name="a3_body"/>
          <p:cNvSpPr txBox="1"/>
          <p:nvPr/>
        </p:nvSpPr>
        <p:spPr>
          <a:xfrm>
            <a:off x="3699434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حلول جيدة في فضاءات بحث هائلة، كالنقل والجدولة.</a:t>
            </a:r>
            <a:endParaRPr lang="ar-EG" sz="1600" dirty="0"/>
          </a:p>
        </p:txBody>
      </p:sp>
      <p:sp>
        <p:nvSpPr>
          <p:cNvPr id="19" name="a4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2007794" y="18745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993" y="209671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868680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توفير محتمل للطاقة</a:t>
            </a:r>
            <a:endParaRPr lang="ar-EG" sz="1900" dirty="0"/>
          </a:p>
        </p:txBody>
      </p:sp>
      <p:sp>
        <p:nvSpPr>
          <p:cNvPr id="23" name="a4_body"/>
          <p:cNvSpPr txBox="1"/>
          <p:nvPr/>
        </p:nvSpPr>
        <p:spPr>
          <a:xfrm>
            <a:off x="868680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لبعض المهام قد تستهلك طاقة أقل من حواسيب عملاقة ضخمة. لا يزال قيد البحث.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الحوسبة الكمومية والأمن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8432597" y="1600200"/>
            <a:ext cx="3210458" cy="3291840"/>
          </a:xfrm>
          <a:prstGeom prst="roundRect">
            <a:avLst>
              <a:gd name="adj" fmla="val 5127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9580626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7514" y="2075688"/>
            <a:ext cx="420624" cy="420624"/>
          </a:xfrm>
          <a:prstGeom prst="rect">
            <a:avLst/>
          </a:prstGeom>
        </p:spPr>
      </p:pic>
      <p:sp>
        <p:nvSpPr>
          <p:cNvPr id="7" name="a1_label"/>
          <p:cNvSpPr txBox="1"/>
          <p:nvPr/>
        </p:nvSpPr>
        <p:spPr>
          <a:xfrm>
            <a:off x="8661197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اليوم</a:t>
            </a:r>
            <a:endParaRPr lang="ar-EG" sz="2100" dirty="0"/>
          </a:p>
        </p:txBody>
      </p:sp>
      <p:sp>
        <p:nvSpPr>
          <p:cNvPr id="8" name="a1_text"/>
          <p:cNvSpPr txBox="1"/>
          <p:nvPr/>
        </p:nvSpPr>
        <p:spPr>
          <a:xfrm>
            <a:off x="8661197" y="347472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يحمي تشفير RSA والمنحنيات الإهليلجية المعاملات البنكية والرسائل والمواقع.</a:t>
            </a:r>
            <a:endParaRPr lang="ar-EG" sz="1500" dirty="0"/>
          </a:p>
        </p:txBody>
      </p:sp>
      <p:pic>
        <p:nvPicPr>
          <p:cNvPr id="9" name="a1_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957" y="3063240"/>
            <a:ext cx="365760" cy="365760"/>
          </a:xfrm>
          <a:prstGeom prst="rect">
            <a:avLst/>
          </a:prstGeom>
        </p:spPr>
      </p:pic>
      <p:sp>
        <p:nvSpPr>
          <p:cNvPr id="10" name="a2_card"/>
          <p:cNvSpPr/>
          <p:nvPr/>
        </p:nvSpPr>
        <p:spPr>
          <a:xfrm>
            <a:off x="4490618" y="1600200"/>
            <a:ext cx="3210458" cy="3291840"/>
          </a:xfrm>
          <a:prstGeom prst="roundRect">
            <a:avLst>
              <a:gd name="adj" fmla="val 5127"/>
            </a:avLst>
          </a:prstGeom>
          <a:solidFill>
            <a:schemeClr val="tx2"/>
          </a:solidFill>
          <a:ln/>
        </p:spPr>
      </p:sp>
      <p:sp>
        <p:nvSpPr>
          <p:cNvPr id="11" name="a2_ico_bg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075688"/>
            <a:ext cx="420624" cy="420624"/>
          </a:xfrm>
          <a:prstGeom prst="rect">
            <a:avLst/>
          </a:prstGeom>
        </p:spPr>
      </p:pic>
      <p:sp>
        <p:nvSpPr>
          <p:cNvPr id="13" name="a2_label"/>
          <p:cNvSpPr txBox="1"/>
          <p:nvPr/>
        </p:nvSpPr>
        <p:spPr>
          <a:xfrm>
            <a:off x="4719218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تهديد مستقبلي</a:t>
            </a:r>
            <a:endParaRPr lang="ar-EG" sz="2100" dirty="0"/>
          </a:p>
        </p:txBody>
      </p:sp>
      <p:sp>
        <p:nvSpPr>
          <p:cNvPr id="14" name="a2_text"/>
          <p:cNvSpPr txBox="1"/>
          <p:nvPr/>
        </p:nvSpPr>
        <p:spPr>
          <a:xfrm>
            <a:off x="4719218" y="347472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قد تكسره خوارزمية شور على حاسوب كمومي كبير مقاوم للأخطاء. أجهزة اليوم أصغر من ذلك بكثير.</a:t>
            </a:r>
            <a:endParaRPr lang="ar-EG" sz="1500" dirty="0"/>
          </a:p>
        </p:txBody>
      </p:sp>
      <p:pic>
        <p:nvPicPr>
          <p:cNvPr id="15" name="a2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978" y="3063240"/>
            <a:ext cx="365760" cy="365760"/>
          </a:xfrm>
          <a:prstGeom prst="rect">
            <a:avLst/>
          </a:prstGeom>
        </p:spPr>
      </p:pic>
      <p:sp>
        <p:nvSpPr>
          <p:cNvPr id="16" name="a3_card"/>
          <p:cNvSpPr/>
          <p:nvPr/>
        </p:nvSpPr>
        <p:spPr>
          <a:xfrm>
            <a:off x="548640" y="1600200"/>
            <a:ext cx="3210458" cy="3291840"/>
          </a:xfrm>
          <a:prstGeom prst="roundRect">
            <a:avLst>
              <a:gd name="adj" fmla="val 5127"/>
            </a:avLst>
          </a:prstGeom>
          <a:solidFill>
            <a:schemeClr val="bg2"/>
          </a:solidFill>
          <a:ln/>
        </p:spPr>
      </p:sp>
      <p:sp>
        <p:nvSpPr>
          <p:cNvPr id="17" name="a3_ico_bg"/>
          <p:cNvSpPr/>
          <p:nvPr/>
        </p:nvSpPr>
        <p:spPr>
          <a:xfrm>
            <a:off x="1696669" y="1828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557" y="2075688"/>
            <a:ext cx="420624" cy="420624"/>
          </a:xfrm>
          <a:prstGeom prst="rect">
            <a:avLst/>
          </a:prstGeom>
        </p:spPr>
      </p:pic>
      <p:sp>
        <p:nvSpPr>
          <p:cNvPr id="19" name="a3_label"/>
          <p:cNvSpPr txBox="1"/>
          <p:nvPr/>
        </p:nvSpPr>
        <p:spPr>
          <a:xfrm>
            <a:off x="777240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الحل، الآن</a:t>
            </a:r>
            <a:endParaRPr lang="ar-EG" sz="2100" dirty="0"/>
          </a:p>
        </p:txBody>
      </p:sp>
      <p:sp>
        <p:nvSpPr>
          <p:cNvPr id="20" name="a3_text"/>
          <p:cNvSpPr txBox="1"/>
          <p:nvPr/>
        </p:nvSpPr>
        <p:spPr>
          <a:xfrm>
            <a:off x="777240" y="347472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تُطبَّق حاليًا معايير تشفير جديدة «ما بعد الكمومية» (NIST، 2024).</a:t>
            </a:r>
            <a:endParaRPr lang="ar-EG" sz="1500" dirty="0"/>
          </a:p>
        </p:txBody>
      </p:sp>
      <p:sp>
        <p:nvSpPr>
          <p:cNvPr id="21" name="a4_note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5238"/>
            </a:avLst>
          </a:prstGeom>
          <a:solidFill>
            <a:schemeClr val="accent4"/>
          </a:solidFill>
          <a:ln/>
        </p:spPr>
      </p:sp>
      <p:sp>
        <p:nvSpPr>
          <p:cNvPr id="22" name="a4_note_t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قد يخزّن المهاجمون البيانات المشفّرة اليوم ليفكّوها مستقبلًا. ولهذا يهم الانتقال مبكرًا.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خرافات وحقائق</a:t>
            </a:r>
            <a:endParaRPr lang="ar-EG" sz="3400" dirty="0"/>
          </a:p>
        </p:txBody>
      </p:sp>
      <p:sp>
        <p:nvSpPr>
          <p:cNvPr id="4" name="a1_ml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خرافة</a:t>
            </a:r>
            <a:endParaRPr lang="ar-EG" sz="1600" dirty="0"/>
          </a:p>
        </p:txBody>
      </p:sp>
      <p:sp>
        <p:nvSpPr>
          <p:cNvPr id="5" name="a1_fl"/>
          <p:cNvSpPr txBox="1"/>
          <p:nvPr/>
        </p:nvSpPr>
        <p:spPr>
          <a:xfrm>
            <a:off x="548640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حقيقة</a:t>
            </a:r>
            <a:endParaRPr lang="ar-EG" sz="1600" dirty="0"/>
          </a:p>
        </p:txBody>
      </p:sp>
      <p:sp>
        <p:nvSpPr>
          <p:cNvPr id="6" name="a1_m"/>
          <p:cNvSpPr/>
          <p:nvPr/>
        </p:nvSpPr>
        <p:spPr>
          <a:xfrm>
            <a:off x="6324448" y="182880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pic>
        <p:nvPicPr>
          <p:cNvPr id="7" name="a1_ico_x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2286000"/>
            <a:ext cx="457200" cy="457200"/>
          </a:xfrm>
          <a:prstGeom prst="rect">
            <a:avLst/>
          </a:prstGeom>
        </p:spPr>
      </p:pic>
      <p:sp>
        <p:nvSpPr>
          <p:cNvPr id="8" name="a1_mt"/>
          <p:cNvSpPr txBox="1"/>
          <p:nvPr/>
        </p:nvSpPr>
        <p:spPr>
          <a:xfrm>
            <a:off x="6598768" y="182880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ستحلّ الحواسيب الكمومية محلّ حواسيبنا وهواتفنا.</a:t>
            </a:r>
            <a:endParaRPr lang="ar-EG" sz="1800" dirty="0"/>
          </a:p>
        </p:txBody>
      </p:sp>
      <p:sp>
        <p:nvSpPr>
          <p:cNvPr id="9" name="a1_f"/>
          <p:cNvSpPr/>
          <p:nvPr/>
        </p:nvSpPr>
        <p:spPr>
          <a:xfrm>
            <a:off x="548640" y="182880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pic>
        <p:nvPicPr>
          <p:cNvPr id="10" name="a1_ico_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8" y="2286000"/>
            <a:ext cx="457200" cy="457200"/>
          </a:xfrm>
          <a:prstGeom prst="rect">
            <a:avLst/>
          </a:prstGeom>
        </p:spPr>
      </p:pic>
      <p:sp>
        <p:nvSpPr>
          <p:cNvPr id="11" name="a1_ft"/>
          <p:cNvSpPr txBox="1"/>
          <p:nvPr/>
        </p:nvSpPr>
        <p:spPr>
          <a:xfrm>
            <a:off x="822960" y="182880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ستكون مساعدًا متخصصًا لمسائل معيّنة، يعمل مع الحواسيب التقليدية.</a:t>
            </a:r>
            <a:endParaRPr lang="ar-EG" sz="1700" dirty="0"/>
          </a:p>
        </p:txBody>
      </p:sp>
      <p:sp>
        <p:nvSpPr>
          <p:cNvPr id="12" name="a2_m"/>
          <p:cNvSpPr/>
          <p:nvPr/>
        </p:nvSpPr>
        <p:spPr>
          <a:xfrm>
            <a:off x="6324448" y="338328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pic>
        <p:nvPicPr>
          <p:cNvPr id="13" name="a2_ico_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840480"/>
            <a:ext cx="457200" cy="457200"/>
          </a:xfrm>
          <a:prstGeom prst="rect">
            <a:avLst/>
          </a:prstGeom>
        </p:spPr>
      </p:pic>
      <p:sp>
        <p:nvSpPr>
          <p:cNvPr id="14" name="a2_mt"/>
          <p:cNvSpPr txBox="1"/>
          <p:nvPr/>
        </p:nvSpPr>
        <p:spPr>
          <a:xfrm>
            <a:off x="6598768" y="338328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تجرّب كل الإجابات الممكنة دفعة واحدة.</a:t>
            </a:r>
            <a:endParaRPr lang="ar-EG" sz="1800" dirty="0"/>
          </a:p>
        </p:txBody>
      </p:sp>
      <p:sp>
        <p:nvSpPr>
          <p:cNvPr id="15" name="a2_f"/>
          <p:cNvSpPr/>
          <p:nvPr/>
        </p:nvSpPr>
        <p:spPr>
          <a:xfrm>
            <a:off x="548640" y="338328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pic>
        <p:nvPicPr>
          <p:cNvPr id="16" name="a2_ico_v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28" y="3840480"/>
            <a:ext cx="457200" cy="457200"/>
          </a:xfrm>
          <a:prstGeom prst="rect">
            <a:avLst/>
          </a:prstGeom>
        </p:spPr>
      </p:pic>
      <p:sp>
        <p:nvSpPr>
          <p:cNvPr id="17" name="a2_ft"/>
          <p:cNvSpPr txBox="1"/>
          <p:nvPr/>
        </p:nvSpPr>
        <p:spPr>
          <a:xfrm>
            <a:off x="822960" y="338328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تستخدم التداخل لترجيح الإجابات الصحيحة. والتسريع الكبير يوجد لمسائل معيّنة فقط.</a:t>
            </a:r>
            <a:endParaRPr lang="ar-EG" sz="1700" dirty="0"/>
          </a:p>
        </p:txBody>
      </p:sp>
      <p:sp>
        <p:nvSpPr>
          <p:cNvPr id="18" name="a3_m"/>
          <p:cNvSpPr/>
          <p:nvPr/>
        </p:nvSpPr>
        <p:spPr>
          <a:xfrm>
            <a:off x="6324448" y="493776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pic>
        <p:nvPicPr>
          <p:cNvPr id="19" name="a3_ico_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535" y="5394960"/>
            <a:ext cx="457200" cy="457200"/>
          </a:xfrm>
          <a:prstGeom prst="rect">
            <a:avLst/>
          </a:prstGeom>
        </p:spPr>
      </p:pic>
      <p:sp>
        <p:nvSpPr>
          <p:cNvPr id="20" name="a3_mt"/>
          <p:cNvSpPr txBox="1"/>
          <p:nvPr/>
        </p:nvSpPr>
        <p:spPr>
          <a:xfrm>
            <a:off x="6598768" y="493776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تتفوّق الآن على الحواسيب العادية في أعمال مفيدة.</a:t>
            </a:r>
            <a:endParaRPr lang="ar-EG" sz="1800" dirty="0"/>
          </a:p>
        </p:txBody>
      </p:sp>
      <p:sp>
        <p:nvSpPr>
          <p:cNvPr id="21" name="a3_f"/>
          <p:cNvSpPr/>
          <p:nvPr/>
        </p:nvSpPr>
        <p:spPr>
          <a:xfrm>
            <a:off x="548640" y="493776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pic>
        <p:nvPicPr>
          <p:cNvPr id="22" name="a3_ico_v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728" y="5394960"/>
            <a:ext cx="457200" cy="457200"/>
          </a:xfrm>
          <a:prstGeom prst="rect">
            <a:avLst/>
          </a:prstGeom>
        </p:spPr>
      </p:pic>
      <p:sp>
        <p:nvSpPr>
          <p:cNvPr id="23" name="a3_ft"/>
          <p:cNvSpPr txBox="1"/>
          <p:nvPr/>
        </p:nvSpPr>
        <p:spPr>
          <a:xfrm>
            <a:off x="822960" y="493776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تُظهر التجارب «تفوقًا كموميًا» في اختبارات خاصة. أما التفوق العملي فما زال قيد السعي.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8808415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-1158545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8442655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78815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400" b="1" dirty="0">
                <a:solidFill>
                  <a:schemeClr val="bg1"/>
                </a:solidFill>
              </a:rPr>
              <a:t>الحوسبة الكمومية وصناعة العتاد</a:t>
            </a:r>
            <a:endParaRPr lang="ar-EG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78815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شريك للرقائق التي نصنعها اليوم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شريك وليست بديلًا</a:t>
            </a:r>
            <a:endParaRPr lang="ar-EG" sz="3400" dirty="0"/>
          </a:p>
        </p:txBody>
      </p:sp>
      <p:sp>
        <p:nvSpPr>
          <p:cNvPr id="4" name="a1_dc"/>
          <p:cNvSpPr/>
          <p:nvPr/>
        </p:nvSpPr>
        <p:spPr>
          <a:xfrm>
            <a:off x="4876495" y="1554480"/>
            <a:ext cx="6766560" cy="448056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5" name="a1_dct"/>
          <p:cNvSpPr txBox="1"/>
          <p:nvPr/>
        </p:nvSpPr>
        <p:spPr>
          <a:xfrm>
            <a:off x="5150815" y="1645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مركز بيانات / حاسوب عملاق</a:t>
            </a:r>
            <a:endParaRPr lang="ar-EG" sz="1600" dirty="0"/>
          </a:p>
        </p:txBody>
      </p:sp>
      <p:sp>
        <p:nvSpPr>
          <p:cNvPr id="6" name="a2_chip"/>
          <p:cNvSpPr/>
          <p:nvPr/>
        </p:nvSpPr>
        <p:spPr>
          <a:xfrm>
            <a:off x="9448495" y="2286000"/>
            <a:ext cx="1920240" cy="3383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a2_ico_bg"/>
          <p:cNvSpPr/>
          <p:nvPr/>
        </p:nvSpPr>
        <p:spPr>
          <a:xfrm>
            <a:off x="9951415" y="24688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8303" y="2715768"/>
            <a:ext cx="420624" cy="420624"/>
          </a:xfrm>
          <a:prstGeom prst="rect">
            <a:avLst/>
          </a:prstGeom>
        </p:spPr>
      </p:pic>
      <p:sp>
        <p:nvSpPr>
          <p:cNvPr id="9" name="a2_nm"/>
          <p:cNvSpPr txBox="1"/>
          <p:nvPr/>
        </p:nvSpPr>
        <p:spPr>
          <a:xfrm>
            <a:off x="9539935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400" dirty="0"/>
          </a:p>
        </p:txBody>
      </p:sp>
      <p:sp>
        <p:nvSpPr>
          <p:cNvPr id="10" name="a2_tt"/>
          <p:cNvSpPr txBox="1"/>
          <p:nvPr/>
        </p:nvSpPr>
        <p:spPr>
          <a:xfrm>
            <a:off x="9585655" y="4114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المهام العامة والتحكم</a:t>
            </a:r>
            <a:endParaRPr lang="ar-EG" sz="1400" dirty="0"/>
          </a:p>
        </p:txBody>
      </p:sp>
      <p:sp>
        <p:nvSpPr>
          <p:cNvPr id="11" name="a3_chip"/>
          <p:cNvSpPr/>
          <p:nvPr/>
        </p:nvSpPr>
        <p:spPr>
          <a:xfrm>
            <a:off x="7345375" y="2286000"/>
            <a:ext cx="1920240" cy="3383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a3_ico_bg"/>
          <p:cNvSpPr/>
          <p:nvPr/>
        </p:nvSpPr>
        <p:spPr>
          <a:xfrm>
            <a:off x="7848295" y="24688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183" y="2715768"/>
            <a:ext cx="420624" cy="420624"/>
          </a:xfrm>
          <a:prstGeom prst="rect">
            <a:avLst/>
          </a:prstGeom>
        </p:spPr>
      </p:pic>
      <p:sp>
        <p:nvSpPr>
          <p:cNvPr id="14" name="a3_nm"/>
          <p:cNvSpPr txBox="1"/>
          <p:nvPr/>
        </p:nvSpPr>
        <p:spPr>
          <a:xfrm>
            <a:off x="7436815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2400" dirty="0"/>
          </a:p>
        </p:txBody>
      </p:sp>
      <p:sp>
        <p:nvSpPr>
          <p:cNvPr id="15" name="a3_tt"/>
          <p:cNvSpPr txBox="1"/>
          <p:nvPr/>
        </p:nvSpPr>
        <p:spPr>
          <a:xfrm>
            <a:off x="7482535" y="4114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الحساب المتوازي الضخم والذكاء الاصطناعي</a:t>
            </a:r>
            <a:endParaRPr lang="ar-EG" sz="1400" dirty="0"/>
          </a:p>
        </p:txBody>
      </p:sp>
      <p:sp>
        <p:nvSpPr>
          <p:cNvPr id="16" name="a4_chip"/>
          <p:cNvSpPr/>
          <p:nvPr/>
        </p:nvSpPr>
        <p:spPr>
          <a:xfrm>
            <a:off x="5242255" y="2286000"/>
            <a:ext cx="1920240" cy="3383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a4_ico_bg"/>
          <p:cNvSpPr/>
          <p:nvPr/>
        </p:nvSpPr>
        <p:spPr>
          <a:xfrm>
            <a:off x="5745175" y="2468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063" y="2715768"/>
            <a:ext cx="420624" cy="420624"/>
          </a:xfrm>
          <a:prstGeom prst="rect">
            <a:avLst/>
          </a:prstGeom>
        </p:spPr>
      </p:pic>
      <p:sp>
        <p:nvSpPr>
          <p:cNvPr id="19" name="a4_nm"/>
          <p:cNvSpPr txBox="1"/>
          <p:nvPr/>
        </p:nvSpPr>
        <p:spPr>
          <a:xfrm>
            <a:off x="5333695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</a:t>
            </a:r>
            <a:endParaRPr lang="en-US" sz="2400" dirty="0"/>
          </a:p>
        </p:txBody>
      </p:sp>
      <p:sp>
        <p:nvSpPr>
          <p:cNvPr id="20" name="a4_tt"/>
          <p:cNvSpPr txBox="1"/>
          <p:nvPr/>
        </p:nvSpPr>
        <p:spPr>
          <a:xfrm>
            <a:off x="5379415" y="4114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المسائل الكمومية الخاصة</a:t>
            </a:r>
            <a:endParaRPr lang="ar-EG" sz="1400" dirty="0"/>
          </a:p>
        </p:txBody>
      </p:sp>
      <p:sp>
        <p:nvSpPr>
          <p:cNvPr id="21" name="a6_pc"/>
          <p:cNvSpPr/>
          <p:nvPr/>
        </p:nvSpPr>
        <p:spPr>
          <a:xfrm>
            <a:off x="551383" y="1554480"/>
            <a:ext cx="4050792" cy="1417320"/>
          </a:xfrm>
          <a:prstGeom prst="roundRect">
            <a:avLst>
              <a:gd name="adj" fmla="val 10323"/>
            </a:avLst>
          </a:prstGeom>
          <a:solidFill>
            <a:schemeClr val="tx2"/>
          </a:solidFill>
          <a:ln/>
        </p:spPr>
      </p:sp>
      <p:sp>
        <p:nvSpPr>
          <p:cNvPr id="22" name="a6_pt"/>
          <p:cNvSpPr txBox="1"/>
          <p:nvPr/>
        </p:nvSpPr>
        <p:spPr>
          <a:xfrm>
            <a:off x="761695" y="16002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التقليدي يواصل التطور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التكديس ثلاثي الأبعاد والرقائق المصغّرة والمواد الجديدة تدفع الرقائق إلى الأمام.</a:t>
            </a:r>
            <a:endParaRPr lang="ar-EG" sz="1800" dirty="0"/>
          </a:p>
        </p:txBody>
      </p:sp>
      <p:sp>
        <p:nvSpPr>
          <p:cNvPr id="23" name="a7_pc"/>
          <p:cNvSpPr/>
          <p:nvPr/>
        </p:nvSpPr>
        <p:spPr>
          <a:xfrm>
            <a:off x="551383" y="3108960"/>
            <a:ext cx="4050792" cy="1417320"/>
          </a:xfrm>
          <a:prstGeom prst="roundRect">
            <a:avLst>
              <a:gd name="adj" fmla="val 10323"/>
            </a:avLst>
          </a:prstGeom>
          <a:solidFill>
            <a:schemeClr val="tx2"/>
          </a:solidFill>
          <a:ln/>
        </p:spPr>
      </p:sp>
      <p:sp>
        <p:nvSpPr>
          <p:cNvPr id="24" name="a7_pt"/>
          <p:cNvSpPr txBox="1"/>
          <p:nvPr/>
        </p:nvSpPr>
        <p:spPr>
          <a:xfrm>
            <a:off x="761695" y="31546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المعالج الكمومي مسرّع جديد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كما أُضيفت وحدات GPU للرسوميات والذكاء الاصطناعي، ستُضاف المعالجات الكمومية لمهام محددة.</a:t>
            </a:r>
            <a:endParaRPr lang="ar-EG" sz="1800" dirty="0"/>
          </a:p>
        </p:txBody>
      </p:sp>
      <p:sp>
        <p:nvSpPr>
          <p:cNvPr id="25" name="a8_pc"/>
          <p:cNvSpPr/>
          <p:nvPr/>
        </p:nvSpPr>
        <p:spPr>
          <a:xfrm>
            <a:off x="551383" y="4663440"/>
            <a:ext cx="4050792" cy="1417320"/>
          </a:xfrm>
          <a:prstGeom prst="roundRect">
            <a:avLst>
              <a:gd name="adj" fmla="val 10323"/>
            </a:avLst>
          </a:prstGeom>
          <a:solidFill>
            <a:schemeClr val="accent4"/>
          </a:solidFill>
          <a:ln/>
        </p:spPr>
      </p:sp>
      <p:sp>
        <p:nvSpPr>
          <p:cNvPr id="26" name="a8_pt"/>
          <p:cNvSpPr txBox="1"/>
          <p:nvPr/>
        </p:nvSpPr>
        <p:spPr>
          <a:xfrm>
            <a:off x="761695" y="47091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المستقبل هجين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تجهّز الرقائق التقليدية البيانات وتفحص النتائج، ويتولى QPU الجزء الكمومي.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الحوسبة الكمومية في صناعة العتاد</a:t>
            </a:r>
            <a:endParaRPr lang="ar-EG" sz="3400" dirty="0"/>
          </a:p>
        </p:txBody>
      </p:sp>
      <p:sp>
        <p:nvSpPr>
          <p:cNvPr id="4" name="a1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500055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254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9360941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الأجهزة الكمومية</a:t>
            </a:r>
            <a:endParaRPr lang="ar-EG" sz="1900" dirty="0"/>
          </a:p>
        </p:txBody>
      </p:sp>
      <p:sp>
        <p:nvSpPr>
          <p:cNvPr id="8" name="a1_body"/>
          <p:cNvSpPr txBox="1"/>
          <p:nvPr/>
        </p:nvSpPr>
        <p:spPr>
          <a:xfrm>
            <a:off x="9360941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سلسلة توريد جديدة: التبريد العميق وإلكترونيات الميكروويف والليزر وأنظمة التفريغ ورقائق خاصة.</a:t>
            </a:r>
            <a:endParaRPr lang="ar-EG" sz="1600" dirty="0"/>
          </a:p>
        </p:txBody>
      </p:sp>
      <p:sp>
        <p:nvSpPr>
          <p:cNvPr id="9" name="a2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7669301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501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6530188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استخدام مصانع اليوم</a:t>
            </a:r>
            <a:endParaRPr lang="ar-EG" sz="1900" dirty="0"/>
          </a:p>
        </p:txBody>
      </p:sp>
      <p:sp>
        <p:nvSpPr>
          <p:cNvPr id="13" name="a2_body"/>
          <p:cNvSpPr txBox="1"/>
          <p:nvPr/>
        </p:nvSpPr>
        <p:spPr>
          <a:xfrm>
            <a:off x="6530188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 تصنيع كيوبتات السيليكون والدوائر فائقة التوصيل بتقنيات مصانع الرقائق.</a:t>
            </a:r>
            <a:endParaRPr lang="ar-EG" sz="1600" dirty="0"/>
          </a:p>
        </p:txBody>
      </p:sp>
      <p:sp>
        <p:nvSpPr>
          <p:cNvPr id="14" name="a3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483854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47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3699434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رقائق أفضل</a:t>
            </a:r>
            <a:endParaRPr lang="ar-EG" sz="1900" dirty="0"/>
          </a:p>
        </p:txBody>
      </p:sp>
      <p:sp>
        <p:nvSpPr>
          <p:cNvPr id="18" name="a3_body"/>
          <p:cNvSpPr txBox="1"/>
          <p:nvPr/>
        </p:nvSpPr>
        <p:spPr>
          <a:xfrm>
            <a:off x="3699434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محاكاة مواد جديدة وتحسين تخطيط الرقائق التقليدية. بحث مبكر.</a:t>
            </a:r>
            <a:endParaRPr lang="ar-EG" sz="1600" dirty="0"/>
          </a:p>
        </p:txBody>
      </p:sp>
      <p:sp>
        <p:nvSpPr>
          <p:cNvPr id="19" name="a4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2007794" y="18745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993" y="209671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868680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تأمين العتاد</a:t>
            </a:r>
            <a:endParaRPr lang="ar-EG" sz="1900" dirty="0"/>
          </a:p>
        </p:txBody>
      </p:sp>
      <p:sp>
        <p:nvSpPr>
          <p:cNvPr id="23" name="a4_body"/>
          <p:cNvSpPr txBox="1"/>
          <p:nvPr/>
        </p:nvSpPr>
        <p:spPr>
          <a:xfrm>
            <a:off x="868680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ما بعد الكمومية في الرقائق، ومولّدات أرقام عشوائية كمومية، ومستشعرات كمومية.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جرّبها بنفسك: مجانًا وبلغة بايثون</a:t>
            </a:r>
            <a:endParaRPr lang="ar-EG" sz="3400" dirty="0"/>
          </a:p>
        </p:txBody>
      </p:sp>
      <p:sp>
        <p:nvSpPr>
          <p:cNvPr id="4" name="a1_code"/>
          <p:cNvSpPr/>
          <p:nvPr/>
        </p:nvSpPr>
        <p:spPr>
          <a:xfrm>
            <a:off x="5608015" y="1600200"/>
            <a:ext cx="6035040" cy="2807208"/>
          </a:xfrm>
          <a:prstGeom prst="roundRect">
            <a:avLst>
              <a:gd name="adj" fmla="val 456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a1_dot"/>
          <p:cNvSpPr/>
          <p:nvPr/>
        </p:nvSpPr>
        <p:spPr>
          <a:xfrm>
            <a:off x="11249863" y="181965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dot"/>
          <p:cNvSpPr/>
          <p:nvPr/>
        </p:nvSpPr>
        <p:spPr>
          <a:xfrm>
            <a:off x="11012119" y="181965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a1_dot"/>
          <p:cNvSpPr/>
          <p:nvPr/>
        </p:nvSpPr>
        <p:spPr>
          <a:xfrm>
            <a:off x="10774375" y="181965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t"/>
          <p:cNvSpPr txBox="1"/>
          <p:nvPr/>
        </p:nvSpPr>
        <p:spPr>
          <a:xfrm>
            <a:off x="5928055" y="2240280"/>
            <a:ext cx="53949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qiskit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QuantumCircuit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QuantumCircuit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superposition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entangle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measure_all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print(qc)</a:t>
            </a:r>
            <a:endParaRPr lang="en-US" sz="1700" dirty="0"/>
          </a:p>
        </p:txBody>
      </p:sp>
      <p:sp>
        <p:nvSpPr>
          <p:cNvPr id="9" name="a2_pc"/>
          <p:cNvSpPr/>
          <p:nvPr/>
        </p:nvSpPr>
        <p:spPr>
          <a:xfrm>
            <a:off x="551383" y="160020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4373575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086" y="2117750"/>
            <a:ext cx="336499" cy="336499"/>
          </a:xfrm>
          <a:prstGeom prst="rect">
            <a:avLst/>
          </a:prstGeom>
        </p:spPr>
      </p:pic>
      <p:sp>
        <p:nvSpPr>
          <p:cNvPr id="12" name="a2_pt"/>
          <p:cNvSpPr txBox="1"/>
          <p:nvPr/>
        </p:nvSpPr>
        <p:spPr>
          <a:xfrm>
            <a:off x="670255" y="167335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من IBM، مجانية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صمّم دوائر بلغة بايثون وشغّلها على محاكيات أو حواسيب كمومية حقيقية عبر السحابة.</a:t>
            </a:r>
            <a:endParaRPr lang="ar-EG" sz="1800" dirty="0"/>
          </a:p>
        </p:txBody>
      </p:sp>
      <p:sp>
        <p:nvSpPr>
          <p:cNvPr id="13" name="a3_pc"/>
          <p:cNvSpPr/>
          <p:nvPr/>
        </p:nvSpPr>
        <p:spPr>
          <a:xfrm>
            <a:off x="551383" y="3081528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4" name="a3_ico_bg"/>
          <p:cNvSpPr/>
          <p:nvPr/>
        </p:nvSpPr>
        <p:spPr>
          <a:xfrm>
            <a:off x="4373575" y="340156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086" y="3599078"/>
            <a:ext cx="336499" cy="336499"/>
          </a:xfrm>
          <a:prstGeom prst="rect">
            <a:avLst/>
          </a:prstGeom>
        </p:spPr>
      </p:pic>
      <p:sp>
        <p:nvSpPr>
          <p:cNvPr id="16" name="a3_pt"/>
          <p:cNvSpPr txBox="1"/>
          <p:nvPr/>
        </p:nvSpPr>
        <p:spPr>
          <a:xfrm>
            <a:off x="670255" y="31546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h(0)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تضع الكيوبت 0 في حالة تراكب: 0 و1 باحتمال متساوٍ.</a:t>
            </a:r>
            <a:endParaRPr lang="ar-EG" sz="1800" dirty="0"/>
          </a:p>
        </p:txBody>
      </p:sp>
      <p:sp>
        <p:nvSpPr>
          <p:cNvPr id="17" name="a4_pc"/>
          <p:cNvSpPr/>
          <p:nvPr/>
        </p:nvSpPr>
        <p:spPr>
          <a:xfrm>
            <a:off x="551383" y="4562856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8" name="a4_ico_bg"/>
          <p:cNvSpPr/>
          <p:nvPr/>
        </p:nvSpPr>
        <p:spPr>
          <a:xfrm>
            <a:off x="4373575" y="4882896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086" y="5080406"/>
            <a:ext cx="336499" cy="336499"/>
          </a:xfrm>
          <a:prstGeom prst="rect">
            <a:avLst/>
          </a:prstGeom>
        </p:spPr>
      </p:pic>
      <p:sp>
        <p:nvSpPr>
          <p:cNvPr id="20" name="a4_pt"/>
          <p:cNvSpPr txBox="1"/>
          <p:nvPr/>
        </p:nvSpPr>
        <p:spPr>
          <a:xfrm>
            <a:off x="670255" y="46360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cx(0, 1)</a:t>
            </a:r>
            <a:endParaRPr lang="ar-EG" sz="1800" dirty="0"/>
          </a:p>
          <a:p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تشابك الكيوبت 1 مع الكيوبت 0. النتائج: 00 أو 11 بنسبة النصف تقريبًا لكل منهما، ولا 01 أو 10 أبدًا.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اختبر فهمك</a:t>
            </a:r>
            <a:endParaRPr lang="ar-EG" sz="3400" dirty="0"/>
          </a:p>
        </p:txBody>
      </p:sp>
      <p:sp>
        <p:nvSpPr>
          <p:cNvPr id="4" name="a1_q"/>
          <p:cNvSpPr/>
          <p:nvPr/>
        </p:nvSpPr>
        <p:spPr>
          <a:xfrm>
            <a:off x="548640" y="1508760"/>
            <a:ext cx="11094415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5" name="a1_ico_n"/>
          <p:cNvSpPr/>
          <p:nvPr/>
        </p:nvSpPr>
        <p:spPr>
          <a:xfrm>
            <a:off x="10682935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1_ico_nt"/>
          <p:cNvSpPr txBox="1"/>
          <p:nvPr/>
        </p:nvSpPr>
        <p:spPr>
          <a:xfrm>
            <a:off x="10682935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a1_qt"/>
          <p:cNvSpPr txBox="1"/>
          <p:nvPr/>
        </p:nvSpPr>
        <p:spPr>
          <a:xfrm>
            <a:off x="822960" y="155448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الذي يمكن أن يكونه الكيوبت ولا يمكن للبت التقليدي أن يكونه؟</a:t>
            </a:r>
            <a:endParaRPr lang="ar-EG" sz="2100" dirty="0"/>
          </a:p>
        </p:txBody>
      </p:sp>
      <p:sp>
        <p:nvSpPr>
          <p:cNvPr id="8" name="k1_ans"/>
          <p:cNvSpPr/>
          <p:nvPr/>
        </p:nvSpPr>
        <p:spPr>
          <a:xfrm>
            <a:off x="822960" y="2258568"/>
            <a:ext cx="9631375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9" name="k1_ans_t"/>
          <p:cNvSpPr txBox="1"/>
          <p:nvPr/>
        </p:nvSpPr>
        <p:spPr>
          <a:xfrm>
            <a:off x="1051560" y="2258568"/>
            <a:ext cx="9174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مزيج من 0 و1 (تراكب) إلى أن يُقاس.</a:t>
            </a:r>
            <a:endParaRPr lang="ar-EG" sz="1700" dirty="0"/>
          </a:p>
        </p:txBody>
      </p:sp>
      <p:sp>
        <p:nvSpPr>
          <p:cNvPr id="10" name="a2_q"/>
          <p:cNvSpPr/>
          <p:nvPr/>
        </p:nvSpPr>
        <p:spPr>
          <a:xfrm>
            <a:off x="548640" y="3063240"/>
            <a:ext cx="11094415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11" name="a2_ico_n"/>
          <p:cNvSpPr/>
          <p:nvPr/>
        </p:nvSpPr>
        <p:spPr>
          <a:xfrm>
            <a:off x="10682935" y="34290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2_ico_nt"/>
          <p:cNvSpPr txBox="1"/>
          <p:nvPr/>
        </p:nvSpPr>
        <p:spPr>
          <a:xfrm>
            <a:off x="10682935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a2_qt"/>
          <p:cNvSpPr txBox="1"/>
          <p:nvPr/>
        </p:nvSpPr>
        <p:spPr>
          <a:xfrm>
            <a:off x="822960" y="310896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تُبرَّد الحواسيب الكمومية فائقة التوصيل إلى نحو 273 درجة مئوية تحت الصفر؟</a:t>
            </a:r>
            <a:endParaRPr lang="ar-EG" sz="2100" dirty="0"/>
          </a:p>
        </p:txBody>
      </p:sp>
      <p:sp>
        <p:nvSpPr>
          <p:cNvPr id="14" name="k2_ans"/>
          <p:cNvSpPr/>
          <p:nvPr/>
        </p:nvSpPr>
        <p:spPr>
          <a:xfrm>
            <a:off x="822960" y="3813048"/>
            <a:ext cx="9631375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5" name="k2_ans_t"/>
          <p:cNvSpPr txBox="1"/>
          <p:nvPr/>
        </p:nvSpPr>
        <p:spPr>
          <a:xfrm>
            <a:off x="1051560" y="3813048"/>
            <a:ext cx="9174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لأن الحرارة تدمّر الحالات الكمومية الهشّة (فقدان الترابط الكمومي).</a:t>
            </a:r>
            <a:endParaRPr lang="ar-EG" sz="1700" dirty="0"/>
          </a:p>
        </p:txBody>
      </p:sp>
      <p:sp>
        <p:nvSpPr>
          <p:cNvPr id="16" name="a3_q"/>
          <p:cNvSpPr/>
          <p:nvPr/>
        </p:nvSpPr>
        <p:spPr>
          <a:xfrm>
            <a:off x="548640" y="4617720"/>
            <a:ext cx="11094415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17" name="a3_ico_n"/>
          <p:cNvSpPr/>
          <p:nvPr/>
        </p:nvSpPr>
        <p:spPr>
          <a:xfrm>
            <a:off x="10682935" y="49834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a3_ico_nt"/>
          <p:cNvSpPr txBox="1"/>
          <p:nvPr/>
        </p:nvSpPr>
        <p:spPr>
          <a:xfrm>
            <a:off x="10682935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a3_qt"/>
          <p:cNvSpPr txBox="1"/>
          <p:nvPr/>
        </p:nvSpPr>
        <p:spPr>
          <a:xfrm>
            <a:off x="822960" y="46634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ستحل الحواسيب الكمومية محل المعالج في هاتفك؟</a:t>
            </a:r>
            <a:endParaRPr lang="ar-EG" sz="2100" dirty="0"/>
          </a:p>
        </p:txBody>
      </p:sp>
      <p:sp>
        <p:nvSpPr>
          <p:cNvPr id="20" name="k3_ans"/>
          <p:cNvSpPr/>
          <p:nvPr/>
        </p:nvSpPr>
        <p:spPr>
          <a:xfrm>
            <a:off x="822960" y="5367528"/>
            <a:ext cx="9631375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21" name="k3_ans_t"/>
          <p:cNvSpPr txBox="1"/>
          <p:nvPr/>
        </p:nvSpPr>
        <p:spPr>
          <a:xfrm>
            <a:off x="1051560" y="5367528"/>
            <a:ext cx="9174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لا. ستعمل مع الرقائق التقليدية في مسائل محددة.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أهم الخلاصات</a:t>
            </a:r>
            <a:endParaRPr lang="ar-EG" sz="3400" dirty="0"/>
          </a:p>
        </p:txBody>
      </p:sp>
      <p:pic>
        <p:nvPicPr>
          <p:cNvPr id="4" name="a1_ico_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1600200"/>
            <a:ext cx="457200" cy="457200"/>
          </a:xfrm>
          <a:prstGeom prst="rect">
            <a:avLst/>
          </a:prstGeom>
        </p:spPr>
      </p:pic>
      <p:sp>
        <p:nvSpPr>
          <p:cNvPr id="5" name="a1_tt"/>
          <p:cNvSpPr txBox="1"/>
          <p:nvPr/>
        </p:nvSpPr>
        <p:spPr>
          <a:xfrm>
            <a:off x="4327855" y="155448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تصغير الترانزستورات يصطدم بحدود فيزيائية: الذرات والحرارة والتسرّب الكمومي.</a:t>
            </a:r>
            <a:endParaRPr lang="ar-EG" sz="1900" dirty="0"/>
          </a:p>
        </p:txBody>
      </p:sp>
      <p:pic>
        <p:nvPicPr>
          <p:cNvPr id="6" name="a2_ico_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2496312"/>
            <a:ext cx="457200" cy="457200"/>
          </a:xfrm>
          <a:prstGeom prst="rect">
            <a:avLst/>
          </a:prstGeom>
        </p:spPr>
      </p:pic>
      <p:sp>
        <p:nvSpPr>
          <p:cNvPr id="7" name="a2_tt"/>
          <p:cNvSpPr txBox="1"/>
          <p:nvPr/>
        </p:nvSpPr>
        <p:spPr>
          <a:xfrm>
            <a:off x="4327855" y="245059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تعتمد الكيوبتات على التراكب والتشابك والتداخل.</a:t>
            </a:r>
            <a:endParaRPr lang="ar-EG" sz="1900" dirty="0"/>
          </a:p>
        </p:txBody>
      </p:sp>
      <p:pic>
        <p:nvPicPr>
          <p:cNvPr id="8" name="a3_ico_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855" y="3392424"/>
            <a:ext cx="457200" cy="457200"/>
          </a:xfrm>
          <a:prstGeom prst="rect">
            <a:avLst/>
          </a:prstGeom>
        </p:spPr>
      </p:pic>
      <p:sp>
        <p:nvSpPr>
          <p:cNvPr id="9" name="a3_tt"/>
          <p:cNvSpPr txBox="1"/>
          <p:nvPr/>
        </p:nvSpPr>
        <p:spPr>
          <a:xfrm>
            <a:off x="4327855" y="334670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وعود كبيرة في الكيمياء والمواد والأمن والتحسين.</a:t>
            </a:r>
            <a:endParaRPr lang="ar-EG" sz="1900" dirty="0"/>
          </a:p>
        </p:txBody>
      </p:sp>
      <p:pic>
        <p:nvPicPr>
          <p:cNvPr id="10" name="a4_ico_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4288536"/>
            <a:ext cx="457200" cy="457200"/>
          </a:xfrm>
          <a:prstGeom prst="rect">
            <a:avLst/>
          </a:prstGeom>
        </p:spPr>
      </p:pic>
      <p:sp>
        <p:nvSpPr>
          <p:cNvPr id="11" name="a4_tt"/>
          <p:cNvSpPr txBox="1"/>
          <p:nvPr/>
        </p:nvSpPr>
        <p:spPr>
          <a:xfrm>
            <a:off x="4327855" y="424281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أجهزة اليوم صغيرة وفيها ضجيج، لكن التقدّم سريع.</a:t>
            </a:r>
            <a:endParaRPr lang="ar-EG" sz="1900" dirty="0"/>
          </a:p>
        </p:txBody>
      </p:sp>
      <p:pic>
        <p:nvPicPr>
          <p:cNvPr id="12" name="a5_ico_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855" y="5184648"/>
            <a:ext cx="457200" cy="457200"/>
          </a:xfrm>
          <a:prstGeom prst="rect">
            <a:avLst/>
          </a:prstGeom>
        </p:spPr>
      </p:pic>
      <p:sp>
        <p:nvSpPr>
          <p:cNvPr id="13" name="a5_tt"/>
          <p:cNvSpPr txBox="1"/>
          <p:nvPr/>
        </p:nvSpPr>
        <p:spPr>
          <a:xfrm>
            <a:off x="4327855" y="513892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ستكون الحواسيب الكمومية شريكة للمعالجات CPU وGPU لا بديلة عنها.</a:t>
            </a:r>
            <a:endParaRPr lang="ar-EG" sz="1900" dirty="0"/>
          </a:p>
        </p:txBody>
      </p:sp>
      <p:sp>
        <p:nvSpPr>
          <p:cNvPr id="14" name="a6_dc"/>
          <p:cNvSpPr/>
          <p:nvPr/>
        </p:nvSpPr>
        <p:spPr>
          <a:xfrm>
            <a:off x="551383" y="1554480"/>
            <a:ext cx="3410712" cy="4526280"/>
          </a:xfrm>
          <a:prstGeom prst="roundRect">
            <a:avLst>
              <a:gd name="adj" fmla="val 536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a6_ico_d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255" y="1874520"/>
            <a:ext cx="640080" cy="640080"/>
          </a:xfrm>
          <a:prstGeom prst="rect">
            <a:avLst/>
          </a:prstGeom>
        </p:spPr>
      </p:pic>
      <p:sp>
        <p:nvSpPr>
          <p:cNvPr id="16" name="a6_dl"/>
          <p:cNvSpPr txBox="1"/>
          <p:nvPr/>
        </p:nvSpPr>
        <p:spPr>
          <a:xfrm>
            <a:off x="853135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ناقشوا</a:t>
            </a:r>
            <a:endParaRPr lang="ar-EG" sz="1500" dirty="0"/>
          </a:p>
        </p:txBody>
      </p:sp>
      <p:sp>
        <p:nvSpPr>
          <p:cNvPr id="17" name="a6_dt"/>
          <p:cNvSpPr txBox="1"/>
          <p:nvPr/>
        </p:nvSpPr>
        <p:spPr>
          <a:xfrm>
            <a:off x="853135" y="31546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أيّ مشكلة في مصر (الأسمدة، المياه، المرور، الطب…) يمكن أن تستفيد أكثر من الحوسبة الكمومية؟ ولماذا؟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للمزيد</a:t>
            </a:r>
            <a:endParaRPr lang="ar-EG" sz="3400" dirty="0"/>
          </a:p>
        </p:txBody>
      </p:sp>
      <p:sp>
        <p:nvSpPr>
          <p:cNvPr id="4" name="a1_r"/>
          <p:cNvSpPr/>
          <p:nvPr/>
        </p:nvSpPr>
        <p:spPr>
          <a:xfrm>
            <a:off x="548640" y="15544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0911535" y="16733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9668" y="1821485"/>
            <a:ext cx="252374" cy="252374"/>
          </a:xfrm>
          <a:prstGeom prst="rect">
            <a:avLst/>
          </a:prstGeom>
        </p:spPr>
      </p:pic>
      <p:sp>
        <p:nvSpPr>
          <p:cNvPr id="7" name="a1_rt"/>
          <p:cNvSpPr txBox="1"/>
          <p:nvPr/>
        </p:nvSpPr>
        <p:spPr>
          <a:xfrm>
            <a:off x="822960" y="155448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Learning  </a:t>
            </a:r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دورات مجانية ودروس Qiskit.</a:t>
            </a:r>
            <a:endParaRPr lang="ar-EG" sz="1800" dirty="0"/>
          </a:p>
        </p:txBody>
      </p:sp>
      <p:sp>
        <p:nvSpPr>
          <p:cNvPr id="8" name="a2_r"/>
          <p:cNvSpPr/>
          <p:nvPr/>
        </p:nvSpPr>
        <p:spPr>
          <a:xfrm>
            <a:off x="548640" y="2450592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a2_ico_bg"/>
          <p:cNvSpPr/>
          <p:nvPr/>
        </p:nvSpPr>
        <p:spPr>
          <a:xfrm>
            <a:off x="10911535" y="256946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9668" y="2717597"/>
            <a:ext cx="252374" cy="252374"/>
          </a:xfrm>
          <a:prstGeom prst="rect">
            <a:avLst/>
          </a:prstGeom>
        </p:spPr>
      </p:pic>
      <p:sp>
        <p:nvSpPr>
          <p:cNvPr id="11" name="a2_rt"/>
          <p:cNvSpPr txBox="1"/>
          <p:nvPr/>
        </p:nvSpPr>
        <p:spPr>
          <a:xfrm>
            <a:off x="822960" y="2450592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Quantum AI  </a:t>
            </a:r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أخبار الأبحاث وشروح مبسطة.</a:t>
            </a:r>
            <a:endParaRPr lang="ar-EG" sz="1800" dirty="0"/>
          </a:p>
        </p:txBody>
      </p:sp>
      <p:sp>
        <p:nvSpPr>
          <p:cNvPr id="12" name="a3_r"/>
          <p:cNvSpPr/>
          <p:nvPr/>
        </p:nvSpPr>
        <p:spPr>
          <a:xfrm>
            <a:off x="548640" y="3346704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3" name="a3_ico_bg"/>
          <p:cNvSpPr/>
          <p:nvPr/>
        </p:nvSpPr>
        <p:spPr>
          <a:xfrm>
            <a:off x="10911535" y="3465576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668" y="3613709"/>
            <a:ext cx="252374" cy="252374"/>
          </a:xfrm>
          <a:prstGeom prst="rect">
            <a:avLst/>
          </a:prstGeom>
        </p:spPr>
      </p:pic>
      <p:sp>
        <p:nvSpPr>
          <p:cNvPr id="15" name="a3_rt"/>
          <p:cNvSpPr txBox="1"/>
          <p:nvPr/>
        </p:nvSpPr>
        <p:spPr>
          <a:xfrm>
            <a:off x="822960" y="3346704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Post-Quantum Cryptography  </a:t>
            </a:r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معايير التشفير المقاوم للحوسبة الكمومية.</a:t>
            </a:r>
            <a:endParaRPr lang="ar-EG" sz="1800" dirty="0"/>
          </a:p>
        </p:txBody>
      </p:sp>
      <p:sp>
        <p:nvSpPr>
          <p:cNvPr id="16" name="a4_r"/>
          <p:cNvSpPr/>
          <p:nvPr/>
        </p:nvSpPr>
        <p:spPr>
          <a:xfrm>
            <a:off x="548640" y="4242816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7" name="a4_ico_bg"/>
          <p:cNvSpPr/>
          <p:nvPr/>
        </p:nvSpPr>
        <p:spPr>
          <a:xfrm>
            <a:off x="10911535" y="436168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9668" y="4509821"/>
            <a:ext cx="252374" cy="252374"/>
          </a:xfrm>
          <a:prstGeom prst="rect">
            <a:avLst/>
          </a:prstGeom>
        </p:spPr>
      </p:pic>
      <p:sp>
        <p:nvSpPr>
          <p:cNvPr id="19" name="a4_rt"/>
          <p:cNvSpPr txBox="1"/>
          <p:nvPr/>
        </p:nvSpPr>
        <p:spPr>
          <a:xfrm>
            <a:off x="822960" y="4242816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وQuanta Magazine  </a:t>
            </a:r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مقالات مبسطة عن الحوسبة الكمومية.</a:t>
            </a:r>
            <a:endParaRPr lang="ar-EG" sz="1800" dirty="0"/>
          </a:p>
        </p:txBody>
      </p:sp>
      <p:sp>
        <p:nvSpPr>
          <p:cNvPr id="20" name="a5_r"/>
          <p:cNvSpPr/>
          <p:nvPr/>
        </p:nvSpPr>
        <p:spPr>
          <a:xfrm>
            <a:off x="548640" y="5138928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a5_ico_bg"/>
          <p:cNvSpPr/>
          <p:nvPr/>
        </p:nvSpPr>
        <p:spPr>
          <a:xfrm>
            <a:off x="10911535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a5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9668" y="5405933"/>
            <a:ext cx="252374" cy="252374"/>
          </a:xfrm>
          <a:prstGeom prst="rect">
            <a:avLst/>
          </a:prstGeom>
        </p:spPr>
      </p:pic>
      <p:sp>
        <p:nvSpPr>
          <p:cNvPr id="23" name="a5_rt"/>
          <p:cNvSpPr txBox="1"/>
          <p:nvPr/>
        </p:nvSpPr>
        <p:spPr>
          <a:xfrm>
            <a:off x="822960" y="5138928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Moore (1965)  </a:t>
            </a:r>
            <a:pPr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“Cramming more components onto integrated circuits”، مجلة Electronics.</a:t>
            </a:r>
            <a:endParaRPr lang="ar-EG" sz="1800" dirty="0"/>
          </a:p>
        </p:txBody>
      </p:sp>
      <p:sp>
        <p:nvSpPr>
          <p:cNvPr id="24" name="a8_n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تعكس الحقائق معلومات منشورة حتى عام 2025. هذا المجال يتغيّر بسرعة، فراجع الأخبار الحديثة قبل التدريس.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Quantum">
  <a:themeElements>
    <a:clrScheme name="Quantum">
      <a:dk1>
        <a:srgbClr val="0B1030"/>
      </a:dk1>
      <a:lt1>
        <a:srgbClr val="FFFFFF"/>
      </a:lt1>
      <a:dk2>
        <a:srgbClr val="2A1B6E"/>
      </a:dk2>
      <a:lt2>
        <a:srgbClr val="ECEFFE"/>
      </a:lt2>
      <a:accent1>
        <a:srgbClr val="22D3EE"/>
      </a:accent1>
      <a:accent2>
        <a:srgbClr val="A78BFA"/>
      </a:accent2>
      <a:accent3>
        <a:srgbClr val="F472B6"/>
      </a:accent3>
      <a:accent4>
        <a:srgbClr val="FBBF24"/>
      </a:accent4>
      <a:accent5>
        <a:srgbClr val="34D399"/>
      </a:accent5>
      <a:accent6>
        <a:srgbClr val="60A5FA"/>
      </a:accent6>
      <a:hlink>
        <a:srgbClr val="6D28D9"/>
      </a:hlink>
      <a:folHlink>
        <a:srgbClr val="A78BFA"/>
      </a:folHlink>
    </a:clrScheme>
    <a:fontScheme name="Quantu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الحوسبة الكمومية: طريقة جديدة للحساب</dc:title>
  <dc:subject>الحوسبة الكمومية: طريقة جديدة للحساب</dc:subject>
  <dc:creator>Technology Dept.</dc:creator>
  <cp:lastModifiedBy>Technology Dept.</cp:lastModifiedBy>
  <cp:revision>1</cp:revision>
  <dcterms:created xsi:type="dcterms:W3CDTF">2026-10-08T08:48:30Z</dcterms:created>
  <dcterms:modified xsi:type="dcterms:W3CDTF">2026-10-08T08:48:30Z</dcterms:modified>
</cp:coreProperties>
</file>