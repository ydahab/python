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2533c8d-fa65-10b4-fa2e-b9cb36843e69}">
          <p14:sldIdLst>
            <p14:sldId id="256"/>
            <p14:sldId id="257"/>
          </p14:sldIdLst>
        </p14:section>
        <p14:section name="Why do we need it?" id="{def8f383-bf2f-f2cc-a5ea-a15f4b37f84a}">
          <p14:sldIdLst>
            <p14:sldId id="258"/>
            <p14:sldId id="259"/>
            <p14:sldId id="260"/>
          </p14:sldIdLst>
        </p14:section>
        <p14:section name="What is quantum computing?" id="{f9814b5c-2d90-91d0-f0b8-6ca007817986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Applications &amp; benefits" id="{1badf54f-b9e9-c3f1-505c-de6669ca6502}">
          <p14:sldIdLst>
            <p14:sldId id="268"/>
            <p14:sldId id="269"/>
            <p14:sldId id="270"/>
            <p14:sldId id="271"/>
            <p14:sldId id="272"/>
          </p14:sldIdLst>
        </p14:section>
        <p14:section name="Quantum and the hardware industry" id="{ea99025c-ee1e-7bcc-12b9-43ed92e00a39}">
          <p14:sldIdLst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Transistors per chip</c:v>
                </c:pt>
              </c:strCache>
            </c:strRef>
          </c:tx>
          <c:spPr>
            <a:solidFill>
              <a:srgbClr val="A78BFA"/>
            </a:solidFill>
            <a:ln w="38100" cap="flat">
              <a:solidFill>
                <a:srgbClr val="A78BFA"/>
              </a:solidFill>
              <a:prstDash val="solid"/>
              <a:round/>
            </a:ln>
            <a:effectLst/>
          </c:spPr>
          <c:invertIfNegative val="0"/>
          <c:dLbls>
            <c:numFmt formatCode="[&gt;=1000000000]0.0,,,&quot;B&quot;;[&gt;=1000000]0.0,,&quot;M&quot;;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103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A78BFA"/>
              </a:solidFill>
              <a:ln w="9525" cap="flat">
                <a:solidFill>
                  <a:srgbClr val="A78B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1971</c:v>
                  </c:pt>
                  <c:pt idx="1">
                    <c:v>1982</c:v>
                  </c:pt>
                  <c:pt idx="2">
                    <c:v>1993</c:v>
                  </c:pt>
                  <c:pt idx="3">
                    <c:v>2000</c:v>
                  </c:pt>
                  <c:pt idx="4">
                    <c:v>2006</c:v>
                  </c:pt>
                  <c:pt idx="5">
                    <c:v>2012</c:v>
                  </c:pt>
                  <c:pt idx="6">
                    <c:v>2017</c:v>
                  </c:pt>
                  <c:pt idx="7">
                    <c:v>2022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2300</c:v>
                </c:pt>
                <c:pt idx="1">
                  <c:v>134000</c:v>
                </c:pt>
                <c:pt idx="2">
                  <c:v>3100000</c:v>
                </c:pt>
                <c:pt idx="3">
                  <c:v>42000000</c:v>
                </c:pt>
                <c:pt idx="4">
                  <c:v>291000000</c:v>
                </c:pt>
                <c:pt idx="5">
                  <c:v>1400000000</c:v>
                </c:pt>
                <c:pt idx="6">
                  <c:v>19200000000</c:v>
                </c:pt>
                <c:pt idx="7">
                  <c:v>114000000000</c:v>
                </c:pt>
              </c:numCache>
            </c:numRef>
          </c:val>
          <c:smooth val="0"/>
        </c:ser>
        <c:dLbls>
          <c:numFmt formatCode="[&gt;=1000000000]0.0,,,&quot;B&quot;;[&gt;=1000000]0.0,,&quot;M&quot;;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B103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10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000000000"/>
          <c:min val="1000"/>
        </c:scaling>
        <c:delete val="1"/>
        <c:axPos val="l"/>
        <c:majorGridlines>
          <c:spPr>
            <a:ln w="9525" cap="flat">
              <a:solidFill>
                <a:srgbClr val="CBD5F5"/>
              </a:solidFill>
              <a:prstDash val="solid"/>
              <a:round/>
            </a:ln>
          </c:spPr>
        </c:majorGridlines>
        <c:numFmt formatCode="[&gt;=1000000000]0,,,&quot;B&quot;;[&gt;=1000000]0,,&quot;M&quot;;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103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a question: your phone has about 15-20 billion transistors. Can chips keep shrinking forever? Today we meet the idea that may complement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parts, about 40-45 minutes with the activities.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sets the problem before we meet the solution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log axis: a straight line means constant doubling. Intel 4004 = 2,300; 286 = 134 thousand; Pentium = 3.1 million; Pentium 4 = 42 million; Core 2 Duo = 291 million; Ivy Bridge quad-core = 1.4 billion; AMD EPYC (2017) = 19.2 billion; Apple M1 Ultra (2022) = 114 billion.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that classical chips are not dead. The idea of quantum computing is to solve some problems differently, not to speed up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2: the core ideas. Keep analogies simple and be honest about their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sphere is the Bloch sphere: north pole = 0, south pole = 1, any other point = a superposition.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common misconception, so say it out loud. Entanglement analogy: two magic coins that always land the same way, though each alone is random.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2^50 = 1.13 x 10^15; at 16 bytes per complex number that is about 18 PB. 2^300 is about 2 x 10^90.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technology has won yet. Each has trade-offs in speed, accuracy, and how easy it is to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systems use a dilution refrigerator. Temperatures are approximate; they differ between machines.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Qubit counts and error-correction milestones change quickly. Check recent news from IBM, Google, Quantinuum and others before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3: where quantum may help, and where it may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of these matters most for Egypt? Fertiliser, water, medicine and logistics make good local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balanced: the benefits are real but problem-specific. Grover's search gives a square-root speed-up; Shor's factoring gives an exponential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NIST published FIPS 203 (ML-KEM), 204 (ML-DSA) and 205 (SLH-DSA) in August 2024. Recent research estimates RSA-2048 might fall to under a million noisy qubits; today's machines are far smaller.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 discussion slide: ask students which myth they believed before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 answers the question: is quantum the solution to the end of shrinking?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the premise gently: quantum computing does not rescue Moore's law for everyday chips. It adds a new kind of processor.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Intel has demonstrated silicon spin-qubit chips made in its own factories. Superconducting qubit chips use fabrication steps similar to semiconductor manufacturing.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Bell-state circuit. Run it on a simulator in class (pip install qiskit qiskit-aer). Students can see the entanglement in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to reveal each answer. Give students 20 seconds per question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groups five minutes, then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follow-up: a lab where students run the Bell-state circuit and plot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931920" y="361188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chemeClr val="tx2"/>
                </a:solidFill>
              </a:rPr>
              <a:t>Quantum Computing  |  Secondary School Technology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Quantum Computing  |  Secondary School Technology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4_halo0"/>
          <p:cNvSpPr/>
          <p:nvPr/>
        </p:nvSpPr>
        <p:spPr>
          <a:xfrm>
            <a:off x="7223760" y="914400"/>
            <a:ext cx="5029200" cy="5029200"/>
          </a:xfrm>
          <a:prstGeom prst="ellipse">
            <a:avLst/>
          </a:prstGeom>
          <a:solidFill>
            <a:schemeClr val="accent1">
              <a:alpha val="0"/>
            </a:schemeClr>
          </a:solidFill>
          <a:ln w="190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4" name="a4_halo1"/>
          <p:cNvSpPr/>
          <p:nvPr/>
        </p:nvSpPr>
        <p:spPr>
          <a:xfrm>
            <a:off x="8028432" y="1719072"/>
            <a:ext cx="3419856" cy="3419856"/>
          </a:xfrm>
          <a:prstGeom prst="ellipse">
            <a:avLst/>
          </a:prstGeom>
          <a:solidFill>
            <a:schemeClr val="accent1">
              <a:alpha val="0"/>
            </a:schemeClr>
          </a:solidFill>
          <a:ln w="19050">
            <a:solidFill>
              <a:schemeClr val="accent2">
                <a:alpha val="55000"/>
              </a:schemeClr>
            </a:solidFill>
            <a:prstDash val="solid"/>
          </a:ln>
        </p:spPr>
      </p:sp>
      <p:sp>
        <p:nvSpPr>
          <p:cNvPr id="5" name="a4_halo2"/>
          <p:cNvSpPr/>
          <p:nvPr/>
        </p:nvSpPr>
        <p:spPr>
          <a:xfrm>
            <a:off x="8782812" y="2473452"/>
            <a:ext cx="1911096" cy="1911096"/>
          </a:xfrm>
          <a:prstGeom prst="ellipse">
            <a:avLst/>
          </a:prstGeom>
          <a:solidFill>
            <a:schemeClr val="accent1">
              <a:alpha val="0"/>
            </a:schemeClr>
          </a:solidFill>
          <a:ln w="1905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6" name="a4_ico_core"/>
          <p:cNvSpPr/>
          <p:nvPr/>
        </p:nvSpPr>
        <p:spPr>
          <a:xfrm>
            <a:off x="9418320" y="3108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a4_ico_e0"/>
          <p:cNvSpPr/>
          <p:nvPr/>
        </p:nvSpPr>
        <p:spPr>
          <a:xfrm>
            <a:off x="11762249" y="2040557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a4_ico_e1"/>
          <p:cNvSpPr/>
          <p:nvPr/>
        </p:nvSpPr>
        <p:spPr>
          <a:xfrm>
            <a:off x="8443628" y="4548654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a4_ico_e2"/>
          <p:cNvSpPr/>
          <p:nvPr/>
        </p:nvSpPr>
        <p:spPr>
          <a:xfrm>
            <a:off x="10341187" y="3916565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a1_pill"/>
          <p:cNvSpPr/>
          <p:nvPr/>
        </p:nvSpPr>
        <p:spPr>
          <a:xfrm>
            <a:off x="731520" y="914400"/>
            <a:ext cx="512064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1" name="a1_pill_t"/>
          <p:cNvSpPr txBox="1"/>
          <p:nvPr/>
        </p:nvSpPr>
        <p:spPr>
          <a:xfrm>
            <a:off x="731520" y="914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 ·  SECONDARY SCHOOL</a:t>
            </a:r>
            <a:endParaRPr lang="en-US" sz="130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4600" b="1" dirty="0">
                <a:solidFill>
                  <a:schemeClr val="bg1"/>
                </a:solidFill>
              </a:rPr>
              <a:t>Quantum Computing</a:t>
            </a:r>
            <a:endParaRPr lang="en-US" sz="4600" dirty="0"/>
          </a:p>
        </p:txBody>
      </p:sp>
      <p:sp>
        <p:nvSpPr>
          <p:cNvPr id="13" name="Text 0"/>
          <p:cNvSpPr/>
          <p:nvPr>
            <p:ph idx="101" type="body" hasCustomPrompt="1"/>
          </p:nvPr>
        </p:nvSpPr>
        <p:spPr>
          <a:xfrm>
            <a:off x="731520" y="4023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chemeClr val="bg2"/>
                </a:solidFill>
              </a:rPr>
              <a:t>A new way to compute, and what it means for the chips of tomorrow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tx1"/>
                </a:solidFill>
              </a:rPr>
              <a:t>Today's journey</a:t>
            </a:r>
            <a:endParaRPr lang="en-US" sz="3400" dirty="0"/>
          </a:p>
        </p:txBody>
      </p:sp>
      <p:sp>
        <p:nvSpPr>
          <p:cNvPr id="4" name="a1_card"/>
          <p:cNvSpPr/>
          <p:nvPr/>
        </p:nvSpPr>
        <p:spPr>
          <a:xfrm>
            <a:off x="548640" y="1645920"/>
            <a:ext cx="2567864" cy="4023360"/>
          </a:xfrm>
          <a:prstGeom prst="roundRect">
            <a:avLst>
              <a:gd name="adj" fmla="val 641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a1_ico_bg"/>
          <p:cNvSpPr/>
          <p:nvPr/>
        </p:nvSpPr>
        <p:spPr>
          <a:xfrm>
            <a:off x="868680" y="19659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2200504"/>
            <a:ext cx="399593" cy="399593"/>
          </a:xfrm>
          <a:prstGeom prst="rect">
            <a:avLst/>
          </a:prstGeom>
        </p:spPr>
      </p:pic>
      <p:sp>
        <p:nvSpPr>
          <p:cNvPr id="7" name="a1_no"/>
          <p:cNvSpPr txBox="1"/>
          <p:nvPr/>
        </p:nvSpPr>
        <p:spPr>
          <a:xfrm>
            <a:off x="2156384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4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a1_head"/>
          <p:cNvSpPr txBox="1"/>
          <p:nvPr/>
        </p:nvSpPr>
        <p:spPr>
          <a:xfrm>
            <a:off x="868680" y="324612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it?</a:t>
            </a:r>
            <a:endParaRPr lang="en-US" sz="2300" dirty="0"/>
          </a:p>
        </p:txBody>
      </p:sp>
      <p:sp>
        <p:nvSpPr>
          <p:cNvPr id="9" name="a1_body"/>
          <p:cNvSpPr txBox="1"/>
          <p:nvPr/>
        </p:nvSpPr>
        <p:spPr>
          <a:xfrm>
            <a:off x="868680" y="4160520"/>
            <a:ext cx="1927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 of shrinking transistors (Moore's law).</a:t>
            </a:r>
            <a:endParaRPr lang="en-US" sz="1600" dirty="0"/>
          </a:p>
        </p:txBody>
      </p:sp>
      <p:sp>
        <p:nvSpPr>
          <p:cNvPr id="10" name="a2_card"/>
          <p:cNvSpPr/>
          <p:nvPr/>
        </p:nvSpPr>
        <p:spPr>
          <a:xfrm>
            <a:off x="3390824" y="1645920"/>
            <a:ext cx="2567864" cy="4023360"/>
          </a:xfrm>
          <a:prstGeom prst="roundRect">
            <a:avLst>
              <a:gd name="adj" fmla="val 641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a2_ico_bg"/>
          <p:cNvSpPr/>
          <p:nvPr/>
        </p:nvSpPr>
        <p:spPr>
          <a:xfrm>
            <a:off x="3710864" y="19659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407" y="2200504"/>
            <a:ext cx="399593" cy="399593"/>
          </a:xfrm>
          <a:prstGeom prst="rect">
            <a:avLst/>
          </a:prstGeom>
        </p:spPr>
      </p:pic>
      <p:sp>
        <p:nvSpPr>
          <p:cNvPr id="13" name="a2_no"/>
          <p:cNvSpPr txBox="1"/>
          <p:nvPr/>
        </p:nvSpPr>
        <p:spPr>
          <a:xfrm>
            <a:off x="4998568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4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a2_head"/>
          <p:cNvSpPr txBox="1"/>
          <p:nvPr/>
        </p:nvSpPr>
        <p:spPr>
          <a:xfrm>
            <a:off x="3710864" y="324612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2300" dirty="0"/>
          </a:p>
        </p:txBody>
      </p:sp>
      <p:sp>
        <p:nvSpPr>
          <p:cNvPr id="15" name="a2_body"/>
          <p:cNvSpPr txBox="1"/>
          <p:nvPr/>
        </p:nvSpPr>
        <p:spPr>
          <a:xfrm>
            <a:off x="3710864" y="4160520"/>
            <a:ext cx="1927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Qubits, superposition, entanglement and interference.</a:t>
            </a:r>
            <a:endParaRPr lang="en-US" sz="1600" dirty="0"/>
          </a:p>
        </p:txBody>
      </p:sp>
      <p:sp>
        <p:nvSpPr>
          <p:cNvPr id="16" name="a3_card"/>
          <p:cNvSpPr/>
          <p:nvPr/>
        </p:nvSpPr>
        <p:spPr>
          <a:xfrm>
            <a:off x="6233008" y="1645920"/>
            <a:ext cx="2567864" cy="4023360"/>
          </a:xfrm>
          <a:prstGeom prst="roundRect">
            <a:avLst>
              <a:gd name="adj" fmla="val 641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a3_ico_bg"/>
          <p:cNvSpPr/>
          <p:nvPr/>
        </p:nvSpPr>
        <p:spPr>
          <a:xfrm>
            <a:off x="6553048" y="19659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591" y="2200504"/>
            <a:ext cx="399593" cy="399593"/>
          </a:xfrm>
          <a:prstGeom prst="rect">
            <a:avLst/>
          </a:prstGeom>
        </p:spPr>
      </p:pic>
      <p:sp>
        <p:nvSpPr>
          <p:cNvPr id="19" name="a3_no"/>
          <p:cNvSpPr txBox="1"/>
          <p:nvPr/>
        </p:nvSpPr>
        <p:spPr>
          <a:xfrm>
            <a:off x="7840751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4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0" name="a3_head"/>
          <p:cNvSpPr txBox="1"/>
          <p:nvPr/>
        </p:nvSpPr>
        <p:spPr>
          <a:xfrm>
            <a:off x="6553048" y="324612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and benefits</a:t>
            </a:r>
            <a:endParaRPr lang="en-US" sz="2300" dirty="0"/>
          </a:p>
        </p:txBody>
      </p:sp>
      <p:sp>
        <p:nvSpPr>
          <p:cNvPr id="21" name="a3_body"/>
          <p:cNvSpPr txBox="1"/>
          <p:nvPr/>
        </p:nvSpPr>
        <p:spPr>
          <a:xfrm>
            <a:off x="6553048" y="4160520"/>
            <a:ext cx="1927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Medicine, materials, security, optimisation.</a:t>
            </a:r>
            <a:endParaRPr lang="en-US" sz="1600" dirty="0"/>
          </a:p>
        </p:txBody>
      </p:sp>
      <p:sp>
        <p:nvSpPr>
          <p:cNvPr id="22" name="a4_card"/>
          <p:cNvSpPr/>
          <p:nvPr/>
        </p:nvSpPr>
        <p:spPr>
          <a:xfrm>
            <a:off x="9075191" y="1645920"/>
            <a:ext cx="2567864" cy="4023360"/>
          </a:xfrm>
          <a:prstGeom prst="roundRect">
            <a:avLst>
              <a:gd name="adj" fmla="val 641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a4_ico_bg"/>
          <p:cNvSpPr/>
          <p:nvPr/>
        </p:nvSpPr>
        <p:spPr>
          <a:xfrm>
            <a:off x="9395231" y="196596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9775" y="2200504"/>
            <a:ext cx="399593" cy="399593"/>
          </a:xfrm>
          <a:prstGeom prst="rect">
            <a:avLst/>
          </a:prstGeom>
        </p:spPr>
      </p:pic>
      <p:sp>
        <p:nvSpPr>
          <p:cNvPr id="25" name="a4_no"/>
          <p:cNvSpPr txBox="1"/>
          <p:nvPr/>
        </p:nvSpPr>
        <p:spPr>
          <a:xfrm>
            <a:off x="10682935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4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6" name="a4_head"/>
          <p:cNvSpPr txBox="1"/>
          <p:nvPr/>
        </p:nvSpPr>
        <p:spPr>
          <a:xfrm>
            <a:off x="9395231" y="324612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industry</a:t>
            </a:r>
            <a:endParaRPr lang="en-US" sz="2300" dirty="0"/>
          </a:p>
        </p:txBody>
      </p:sp>
      <p:sp>
        <p:nvSpPr>
          <p:cNvPr id="27" name="a4_body"/>
          <p:cNvSpPr txBox="1"/>
          <p:nvPr/>
        </p:nvSpPr>
        <p:spPr>
          <a:xfrm>
            <a:off x="9395231" y="4160520"/>
            <a:ext cx="1927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quantum fits with the chips we build today.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5_halo"/>
          <p:cNvSpPr/>
          <p:nvPr/>
        </p:nvSpPr>
        <p:spPr>
          <a:xfrm>
            <a:off x="-1371600" y="3931920"/>
            <a:ext cx="4754880" cy="475488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4" name="a5_halo2"/>
          <p:cNvSpPr/>
          <p:nvPr/>
        </p:nvSpPr>
        <p:spPr>
          <a:xfrm>
            <a:off x="9692640" y="-1371600"/>
            <a:ext cx="3657600" cy="365760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5" name="a1_num"/>
          <p:cNvSpPr txBox="1"/>
          <p:nvPr/>
        </p:nvSpPr>
        <p:spPr>
          <a:xfrm>
            <a:off x="640080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4400" b="1" dirty="0">
                <a:solidFill>
                  <a:schemeClr val="bg1"/>
                </a:solidFill>
              </a:rPr>
              <a:t>Why do we need it?</a:t>
            </a:r>
            <a:endParaRPr lang="en-US" sz="44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3931920" y="3611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chemeClr val="bg2"/>
                </a:solidFill>
              </a:rPr>
              <a:t>The end of easy chip shrinking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tx1"/>
                </a:solidFill>
              </a:rPr>
              <a:t>More transistors, every two years… until now</a:t>
            </a:r>
            <a:endParaRPr lang="en-US" sz="3400" dirty="0"/>
          </a:p>
        </p:txBody>
      </p:sp>
      <p:graphicFrame>
        <p:nvGraphicFramePr>
          <p:cNvPr id="4" name="a1_chart" descr=""/>
          <p:cNvGraphicFramePr/>
          <p:nvPr/>
        </p:nvGraphicFramePr>
        <p:xfrm>
          <a:off x="548640" y="146304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a2_card"/>
          <p:cNvSpPr/>
          <p:nvPr/>
        </p:nvSpPr>
        <p:spPr>
          <a:xfrm>
            <a:off x="7955280" y="1508760"/>
            <a:ext cx="3685032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6" name="a2_big"/>
          <p:cNvSpPr txBox="1"/>
          <p:nvPr/>
        </p:nvSpPr>
        <p:spPr>
          <a:xfrm>
            <a:off x="8183880" y="15819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Moore's law</a:t>
            </a:r>
            <a:endParaRPr lang="en-US" sz="1900" dirty="0"/>
          </a:p>
        </p:txBody>
      </p:sp>
      <p:sp>
        <p:nvSpPr>
          <p:cNvPr id="7" name="a2_text"/>
          <p:cNvSpPr txBox="1"/>
          <p:nvPr/>
        </p:nvSpPr>
        <p:spPr>
          <a:xfrm>
            <a:off x="8183880" y="21031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1965: the number of transistors on a chip doubles about every two years.</a:t>
            </a:r>
            <a:endParaRPr lang="en-US" sz="1400" dirty="0"/>
          </a:p>
        </p:txBody>
      </p:sp>
      <p:sp>
        <p:nvSpPr>
          <p:cNvPr id="8" name="a3_card"/>
          <p:cNvSpPr/>
          <p:nvPr/>
        </p:nvSpPr>
        <p:spPr>
          <a:xfrm>
            <a:off x="7955280" y="2990088"/>
            <a:ext cx="3685032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9" name="a3_big"/>
          <p:cNvSpPr txBox="1"/>
          <p:nvPr/>
        </p:nvSpPr>
        <p:spPr>
          <a:xfrm>
            <a:off x="8183880" y="30632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2,300 → 114 billion</a:t>
            </a:r>
            <a:endParaRPr lang="en-US" sz="1900" dirty="0"/>
          </a:p>
        </p:txBody>
      </p:sp>
      <p:sp>
        <p:nvSpPr>
          <p:cNvPr id="10" name="a3_text"/>
          <p:cNvSpPr txBox="1"/>
          <p:nvPr/>
        </p:nvSpPr>
        <p:spPr>
          <a:xfrm>
            <a:off x="8183880" y="358444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first microprocessor (Intel 4004, 1971) to Apple's M1 Ultra (2022).</a:t>
            </a:r>
            <a:endParaRPr lang="en-US" sz="1400" dirty="0"/>
          </a:p>
        </p:txBody>
      </p:sp>
      <p:sp>
        <p:nvSpPr>
          <p:cNvPr id="11" name="a4_card"/>
          <p:cNvSpPr/>
          <p:nvPr/>
        </p:nvSpPr>
        <p:spPr>
          <a:xfrm>
            <a:off x="7955280" y="4471416"/>
            <a:ext cx="3685032" cy="13716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12" name="a4_big"/>
          <p:cNvSpPr txBox="1"/>
          <p:nvPr/>
        </p:nvSpPr>
        <p:spPr>
          <a:xfrm>
            <a:off x="8183880" y="45445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is slowing</a:t>
            </a:r>
            <a:endParaRPr lang="en-US" sz="1900" dirty="0"/>
          </a:p>
        </p:txBody>
      </p:sp>
      <p:sp>
        <p:nvSpPr>
          <p:cNvPr id="13" name="a4_text"/>
          <p:cNvSpPr txBox="1"/>
          <p:nvPr/>
        </p:nvSpPr>
        <p:spPr>
          <a:xfrm>
            <a:off x="8183880" y="5065776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speeds have been stuck near 3-5 GHz since the mid-2000s.</a:t>
            </a:r>
            <a:endParaRPr lang="en-US" sz="1400" dirty="0"/>
          </a:p>
        </p:txBody>
      </p:sp>
      <p:sp>
        <p:nvSpPr>
          <p:cNvPr id="14" name="a6_source"/>
          <p:cNvSpPr txBox="1"/>
          <p:nvPr/>
        </p:nvSpPr>
        <p:spPr>
          <a:xfrm>
            <a:off x="548640" y="59893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public figures for well-known processors. The vertical scale is logarithmic: each gridline is ×1,000.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tx1"/>
                </a:solidFill>
              </a:rPr>
              <a:t>Why shrinking is getting harder</a:t>
            </a:r>
            <a:endParaRPr lang="en-US" sz="3400" dirty="0"/>
          </a:p>
        </p:txBody>
      </p:sp>
      <p:sp>
        <p:nvSpPr>
          <p:cNvPr id="4" name="a1_card"/>
          <p:cNvSpPr/>
          <p:nvPr/>
        </p:nvSpPr>
        <p:spPr>
          <a:xfrm>
            <a:off x="548640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096719"/>
            <a:ext cx="378562" cy="378562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868680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are the limit</a:t>
            </a:r>
            <a:endParaRPr lang="en-US" sz="2200" dirty="0"/>
          </a:p>
        </p:txBody>
      </p:sp>
      <p:sp>
        <p:nvSpPr>
          <p:cNvPr id="8" name="a1_body"/>
          <p:cNvSpPr txBox="1"/>
          <p:nvPr/>
        </p:nvSpPr>
        <p:spPr>
          <a:xfrm>
            <a:off x="868680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silicon atom is about 0.2 nm wide. The tiniest parts of a modern transistor are only tens of atoms across.</a:t>
            </a:r>
            <a:endParaRPr lang="en-US" sz="1600" dirty="0"/>
          </a:p>
        </p:txBody>
      </p:sp>
      <p:sp>
        <p:nvSpPr>
          <p:cNvPr id="9" name="a2_card"/>
          <p:cNvSpPr/>
          <p:nvPr/>
        </p:nvSpPr>
        <p:spPr>
          <a:xfrm>
            <a:off x="4338218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0" name="a2_ico_bg"/>
          <p:cNvSpPr/>
          <p:nvPr/>
        </p:nvSpPr>
        <p:spPr>
          <a:xfrm>
            <a:off x="4658258" y="18745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58" y="2096719"/>
            <a:ext cx="378562" cy="378562"/>
          </a:xfrm>
          <a:prstGeom prst="rect">
            <a:avLst/>
          </a:prstGeom>
        </p:spPr>
      </p:pic>
      <p:sp>
        <p:nvSpPr>
          <p:cNvPr id="12" name="a2_head"/>
          <p:cNvSpPr txBox="1"/>
          <p:nvPr/>
        </p:nvSpPr>
        <p:spPr>
          <a:xfrm>
            <a:off x="4658258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2200" dirty="0"/>
          </a:p>
        </p:txBody>
      </p:sp>
      <p:sp>
        <p:nvSpPr>
          <p:cNvPr id="13" name="a2_body"/>
          <p:cNvSpPr txBox="1"/>
          <p:nvPr/>
        </p:nvSpPr>
        <p:spPr>
          <a:xfrm>
            <a:off x="4658258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switches packed into a thumbnail-sized chip create intense heat that is hard to remove.</a:t>
            </a:r>
            <a:endParaRPr lang="en-US" sz="1600" dirty="0"/>
          </a:p>
        </p:txBody>
      </p:sp>
      <p:sp>
        <p:nvSpPr>
          <p:cNvPr id="14" name="a3_card"/>
          <p:cNvSpPr/>
          <p:nvPr/>
        </p:nvSpPr>
        <p:spPr>
          <a:xfrm>
            <a:off x="8127797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5" name="a3_ico_bg"/>
          <p:cNvSpPr/>
          <p:nvPr/>
        </p:nvSpPr>
        <p:spPr>
          <a:xfrm>
            <a:off x="8447837" y="18745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036" y="2096719"/>
            <a:ext cx="378562" cy="378562"/>
          </a:xfrm>
          <a:prstGeom prst="rect">
            <a:avLst/>
          </a:prstGeom>
        </p:spPr>
      </p:pic>
      <p:sp>
        <p:nvSpPr>
          <p:cNvPr id="17" name="a3_head"/>
          <p:cNvSpPr txBox="1"/>
          <p:nvPr/>
        </p:nvSpPr>
        <p:spPr>
          <a:xfrm>
            <a:off x="8447837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leaks</a:t>
            </a:r>
            <a:endParaRPr lang="en-US" sz="2200" dirty="0"/>
          </a:p>
        </p:txBody>
      </p:sp>
      <p:sp>
        <p:nvSpPr>
          <p:cNvPr id="18" name="a3_body"/>
          <p:cNvSpPr txBox="1"/>
          <p:nvPr/>
        </p:nvSpPr>
        <p:spPr>
          <a:xfrm>
            <a:off x="8447837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scale electrons can 'tunnel' through thin barriers, so switches leak current and become unreliable.</a:t>
            </a:r>
            <a:endParaRPr lang="en-US" sz="1600" dirty="0"/>
          </a:p>
        </p:txBody>
      </p:sp>
      <p:sp>
        <p:nvSpPr>
          <p:cNvPr id="19" name="a4_note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6842"/>
            </a:avLst>
          </a:prstGeom>
          <a:solidFill>
            <a:schemeClr val="tx2"/>
          </a:solidFill>
          <a:ln/>
        </p:spPr>
      </p:sp>
      <p:pic>
        <p:nvPicPr>
          <p:cNvPr id="20" name="a4_note_ic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550408"/>
            <a:ext cx="365760" cy="365760"/>
          </a:xfrm>
          <a:prstGeom prst="rect">
            <a:avLst/>
          </a:prstGeom>
        </p:spPr>
      </p:pic>
      <p:sp>
        <p:nvSpPr>
          <p:cNvPr id="21" name="a4_note_t"/>
          <p:cNvSpPr txBox="1"/>
          <p:nvPr/>
        </p:nvSpPr>
        <p:spPr>
          <a:xfrm>
            <a:off x="1463040" y="5303520"/>
            <a:ext cx="9814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still find tricks (3D stacking, chiplets, new materials). Quantum computing is a different path: not a faster chip, but a different kind of computer.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5_halo"/>
          <p:cNvSpPr/>
          <p:nvPr/>
        </p:nvSpPr>
        <p:spPr>
          <a:xfrm>
            <a:off x="-1371600" y="3931920"/>
            <a:ext cx="4754880" cy="475488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4" name="a5_halo2"/>
          <p:cNvSpPr/>
          <p:nvPr/>
        </p:nvSpPr>
        <p:spPr>
          <a:xfrm>
            <a:off x="9692640" y="-1371600"/>
            <a:ext cx="3657600" cy="365760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5" name="a1_num"/>
          <p:cNvSpPr txBox="1"/>
          <p:nvPr/>
        </p:nvSpPr>
        <p:spPr>
          <a:xfrm>
            <a:off x="640080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4400" b="1" dirty="0">
                <a:solidFill>
                  <a:schemeClr val="bg1"/>
                </a:solidFill>
              </a:rPr>
              <a:t>What is quantum computing?</a:t>
            </a:r>
            <a:endParaRPr lang="en-US" sz="44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3931920" y="3611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chemeClr val="bg2"/>
                </a:solidFill>
              </a:rPr>
              <a:t>Computing with the rules of the very small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tx1"/>
                </a:solidFill>
              </a:rPr>
              <a:t>Bit vs. qubit</a:t>
            </a:r>
            <a:endParaRPr lang="en-US" sz="3400" dirty="0"/>
          </a:p>
        </p:txBody>
      </p:sp>
      <p:sp>
        <p:nvSpPr>
          <p:cNvPr id="4" name="a1_card"/>
          <p:cNvSpPr/>
          <p:nvPr/>
        </p:nvSpPr>
        <p:spPr>
          <a:xfrm>
            <a:off x="548640" y="1508760"/>
            <a:ext cx="5440680" cy="38862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a1_head"/>
          <p:cNvSpPr txBox="1"/>
          <p:nvPr/>
        </p:nvSpPr>
        <p:spPr>
          <a:xfrm>
            <a:off x="914400" y="16459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bit</a:t>
            </a:r>
            <a:endParaRPr lang="en-US" sz="2300" dirty="0"/>
          </a:p>
        </p:txBody>
      </p:sp>
      <p:sp>
        <p:nvSpPr>
          <p:cNvPr id="6" name="a1_sw0"/>
          <p:cNvSpPr/>
          <p:nvPr/>
        </p:nvSpPr>
        <p:spPr>
          <a:xfrm>
            <a:off x="1371600" y="2514600"/>
            <a:ext cx="1645920" cy="1005840"/>
          </a:xfrm>
          <a:prstGeom prst="roundRect">
            <a:avLst>
              <a:gd name="adj" fmla="val 12727"/>
            </a:avLst>
          </a:prstGeom>
          <a:solidFill>
            <a:schemeClr val="accent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7" name="a1_swt0"/>
          <p:cNvSpPr txBox="1"/>
          <p:nvPr/>
        </p:nvSpPr>
        <p:spPr>
          <a:xfrm>
            <a:off x="1371600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4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a1_sw1"/>
          <p:cNvSpPr/>
          <p:nvPr/>
        </p:nvSpPr>
        <p:spPr>
          <a:xfrm>
            <a:off x="3383280" y="2514600"/>
            <a:ext cx="1645920" cy="1005840"/>
          </a:xfrm>
          <a:prstGeom prst="roundRect">
            <a:avLst>
              <a:gd name="adj" fmla="val 12727"/>
            </a:avLst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9" name="a1_swt1"/>
          <p:cNvSpPr txBox="1"/>
          <p:nvPr/>
        </p:nvSpPr>
        <p:spPr>
          <a:xfrm>
            <a:off x="3383280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4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a1_body"/>
          <p:cNvSpPr txBox="1"/>
          <p:nvPr/>
        </p:nvSpPr>
        <p:spPr>
          <a:xfrm>
            <a:off x="914400" y="42062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exactly 0 or 1, like a light switch: off or on. Every file on your phone is billions of bits.</a:t>
            </a:r>
            <a:endParaRPr lang="en-US" sz="1600" dirty="0"/>
          </a:p>
        </p:txBody>
      </p:sp>
      <p:sp>
        <p:nvSpPr>
          <p:cNvPr id="11" name="a2_card"/>
          <p:cNvSpPr/>
          <p:nvPr/>
        </p:nvSpPr>
        <p:spPr>
          <a:xfrm>
            <a:off x="6199632" y="1508760"/>
            <a:ext cx="5440680" cy="388620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12" name="a2_head"/>
          <p:cNvSpPr txBox="1"/>
          <p:nvPr/>
        </p:nvSpPr>
        <p:spPr>
          <a:xfrm>
            <a:off x="6565392" y="16459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bit (qubit)</a:t>
            </a:r>
            <a:endParaRPr lang="en-US" sz="2300" dirty="0"/>
          </a:p>
        </p:txBody>
      </p:sp>
      <p:sp>
        <p:nvSpPr>
          <p:cNvPr id="13" name="a2_ico_sph"/>
          <p:cNvSpPr/>
          <p:nvPr/>
        </p:nvSpPr>
        <p:spPr>
          <a:xfrm>
            <a:off x="8261604" y="2542032"/>
            <a:ext cx="1316736" cy="1316736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a2_eq"/>
          <p:cNvSpPr/>
          <p:nvPr/>
        </p:nvSpPr>
        <p:spPr>
          <a:xfrm>
            <a:off x="8261604" y="2999232"/>
            <a:ext cx="1316736" cy="402336"/>
          </a:xfrm>
          <a:prstGeom prst="ellipse">
            <a:avLst/>
          </a:prstGeom>
          <a:solidFill>
            <a:schemeClr val="accent2">
              <a:alpha val="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5" name="a2_axis"/>
          <p:cNvSpPr/>
          <p:nvPr/>
        </p:nvSpPr>
        <p:spPr>
          <a:xfrm>
            <a:off x="8919972" y="2432304"/>
            <a:ext cx="0" cy="1536192"/>
          </a:xfrm>
          <a:prstGeom prst="line">
            <a:avLst/>
          </a:prstGeom>
          <a:noFill/>
          <a:ln w="15875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16" name="a2_vec"/>
          <p:cNvSpPr/>
          <p:nvPr/>
        </p:nvSpPr>
        <p:spPr>
          <a:xfrm flipV="1">
            <a:off x="8919972" y="2697480"/>
            <a:ext cx="457200" cy="50292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a2_l0"/>
          <p:cNvSpPr txBox="1"/>
          <p:nvPr/>
        </p:nvSpPr>
        <p:spPr>
          <a:xfrm>
            <a:off x="9029700" y="21579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</a:t>
            </a:r>
            <a:endParaRPr lang="en-US" sz="1500" dirty="0"/>
          </a:p>
        </p:txBody>
      </p:sp>
      <p:sp>
        <p:nvSpPr>
          <p:cNvPr id="18" name="a2_l1"/>
          <p:cNvSpPr txBox="1"/>
          <p:nvPr/>
        </p:nvSpPr>
        <p:spPr>
          <a:xfrm>
            <a:off x="9029700" y="39684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|1⟩</a:t>
            </a:r>
            <a:endParaRPr lang="en-US" sz="1500" dirty="0"/>
          </a:p>
        </p:txBody>
      </p:sp>
      <p:sp>
        <p:nvSpPr>
          <p:cNvPr id="19" name="a2_body"/>
          <p:cNvSpPr txBox="1"/>
          <p:nvPr/>
        </p:nvSpPr>
        <p:spPr>
          <a:xfrm>
            <a:off x="6565392" y="42062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0, 1, or a blend of both (superposition). When measured it gives 0 or 1, with probabilities set by the blend.</a:t>
            </a:r>
            <a:endParaRPr lang="en-US" sz="1600" dirty="0"/>
          </a:p>
        </p:txBody>
      </p:sp>
      <p:sp>
        <p:nvSpPr>
          <p:cNvPr id="20" name="a3_note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21333"/>
            </a:avLst>
          </a:prstGeom>
          <a:solidFill>
            <a:schemeClr val="accent4"/>
          </a:solidFill>
          <a:ln/>
        </p:spPr>
      </p:sp>
      <p:sp>
        <p:nvSpPr>
          <p:cNvPr id="21" name="a3_note_t"/>
          <p:cNvSpPr txBox="1"/>
          <p:nvPr/>
        </p:nvSpPr>
        <p:spPr>
          <a:xfrm>
            <a:off x="914400" y="553212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spinning coin: while it spins it is not simply heads or tails. When it lands, you see one.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tx1"/>
                </a:solidFill>
              </a:rPr>
              <a:t>Three quantum ideas that power it</a:t>
            </a:r>
            <a:endParaRPr lang="en-US" sz="3400" dirty="0"/>
          </a:p>
        </p:txBody>
      </p:sp>
      <p:sp>
        <p:nvSpPr>
          <p:cNvPr id="4" name="a1_card"/>
          <p:cNvSpPr/>
          <p:nvPr/>
        </p:nvSpPr>
        <p:spPr>
          <a:xfrm>
            <a:off x="548640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096719"/>
            <a:ext cx="378562" cy="378562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868680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</a:t>
            </a:r>
            <a:endParaRPr lang="en-US" sz="2200" dirty="0"/>
          </a:p>
        </p:txBody>
      </p:sp>
      <p:sp>
        <p:nvSpPr>
          <p:cNvPr id="8" name="a1_body"/>
          <p:cNvSpPr txBox="1"/>
          <p:nvPr/>
        </p:nvSpPr>
        <p:spPr>
          <a:xfrm>
            <a:off x="868680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qubit holds a blend of 0 and 1 until we measure it.</a:t>
            </a:r>
            <a:endParaRPr lang="en-US" sz="1600" dirty="0"/>
          </a:p>
        </p:txBody>
      </p:sp>
      <p:sp>
        <p:nvSpPr>
          <p:cNvPr id="9" name="a2_card"/>
          <p:cNvSpPr/>
          <p:nvPr/>
        </p:nvSpPr>
        <p:spPr>
          <a:xfrm>
            <a:off x="4338218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0" name="a2_ico_bg"/>
          <p:cNvSpPr/>
          <p:nvPr/>
        </p:nvSpPr>
        <p:spPr>
          <a:xfrm>
            <a:off x="4658258" y="18745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58" y="2096719"/>
            <a:ext cx="378562" cy="378562"/>
          </a:xfrm>
          <a:prstGeom prst="rect">
            <a:avLst/>
          </a:prstGeom>
        </p:spPr>
      </p:pic>
      <p:sp>
        <p:nvSpPr>
          <p:cNvPr id="12" name="a2_head"/>
          <p:cNvSpPr txBox="1"/>
          <p:nvPr/>
        </p:nvSpPr>
        <p:spPr>
          <a:xfrm>
            <a:off x="4658258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</a:t>
            </a:r>
            <a:endParaRPr lang="en-US" sz="2200" dirty="0"/>
          </a:p>
        </p:txBody>
      </p:sp>
      <p:sp>
        <p:nvSpPr>
          <p:cNvPr id="13" name="a2_body"/>
          <p:cNvSpPr txBox="1"/>
          <p:nvPr/>
        </p:nvSpPr>
        <p:spPr>
          <a:xfrm>
            <a:off x="4658258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qubits can be linked so their results are connected, however far apart. No message travels faster than light.</a:t>
            </a:r>
            <a:endParaRPr lang="en-US" sz="1600" dirty="0"/>
          </a:p>
        </p:txBody>
      </p:sp>
      <p:sp>
        <p:nvSpPr>
          <p:cNvPr id="14" name="a3_card"/>
          <p:cNvSpPr/>
          <p:nvPr/>
        </p:nvSpPr>
        <p:spPr>
          <a:xfrm>
            <a:off x="8127797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5" name="a3_ico_bg"/>
          <p:cNvSpPr/>
          <p:nvPr/>
        </p:nvSpPr>
        <p:spPr>
          <a:xfrm>
            <a:off x="8447837" y="18745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036" y="2096719"/>
            <a:ext cx="378562" cy="378562"/>
          </a:xfrm>
          <a:prstGeom prst="rect">
            <a:avLst/>
          </a:prstGeom>
        </p:spPr>
      </p:pic>
      <p:sp>
        <p:nvSpPr>
          <p:cNvPr id="17" name="a3_head"/>
          <p:cNvSpPr txBox="1"/>
          <p:nvPr/>
        </p:nvSpPr>
        <p:spPr>
          <a:xfrm>
            <a:off x="8447837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</a:t>
            </a:r>
            <a:endParaRPr lang="en-US" sz="2200" dirty="0"/>
          </a:p>
        </p:txBody>
      </p:sp>
      <p:sp>
        <p:nvSpPr>
          <p:cNvPr id="18" name="a3_body"/>
          <p:cNvSpPr txBox="1"/>
          <p:nvPr/>
        </p:nvSpPr>
        <p:spPr>
          <a:xfrm>
            <a:off x="8447837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arrange the 'waves' so wrong answers cancel out and right answers get stronger.</a:t>
            </a:r>
            <a:endParaRPr lang="en-US" sz="1600" dirty="0"/>
          </a:p>
        </p:txBody>
      </p:sp>
      <p:sp>
        <p:nvSpPr>
          <p:cNvPr id="19" name="a4_note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6842"/>
            </a:avLst>
          </a:prstGeom>
          <a:solidFill>
            <a:schemeClr val="tx2"/>
          </a:solidFill>
          <a:ln/>
        </p:spPr>
      </p:sp>
      <p:pic>
        <p:nvPicPr>
          <p:cNvPr id="20" name="a4_note_ic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550408"/>
            <a:ext cx="365760" cy="365760"/>
          </a:xfrm>
          <a:prstGeom prst="rect">
            <a:avLst/>
          </a:prstGeom>
        </p:spPr>
      </p:pic>
      <p:sp>
        <p:nvSpPr>
          <p:cNvPr id="21" name="a4_note_t"/>
          <p:cNvSpPr txBox="1"/>
          <p:nvPr/>
        </p:nvSpPr>
        <p:spPr>
          <a:xfrm>
            <a:off x="1463040" y="5303520"/>
            <a:ext cx="9814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a quantum computer does NOT simply try every answer at once. The skill is in using interference to make the right answer likely.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bg1"/>
                </a:solidFill>
              </a:rPr>
              <a:t>Why many qubits are so powerful</a:t>
            </a:r>
            <a:endParaRPr lang="en-US" sz="3400" dirty="0"/>
          </a:p>
        </p:txBody>
      </p:sp>
      <p:sp>
        <p:nvSpPr>
          <p:cNvPr id="4" name="a1_card"/>
          <p:cNvSpPr/>
          <p:nvPr/>
        </p:nvSpPr>
        <p:spPr>
          <a:xfrm>
            <a:off x="548640" y="1600200"/>
            <a:ext cx="3515258" cy="329184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a1_q"/>
          <p:cNvSpPr txBox="1"/>
          <p:nvPr/>
        </p:nvSpPr>
        <p:spPr>
          <a:xfrm>
            <a:off x="822960" y="17830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qubits</a:t>
            </a:r>
            <a:endParaRPr lang="en-US" sz="2000" dirty="0"/>
          </a:p>
        </p:txBody>
      </p:sp>
      <p:sp>
        <p:nvSpPr>
          <p:cNvPr id="6" name="a1_big"/>
          <p:cNvSpPr txBox="1"/>
          <p:nvPr/>
        </p:nvSpPr>
        <p:spPr>
          <a:xfrm>
            <a:off x="822960" y="237744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40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</a:t>
            </a:r>
            <a:endParaRPr lang="en-US" sz="4000" dirty="0"/>
          </a:p>
        </p:txBody>
      </p:sp>
      <p:sp>
        <p:nvSpPr>
          <p:cNvPr id="7" name="a1_text"/>
          <p:cNvSpPr txBox="1"/>
          <p:nvPr/>
        </p:nvSpPr>
        <p:spPr>
          <a:xfrm>
            <a:off x="822960" y="37033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states described at the same time (2¹⁰).</a:t>
            </a:r>
            <a:endParaRPr lang="en-US" sz="1600" dirty="0"/>
          </a:p>
        </p:txBody>
      </p:sp>
      <p:sp>
        <p:nvSpPr>
          <p:cNvPr id="8" name="a2_card"/>
          <p:cNvSpPr/>
          <p:nvPr/>
        </p:nvSpPr>
        <p:spPr>
          <a:xfrm>
            <a:off x="4338218" y="1600200"/>
            <a:ext cx="3515258" cy="329184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a2_q"/>
          <p:cNvSpPr txBox="1"/>
          <p:nvPr/>
        </p:nvSpPr>
        <p:spPr>
          <a:xfrm>
            <a:off x="4612538" y="17830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qubits</a:t>
            </a:r>
            <a:endParaRPr lang="en-US" sz="2000" dirty="0"/>
          </a:p>
        </p:txBody>
      </p:sp>
      <p:sp>
        <p:nvSpPr>
          <p:cNvPr id="10" name="a2_big"/>
          <p:cNvSpPr txBox="1"/>
          <p:nvPr/>
        </p:nvSpPr>
        <p:spPr>
          <a:xfrm>
            <a:off x="4612538" y="237744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40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</a:t>
            </a:r>
            <a:pPr algn="l" indent="0" marL="0">
              <a:buNone/>
            </a:pPr>
            <a:r>
              <a:rPr lang="en-US" altLang="en-US" sz="4000" b="1" baseline="30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000" dirty="0"/>
          </a:p>
        </p:txBody>
      </p:sp>
      <p:sp>
        <p:nvSpPr>
          <p:cNvPr id="11" name="a2_text"/>
          <p:cNvSpPr txBox="1"/>
          <p:nvPr/>
        </p:nvSpPr>
        <p:spPr>
          <a:xfrm>
            <a:off x="4612538" y="37033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states. Simulating this on a normal computer needs about 18 petabytes of memory.</a:t>
            </a:r>
            <a:endParaRPr lang="en-US" sz="1600" dirty="0"/>
          </a:p>
        </p:txBody>
      </p:sp>
      <p:sp>
        <p:nvSpPr>
          <p:cNvPr id="12" name="a3_card"/>
          <p:cNvSpPr/>
          <p:nvPr/>
        </p:nvSpPr>
        <p:spPr>
          <a:xfrm>
            <a:off x="8127797" y="1600200"/>
            <a:ext cx="3515258" cy="329184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a3_q"/>
          <p:cNvSpPr txBox="1"/>
          <p:nvPr/>
        </p:nvSpPr>
        <p:spPr>
          <a:xfrm>
            <a:off x="8402117" y="17830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qubits</a:t>
            </a:r>
            <a:endParaRPr lang="en-US" sz="2000" dirty="0"/>
          </a:p>
        </p:txBody>
      </p:sp>
      <p:sp>
        <p:nvSpPr>
          <p:cNvPr id="14" name="a3_big"/>
          <p:cNvSpPr txBox="1"/>
          <p:nvPr/>
        </p:nvSpPr>
        <p:spPr>
          <a:xfrm>
            <a:off x="8402117" y="237744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40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</a:t>
            </a:r>
            <a:pPr algn="l" indent="0" marL="0">
              <a:buNone/>
            </a:pPr>
            <a:r>
              <a:rPr lang="en-US" altLang="en-US" sz="4000" b="1" baseline="30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4000" dirty="0"/>
          </a:p>
        </p:txBody>
      </p:sp>
      <p:sp>
        <p:nvSpPr>
          <p:cNvPr id="15" name="a3_text"/>
          <p:cNvSpPr txBox="1"/>
          <p:nvPr/>
        </p:nvSpPr>
        <p:spPr>
          <a:xfrm>
            <a:off x="8402117" y="37033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 more than the number of atoms in the observable universe (about 10⁸⁰).</a:t>
            </a:r>
            <a:endParaRPr lang="en-US" sz="1600" dirty="0"/>
          </a:p>
        </p:txBody>
      </p:sp>
      <p:sp>
        <p:nvSpPr>
          <p:cNvPr id="16" name="a4_note"/>
          <p:cNvSpPr/>
          <p:nvPr/>
        </p:nvSpPr>
        <p:spPr>
          <a:xfrm>
            <a:off x="548640" y="5166360"/>
            <a:ext cx="11094415" cy="960120"/>
          </a:xfrm>
          <a:prstGeom prst="roundRect">
            <a:avLst>
              <a:gd name="adj" fmla="val 15238"/>
            </a:avLst>
          </a:prstGeom>
          <a:solidFill>
            <a:schemeClr val="accent4"/>
          </a:solidFill>
          <a:ln/>
        </p:spPr>
      </p:sp>
      <p:sp>
        <p:nvSpPr>
          <p:cNvPr id="17" name="a4_note_t"/>
          <p:cNvSpPr txBox="1"/>
          <p:nvPr/>
        </p:nvSpPr>
        <p:spPr>
          <a:xfrm>
            <a:off x="914400" y="51663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qubits describe 2ᴺ states. But more states does not mean every problem gets faster: only problems with the right structure.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tx1"/>
                </a:solidFill>
              </a:rPr>
              <a:t>How do we build a qubit?</a:t>
            </a:r>
            <a:endParaRPr lang="en-US" sz="3400" dirty="0"/>
          </a:p>
        </p:txBody>
      </p:sp>
      <p:sp>
        <p:nvSpPr>
          <p:cNvPr id="4" name="a1_card"/>
          <p:cNvSpPr/>
          <p:nvPr/>
        </p:nvSpPr>
        <p:spPr>
          <a:xfrm>
            <a:off x="548640" y="150876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777240" y="17099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1882750"/>
            <a:ext cx="294437" cy="294437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1554480" y="167335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Superconducting circuits</a:t>
            </a:r>
            <a:endParaRPr lang="en-US" sz="1700" dirty="0"/>
          </a:p>
        </p:txBody>
      </p:sp>
      <p:sp>
        <p:nvSpPr>
          <p:cNvPr id="8" name="a1_body"/>
          <p:cNvSpPr txBox="1"/>
          <p:nvPr/>
        </p:nvSpPr>
        <p:spPr>
          <a:xfrm>
            <a:off x="777240" y="246888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circuits cooled near absolute zero. Used by IBM and Google.</a:t>
            </a:r>
            <a:endParaRPr lang="en-US" sz="1400" dirty="0"/>
          </a:p>
        </p:txBody>
      </p:sp>
      <p:sp>
        <p:nvSpPr>
          <p:cNvPr id="9" name="a1_tag"/>
          <p:cNvSpPr/>
          <p:nvPr/>
        </p:nvSpPr>
        <p:spPr>
          <a:xfrm>
            <a:off x="777240" y="324612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a1_tag_t"/>
          <p:cNvSpPr txBox="1"/>
          <p:nvPr/>
        </p:nvSpPr>
        <p:spPr>
          <a:xfrm>
            <a:off x="777240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today</a:t>
            </a:r>
            <a:endParaRPr lang="en-US" sz="1200" dirty="0"/>
          </a:p>
        </p:txBody>
      </p:sp>
      <p:sp>
        <p:nvSpPr>
          <p:cNvPr id="11" name="a2_card"/>
          <p:cNvSpPr/>
          <p:nvPr/>
        </p:nvSpPr>
        <p:spPr>
          <a:xfrm>
            <a:off x="4332122" y="150876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2" name="a2_ico_bg"/>
          <p:cNvSpPr/>
          <p:nvPr/>
        </p:nvSpPr>
        <p:spPr>
          <a:xfrm>
            <a:off x="4560722" y="1709928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544" y="1882750"/>
            <a:ext cx="294437" cy="294437"/>
          </a:xfrm>
          <a:prstGeom prst="rect">
            <a:avLst/>
          </a:prstGeom>
        </p:spPr>
      </p:pic>
      <p:sp>
        <p:nvSpPr>
          <p:cNvPr id="14" name="a2_head"/>
          <p:cNvSpPr txBox="1"/>
          <p:nvPr/>
        </p:nvSpPr>
        <p:spPr>
          <a:xfrm>
            <a:off x="5337962" y="167335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ions</a:t>
            </a:r>
            <a:endParaRPr lang="en-US" sz="1700" dirty="0"/>
          </a:p>
        </p:txBody>
      </p:sp>
      <p:sp>
        <p:nvSpPr>
          <p:cNvPr id="15" name="a2_body"/>
          <p:cNvSpPr txBox="1"/>
          <p:nvPr/>
        </p:nvSpPr>
        <p:spPr>
          <a:xfrm>
            <a:off x="4560722" y="246888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atoms held by electric fields and controlled by lasers. IonQ, Quantinuum.</a:t>
            </a:r>
            <a:endParaRPr lang="en-US" sz="1400" dirty="0"/>
          </a:p>
        </p:txBody>
      </p:sp>
      <p:sp>
        <p:nvSpPr>
          <p:cNvPr id="16" name="a2_tag"/>
          <p:cNvSpPr/>
          <p:nvPr/>
        </p:nvSpPr>
        <p:spPr>
          <a:xfrm>
            <a:off x="4560722" y="324612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7" name="a2_tag_t"/>
          <p:cNvSpPr txBox="1"/>
          <p:nvPr/>
        </p:nvSpPr>
        <p:spPr>
          <a:xfrm>
            <a:off x="4560722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accurate</a:t>
            </a:r>
            <a:endParaRPr lang="en-US" sz="1200" dirty="0"/>
          </a:p>
        </p:txBody>
      </p:sp>
      <p:sp>
        <p:nvSpPr>
          <p:cNvPr id="18" name="a3_card"/>
          <p:cNvSpPr/>
          <p:nvPr/>
        </p:nvSpPr>
        <p:spPr>
          <a:xfrm>
            <a:off x="8115605" y="150876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9" name="a3_ico_bg"/>
          <p:cNvSpPr/>
          <p:nvPr/>
        </p:nvSpPr>
        <p:spPr>
          <a:xfrm>
            <a:off x="8344205" y="1709928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026" y="1882750"/>
            <a:ext cx="294437" cy="294437"/>
          </a:xfrm>
          <a:prstGeom prst="rect">
            <a:avLst/>
          </a:prstGeom>
        </p:spPr>
      </p:pic>
      <p:sp>
        <p:nvSpPr>
          <p:cNvPr id="21" name="a3_head"/>
          <p:cNvSpPr txBox="1"/>
          <p:nvPr/>
        </p:nvSpPr>
        <p:spPr>
          <a:xfrm>
            <a:off x="9121445" y="167335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Photons</a:t>
            </a:r>
            <a:endParaRPr lang="en-US" sz="1700" dirty="0"/>
          </a:p>
        </p:txBody>
      </p:sp>
      <p:sp>
        <p:nvSpPr>
          <p:cNvPr id="22" name="a3_body"/>
          <p:cNvSpPr txBox="1"/>
          <p:nvPr/>
        </p:nvSpPr>
        <p:spPr>
          <a:xfrm>
            <a:off x="8344205" y="246888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of light guided through chips. PsiQuantum, Xanadu.</a:t>
            </a:r>
            <a:endParaRPr lang="en-US" sz="1400" dirty="0"/>
          </a:p>
        </p:txBody>
      </p:sp>
      <p:sp>
        <p:nvSpPr>
          <p:cNvPr id="23" name="a3_tag"/>
          <p:cNvSpPr/>
          <p:nvPr/>
        </p:nvSpPr>
        <p:spPr>
          <a:xfrm>
            <a:off x="8344205" y="324612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4" name="a3_tag_t"/>
          <p:cNvSpPr txBox="1"/>
          <p:nvPr/>
        </p:nvSpPr>
        <p:spPr>
          <a:xfrm>
            <a:off x="8344205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at room temp</a:t>
            </a:r>
            <a:endParaRPr lang="en-US" sz="1200" dirty="0"/>
          </a:p>
        </p:txBody>
      </p:sp>
      <p:sp>
        <p:nvSpPr>
          <p:cNvPr id="25" name="a4_card"/>
          <p:cNvSpPr/>
          <p:nvPr/>
        </p:nvSpPr>
        <p:spPr>
          <a:xfrm>
            <a:off x="548640" y="388620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6" name="a4_ico_bg"/>
          <p:cNvSpPr/>
          <p:nvPr/>
        </p:nvSpPr>
        <p:spPr>
          <a:xfrm>
            <a:off x="777240" y="4087368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2" y="4260190"/>
            <a:ext cx="294437" cy="294437"/>
          </a:xfrm>
          <a:prstGeom prst="rect">
            <a:avLst/>
          </a:prstGeom>
        </p:spPr>
      </p:pic>
      <p:sp>
        <p:nvSpPr>
          <p:cNvPr id="28" name="a4_head"/>
          <p:cNvSpPr txBox="1"/>
          <p:nvPr/>
        </p:nvSpPr>
        <p:spPr>
          <a:xfrm>
            <a:off x="1554480" y="405079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atoms</a:t>
            </a:r>
            <a:endParaRPr lang="en-US" sz="1700" dirty="0"/>
          </a:p>
        </p:txBody>
      </p:sp>
      <p:sp>
        <p:nvSpPr>
          <p:cNvPr id="29" name="a4_body"/>
          <p:cNvSpPr txBox="1"/>
          <p:nvPr/>
        </p:nvSpPr>
        <p:spPr>
          <a:xfrm>
            <a:off x="777240" y="484632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held in arrays by laser 'tweezers'. QuEra, Pasqal.</a:t>
            </a:r>
            <a:endParaRPr lang="en-US" sz="1400" dirty="0"/>
          </a:p>
        </p:txBody>
      </p:sp>
      <p:sp>
        <p:nvSpPr>
          <p:cNvPr id="30" name="a4_tag"/>
          <p:cNvSpPr/>
          <p:nvPr/>
        </p:nvSpPr>
        <p:spPr>
          <a:xfrm>
            <a:off x="777240" y="562356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1" name="a4_tag_t"/>
          <p:cNvSpPr txBox="1"/>
          <p:nvPr/>
        </p:nvSpPr>
        <p:spPr>
          <a:xfrm>
            <a:off x="777240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</a:t>
            </a:r>
            <a:endParaRPr lang="en-US" sz="1200" dirty="0"/>
          </a:p>
        </p:txBody>
      </p:sp>
      <p:sp>
        <p:nvSpPr>
          <p:cNvPr id="32" name="a5_card"/>
          <p:cNvSpPr/>
          <p:nvPr/>
        </p:nvSpPr>
        <p:spPr>
          <a:xfrm>
            <a:off x="4332122" y="388620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3" name="a5_ico_bg"/>
          <p:cNvSpPr/>
          <p:nvPr/>
        </p:nvSpPr>
        <p:spPr>
          <a:xfrm>
            <a:off x="4560722" y="4087368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4" name="a5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544" y="4260190"/>
            <a:ext cx="294437" cy="294437"/>
          </a:xfrm>
          <a:prstGeom prst="rect">
            <a:avLst/>
          </a:prstGeom>
        </p:spPr>
      </p:pic>
      <p:sp>
        <p:nvSpPr>
          <p:cNvPr id="35" name="a5_head"/>
          <p:cNvSpPr txBox="1"/>
          <p:nvPr/>
        </p:nvSpPr>
        <p:spPr>
          <a:xfrm>
            <a:off x="5337962" y="405079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spins</a:t>
            </a:r>
            <a:endParaRPr lang="en-US" sz="1700" dirty="0"/>
          </a:p>
        </p:txBody>
      </p:sp>
      <p:sp>
        <p:nvSpPr>
          <p:cNvPr id="36" name="a5_body"/>
          <p:cNvSpPr txBox="1"/>
          <p:nvPr/>
        </p:nvSpPr>
        <p:spPr>
          <a:xfrm>
            <a:off x="4560722" y="484632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of single electrons in transistor-like devices. Intel and others.</a:t>
            </a:r>
            <a:endParaRPr lang="en-US" sz="1400" dirty="0"/>
          </a:p>
        </p:txBody>
      </p:sp>
      <p:sp>
        <p:nvSpPr>
          <p:cNvPr id="37" name="a5_tag"/>
          <p:cNvSpPr/>
          <p:nvPr/>
        </p:nvSpPr>
        <p:spPr>
          <a:xfrm>
            <a:off x="4560722" y="562356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8" name="a5_tag_t"/>
          <p:cNvSpPr txBox="1"/>
          <p:nvPr/>
        </p:nvSpPr>
        <p:spPr>
          <a:xfrm>
            <a:off x="4560722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chip factories</a:t>
            </a:r>
            <a:endParaRPr lang="en-US" sz="1200" dirty="0"/>
          </a:p>
        </p:txBody>
      </p:sp>
      <p:sp>
        <p:nvSpPr>
          <p:cNvPr id="39" name="a6_card"/>
          <p:cNvSpPr/>
          <p:nvPr/>
        </p:nvSpPr>
        <p:spPr>
          <a:xfrm>
            <a:off x="8115605" y="388620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0" name="a6_ico_bg"/>
          <p:cNvSpPr/>
          <p:nvPr/>
        </p:nvSpPr>
        <p:spPr>
          <a:xfrm>
            <a:off x="8344205" y="4087368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1" name="a6_ico_img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026" y="4260190"/>
            <a:ext cx="294437" cy="294437"/>
          </a:xfrm>
          <a:prstGeom prst="rect">
            <a:avLst/>
          </a:prstGeom>
        </p:spPr>
      </p:pic>
      <p:sp>
        <p:nvSpPr>
          <p:cNvPr id="42" name="a6_head"/>
          <p:cNvSpPr txBox="1"/>
          <p:nvPr/>
        </p:nvSpPr>
        <p:spPr>
          <a:xfrm>
            <a:off x="9121445" y="405079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</a:t>
            </a:r>
            <a:endParaRPr lang="en-US" sz="1700" dirty="0"/>
          </a:p>
        </p:txBody>
      </p:sp>
      <p:sp>
        <p:nvSpPr>
          <p:cNvPr id="43" name="a6_body"/>
          <p:cNvSpPr txBox="1"/>
          <p:nvPr/>
        </p:nvSpPr>
        <p:spPr>
          <a:xfrm>
            <a:off x="8344205" y="484632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proposed, more stable qubit. Still being demonstrated and debated.</a:t>
            </a:r>
            <a:endParaRPr lang="en-US" sz="1400" dirty="0"/>
          </a:p>
        </p:txBody>
      </p:sp>
      <p:sp>
        <p:nvSpPr>
          <p:cNvPr id="44" name="a6_tag"/>
          <p:cNvSpPr/>
          <p:nvPr/>
        </p:nvSpPr>
        <p:spPr>
          <a:xfrm>
            <a:off x="8344205" y="562356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5" name="a6_tag_t"/>
          <p:cNvSpPr txBox="1"/>
          <p:nvPr/>
        </p:nvSpPr>
        <p:spPr>
          <a:xfrm>
            <a:off x="8344205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53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6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3" dur="6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tx1"/>
                </a:solidFill>
              </a:rPr>
              <a:t>Inside a superconducting quantum computer</a:t>
            </a:r>
            <a:endParaRPr lang="en-US" sz="3400" dirty="0"/>
          </a:p>
        </p:txBody>
      </p:sp>
      <p:sp>
        <p:nvSpPr>
          <p:cNvPr id="4" name="a1_layer"/>
          <p:cNvSpPr/>
          <p:nvPr/>
        </p:nvSpPr>
        <p:spPr>
          <a:xfrm>
            <a:off x="548640" y="1554480"/>
            <a:ext cx="603504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5" name="a1_temp"/>
          <p:cNvSpPr txBox="1"/>
          <p:nvPr/>
        </p:nvSpPr>
        <p:spPr>
          <a:xfrm>
            <a:off x="777240" y="16276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20 °C</a:t>
            </a:r>
            <a:endParaRPr lang="en-US" sz="1600" dirty="0"/>
          </a:p>
        </p:txBody>
      </p:sp>
      <p:sp>
        <p:nvSpPr>
          <p:cNvPr id="6" name="a1_name"/>
          <p:cNvSpPr txBox="1"/>
          <p:nvPr/>
        </p:nvSpPr>
        <p:spPr>
          <a:xfrm>
            <a:off x="777240" y="197510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temperature: control computers and electronics</a:t>
            </a:r>
            <a:endParaRPr lang="en-US" sz="1400" dirty="0"/>
          </a:p>
        </p:txBody>
      </p:sp>
      <p:sp>
        <p:nvSpPr>
          <p:cNvPr id="7" name="a2_layer"/>
          <p:cNvSpPr/>
          <p:nvPr/>
        </p:nvSpPr>
        <p:spPr>
          <a:xfrm>
            <a:off x="822960" y="2450592"/>
            <a:ext cx="5486400" cy="804672"/>
          </a:xfrm>
          <a:prstGeom prst="roundRect">
            <a:avLst>
              <a:gd name="adj" fmla="val 11364"/>
            </a:avLst>
          </a:prstGeom>
          <a:solidFill>
            <a:schemeClr val="tx2">
              <a:alpha val="52000"/>
            </a:schemeClr>
          </a:solidFill>
          <a:ln/>
        </p:spPr>
      </p:sp>
      <p:sp>
        <p:nvSpPr>
          <p:cNvPr id="8" name="a2_temp"/>
          <p:cNvSpPr txBox="1"/>
          <p:nvPr/>
        </p:nvSpPr>
        <p:spPr>
          <a:xfrm>
            <a:off x="1051560" y="25237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−223 °C (50 K)</a:t>
            </a:r>
            <a:endParaRPr lang="en-US" sz="1600" dirty="0"/>
          </a:p>
        </p:txBody>
      </p:sp>
      <p:sp>
        <p:nvSpPr>
          <p:cNvPr id="9" name="a2_name"/>
          <p:cNvSpPr txBox="1"/>
          <p:nvPr/>
        </p:nvSpPr>
        <p:spPr>
          <a:xfrm>
            <a:off x="1051560" y="287121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cooling stage</a:t>
            </a:r>
            <a:endParaRPr lang="en-US" sz="1400" dirty="0"/>
          </a:p>
        </p:txBody>
      </p:sp>
      <p:sp>
        <p:nvSpPr>
          <p:cNvPr id="10" name="a3_layer"/>
          <p:cNvSpPr/>
          <p:nvPr/>
        </p:nvSpPr>
        <p:spPr>
          <a:xfrm>
            <a:off x="1097280" y="3346704"/>
            <a:ext cx="4937760" cy="804672"/>
          </a:xfrm>
          <a:prstGeom prst="roundRect">
            <a:avLst>
              <a:gd name="adj" fmla="val 11364"/>
            </a:avLst>
          </a:prstGeom>
          <a:solidFill>
            <a:schemeClr val="tx2">
              <a:alpha val="65000"/>
            </a:schemeClr>
          </a:solidFill>
          <a:ln/>
        </p:spPr>
      </p:sp>
      <p:sp>
        <p:nvSpPr>
          <p:cNvPr id="11" name="a3_temp"/>
          <p:cNvSpPr txBox="1"/>
          <p:nvPr/>
        </p:nvSpPr>
        <p:spPr>
          <a:xfrm>
            <a:off x="1325880" y="341985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−269 °C (4 K)</a:t>
            </a:r>
            <a:endParaRPr lang="en-US" sz="1600" dirty="0"/>
          </a:p>
        </p:txBody>
      </p:sp>
      <p:sp>
        <p:nvSpPr>
          <p:cNvPr id="12" name="a3_name"/>
          <p:cNvSpPr txBox="1"/>
          <p:nvPr/>
        </p:nvSpPr>
        <p:spPr>
          <a:xfrm>
            <a:off x="1325880" y="37673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Amplifiers and wiring</a:t>
            </a:r>
            <a:endParaRPr lang="en-US" sz="1400" dirty="0"/>
          </a:p>
        </p:txBody>
      </p:sp>
      <p:sp>
        <p:nvSpPr>
          <p:cNvPr id="13" name="a4_layer"/>
          <p:cNvSpPr/>
          <p:nvPr/>
        </p:nvSpPr>
        <p:spPr>
          <a:xfrm>
            <a:off x="1371600" y="4242816"/>
            <a:ext cx="4389120" cy="804672"/>
          </a:xfrm>
          <a:prstGeom prst="roundRect">
            <a:avLst>
              <a:gd name="adj" fmla="val 11364"/>
            </a:avLst>
          </a:prstGeom>
          <a:solidFill>
            <a:schemeClr val="tx2">
              <a:alpha val="77000"/>
            </a:schemeClr>
          </a:solidFill>
          <a:ln/>
        </p:spPr>
      </p:sp>
      <p:sp>
        <p:nvSpPr>
          <p:cNvPr id="14" name="a4_temp"/>
          <p:cNvSpPr txBox="1"/>
          <p:nvPr/>
        </p:nvSpPr>
        <p:spPr>
          <a:xfrm>
            <a:off x="1600200" y="4315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−273.05 °C (0.1 K)</a:t>
            </a:r>
            <a:endParaRPr lang="en-US" sz="1600" dirty="0"/>
          </a:p>
        </p:txBody>
      </p:sp>
      <p:sp>
        <p:nvSpPr>
          <p:cNvPr id="15" name="a4_name"/>
          <p:cNvSpPr txBox="1"/>
          <p:nvPr/>
        </p:nvSpPr>
        <p:spPr>
          <a:xfrm>
            <a:off x="1600200" y="46634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plate</a:t>
            </a:r>
            <a:endParaRPr lang="en-US" sz="1400" dirty="0"/>
          </a:p>
        </p:txBody>
      </p:sp>
      <p:sp>
        <p:nvSpPr>
          <p:cNvPr id="16" name="a5_layer"/>
          <p:cNvSpPr/>
          <p:nvPr/>
        </p:nvSpPr>
        <p:spPr>
          <a:xfrm>
            <a:off x="1645920" y="5138928"/>
            <a:ext cx="3840480" cy="804672"/>
          </a:xfrm>
          <a:prstGeom prst="roundRect">
            <a:avLst>
              <a:gd name="adj" fmla="val 11364"/>
            </a:avLst>
          </a:prstGeom>
          <a:solidFill>
            <a:schemeClr val="accent1"/>
          </a:solidFill>
          <a:ln/>
        </p:spPr>
      </p:sp>
      <p:sp>
        <p:nvSpPr>
          <p:cNvPr id="17" name="a5_temp"/>
          <p:cNvSpPr txBox="1"/>
          <p:nvPr/>
        </p:nvSpPr>
        <p:spPr>
          <a:xfrm>
            <a:off x="1874520" y="52120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−273.14 °C (15 mK)</a:t>
            </a:r>
            <a:endParaRPr lang="en-US" sz="1600" dirty="0"/>
          </a:p>
        </p:txBody>
      </p:sp>
      <p:sp>
        <p:nvSpPr>
          <p:cNvPr id="18" name="a5_name"/>
          <p:cNvSpPr txBox="1"/>
          <p:nvPr/>
        </p:nvSpPr>
        <p:spPr>
          <a:xfrm>
            <a:off x="1874520" y="55595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chip (qubits)</a:t>
            </a:r>
            <a:endParaRPr lang="en-US" sz="1400" dirty="0"/>
          </a:p>
        </p:txBody>
      </p:sp>
      <p:sp>
        <p:nvSpPr>
          <p:cNvPr id="19" name="a6_pc"/>
          <p:cNvSpPr/>
          <p:nvPr/>
        </p:nvSpPr>
        <p:spPr>
          <a:xfrm>
            <a:off x="6858000" y="1600200"/>
            <a:ext cx="4782312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20" name="a6_ico_bg"/>
          <p:cNvSpPr/>
          <p:nvPr/>
        </p:nvSpPr>
        <p:spPr>
          <a:xfrm>
            <a:off x="708660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a6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4110" y="2117750"/>
            <a:ext cx="336499" cy="336499"/>
          </a:xfrm>
          <a:prstGeom prst="rect">
            <a:avLst/>
          </a:prstGeom>
        </p:spPr>
      </p:pic>
      <p:sp>
        <p:nvSpPr>
          <p:cNvPr id="22" name="a6_pt"/>
          <p:cNvSpPr txBox="1"/>
          <p:nvPr/>
        </p:nvSpPr>
        <p:spPr>
          <a:xfrm>
            <a:off x="8046720" y="1673352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Colder than outer space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space is about 2.7 K. The chip sits near 0.015 K.</a:t>
            </a:r>
            <a:endParaRPr lang="en-US" sz="1800" dirty="0"/>
          </a:p>
        </p:txBody>
      </p:sp>
      <p:sp>
        <p:nvSpPr>
          <p:cNvPr id="23" name="a7_pc"/>
          <p:cNvSpPr/>
          <p:nvPr/>
        </p:nvSpPr>
        <p:spPr>
          <a:xfrm>
            <a:off x="6858000" y="3108960"/>
            <a:ext cx="4782312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24" name="a7_ico_bg"/>
          <p:cNvSpPr/>
          <p:nvPr/>
        </p:nvSpPr>
        <p:spPr>
          <a:xfrm>
            <a:off x="7086600" y="34290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a7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110" y="3626510"/>
            <a:ext cx="336499" cy="336499"/>
          </a:xfrm>
          <a:prstGeom prst="rect">
            <a:avLst/>
          </a:prstGeom>
        </p:spPr>
      </p:pic>
      <p:sp>
        <p:nvSpPr>
          <p:cNvPr id="26" name="a7_pt"/>
          <p:cNvSpPr txBox="1"/>
          <p:nvPr/>
        </p:nvSpPr>
        <p:spPr>
          <a:xfrm>
            <a:off x="8046720" y="3182112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 cold?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makes atoms jiggle and destroys fragile quantum states.</a:t>
            </a:r>
            <a:endParaRPr lang="en-US" sz="1800" dirty="0"/>
          </a:p>
        </p:txBody>
      </p:sp>
      <p:sp>
        <p:nvSpPr>
          <p:cNvPr id="27" name="a8_pc"/>
          <p:cNvSpPr/>
          <p:nvPr/>
        </p:nvSpPr>
        <p:spPr>
          <a:xfrm>
            <a:off x="6858000" y="4617720"/>
            <a:ext cx="4782312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28" name="a8_ico_bg"/>
          <p:cNvSpPr/>
          <p:nvPr/>
        </p:nvSpPr>
        <p:spPr>
          <a:xfrm>
            <a:off x="7086600" y="49377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9" name="a8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110" y="5135270"/>
            <a:ext cx="336499" cy="336499"/>
          </a:xfrm>
          <a:prstGeom prst="rect">
            <a:avLst/>
          </a:prstGeom>
        </p:spPr>
      </p:pic>
      <p:sp>
        <p:nvSpPr>
          <p:cNvPr id="30" name="a8_pt"/>
          <p:cNvSpPr txBox="1"/>
          <p:nvPr/>
        </p:nvSpPr>
        <p:spPr>
          <a:xfrm>
            <a:off x="8046720" y="4690872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fridge, not a PC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machine is a dilution refrigerator, cables and control electronics.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53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53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53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tx1"/>
                </a:solidFill>
              </a:rPr>
              <a:t>Challenges today</a:t>
            </a:r>
            <a:endParaRPr lang="en-US" sz="3400" dirty="0"/>
          </a:p>
        </p:txBody>
      </p:sp>
      <p:sp>
        <p:nvSpPr>
          <p:cNvPr id="4" name="a1_card"/>
          <p:cNvSpPr/>
          <p:nvPr/>
        </p:nvSpPr>
        <p:spPr>
          <a:xfrm>
            <a:off x="548640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096719"/>
            <a:ext cx="378562" cy="378562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868680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2200" dirty="0"/>
          </a:p>
        </p:txBody>
      </p:sp>
      <p:sp>
        <p:nvSpPr>
          <p:cNvPr id="8" name="a1_body"/>
          <p:cNvSpPr txBox="1"/>
          <p:nvPr/>
        </p:nvSpPr>
        <p:spPr>
          <a:xfrm>
            <a:off x="868680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lose their quantum state in tiny fractions of a second (decoherence).</a:t>
            </a:r>
            <a:endParaRPr lang="en-US" sz="1600" dirty="0"/>
          </a:p>
        </p:txBody>
      </p:sp>
      <p:sp>
        <p:nvSpPr>
          <p:cNvPr id="9" name="a2_card"/>
          <p:cNvSpPr/>
          <p:nvPr/>
        </p:nvSpPr>
        <p:spPr>
          <a:xfrm>
            <a:off x="4338218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0" name="a2_ico_bg"/>
          <p:cNvSpPr/>
          <p:nvPr/>
        </p:nvSpPr>
        <p:spPr>
          <a:xfrm>
            <a:off x="4658258" y="18745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58" y="2096719"/>
            <a:ext cx="378562" cy="378562"/>
          </a:xfrm>
          <a:prstGeom prst="rect">
            <a:avLst/>
          </a:prstGeom>
        </p:spPr>
      </p:pic>
      <p:sp>
        <p:nvSpPr>
          <p:cNvPr id="12" name="a2_head"/>
          <p:cNvSpPr txBox="1"/>
          <p:nvPr/>
        </p:nvSpPr>
        <p:spPr>
          <a:xfrm>
            <a:off x="4658258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2200" dirty="0"/>
          </a:p>
        </p:txBody>
      </p:sp>
      <p:sp>
        <p:nvSpPr>
          <p:cNvPr id="13" name="a2_body"/>
          <p:cNvSpPr txBox="1"/>
          <p:nvPr/>
        </p:nvSpPr>
        <p:spPr>
          <a:xfrm>
            <a:off x="4658258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error correction needs many physical qubits to make one reliable 'logical' qubit.</a:t>
            </a:r>
            <a:endParaRPr lang="en-US" sz="1600" dirty="0"/>
          </a:p>
        </p:txBody>
      </p:sp>
      <p:sp>
        <p:nvSpPr>
          <p:cNvPr id="14" name="a3_card"/>
          <p:cNvSpPr/>
          <p:nvPr/>
        </p:nvSpPr>
        <p:spPr>
          <a:xfrm>
            <a:off x="8127797" y="1600200"/>
            <a:ext cx="3515258" cy="352044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5" name="a3_ico_bg"/>
          <p:cNvSpPr/>
          <p:nvPr/>
        </p:nvSpPr>
        <p:spPr>
          <a:xfrm>
            <a:off x="8447837" y="18745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036" y="2096719"/>
            <a:ext cx="378562" cy="378562"/>
          </a:xfrm>
          <a:prstGeom prst="rect">
            <a:avLst/>
          </a:prstGeom>
        </p:spPr>
      </p:pic>
      <p:sp>
        <p:nvSpPr>
          <p:cNvPr id="17" name="a3_head"/>
          <p:cNvSpPr txBox="1"/>
          <p:nvPr/>
        </p:nvSpPr>
        <p:spPr>
          <a:xfrm>
            <a:off x="8447837" y="278892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2200" dirty="0"/>
          </a:p>
        </p:txBody>
      </p:sp>
      <p:sp>
        <p:nvSpPr>
          <p:cNvPr id="18" name="a3_body"/>
          <p:cNvSpPr txBox="1"/>
          <p:nvPr/>
        </p:nvSpPr>
        <p:spPr>
          <a:xfrm>
            <a:off x="8447837" y="365760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machines have about 100 to 1,000+ physical qubits. Many useful tasks may need millions.</a:t>
            </a:r>
            <a:endParaRPr lang="en-US" sz="1600" dirty="0"/>
          </a:p>
        </p:txBody>
      </p:sp>
      <p:sp>
        <p:nvSpPr>
          <p:cNvPr id="19" name="a4_note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6842"/>
            </a:avLst>
          </a:prstGeom>
          <a:solidFill>
            <a:schemeClr val="tx2"/>
          </a:solidFill>
          <a:ln/>
        </p:spPr>
      </p:sp>
      <p:pic>
        <p:nvPicPr>
          <p:cNvPr id="20" name="a4_note_ic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550408"/>
            <a:ext cx="365760" cy="365760"/>
          </a:xfrm>
          <a:prstGeom prst="rect">
            <a:avLst/>
          </a:prstGeom>
        </p:spPr>
      </p:pic>
      <p:sp>
        <p:nvSpPr>
          <p:cNvPr id="21" name="a4_note_t"/>
          <p:cNvSpPr txBox="1"/>
          <p:nvPr/>
        </p:nvSpPr>
        <p:spPr>
          <a:xfrm>
            <a:off x="1463040" y="5303520"/>
            <a:ext cx="9814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in the 'NISQ' era: Noisy, Intermediate-Scale Quantum. Progress is real and fast, but large fault-tolerant machines are still being built.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5_halo"/>
          <p:cNvSpPr/>
          <p:nvPr/>
        </p:nvSpPr>
        <p:spPr>
          <a:xfrm>
            <a:off x="-1371600" y="3931920"/>
            <a:ext cx="4754880" cy="475488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4" name="a5_halo2"/>
          <p:cNvSpPr/>
          <p:nvPr/>
        </p:nvSpPr>
        <p:spPr>
          <a:xfrm>
            <a:off x="9692640" y="-1371600"/>
            <a:ext cx="3657600" cy="365760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5" name="a1_num"/>
          <p:cNvSpPr txBox="1"/>
          <p:nvPr/>
        </p:nvSpPr>
        <p:spPr>
          <a:xfrm>
            <a:off x="640080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4400" b="1" dirty="0">
                <a:solidFill>
                  <a:schemeClr val="bg1"/>
                </a:solidFill>
              </a:rPr>
              <a:t>Applications &amp; benefits</a:t>
            </a:r>
            <a:endParaRPr lang="en-US" sz="44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3931920" y="3611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chemeClr val="bg2"/>
                </a:solidFill>
              </a:rPr>
              <a:t>What could we do with it?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tx1"/>
                </a:solidFill>
              </a:rPr>
              <a:t>Where could it help?</a:t>
            </a:r>
            <a:endParaRPr lang="en-US" sz="3400" dirty="0"/>
          </a:p>
        </p:txBody>
      </p:sp>
      <p:sp>
        <p:nvSpPr>
          <p:cNvPr id="4" name="a1_card"/>
          <p:cNvSpPr/>
          <p:nvPr/>
        </p:nvSpPr>
        <p:spPr>
          <a:xfrm>
            <a:off x="548640" y="150876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777240" y="17099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1882750"/>
            <a:ext cx="294437" cy="294437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1554480" y="167335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700" dirty="0"/>
          </a:p>
        </p:txBody>
      </p:sp>
      <p:sp>
        <p:nvSpPr>
          <p:cNvPr id="8" name="a1_body"/>
          <p:cNvSpPr txBox="1"/>
          <p:nvPr/>
        </p:nvSpPr>
        <p:spPr>
          <a:xfrm>
            <a:off x="777240" y="246888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molecules exactly to design new drugs and understand disease.</a:t>
            </a:r>
            <a:endParaRPr lang="en-US" sz="1400" dirty="0"/>
          </a:p>
        </p:txBody>
      </p:sp>
      <p:sp>
        <p:nvSpPr>
          <p:cNvPr id="9" name="a1_tag"/>
          <p:cNvSpPr/>
          <p:nvPr/>
        </p:nvSpPr>
        <p:spPr>
          <a:xfrm>
            <a:off x="777240" y="324612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a1_tag_t"/>
          <p:cNvSpPr txBox="1"/>
          <p:nvPr/>
        </p:nvSpPr>
        <p:spPr>
          <a:xfrm>
            <a:off x="777240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Promising</a:t>
            </a:r>
            <a:endParaRPr lang="en-US" sz="1200" dirty="0"/>
          </a:p>
        </p:txBody>
      </p:sp>
      <p:sp>
        <p:nvSpPr>
          <p:cNvPr id="11" name="a2_card"/>
          <p:cNvSpPr/>
          <p:nvPr/>
        </p:nvSpPr>
        <p:spPr>
          <a:xfrm>
            <a:off x="4332122" y="150876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2" name="a2_ico_bg"/>
          <p:cNvSpPr/>
          <p:nvPr/>
        </p:nvSpPr>
        <p:spPr>
          <a:xfrm>
            <a:off x="4560722" y="1709928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544" y="1882750"/>
            <a:ext cx="294437" cy="294437"/>
          </a:xfrm>
          <a:prstGeom prst="rect">
            <a:avLst/>
          </a:prstGeom>
        </p:spPr>
      </p:pic>
      <p:sp>
        <p:nvSpPr>
          <p:cNvPr id="14" name="a2_head"/>
          <p:cNvSpPr txBox="1"/>
          <p:nvPr/>
        </p:nvSpPr>
        <p:spPr>
          <a:xfrm>
            <a:off x="5337962" y="167335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energy</a:t>
            </a:r>
            <a:endParaRPr lang="en-US" sz="1700" dirty="0"/>
          </a:p>
        </p:txBody>
      </p:sp>
      <p:sp>
        <p:nvSpPr>
          <p:cNvPr id="15" name="a2_body"/>
          <p:cNvSpPr txBox="1"/>
          <p:nvPr/>
        </p:nvSpPr>
        <p:spPr>
          <a:xfrm>
            <a:off x="4560722" y="246888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batteries, solar materials and catalysts, e.g. fertiliser with less energy.</a:t>
            </a:r>
            <a:endParaRPr lang="en-US" sz="1400" dirty="0"/>
          </a:p>
        </p:txBody>
      </p:sp>
      <p:sp>
        <p:nvSpPr>
          <p:cNvPr id="16" name="a2_tag"/>
          <p:cNvSpPr/>
          <p:nvPr/>
        </p:nvSpPr>
        <p:spPr>
          <a:xfrm>
            <a:off x="4560722" y="324612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7" name="a2_tag_t"/>
          <p:cNvSpPr txBox="1"/>
          <p:nvPr/>
        </p:nvSpPr>
        <p:spPr>
          <a:xfrm>
            <a:off x="4560722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Promising</a:t>
            </a:r>
            <a:endParaRPr lang="en-US" sz="1200" dirty="0"/>
          </a:p>
        </p:txBody>
      </p:sp>
      <p:sp>
        <p:nvSpPr>
          <p:cNvPr id="18" name="a3_card"/>
          <p:cNvSpPr/>
          <p:nvPr/>
        </p:nvSpPr>
        <p:spPr>
          <a:xfrm>
            <a:off x="8115605" y="150876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9" name="a3_ico_bg"/>
          <p:cNvSpPr/>
          <p:nvPr/>
        </p:nvSpPr>
        <p:spPr>
          <a:xfrm>
            <a:off x="8344205" y="1709928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026" y="1882750"/>
            <a:ext cx="294437" cy="294437"/>
          </a:xfrm>
          <a:prstGeom prst="rect">
            <a:avLst/>
          </a:prstGeom>
        </p:spPr>
      </p:pic>
      <p:sp>
        <p:nvSpPr>
          <p:cNvPr id="21" name="a3_head"/>
          <p:cNvSpPr txBox="1"/>
          <p:nvPr/>
        </p:nvSpPr>
        <p:spPr>
          <a:xfrm>
            <a:off x="9121445" y="167335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700" dirty="0"/>
          </a:p>
        </p:txBody>
      </p:sp>
      <p:sp>
        <p:nvSpPr>
          <p:cNvPr id="22" name="a3_body"/>
          <p:cNvSpPr txBox="1"/>
          <p:nvPr/>
        </p:nvSpPr>
        <p:spPr>
          <a:xfrm>
            <a:off x="8344205" y="246888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break today's encryption, and enables new, safer methods.</a:t>
            </a:r>
            <a:endParaRPr lang="en-US" sz="1400" dirty="0"/>
          </a:p>
        </p:txBody>
      </p:sp>
      <p:sp>
        <p:nvSpPr>
          <p:cNvPr id="23" name="a3_tag"/>
          <p:cNvSpPr/>
          <p:nvPr/>
        </p:nvSpPr>
        <p:spPr>
          <a:xfrm>
            <a:off x="8344205" y="324612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4" name="a3_tag_t"/>
          <p:cNvSpPr txBox="1"/>
          <p:nvPr/>
        </p:nvSpPr>
        <p:spPr>
          <a:xfrm>
            <a:off x="8344205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risk</a:t>
            </a:r>
            <a:endParaRPr lang="en-US" sz="1200" dirty="0"/>
          </a:p>
        </p:txBody>
      </p:sp>
      <p:sp>
        <p:nvSpPr>
          <p:cNvPr id="25" name="a4_card"/>
          <p:cNvSpPr/>
          <p:nvPr/>
        </p:nvSpPr>
        <p:spPr>
          <a:xfrm>
            <a:off x="548640" y="388620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6" name="a4_ico_bg"/>
          <p:cNvSpPr/>
          <p:nvPr/>
        </p:nvSpPr>
        <p:spPr>
          <a:xfrm>
            <a:off x="777240" y="4087368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2" y="4260190"/>
            <a:ext cx="294437" cy="294437"/>
          </a:xfrm>
          <a:prstGeom prst="rect">
            <a:avLst/>
          </a:prstGeom>
        </p:spPr>
      </p:pic>
      <p:sp>
        <p:nvSpPr>
          <p:cNvPr id="28" name="a4_head"/>
          <p:cNvSpPr txBox="1"/>
          <p:nvPr/>
        </p:nvSpPr>
        <p:spPr>
          <a:xfrm>
            <a:off x="1554480" y="405079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700" dirty="0"/>
          </a:p>
        </p:txBody>
      </p:sp>
      <p:sp>
        <p:nvSpPr>
          <p:cNvPr id="29" name="a4_body"/>
          <p:cNvSpPr txBox="1"/>
          <p:nvPr/>
        </p:nvSpPr>
        <p:spPr>
          <a:xfrm>
            <a:off x="777240" y="484632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timetables, supply chains and finance: the best option among huge numbers.</a:t>
            </a:r>
            <a:endParaRPr lang="en-US" sz="1400" dirty="0"/>
          </a:p>
        </p:txBody>
      </p:sp>
      <p:sp>
        <p:nvSpPr>
          <p:cNvPr id="30" name="a4_tag"/>
          <p:cNvSpPr/>
          <p:nvPr/>
        </p:nvSpPr>
        <p:spPr>
          <a:xfrm>
            <a:off x="777240" y="562356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1" name="a4_tag_t"/>
          <p:cNvSpPr txBox="1"/>
          <p:nvPr/>
        </p:nvSpPr>
        <p:spPr>
          <a:xfrm>
            <a:off x="777240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tested</a:t>
            </a:r>
            <a:endParaRPr lang="en-US" sz="1200" dirty="0"/>
          </a:p>
        </p:txBody>
      </p:sp>
      <p:sp>
        <p:nvSpPr>
          <p:cNvPr id="32" name="a5_card"/>
          <p:cNvSpPr/>
          <p:nvPr/>
        </p:nvSpPr>
        <p:spPr>
          <a:xfrm>
            <a:off x="4332122" y="388620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3" name="a5_ico_bg"/>
          <p:cNvSpPr/>
          <p:nvPr/>
        </p:nvSpPr>
        <p:spPr>
          <a:xfrm>
            <a:off x="4560722" y="4087368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4" name="a5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544" y="4260190"/>
            <a:ext cx="294437" cy="294437"/>
          </a:xfrm>
          <a:prstGeom prst="rect">
            <a:avLst/>
          </a:prstGeom>
        </p:spPr>
      </p:pic>
      <p:sp>
        <p:nvSpPr>
          <p:cNvPr id="35" name="a5_head"/>
          <p:cNvSpPr txBox="1"/>
          <p:nvPr/>
        </p:nvSpPr>
        <p:spPr>
          <a:xfrm>
            <a:off x="5337962" y="405079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700" dirty="0"/>
          </a:p>
        </p:txBody>
      </p:sp>
      <p:sp>
        <p:nvSpPr>
          <p:cNvPr id="36" name="a5_body"/>
          <p:cNvSpPr txBox="1"/>
          <p:nvPr/>
        </p:nvSpPr>
        <p:spPr>
          <a:xfrm>
            <a:off x="4560722" y="484632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help with some learning tasks. Benefits are not yet proven.</a:t>
            </a:r>
            <a:endParaRPr lang="en-US" sz="1400" dirty="0"/>
          </a:p>
        </p:txBody>
      </p:sp>
      <p:sp>
        <p:nvSpPr>
          <p:cNvPr id="37" name="a5_tag"/>
          <p:cNvSpPr/>
          <p:nvPr/>
        </p:nvSpPr>
        <p:spPr>
          <a:xfrm>
            <a:off x="4560722" y="562356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8" name="a5_tag_t"/>
          <p:cNvSpPr txBox="1"/>
          <p:nvPr/>
        </p:nvSpPr>
        <p:spPr>
          <a:xfrm>
            <a:off x="4560722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research</a:t>
            </a:r>
            <a:endParaRPr lang="en-US" sz="1200" dirty="0"/>
          </a:p>
        </p:txBody>
      </p:sp>
      <p:sp>
        <p:nvSpPr>
          <p:cNvPr id="39" name="a6_card"/>
          <p:cNvSpPr/>
          <p:nvPr/>
        </p:nvSpPr>
        <p:spPr>
          <a:xfrm>
            <a:off x="8115605" y="3886200"/>
            <a:ext cx="3527450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0" name="a6_ico_bg"/>
          <p:cNvSpPr/>
          <p:nvPr/>
        </p:nvSpPr>
        <p:spPr>
          <a:xfrm>
            <a:off x="8344205" y="4087368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1" name="a6_ico_img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026" y="4260190"/>
            <a:ext cx="294437" cy="294437"/>
          </a:xfrm>
          <a:prstGeom prst="rect">
            <a:avLst/>
          </a:prstGeom>
        </p:spPr>
      </p:pic>
      <p:sp>
        <p:nvSpPr>
          <p:cNvPr id="42" name="a6_head"/>
          <p:cNvSpPr txBox="1"/>
          <p:nvPr/>
        </p:nvSpPr>
        <p:spPr>
          <a:xfrm>
            <a:off x="9121445" y="4050792"/>
            <a:ext cx="233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1700" dirty="0"/>
          </a:p>
        </p:txBody>
      </p:sp>
      <p:sp>
        <p:nvSpPr>
          <p:cNvPr id="43" name="a6_body"/>
          <p:cNvSpPr txBox="1"/>
          <p:nvPr/>
        </p:nvSpPr>
        <p:spPr>
          <a:xfrm>
            <a:off x="8344205" y="4846320"/>
            <a:ext cx="307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particles and quantum systems that normal computers cannot.</a:t>
            </a:r>
            <a:endParaRPr lang="en-US" sz="1400" dirty="0"/>
          </a:p>
        </p:txBody>
      </p:sp>
      <p:sp>
        <p:nvSpPr>
          <p:cNvPr id="44" name="a6_tag"/>
          <p:cNvSpPr/>
          <p:nvPr/>
        </p:nvSpPr>
        <p:spPr>
          <a:xfrm>
            <a:off x="8344205" y="5623560"/>
            <a:ext cx="246888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5" name="a6_tag_t"/>
          <p:cNvSpPr txBox="1"/>
          <p:nvPr/>
        </p:nvSpPr>
        <p:spPr>
          <a:xfrm>
            <a:off x="8344205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53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6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3" dur="6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tx1"/>
                </a:solidFill>
              </a:rPr>
              <a:t>Benefits of quantum computing</a:t>
            </a:r>
            <a:endParaRPr lang="en-US" sz="3400" dirty="0"/>
          </a:p>
        </p:txBody>
      </p:sp>
      <p:sp>
        <p:nvSpPr>
          <p:cNvPr id="4" name="a1_card"/>
          <p:cNvSpPr/>
          <p:nvPr/>
        </p:nvSpPr>
        <p:spPr>
          <a:xfrm>
            <a:off x="548640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096719"/>
            <a:ext cx="378562" cy="378562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868680" y="2788920"/>
            <a:ext cx="1962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speed-ups</a:t>
            </a:r>
            <a:endParaRPr lang="en-US" sz="1900" dirty="0"/>
          </a:p>
        </p:txBody>
      </p:sp>
      <p:sp>
        <p:nvSpPr>
          <p:cNvPr id="8" name="a1_body"/>
          <p:cNvSpPr txBox="1"/>
          <p:nvPr/>
        </p:nvSpPr>
        <p:spPr>
          <a:xfrm>
            <a:off x="868680" y="3657600"/>
            <a:ext cx="1962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some problems, far fewer steps: factoring (exponential gain) or search (square-root gain).</a:t>
            </a:r>
            <a:endParaRPr lang="en-US" sz="1600" dirty="0"/>
          </a:p>
        </p:txBody>
      </p:sp>
      <p:sp>
        <p:nvSpPr>
          <p:cNvPr id="9" name="a2_card"/>
          <p:cNvSpPr/>
          <p:nvPr/>
        </p:nvSpPr>
        <p:spPr>
          <a:xfrm>
            <a:off x="3379394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10" name="a2_ico_bg"/>
          <p:cNvSpPr/>
          <p:nvPr/>
        </p:nvSpPr>
        <p:spPr>
          <a:xfrm>
            <a:off x="3699434" y="18745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633" y="2096719"/>
            <a:ext cx="378562" cy="378562"/>
          </a:xfrm>
          <a:prstGeom prst="rect">
            <a:avLst/>
          </a:prstGeom>
        </p:spPr>
      </p:pic>
      <p:sp>
        <p:nvSpPr>
          <p:cNvPr id="12" name="a2_head"/>
          <p:cNvSpPr txBox="1"/>
          <p:nvPr/>
        </p:nvSpPr>
        <p:spPr>
          <a:xfrm>
            <a:off x="3699434" y="2788920"/>
            <a:ext cx="1962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nature</a:t>
            </a:r>
            <a:endParaRPr lang="en-US" sz="1900" dirty="0"/>
          </a:p>
        </p:txBody>
      </p:sp>
      <p:sp>
        <p:nvSpPr>
          <p:cNvPr id="13" name="a2_body"/>
          <p:cNvSpPr txBox="1"/>
          <p:nvPr/>
        </p:nvSpPr>
        <p:spPr>
          <a:xfrm>
            <a:off x="3699434" y="3657600"/>
            <a:ext cx="1962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systems are simulated by quantum systems: molecules and materials as they really behave.</a:t>
            </a:r>
            <a:endParaRPr lang="en-US" sz="1600" dirty="0"/>
          </a:p>
        </p:txBody>
      </p:sp>
      <p:sp>
        <p:nvSpPr>
          <p:cNvPr id="14" name="a3_card"/>
          <p:cNvSpPr/>
          <p:nvPr/>
        </p:nvSpPr>
        <p:spPr>
          <a:xfrm>
            <a:off x="6210148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15" name="a3_ico_bg"/>
          <p:cNvSpPr/>
          <p:nvPr/>
        </p:nvSpPr>
        <p:spPr>
          <a:xfrm>
            <a:off x="6530188" y="18745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387" y="2096719"/>
            <a:ext cx="378562" cy="378562"/>
          </a:xfrm>
          <a:prstGeom prst="rect">
            <a:avLst/>
          </a:prstGeom>
        </p:spPr>
      </p:pic>
      <p:sp>
        <p:nvSpPr>
          <p:cNvPr id="17" name="a3_head"/>
          <p:cNvSpPr txBox="1"/>
          <p:nvPr/>
        </p:nvSpPr>
        <p:spPr>
          <a:xfrm>
            <a:off x="6530188" y="2788920"/>
            <a:ext cx="1962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optimisation</a:t>
            </a:r>
            <a:endParaRPr lang="en-US" sz="1900" dirty="0"/>
          </a:p>
        </p:txBody>
      </p:sp>
      <p:sp>
        <p:nvSpPr>
          <p:cNvPr id="18" name="a3_body"/>
          <p:cNvSpPr txBox="1"/>
          <p:nvPr/>
        </p:nvSpPr>
        <p:spPr>
          <a:xfrm>
            <a:off x="6530188" y="3657600"/>
            <a:ext cx="1962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solutions in giant search spaces, such as logistics and scheduling.</a:t>
            </a:r>
            <a:endParaRPr lang="en-US" sz="1600" dirty="0"/>
          </a:p>
        </p:txBody>
      </p:sp>
      <p:sp>
        <p:nvSpPr>
          <p:cNvPr id="19" name="a4_card"/>
          <p:cNvSpPr/>
          <p:nvPr/>
        </p:nvSpPr>
        <p:spPr>
          <a:xfrm>
            <a:off x="9040901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20" name="a4_ico_bg"/>
          <p:cNvSpPr/>
          <p:nvPr/>
        </p:nvSpPr>
        <p:spPr>
          <a:xfrm>
            <a:off x="9360941" y="187452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141" y="2096719"/>
            <a:ext cx="378562" cy="378562"/>
          </a:xfrm>
          <a:prstGeom prst="rect">
            <a:avLst/>
          </a:prstGeom>
        </p:spPr>
      </p:pic>
      <p:sp>
        <p:nvSpPr>
          <p:cNvPr id="22" name="a4_head"/>
          <p:cNvSpPr txBox="1"/>
          <p:nvPr/>
        </p:nvSpPr>
        <p:spPr>
          <a:xfrm>
            <a:off x="9360941" y="2788920"/>
            <a:ext cx="1962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energy savings</a:t>
            </a:r>
            <a:endParaRPr lang="en-US" sz="1900" dirty="0"/>
          </a:p>
        </p:txBody>
      </p:sp>
      <p:sp>
        <p:nvSpPr>
          <p:cNvPr id="23" name="a4_body"/>
          <p:cNvSpPr txBox="1"/>
          <p:nvPr/>
        </p:nvSpPr>
        <p:spPr>
          <a:xfrm>
            <a:off x="9360941" y="3657600"/>
            <a:ext cx="1962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some tasks, less energy than huge supercomputers. Still under research.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tx1"/>
                </a:solidFill>
              </a:rPr>
              <a:t>Quantum and security</a:t>
            </a:r>
            <a:endParaRPr lang="en-US" sz="3400" dirty="0"/>
          </a:p>
        </p:txBody>
      </p:sp>
      <p:sp>
        <p:nvSpPr>
          <p:cNvPr id="4" name="a1_card"/>
          <p:cNvSpPr/>
          <p:nvPr/>
        </p:nvSpPr>
        <p:spPr>
          <a:xfrm>
            <a:off x="548640" y="1600200"/>
            <a:ext cx="3210458" cy="3291840"/>
          </a:xfrm>
          <a:prstGeom prst="roundRect">
            <a:avLst>
              <a:gd name="adj" fmla="val 5127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1696669" y="18288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557" y="2075688"/>
            <a:ext cx="420624" cy="420624"/>
          </a:xfrm>
          <a:prstGeom prst="rect">
            <a:avLst/>
          </a:prstGeom>
        </p:spPr>
      </p:pic>
      <p:sp>
        <p:nvSpPr>
          <p:cNvPr id="7" name="a1_label"/>
          <p:cNvSpPr txBox="1"/>
          <p:nvPr/>
        </p:nvSpPr>
        <p:spPr>
          <a:xfrm>
            <a:off x="777240" y="29260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2100" dirty="0"/>
          </a:p>
        </p:txBody>
      </p:sp>
      <p:sp>
        <p:nvSpPr>
          <p:cNvPr id="8" name="a1_text"/>
          <p:cNvSpPr txBox="1"/>
          <p:nvPr/>
        </p:nvSpPr>
        <p:spPr>
          <a:xfrm>
            <a:off x="777240" y="3474720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and elliptic-curve encryption protect banking, messages and websites.</a:t>
            </a:r>
            <a:endParaRPr lang="en-US" sz="1500" dirty="0"/>
          </a:p>
        </p:txBody>
      </p:sp>
      <p:pic>
        <p:nvPicPr>
          <p:cNvPr id="9" name="a1_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978" y="3063240"/>
            <a:ext cx="365760" cy="365760"/>
          </a:xfrm>
          <a:prstGeom prst="rect">
            <a:avLst/>
          </a:prstGeom>
        </p:spPr>
      </p:pic>
      <p:sp>
        <p:nvSpPr>
          <p:cNvPr id="10" name="a2_card"/>
          <p:cNvSpPr/>
          <p:nvPr/>
        </p:nvSpPr>
        <p:spPr>
          <a:xfrm>
            <a:off x="4490618" y="1600200"/>
            <a:ext cx="3210458" cy="3291840"/>
          </a:xfrm>
          <a:prstGeom prst="roundRect">
            <a:avLst>
              <a:gd name="adj" fmla="val 5127"/>
            </a:avLst>
          </a:prstGeom>
          <a:solidFill>
            <a:schemeClr val="tx2"/>
          </a:solidFill>
          <a:ln/>
        </p:spPr>
      </p:sp>
      <p:sp>
        <p:nvSpPr>
          <p:cNvPr id="11" name="a2_ico_bg"/>
          <p:cNvSpPr/>
          <p:nvPr/>
        </p:nvSpPr>
        <p:spPr>
          <a:xfrm>
            <a:off x="5638648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a2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536" y="2075688"/>
            <a:ext cx="420624" cy="420624"/>
          </a:xfrm>
          <a:prstGeom prst="rect">
            <a:avLst/>
          </a:prstGeom>
        </p:spPr>
      </p:pic>
      <p:sp>
        <p:nvSpPr>
          <p:cNvPr id="13" name="a2_label"/>
          <p:cNvSpPr txBox="1"/>
          <p:nvPr/>
        </p:nvSpPr>
        <p:spPr>
          <a:xfrm>
            <a:off x="4719218" y="29260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1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threat</a:t>
            </a:r>
            <a:endParaRPr lang="en-US" sz="2100" dirty="0"/>
          </a:p>
        </p:txBody>
      </p:sp>
      <p:sp>
        <p:nvSpPr>
          <p:cNvPr id="14" name="a2_text"/>
          <p:cNvSpPr txBox="1"/>
          <p:nvPr/>
        </p:nvSpPr>
        <p:spPr>
          <a:xfrm>
            <a:off x="4719218" y="3474720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 on a large, error-corrected quantum computer could break them. Today's machines are far too small.</a:t>
            </a:r>
            <a:endParaRPr lang="en-US" sz="1500" dirty="0"/>
          </a:p>
        </p:txBody>
      </p:sp>
      <p:pic>
        <p:nvPicPr>
          <p:cNvPr id="15" name="a2_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957" y="3063240"/>
            <a:ext cx="365760" cy="365760"/>
          </a:xfrm>
          <a:prstGeom prst="rect">
            <a:avLst/>
          </a:prstGeom>
        </p:spPr>
      </p:pic>
      <p:sp>
        <p:nvSpPr>
          <p:cNvPr id="16" name="a3_card"/>
          <p:cNvSpPr/>
          <p:nvPr/>
        </p:nvSpPr>
        <p:spPr>
          <a:xfrm>
            <a:off x="8432597" y="1600200"/>
            <a:ext cx="3210458" cy="3291840"/>
          </a:xfrm>
          <a:prstGeom prst="roundRect">
            <a:avLst>
              <a:gd name="adj" fmla="val 5127"/>
            </a:avLst>
          </a:prstGeom>
          <a:solidFill>
            <a:schemeClr val="bg2"/>
          </a:solidFill>
          <a:ln/>
        </p:spPr>
      </p:sp>
      <p:sp>
        <p:nvSpPr>
          <p:cNvPr id="17" name="a3_ico_bg"/>
          <p:cNvSpPr/>
          <p:nvPr/>
        </p:nvSpPr>
        <p:spPr>
          <a:xfrm>
            <a:off x="9580626" y="182880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a3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7514" y="2075688"/>
            <a:ext cx="420624" cy="420624"/>
          </a:xfrm>
          <a:prstGeom prst="rect">
            <a:avLst/>
          </a:prstGeom>
        </p:spPr>
      </p:pic>
      <p:sp>
        <p:nvSpPr>
          <p:cNvPr id="19" name="a3_label"/>
          <p:cNvSpPr txBox="1"/>
          <p:nvPr/>
        </p:nvSpPr>
        <p:spPr>
          <a:xfrm>
            <a:off x="8661197" y="29260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Solution, now</a:t>
            </a:r>
            <a:endParaRPr lang="en-US" sz="2100" dirty="0"/>
          </a:p>
        </p:txBody>
      </p:sp>
      <p:sp>
        <p:nvSpPr>
          <p:cNvPr id="20" name="a3_text"/>
          <p:cNvSpPr txBox="1"/>
          <p:nvPr/>
        </p:nvSpPr>
        <p:spPr>
          <a:xfrm>
            <a:off x="8661197" y="3474720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'post-quantum' encryption standards (NIST, 2024) are already being rolled out.</a:t>
            </a:r>
            <a:endParaRPr lang="en-US" sz="1500" dirty="0"/>
          </a:p>
        </p:txBody>
      </p:sp>
      <p:sp>
        <p:nvSpPr>
          <p:cNvPr id="21" name="a4_note"/>
          <p:cNvSpPr/>
          <p:nvPr/>
        </p:nvSpPr>
        <p:spPr>
          <a:xfrm>
            <a:off x="548640" y="5166360"/>
            <a:ext cx="11094415" cy="960120"/>
          </a:xfrm>
          <a:prstGeom prst="roundRect">
            <a:avLst>
              <a:gd name="adj" fmla="val 15238"/>
            </a:avLst>
          </a:prstGeom>
          <a:solidFill>
            <a:schemeClr val="accent4"/>
          </a:solidFill>
          <a:ln/>
        </p:spPr>
      </p:sp>
      <p:sp>
        <p:nvSpPr>
          <p:cNvPr id="22" name="a4_note_t"/>
          <p:cNvSpPr txBox="1"/>
          <p:nvPr/>
        </p:nvSpPr>
        <p:spPr>
          <a:xfrm>
            <a:off x="914400" y="51663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can 'harvest now, decrypt later': they store encrypted data today to open it in the future. That is why switching early matters.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tx1"/>
                </a:solidFill>
              </a:rPr>
              <a:t>Myths and facts</a:t>
            </a:r>
            <a:endParaRPr lang="en-US" sz="3400" dirty="0"/>
          </a:p>
        </p:txBody>
      </p:sp>
      <p:sp>
        <p:nvSpPr>
          <p:cNvPr id="4" name="a1_ml"/>
          <p:cNvSpPr txBox="1"/>
          <p:nvPr/>
        </p:nvSpPr>
        <p:spPr>
          <a:xfrm>
            <a:off x="548640" y="141732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spc="300" kern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600" dirty="0"/>
          </a:p>
        </p:txBody>
      </p:sp>
      <p:sp>
        <p:nvSpPr>
          <p:cNvPr id="5" name="a1_fl"/>
          <p:cNvSpPr txBox="1"/>
          <p:nvPr/>
        </p:nvSpPr>
        <p:spPr>
          <a:xfrm>
            <a:off x="6324448" y="141732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spc="300" kern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600" dirty="0"/>
          </a:p>
        </p:txBody>
      </p:sp>
      <p:sp>
        <p:nvSpPr>
          <p:cNvPr id="6" name="a1_m"/>
          <p:cNvSpPr/>
          <p:nvPr/>
        </p:nvSpPr>
        <p:spPr>
          <a:xfrm>
            <a:off x="548640" y="1828800"/>
            <a:ext cx="5318608" cy="1371600"/>
          </a:xfrm>
          <a:prstGeom prst="roundRect">
            <a:avLst>
              <a:gd name="adj" fmla="val 9333"/>
            </a:avLst>
          </a:prstGeom>
          <a:solidFill>
            <a:schemeClr val="bg2"/>
          </a:solidFill>
          <a:ln/>
        </p:spPr>
      </p:sp>
      <p:pic>
        <p:nvPicPr>
          <p:cNvPr id="7" name="a1_ico_x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457200" cy="457200"/>
          </a:xfrm>
          <a:prstGeom prst="rect">
            <a:avLst/>
          </a:prstGeom>
        </p:spPr>
      </p:pic>
      <p:sp>
        <p:nvSpPr>
          <p:cNvPr id="8" name="a1_mt"/>
          <p:cNvSpPr txBox="1"/>
          <p:nvPr/>
        </p:nvSpPr>
        <p:spPr>
          <a:xfrm>
            <a:off x="1463040" y="1828800"/>
            <a:ext cx="412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computers will replace our laptops and phones.</a:t>
            </a:r>
            <a:endParaRPr lang="en-US" sz="1800" dirty="0"/>
          </a:p>
        </p:txBody>
      </p:sp>
      <p:sp>
        <p:nvSpPr>
          <p:cNvPr id="9" name="a1_f"/>
          <p:cNvSpPr/>
          <p:nvPr/>
        </p:nvSpPr>
        <p:spPr>
          <a:xfrm>
            <a:off x="6324448" y="1828800"/>
            <a:ext cx="5318608" cy="1371600"/>
          </a:xfrm>
          <a:prstGeom prst="roundRect">
            <a:avLst>
              <a:gd name="adj" fmla="val 9333"/>
            </a:avLst>
          </a:prstGeom>
          <a:solidFill>
            <a:schemeClr val="tx2"/>
          </a:solidFill>
          <a:ln/>
        </p:spPr>
      </p:sp>
      <p:pic>
        <p:nvPicPr>
          <p:cNvPr id="10" name="a1_ico_v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68" y="2286000"/>
            <a:ext cx="457200" cy="457200"/>
          </a:xfrm>
          <a:prstGeom prst="rect">
            <a:avLst/>
          </a:prstGeom>
        </p:spPr>
      </p:pic>
      <p:sp>
        <p:nvSpPr>
          <p:cNvPr id="11" name="a1_ft"/>
          <p:cNvSpPr txBox="1"/>
          <p:nvPr/>
        </p:nvSpPr>
        <p:spPr>
          <a:xfrm>
            <a:off x="7238848" y="1828800"/>
            <a:ext cx="412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will be specialised helpers for certain problems, working alongside classical computers.</a:t>
            </a:r>
            <a:endParaRPr lang="en-US" sz="1700" dirty="0"/>
          </a:p>
        </p:txBody>
      </p:sp>
      <p:sp>
        <p:nvSpPr>
          <p:cNvPr id="12" name="a2_m"/>
          <p:cNvSpPr/>
          <p:nvPr/>
        </p:nvSpPr>
        <p:spPr>
          <a:xfrm>
            <a:off x="548640" y="3383280"/>
            <a:ext cx="5318608" cy="1371600"/>
          </a:xfrm>
          <a:prstGeom prst="roundRect">
            <a:avLst>
              <a:gd name="adj" fmla="val 9333"/>
            </a:avLst>
          </a:prstGeom>
          <a:solidFill>
            <a:schemeClr val="bg2"/>
          </a:solidFill>
          <a:ln/>
        </p:spPr>
      </p:sp>
      <p:pic>
        <p:nvPicPr>
          <p:cNvPr id="13" name="a2_ico_x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40480"/>
            <a:ext cx="457200" cy="457200"/>
          </a:xfrm>
          <a:prstGeom prst="rect">
            <a:avLst/>
          </a:prstGeom>
        </p:spPr>
      </p:pic>
      <p:sp>
        <p:nvSpPr>
          <p:cNvPr id="14" name="a2_mt"/>
          <p:cNvSpPr txBox="1"/>
          <p:nvPr/>
        </p:nvSpPr>
        <p:spPr>
          <a:xfrm>
            <a:off x="1463040" y="3383280"/>
            <a:ext cx="412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try every possible answer at once.</a:t>
            </a:r>
            <a:endParaRPr lang="en-US" sz="1800" dirty="0"/>
          </a:p>
        </p:txBody>
      </p:sp>
      <p:sp>
        <p:nvSpPr>
          <p:cNvPr id="15" name="a2_f"/>
          <p:cNvSpPr/>
          <p:nvPr/>
        </p:nvSpPr>
        <p:spPr>
          <a:xfrm>
            <a:off x="6324448" y="3383280"/>
            <a:ext cx="5318608" cy="1371600"/>
          </a:xfrm>
          <a:prstGeom prst="roundRect">
            <a:avLst>
              <a:gd name="adj" fmla="val 9333"/>
            </a:avLst>
          </a:prstGeom>
          <a:solidFill>
            <a:schemeClr val="tx2"/>
          </a:solidFill>
          <a:ln/>
        </p:spPr>
      </p:sp>
      <p:pic>
        <p:nvPicPr>
          <p:cNvPr id="16" name="a2_ico_v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68" y="3840480"/>
            <a:ext cx="457200" cy="457200"/>
          </a:xfrm>
          <a:prstGeom prst="rect">
            <a:avLst/>
          </a:prstGeom>
        </p:spPr>
      </p:pic>
      <p:sp>
        <p:nvSpPr>
          <p:cNvPr id="17" name="a2_ft"/>
          <p:cNvSpPr txBox="1"/>
          <p:nvPr/>
        </p:nvSpPr>
        <p:spPr>
          <a:xfrm>
            <a:off x="7238848" y="3383280"/>
            <a:ext cx="412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use interference to make correct answers more likely. Big speed-ups exist only for some problems.</a:t>
            </a:r>
            <a:endParaRPr lang="en-US" sz="1700" dirty="0"/>
          </a:p>
        </p:txBody>
      </p:sp>
      <p:sp>
        <p:nvSpPr>
          <p:cNvPr id="18" name="a3_m"/>
          <p:cNvSpPr/>
          <p:nvPr/>
        </p:nvSpPr>
        <p:spPr>
          <a:xfrm>
            <a:off x="548640" y="4937760"/>
            <a:ext cx="5318608" cy="1371600"/>
          </a:xfrm>
          <a:prstGeom prst="roundRect">
            <a:avLst>
              <a:gd name="adj" fmla="val 9333"/>
            </a:avLst>
          </a:prstGeom>
          <a:solidFill>
            <a:schemeClr val="bg2"/>
          </a:solidFill>
          <a:ln/>
        </p:spPr>
      </p:sp>
      <p:pic>
        <p:nvPicPr>
          <p:cNvPr id="19" name="a3_ico_x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94960"/>
            <a:ext cx="457200" cy="457200"/>
          </a:xfrm>
          <a:prstGeom prst="rect">
            <a:avLst/>
          </a:prstGeom>
        </p:spPr>
      </p:pic>
      <p:sp>
        <p:nvSpPr>
          <p:cNvPr id="20" name="a3_mt"/>
          <p:cNvSpPr txBox="1"/>
          <p:nvPr/>
        </p:nvSpPr>
        <p:spPr>
          <a:xfrm>
            <a:off x="1463040" y="4937760"/>
            <a:ext cx="412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already beat normal computers at useful jobs.</a:t>
            </a:r>
            <a:endParaRPr lang="en-US" sz="1800" dirty="0"/>
          </a:p>
        </p:txBody>
      </p:sp>
      <p:sp>
        <p:nvSpPr>
          <p:cNvPr id="21" name="a3_f"/>
          <p:cNvSpPr/>
          <p:nvPr/>
        </p:nvSpPr>
        <p:spPr>
          <a:xfrm>
            <a:off x="6324448" y="4937760"/>
            <a:ext cx="5318608" cy="1371600"/>
          </a:xfrm>
          <a:prstGeom prst="roundRect">
            <a:avLst>
              <a:gd name="adj" fmla="val 9333"/>
            </a:avLst>
          </a:prstGeom>
          <a:solidFill>
            <a:schemeClr val="tx2"/>
          </a:solidFill>
          <a:ln/>
        </p:spPr>
      </p:sp>
      <p:pic>
        <p:nvPicPr>
          <p:cNvPr id="22" name="a3_ico_v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768" y="5394960"/>
            <a:ext cx="457200" cy="457200"/>
          </a:xfrm>
          <a:prstGeom prst="rect">
            <a:avLst/>
          </a:prstGeom>
        </p:spPr>
      </p:pic>
      <p:sp>
        <p:nvSpPr>
          <p:cNvPr id="23" name="a3_ft"/>
          <p:cNvSpPr txBox="1"/>
          <p:nvPr/>
        </p:nvSpPr>
        <p:spPr>
          <a:xfrm>
            <a:off x="7238848" y="4937760"/>
            <a:ext cx="412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show 'quantum advantage' on special tests. Practical advantage is still being pursued.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5_halo"/>
          <p:cNvSpPr/>
          <p:nvPr/>
        </p:nvSpPr>
        <p:spPr>
          <a:xfrm>
            <a:off x="-1371600" y="3931920"/>
            <a:ext cx="4754880" cy="4754880"/>
          </a:xfrm>
          <a:prstGeom prst="ellipse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4" name="a5_halo2"/>
          <p:cNvSpPr/>
          <p:nvPr/>
        </p:nvSpPr>
        <p:spPr>
          <a:xfrm>
            <a:off x="9692640" y="-1371600"/>
            <a:ext cx="3657600" cy="365760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5" name="a1_num"/>
          <p:cNvSpPr txBox="1"/>
          <p:nvPr/>
        </p:nvSpPr>
        <p:spPr>
          <a:xfrm>
            <a:off x="640080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4400" b="1" dirty="0">
                <a:solidFill>
                  <a:schemeClr val="bg1"/>
                </a:solidFill>
              </a:rPr>
              <a:t>Quantum and the hardware industry</a:t>
            </a:r>
            <a:endParaRPr lang="en-US" sz="44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3931920" y="3611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chemeClr val="bg2"/>
                </a:solidFill>
              </a:rPr>
              <a:t>A partner for the chips we build today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tx1"/>
                </a:solidFill>
              </a:rPr>
              <a:t>A partner, not a replacement</a:t>
            </a:r>
            <a:endParaRPr lang="en-US" sz="3400" dirty="0"/>
          </a:p>
        </p:txBody>
      </p:sp>
      <p:sp>
        <p:nvSpPr>
          <p:cNvPr id="4" name="a1_dc"/>
          <p:cNvSpPr/>
          <p:nvPr/>
        </p:nvSpPr>
        <p:spPr>
          <a:xfrm>
            <a:off x="548640" y="1554480"/>
            <a:ext cx="6766560" cy="448056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5" name="a1_dct"/>
          <p:cNvSpPr txBox="1"/>
          <p:nvPr/>
        </p:nvSpPr>
        <p:spPr>
          <a:xfrm>
            <a:off x="822960" y="16459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 / SUPERCOMPUTER</a:t>
            </a:r>
            <a:endParaRPr lang="en-US" sz="1600" dirty="0"/>
          </a:p>
        </p:txBody>
      </p:sp>
      <p:sp>
        <p:nvSpPr>
          <p:cNvPr id="6" name="a2_chip"/>
          <p:cNvSpPr/>
          <p:nvPr/>
        </p:nvSpPr>
        <p:spPr>
          <a:xfrm>
            <a:off x="822960" y="2286000"/>
            <a:ext cx="1920240" cy="3383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a2_ico_bg"/>
          <p:cNvSpPr/>
          <p:nvPr/>
        </p:nvSpPr>
        <p:spPr>
          <a:xfrm>
            <a:off x="1325880" y="24688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2715768"/>
            <a:ext cx="420624" cy="420624"/>
          </a:xfrm>
          <a:prstGeom prst="rect">
            <a:avLst/>
          </a:prstGeom>
        </p:spPr>
      </p:pic>
      <p:sp>
        <p:nvSpPr>
          <p:cNvPr id="9" name="a2_nm"/>
          <p:cNvSpPr txBox="1"/>
          <p:nvPr/>
        </p:nvSpPr>
        <p:spPr>
          <a:xfrm>
            <a:off x="914400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2400" dirty="0"/>
          </a:p>
        </p:txBody>
      </p:sp>
      <p:sp>
        <p:nvSpPr>
          <p:cNvPr id="10" name="a2_tt"/>
          <p:cNvSpPr txBox="1"/>
          <p:nvPr/>
        </p:nvSpPr>
        <p:spPr>
          <a:xfrm>
            <a:off x="960120" y="41148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tasks and control</a:t>
            </a:r>
            <a:endParaRPr lang="en-US" sz="1400" dirty="0"/>
          </a:p>
        </p:txBody>
      </p:sp>
      <p:sp>
        <p:nvSpPr>
          <p:cNvPr id="11" name="a3_chip"/>
          <p:cNvSpPr/>
          <p:nvPr/>
        </p:nvSpPr>
        <p:spPr>
          <a:xfrm>
            <a:off x="2926080" y="2286000"/>
            <a:ext cx="1920240" cy="3383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a3_ico_bg"/>
          <p:cNvSpPr/>
          <p:nvPr/>
        </p:nvSpPr>
        <p:spPr>
          <a:xfrm>
            <a:off x="3429000" y="246888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715768"/>
            <a:ext cx="420624" cy="420624"/>
          </a:xfrm>
          <a:prstGeom prst="rect">
            <a:avLst/>
          </a:prstGeom>
        </p:spPr>
      </p:pic>
      <p:sp>
        <p:nvSpPr>
          <p:cNvPr id="14" name="a3_nm"/>
          <p:cNvSpPr txBox="1"/>
          <p:nvPr/>
        </p:nvSpPr>
        <p:spPr>
          <a:xfrm>
            <a:off x="3017520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2400" dirty="0"/>
          </a:p>
        </p:txBody>
      </p:sp>
      <p:sp>
        <p:nvSpPr>
          <p:cNvPr id="15" name="a3_tt"/>
          <p:cNvSpPr txBox="1"/>
          <p:nvPr/>
        </p:nvSpPr>
        <p:spPr>
          <a:xfrm>
            <a:off x="3063240" y="41148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Massively parallel maths and AI</a:t>
            </a:r>
            <a:endParaRPr lang="en-US" sz="1400" dirty="0"/>
          </a:p>
        </p:txBody>
      </p:sp>
      <p:sp>
        <p:nvSpPr>
          <p:cNvPr id="16" name="a4_chip"/>
          <p:cNvSpPr/>
          <p:nvPr/>
        </p:nvSpPr>
        <p:spPr>
          <a:xfrm>
            <a:off x="5029200" y="2286000"/>
            <a:ext cx="1920240" cy="3383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381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a4_ico_bg"/>
          <p:cNvSpPr/>
          <p:nvPr/>
        </p:nvSpPr>
        <p:spPr>
          <a:xfrm>
            <a:off x="5532120" y="24688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2715768"/>
            <a:ext cx="420624" cy="420624"/>
          </a:xfrm>
          <a:prstGeom prst="rect">
            <a:avLst/>
          </a:prstGeom>
        </p:spPr>
      </p:pic>
      <p:sp>
        <p:nvSpPr>
          <p:cNvPr id="19" name="a4_nm"/>
          <p:cNvSpPr txBox="1"/>
          <p:nvPr/>
        </p:nvSpPr>
        <p:spPr>
          <a:xfrm>
            <a:off x="5120640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QPU</a:t>
            </a:r>
            <a:endParaRPr lang="en-US" sz="2400" dirty="0"/>
          </a:p>
        </p:txBody>
      </p:sp>
      <p:sp>
        <p:nvSpPr>
          <p:cNvPr id="20" name="a4_tt"/>
          <p:cNvSpPr txBox="1"/>
          <p:nvPr/>
        </p:nvSpPr>
        <p:spPr>
          <a:xfrm>
            <a:off x="5166360" y="41148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quantum problems</a:t>
            </a:r>
            <a:endParaRPr lang="en-US" sz="1400" dirty="0"/>
          </a:p>
        </p:txBody>
      </p:sp>
      <p:sp>
        <p:nvSpPr>
          <p:cNvPr id="21" name="a6_pc"/>
          <p:cNvSpPr/>
          <p:nvPr/>
        </p:nvSpPr>
        <p:spPr>
          <a:xfrm>
            <a:off x="7589520" y="1554480"/>
            <a:ext cx="4050792" cy="1417320"/>
          </a:xfrm>
          <a:prstGeom prst="roundRect">
            <a:avLst>
              <a:gd name="adj" fmla="val 10323"/>
            </a:avLst>
          </a:prstGeom>
          <a:solidFill>
            <a:schemeClr val="tx2"/>
          </a:solidFill>
          <a:ln/>
        </p:spPr>
      </p:sp>
      <p:sp>
        <p:nvSpPr>
          <p:cNvPr id="22" name="a6_pt"/>
          <p:cNvSpPr txBox="1"/>
          <p:nvPr/>
        </p:nvSpPr>
        <p:spPr>
          <a:xfrm>
            <a:off x="7818120" y="160020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keeps improving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stacking, chiplets and new materials continue to push chips forward.</a:t>
            </a:r>
            <a:endParaRPr lang="en-US" sz="1800" dirty="0"/>
          </a:p>
        </p:txBody>
      </p:sp>
      <p:sp>
        <p:nvSpPr>
          <p:cNvPr id="23" name="a7_pc"/>
          <p:cNvSpPr/>
          <p:nvPr/>
        </p:nvSpPr>
        <p:spPr>
          <a:xfrm>
            <a:off x="7589520" y="3108960"/>
            <a:ext cx="4050792" cy="1417320"/>
          </a:xfrm>
          <a:prstGeom prst="roundRect">
            <a:avLst>
              <a:gd name="adj" fmla="val 10323"/>
            </a:avLst>
          </a:prstGeom>
          <a:solidFill>
            <a:schemeClr val="tx2"/>
          </a:solidFill>
          <a:ln/>
        </p:spPr>
      </p:sp>
      <p:sp>
        <p:nvSpPr>
          <p:cNvPr id="24" name="a7_pt"/>
          <p:cNvSpPr txBox="1"/>
          <p:nvPr/>
        </p:nvSpPr>
        <p:spPr>
          <a:xfrm>
            <a:off x="7818120" y="315468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QPUs join as accelerators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 GPUs were added for graphics and AI, quantum processors will be added for specific jobs.</a:t>
            </a:r>
            <a:endParaRPr lang="en-US" sz="1800" dirty="0"/>
          </a:p>
        </p:txBody>
      </p:sp>
      <p:sp>
        <p:nvSpPr>
          <p:cNvPr id="25" name="a8_pc"/>
          <p:cNvSpPr/>
          <p:nvPr/>
        </p:nvSpPr>
        <p:spPr>
          <a:xfrm>
            <a:off x="7589520" y="4663440"/>
            <a:ext cx="4050792" cy="1417320"/>
          </a:xfrm>
          <a:prstGeom prst="roundRect">
            <a:avLst>
              <a:gd name="adj" fmla="val 10323"/>
            </a:avLst>
          </a:prstGeom>
          <a:solidFill>
            <a:schemeClr val="accent4"/>
          </a:solidFill>
          <a:ln/>
        </p:spPr>
      </p:sp>
      <p:sp>
        <p:nvSpPr>
          <p:cNvPr id="26" name="a8_pt"/>
          <p:cNvSpPr txBox="1"/>
          <p:nvPr/>
        </p:nvSpPr>
        <p:spPr>
          <a:xfrm>
            <a:off x="7818120" y="47091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is the future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chips prepare data and check results; the QPU handles the quantum part.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tx1"/>
                </a:solidFill>
              </a:rPr>
              <a:t>Quantum in the hardware industry</a:t>
            </a:r>
            <a:endParaRPr lang="en-US" sz="3400" dirty="0"/>
          </a:p>
        </p:txBody>
      </p:sp>
      <p:sp>
        <p:nvSpPr>
          <p:cNvPr id="4" name="a1_card"/>
          <p:cNvSpPr/>
          <p:nvPr/>
        </p:nvSpPr>
        <p:spPr>
          <a:xfrm>
            <a:off x="548640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096719"/>
            <a:ext cx="378562" cy="378562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868680" y="2788920"/>
            <a:ext cx="1962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quantum machines</a:t>
            </a:r>
            <a:endParaRPr lang="en-US" sz="1900" dirty="0"/>
          </a:p>
        </p:txBody>
      </p:sp>
      <p:sp>
        <p:nvSpPr>
          <p:cNvPr id="8" name="a1_body"/>
          <p:cNvSpPr txBox="1"/>
          <p:nvPr/>
        </p:nvSpPr>
        <p:spPr>
          <a:xfrm>
            <a:off x="868680" y="3657600"/>
            <a:ext cx="1962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supply chain: cryogenics, microwave electronics, lasers, vacuum systems and special chips.</a:t>
            </a:r>
            <a:endParaRPr lang="en-US" sz="1600" dirty="0"/>
          </a:p>
        </p:txBody>
      </p:sp>
      <p:sp>
        <p:nvSpPr>
          <p:cNvPr id="9" name="a2_card"/>
          <p:cNvSpPr/>
          <p:nvPr/>
        </p:nvSpPr>
        <p:spPr>
          <a:xfrm>
            <a:off x="3379394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10" name="a2_ico_bg"/>
          <p:cNvSpPr/>
          <p:nvPr/>
        </p:nvSpPr>
        <p:spPr>
          <a:xfrm>
            <a:off x="3699434" y="18745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633" y="2096719"/>
            <a:ext cx="378562" cy="378562"/>
          </a:xfrm>
          <a:prstGeom prst="rect">
            <a:avLst/>
          </a:prstGeom>
        </p:spPr>
      </p:pic>
      <p:sp>
        <p:nvSpPr>
          <p:cNvPr id="12" name="a2_head"/>
          <p:cNvSpPr txBox="1"/>
          <p:nvPr/>
        </p:nvSpPr>
        <p:spPr>
          <a:xfrm>
            <a:off x="3699434" y="2788920"/>
            <a:ext cx="1962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today's fabs</a:t>
            </a:r>
            <a:endParaRPr lang="en-US" sz="1900" dirty="0"/>
          </a:p>
        </p:txBody>
      </p:sp>
      <p:sp>
        <p:nvSpPr>
          <p:cNvPr id="13" name="a2_body"/>
          <p:cNvSpPr txBox="1"/>
          <p:nvPr/>
        </p:nvSpPr>
        <p:spPr>
          <a:xfrm>
            <a:off x="3699434" y="3657600"/>
            <a:ext cx="1962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Silicon-spin and superconducting qubits can be made with chip-factory techniques.</a:t>
            </a:r>
            <a:endParaRPr lang="en-US" sz="1600" dirty="0"/>
          </a:p>
        </p:txBody>
      </p:sp>
      <p:sp>
        <p:nvSpPr>
          <p:cNvPr id="14" name="a3_card"/>
          <p:cNvSpPr/>
          <p:nvPr/>
        </p:nvSpPr>
        <p:spPr>
          <a:xfrm>
            <a:off x="6210148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15" name="a3_ico_bg"/>
          <p:cNvSpPr/>
          <p:nvPr/>
        </p:nvSpPr>
        <p:spPr>
          <a:xfrm>
            <a:off x="6530188" y="18745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387" y="2096719"/>
            <a:ext cx="378562" cy="378562"/>
          </a:xfrm>
          <a:prstGeom prst="rect">
            <a:avLst/>
          </a:prstGeom>
        </p:spPr>
      </p:pic>
      <p:sp>
        <p:nvSpPr>
          <p:cNvPr id="17" name="a3_head"/>
          <p:cNvSpPr txBox="1"/>
          <p:nvPr/>
        </p:nvSpPr>
        <p:spPr>
          <a:xfrm>
            <a:off x="6530188" y="2788920"/>
            <a:ext cx="1962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better chips</a:t>
            </a:r>
            <a:endParaRPr lang="en-US" sz="1900" dirty="0"/>
          </a:p>
        </p:txBody>
      </p:sp>
      <p:sp>
        <p:nvSpPr>
          <p:cNvPr id="18" name="a3_body"/>
          <p:cNvSpPr txBox="1"/>
          <p:nvPr/>
        </p:nvSpPr>
        <p:spPr>
          <a:xfrm>
            <a:off x="6530188" y="3657600"/>
            <a:ext cx="1962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new materials and optimising layouts for classical chips. Early research.</a:t>
            </a:r>
            <a:endParaRPr lang="en-US" sz="1600" dirty="0"/>
          </a:p>
        </p:txBody>
      </p:sp>
      <p:sp>
        <p:nvSpPr>
          <p:cNvPr id="19" name="a4_card"/>
          <p:cNvSpPr/>
          <p:nvPr/>
        </p:nvSpPr>
        <p:spPr>
          <a:xfrm>
            <a:off x="9040901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20" name="a4_ico_bg"/>
          <p:cNvSpPr/>
          <p:nvPr/>
        </p:nvSpPr>
        <p:spPr>
          <a:xfrm>
            <a:off x="9360941" y="187452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141" y="2096719"/>
            <a:ext cx="378562" cy="378562"/>
          </a:xfrm>
          <a:prstGeom prst="rect">
            <a:avLst/>
          </a:prstGeom>
        </p:spPr>
      </p:pic>
      <p:sp>
        <p:nvSpPr>
          <p:cNvPr id="22" name="a4_head"/>
          <p:cNvSpPr txBox="1"/>
          <p:nvPr/>
        </p:nvSpPr>
        <p:spPr>
          <a:xfrm>
            <a:off x="9360941" y="2788920"/>
            <a:ext cx="1962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hardware</a:t>
            </a:r>
            <a:endParaRPr lang="en-US" sz="1900" dirty="0"/>
          </a:p>
        </p:txBody>
      </p:sp>
      <p:sp>
        <p:nvSpPr>
          <p:cNvPr id="23" name="a4_body"/>
          <p:cNvSpPr txBox="1"/>
          <p:nvPr/>
        </p:nvSpPr>
        <p:spPr>
          <a:xfrm>
            <a:off x="9360941" y="3657600"/>
            <a:ext cx="19620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in chips, quantum random-number generators and quantum sensors.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tx1"/>
                </a:solidFill>
              </a:rPr>
              <a:t>Try it yourself: free, in Python</a:t>
            </a:r>
            <a:endParaRPr lang="en-US" sz="3400" dirty="0"/>
          </a:p>
        </p:txBody>
      </p:sp>
      <p:sp>
        <p:nvSpPr>
          <p:cNvPr id="4" name="a1_code"/>
          <p:cNvSpPr/>
          <p:nvPr/>
        </p:nvSpPr>
        <p:spPr>
          <a:xfrm>
            <a:off x="548640" y="1600200"/>
            <a:ext cx="6035040" cy="2807208"/>
          </a:xfrm>
          <a:prstGeom prst="roundRect">
            <a:avLst>
              <a:gd name="adj" fmla="val 456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a1_dot"/>
          <p:cNvSpPr/>
          <p:nvPr/>
        </p:nvSpPr>
        <p:spPr>
          <a:xfrm>
            <a:off x="804672" y="181965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dot"/>
          <p:cNvSpPr/>
          <p:nvPr/>
        </p:nvSpPr>
        <p:spPr>
          <a:xfrm>
            <a:off x="1042416" y="1819656"/>
            <a:ext cx="137160" cy="1371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a1_dot"/>
          <p:cNvSpPr/>
          <p:nvPr/>
        </p:nvSpPr>
        <p:spPr>
          <a:xfrm>
            <a:off x="1280160" y="181965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t"/>
          <p:cNvSpPr txBox="1"/>
          <p:nvPr/>
        </p:nvSpPr>
        <p:spPr>
          <a:xfrm>
            <a:off x="868680" y="2240280"/>
            <a:ext cx="539496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qiskit 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QuantumCircuit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QuantumCircuit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superposition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entangle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</a:t>
            </a:r>
            <a:pPr algn="l" indent="0" marL="0">
              <a:buNone/>
            </a:pPr>
            <a:r>
              <a:rPr lang="en-US" alt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measure_all</a:t>
            </a:r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print(qc)</a:t>
            </a:r>
            <a:endParaRPr lang="en-US" sz="1700" dirty="0"/>
          </a:p>
        </p:txBody>
      </p:sp>
      <p:sp>
        <p:nvSpPr>
          <p:cNvPr id="9" name="a2_pc"/>
          <p:cNvSpPr/>
          <p:nvPr/>
        </p:nvSpPr>
        <p:spPr>
          <a:xfrm>
            <a:off x="6858000" y="1600200"/>
            <a:ext cx="4782312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0" name="a2_ico_bg"/>
          <p:cNvSpPr/>
          <p:nvPr/>
        </p:nvSpPr>
        <p:spPr>
          <a:xfrm>
            <a:off x="708660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4110" y="2117750"/>
            <a:ext cx="336499" cy="336499"/>
          </a:xfrm>
          <a:prstGeom prst="rect">
            <a:avLst/>
          </a:prstGeom>
        </p:spPr>
      </p:pic>
      <p:sp>
        <p:nvSpPr>
          <p:cNvPr id="12" name="a2_pt"/>
          <p:cNvSpPr txBox="1"/>
          <p:nvPr/>
        </p:nvSpPr>
        <p:spPr>
          <a:xfrm>
            <a:off x="8046720" y="1673352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(IBM), free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circuits in Python and run them on simulators or real quantum computers over the cloud.</a:t>
            </a:r>
            <a:endParaRPr lang="en-US" sz="1800" dirty="0"/>
          </a:p>
        </p:txBody>
      </p:sp>
      <p:sp>
        <p:nvSpPr>
          <p:cNvPr id="13" name="a3_pc"/>
          <p:cNvSpPr/>
          <p:nvPr/>
        </p:nvSpPr>
        <p:spPr>
          <a:xfrm>
            <a:off x="6858000" y="3081528"/>
            <a:ext cx="4782312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4" name="a3_ico_bg"/>
          <p:cNvSpPr/>
          <p:nvPr/>
        </p:nvSpPr>
        <p:spPr>
          <a:xfrm>
            <a:off x="7086600" y="340156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110" y="3599078"/>
            <a:ext cx="336499" cy="336499"/>
          </a:xfrm>
          <a:prstGeom prst="rect">
            <a:avLst/>
          </a:prstGeom>
        </p:spPr>
      </p:pic>
      <p:sp>
        <p:nvSpPr>
          <p:cNvPr id="16" name="a3_pt"/>
          <p:cNvSpPr txBox="1"/>
          <p:nvPr/>
        </p:nvSpPr>
        <p:spPr>
          <a:xfrm>
            <a:off x="8046720" y="315468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h(0)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qubit 0 in superposition: 0 and 1 with equal chance.</a:t>
            </a:r>
            <a:endParaRPr lang="en-US" sz="1800" dirty="0"/>
          </a:p>
        </p:txBody>
      </p:sp>
      <p:sp>
        <p:nvSpPr>
          <p:cNvPr id="17" name="a4_pc"/>
          <p:cNvSpPr/>
          <p:nvPr/>
        </p:nvSpPr>
        <p:spPr>
          <a:xfrm>
            <a:off x="6858000" y="4562856"/>
            <a:ext cx="4782312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8" name="a4_ico_bg"/>
          <p:cNvSpPr/>
          <p:nvPr/>
        </p:nvSpPr>
        <p:spPr>
          <a:xfrm>
            <a:off x="7086600" y="4882896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110" y="5080406"/>
            <a:ext cx="336499" cy="336499"/>
          </a:xfrm>
          <a:prstGeom prst="rect">
            <a:avLst/>
          </a:prstGeom>
        </p:spPr>
      </p:pic>
      <p:sp>
        <p:nvSpPr>
          <p:cNvPr id="20" name="a4_pt"/>
          <p:cNvSpPr txBox="1"/>
          <p:nvPr/>
        </p:nvSpPr>
        <p:spPr>
          <a:xfrm>
            <a:off x="8046720" y="46360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cx(0, 1)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Entangles qubit 1 with qubit 0. Results: 00 or 11, about half each, never 01 or 10.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tx1"/>
                </a:solidFill>
              </a:rPr>
              <a:t>Check your understanding</a:t>
            </a:r>
            <a:endParaRPr lang="en-US" sz="3400" dirty="0"/>
          </a:p>
        </p:txBody>
      </p:sp>
      <p:sp>
        <p:nvSpPr>
          <p:cNvPr id="4" name="a1_q"/>
          <p:cNvSpPr/>
          <p:nvPr/>
        </p:nvSpPr>
        <p:spPr>
          <a:xfrm>
            <a:off x="548640" y="1508760"/>
            <a:ext cx="11094415" cy="1417320"/>
          </a:xfrm>
          <a:prstGeom prst="roundRect">
            <a:avLst>
              <a:gd name="adj" fmla="val 10323"/>
            </a:avLst>
          </a:prstGeom>
          <a:solidFill>
            <a:schemeClr val="bg2"/>
          </a:solidFill>
          <a:ln/>
        </p:spPr>
      </p:sp>
      <p:sp>
        <p:nvSpPr>
          <p:cNvPr id="5" name="a1_ico_n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1_ico_nt"/>
          <p:cNvSpPr txBox="1"/>
          <p:nvPr/>
        </p:nvSpPr>
        <p:spPr>
          <a:xfrm>
            <a:off x="82296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a1_qt"/>
          <p:cNvSpPr txBox="1"/>
          <p:nvPr/>
        </p:nvSpPr>
        <p:spPr>
          <a:xfrm>
            <a:off x="1737360" y="155448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a qubit be that a classical bit cannot?</a:t>
            </a:r>
            <a:endParaRPr lang="en-US" sz="2100" dirty="0"/>
          </a:p>
        </p:txBody>
      </p:sp>
      <p:sp>
        <p:nvSpPr>
          <p:cNvPr id="8" name="k1_ans"/>
          <p:cNvSpPr/>
          <p:nvPr/>
        </p:nvSpPr>
        <p:spPr>
          <a:xfrm>
            <a:off x="1737360" y="2258568"/>
            <a:ext cx="9631375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9" name="k1_ans_t"/>
          <p:cNvSpPr txBox="1"/>
          <p:nvPr/>
        </p:nvSpPr>
        <p:spPr>
          <a:xfrm>
            <a:off x="1965960" y="2258568"/>
            <a:ext cx="9174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blend of 0 and 1 (superposition) until it is measured.</a:t>
            </a:r>
            <a:endParaRPr lang="en-US" sz="1700" dirty="0"/>
          </a:p>
        </p:txBody>
      </p:sp>
      <p:sp>
        <p:nvSpPr>
          <p:cNvPr id="10" name="a2_q"/>
          <p:cNvSpPr/>
          <p:nvPr/>
        </p:nvSpPr>
        <p:spPr>
          <a:xfrm>
            <a:off x="548640" y="3063240"/>
            <a:ext cx="11094415" cy="1417320"/>
          </a:xfrm>
          <a:prstGeom prst="roundRect">
            <a:avLst>
              <a:gd name="adj" fmla="val 10323"/>
            </a:avLst>
          </a:prstGeom>
          <a:solidFill>
            <a:schemeClr val="bg2"/>
          </a:solidFill>
          <a:ln/>
        </p:spPr>
      </p:sp>
      <p:sp>
        <p:nvSpPr>
          <p:cNvPr id="11" name="a2_ico_n"/>
          <p:cNvSpPr/>
          <p:nvPr/>
        </p:nvSpPr>
        <p:spPr>
          <a:xfrm>
            <a:off x="822960" y="34290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a2_ico_nt"/>
          <p:cNvSpPr txBox="1"/>
          <p:nvPr/>
        </p:nvSpPr>
        <p:spPr>
          <a:xfrm>
            <a:off x="822960" y="3429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a2_qt"/>
          <p:cNvSpPr txBox="1"/>
          <p:nvPr/>
        </p:nvSpPr>
        <p:spPr>
          <a:xfrm>
            <a:off x="1737360" y="310896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superconducting quantum computers cooled to about −273 °C?</a:t>
            </a:r>
            <a:endParaRPr lang="en-US" sz="2100" dirty="0"/>
          </a:p>
        </p:txBody>
      </p:sp>
      <p:sp>
        <p:nvSpPr>
          <p:cNvPr id="14" name="k2_ans"/>
          <p:cNvSpPr/>
          <p:nvPr/>
        </p:nvSpPr>
        <p:spPr>
          <a:xfrm>
            <a:off x="1737360" y="3813048"/>
            <a:ext cx="9631375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15" name="k2_ans_t"/>
          <p:cNvSpPr txBox="1"/>
          <p:nvPr/>
        </p:nvSpPr>
        <p:spPr>
          <a:xfrm>
            <a:off x="1965960" y="3813048"/>
            <a:ext cx="9174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destroys the fragile quantum states (decoherence).</a:t>
            </a:r>
            <a:endParaRPr lang="en-US" sz="1700" dirty="0"/>
          </a:p>
        </p:txBody>
      </p:sp>
      <p:sp>
        <p:nvSpPr>
          <p:cNvPr id="16" name="a3_q"/>
          <p:cNvSpPr/>
          <p:nvPr/>
        </p:nvSpPr>
        <p:spPr>
          <a:xfrm>
            <a:off x="548640" y="4617720"/>
            <a:ext cx="11094415" cy="1417320"/>
          </a:xfrm>
          <a:prstGeom prst="roundRect">
            <a:avLst>
              <a:gd name="adj" fmla="val 10323"/>
            </a:avLst>
          </a:prstGeom>
          <a:solidFill>
            <a:schemeClr val="bg2"/>
          </a:solidFill>
          <a:ln/>
        </p:spPr>
      </p:sp>
      <p:sp>
        <p:nvSpPr>
          <p:cNvPr id="17" name="a3_ico_n"/>
          <p:cNvSpPr/>
          <p:nvPr/>
        </p:nvSpPr>
        <p:spPr>
          <a:xfrm>
            <a:off x="822960" y="49834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a3_ico_nt"/>
          <p:cNvSpPr txBox="1"/>
          <p:nvPr/>
        </p:nvSpPr>
        <p:spPr>
          <a:xfrm>
            <a:off x="822960" y="4983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a3_qt"/>
          <p:cNvSpPr txBox="1"/>
          <p:nvPr/>
        </p:nvSpPr>
        <p:spPr>
          <a:xfrm>
            <a:off x="1737360" y="466344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quantum computers replace the CPU in your phone?</a:t>
            </a:r>
            <a:endParaRPr lang="en-US" sz="2100" dirty="0"/>
          </a:p>
        </p:txBody>
      </p:sp>
      <p:sp>
        <p:nvSpPr>
          <p:cNvPr id="20" name="k3_ans"/>
          <p:cNvSpPr/>
          <p:nvPr/>
        </p:nvSpPr>
        <p:spPr>
          <a:xfrm>
            <a:off x="1737360" y="5367528"/>
            <a:ext cx="9631375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21" name="k3_ans_t"/>
          <p:cNvSpPr txBox="1"/>
          <p:nvPr/>
        </p:nvSpPr>
        <p:spPr>
          <a:xfrm>
            <a:off x="1965960" y="5367528"/>
            <a:ext cx="9174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They will work alongside classical chips on specific problems.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bg1"/>
                </a:solidFill>
              </a:rPr>
              <a:t>Key takeaways</a:t>
            </a:r>
            <a:endParaRPr lang="en-US" sz="3400" dirty="0"/>
          </a:p>
        </p:txBody>
      </p:sp>
      <p:pic>
        <p:nvPicPr>
          <p:cNvPr id="4" name="a1_ico_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57200" cy="457200"/>
          </a:xfrm>
          <a:prstGeom prst="rect">
            <a:avLst/>
          </a:prstGeom>
        </p:spPr>
      </p:pic>
      <p:sp>
        <p:nvSpPr>
          <p:cNvPr id="5" name="a1_tt"/>
          <p:cNvSpPr txBox="1"/>
          <p:nvPr/>
        </p:nvSpPr>
        <p:spPr>
          <a:xfrm>
            <a:off x="1280160" y="1554480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 transistors is hitting physical limits: atoms, heat and quantum leaks.</a:t>
            </a:r>
            <a:endParaRPr lang="en-US" sz="1900" dirty="0"/>
          </a:p>
        </p:txBody>
      </p:sp>
      <p:pic>
        <p:nvPicPr>
          <p:cNvPr id="6" name="a2_ico_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96312"/>
            <a:ext cx="457200" cy="457200"/>
          </a:xfrm>
          <a:prstGeom prst="rect">
            <a:avLst/>
          </a:prstGeom>
        </p:spPr>
      </p:pic>
      <p:sp>
        <p:nvSpPr>
          <p:cNvPr id="7" name="a2_tt"/>
          <p:cNvSpPr txBox="1"/>
          <p:nvPr/>
        </p:nvSpPr>
        <p:spPr>
          <a:xfrm>
            <a:off x="1280160" y="2450592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use superposition, entanglement and interference.</a:t>
            </a:r>
            <a:endParaRPr lang="en-US" sz="1900" dirty="0"/>
          </a:p>
        </p:txBody>
      </p:sp>
      <p:pic>
        <p:nvPicPr>
          <p:cNvPr id="8" name="a3_ico_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92424"/>
            <a:ext cx="457200" cy="457200"/>
          </a:xfrm>
          <a:prstGeom prst="rect">
            <a:avLst/>
          </a:prstGeom>
        </p:spPr>
      </p:pic>
      <p:sp>
        <p:nvSpPr>
          <p:cNvPr id="9" name="a3_tt"/>
          <p:cNvSpPr txBox="1"/>
          <p:nvPr/>
        </p:nvSpPr>
        <p:spPr>
          <a:xfrm>
            <a:off x="1280160" y="3346704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promise in chemistry, materials, security and optimisation.</a:t>
            </a:r>
            <a:endParaRPr lang="en-US" sz="1900" dirty="0"/>
          </a:p>
        </p:txBody>
      </p:sp>
      <p:pic>
        <p:nvPicPr>
          <p:cNvPr id="10" name="a4_ico_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88536"/>
            <a:ext cx="457200" cy="457200"/>
          </a:xfrm>
          <a:prstGeom prst="rect">
            <a:avLst/>
          </a:prstGeom>
        </p:spPr>
      </p:pic>
      <p:sp>
        <p:nvSpPr>
          <p:cNvPr id="11" name="a4_tt"/>
          <p:cNvSpPr txBox="1"/>
          <p:nvPr/>
        </p:nvSpPr>
        <p:spPr>
          <a:xfrm>
            <a:off x="1280160" y="4242816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machines are noisy and small, but progress is fast.</a:t>
            </a:r>
            <a:endParaRPr lang="en-US" sz="1900" dirty="0"/>
          </a:p>
        </p:txBody>
      </p:sp>
      <p:pic>
        <p:nvPicPr>
          <p:cNvPr id="12" name="a5_ico_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184648"/>
            <a:ext cx="457200" cy="457200"/>
          </a:xfrm>
          <a:prstGeom prst="rect">
            <a:avLst/>
          </a:prstGeom>
        </p:spPr>
      </p:pic>
      <p:sp>
        <p:nvSpPr>
          <p:cNvPr id="13" name="a5_tt"/>
          <p:cNvSpPr txBox="1"/>
          <p:nvPr/>
        </p:nvSpPr>
        <p:spPr>
          <a:xfrm>
            <a:off x="1280160" y="5138928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computers will be partners to CPUs and GPUs, not replacements.</a:t>
            </a:r>
            <a:endParaRPr lang="en-US" sz="1900" dirty="0"/>
          </a:p>
        </p:txBody>
      </p:sp>
      <p:sp>
        <p:nvSpPr>
          <p:cNvPr id="14" name="a6_dc"/>
          <p:cNvSpPr/>
          <p:nvPr/>
        </p:nvSpPr>
        <p:spPr>
          <a:xfrm>
            <a:off x="8229600" y="1554480"/>
            <a:ext cx="3410712" cy="4526280"/>
          </a:xfrm>
          <a:prstGeom prst="roundRect">
            <a:avLst>
              <a:gd name="adj" fmla="val 5362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a6_ico_dc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1874520"/>
            <a:ext cx="640080" cy="640080"/>
          </a:xfrm>
          <a:prstGeom prst="rect">
            <a:avLst/>
          </a:prstGeom>
        </p:spPr>
      </p:pic>
      <p:sp>
        <p:nvSpPr>
          <p:cNvPr id="16" name="a6_dl"/>
          <p:cNvSpPr txBox="1"/>
          <p:nvPr/>
        </p:nvSpPr>
        <p:spPr>
          <a:xfrm>
            <a:off x="859536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500" dirty="0"/>
          </a:p>
        </p:txBody>
      </p:sp>
      <p:sp>
        <p:nvSpPr>
          <p:cNvPr id="17" name="a6_dt"/>
          <p:cNvSpPr txBox="1"/>
          <p:nvPr/>
        </p:nvSpPr>
        <p:spPr>
          <a:xfrm>
            <a:off x="8595360" y="31546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problem in Egypt (fertiliser, water, traffic, medicine…) could benefit most from quantum computing? Why?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tx1"/>
                </a:solidFill>
              </a:rPr>
              <a:t>Learn more</a:t>
            </a:r>
            <a:endParaRPr lang="en-US" sz="3400" dirty="0"/>
          </a:p>
        </p:txBody>
      </p:sp>
      <p:sp>
        <p:nvSpPr>
          <p:cNvPr id="4" name="a1_r"/>
          <p:cNvSpPr/>
          <p:nvPr/>
        </p:nvSpPr>
        <p:spPr>
          <a:xfrm>
            <a:off x="548640" y="155448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731520" y="167335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1821485"/>
            <a:ext cx="252374" cy="252374"/>
          </a:xfrm>
          <a:prstGeom prst="rect">
            <a:avLst/>
          </a:prstGeom>
        </p:spPr>
      </p:pic>
      <p:sp>
        <p:nvSpPr>
          <p:cNvPr id="7" name="a1_rt"/>
          <p:cNvSpPr txBox="1"/>
          <p:nvPr/>
        </p:nvSpPr>
        <p:spPr>
          <a:xfrm>
            <a:off x="1554480" y="1554480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Quantum Learning  </a:t>
            </a:r>
            <a:pPr algn="l" indent="0" marL="0">
              <a:buNone/>
            </a:pPr>
            <a:r>
              <a:rPr lang="en-US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courses and Qiskit tutorials.</a:t>
            </a:r>
            <a:endParaRPr lang="en-US" sz="1800" dirty="0"/>
          </a:p>
        </p:txBody>
      </p:sp>
      <p:sp>
        <p:nvSpPr>
          <p:cNvPr id="8" name="a2_r"/>
          <p:cNvSpPr/>
          <p:nvPr/>
        </p:nvSpPr>
        <p:spPr>
          <a:xfrm>
            <a:off x="548640" y="2450592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9" name="a2_ico_bg"/>
          <p:cNvSpPr/>
          <p:nvPr/>
        </p:nvSpPr>
        <p:spPr>
          <a:xfrm>
            <a:off x="731520" y="2569464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3" y="2717597"/>
            <a:ext cx="252374" cy="252374"/>
          </a:xfrm>
          <a:prstGeom prst="rect">
            <a:avLst/>
          </a:prstGeom>
        </p:spPr>
      </p:pic>
      <p:sp>
        <p:nvSpPr>
          <p:cNvPr id="11" name="a2_rt"/>
          <p:cNvSpPr txBox="1"/>
          <p:nvPr/>
        </p:nvSpPr>
        <p:spPr>
          <a:xfrm>
            <a:off x="1554480" y="2450592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Quantum AI  </a:t>
            </a:r>
            <a:pPr algn="l" indent="0" marL="0">
              <a:buNone/>
            </a:pPr>
            <a:r>
              <a:rPr lang="en-US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news and explainers.</a:t>
            </a:r>
            <a:endParaRPr lang="en-US" sz="1800" dirty="0"/>
          </a:p>
        </p:txBody>
      </p:sp>
      <p:sp>
        <p:nvSpPr>
          <p:cNvPr id="12" name="a3_r"/>
          <p:cNvSpPr/>
          <p:nvPr/>
        </p:nvSpPr>
        <p:spPr>
          <a:xfrm>
            <a:off x="548640" y="3346704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3" name="a3_ico_bg"/>
          <p:cNvSpPr/>
          <p:nvPr/>
        </p:nvSpPr>
        <p:spPr>
          <a:xfrm>
            <a:off x="731520" y="3465576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3" y="3613709"/>
            <a:ext cx="252374" cy="252374"/>
          </a:xfrm>
          <a:prstGeom prst="rect">
            <a:avLst/>
          </a:prstGeom>
        </p:spPr>
      </p:pic>
      <p:sp>
        <p:nvSpPr>
          <p:cNvPr id="15" name="a3_rt"/>
          <p:cNvSpPr txBox="1"/>
          <p:nvPr/>
        </p:nvSpPr>
        <p:spPr>
          <a:xfrm>
            <a:off x="1554480" y="3346704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Post-Quantum Cryptography  </a:t>
            </a:r>
            <a:pPr algn="l" indent="0" marL="0">
              <a:buNone/>
            </a:pPr>
            <a:r>
              <a:rPr lang="en-US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for quantum-safe encryption.</a:t>
            </a:r>
            <a:endParaRPr lang="en-US" sz="1800" dirty="0"/>
          </a:p>
        </p:txBody>
      </p:sp>
      <p:sp>
        <p:nvSpPr>
          <p:cNvPr id="16" name="a4_r"/>
          <p:cNvSpPr/>
          <p:nvPr/>
        </p:nvSpPr>
        <p:spPr>
          <a:xfrm>
            <a:off x="548640" y="4242816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7" name="a4_ico_bg"/>
          <p:cNvSpPr/>
          <p:nvPr/>
        </p:nvSpPr>
        <p:spPr>
          <a:xfrm>
            <a:off x="731520" y="4361688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3" y="4509821"/>
            <a:ext cx="252374" cy="252374"/>
          </a:xfrm>
          <a:prstGeom prst="rect">
            <a:avLst/>
          </a:prstGeom>
        </p:spPr>
      </p:pic>
      <p:sp>
        <p:nvSpPr>
          <p:cNvPr id="19" name="a4_rt"/>
          <p:cNvSpPr txBox="1"/>
          <p:nvPr/>
        </p:nvSpPr>
        <p:spPr>
          <a:xfrm>
            <a:off x="1554480" y="4242816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Nature, Quanta Magazine  </a:t>
            </a:r>
            <a:pPr algn="l" indent="0" marL="0">
              <a:buNone/>
            </a:pPr>
            <a:r>
              <a:rPr lang="en-US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articles on quantum computing.</a:t>
            </a:r>
            <a:endParaRPr lang="en-US" sz="1800" dirty="0"/>
          </a:p>
        </p:txBody>
      </p:sp>
      <p:sp>
        <p:nvSpPr>
          <p:cNvPr id="20" name="a5_r"/>
          <p:cNvSpPr/>
          <p:nvPr/>
        </p:nvSpPr>
        <p:spPr>
          <a:xfrm>
            <a:off x="548640" y="5138928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1" name="a5_ico_bg"/>
          <p:cNvSpPr/>
          <p:nvPr/>
        </p:nvSpPr>
        <p:spPr>
          <a:xfrm>
            <a:off x="731520" y="52578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2" name="a5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53" y="5405933"/>
            <a:ext cx="252374" cy="252374"/>
          </a:xfrm>
          <a:prstGeom prst="rect">
            <a:avLst/>
          </a:prstGeom>
        </p:spPr>
      </p:pic>
      <p:sp>
        <p:nvSpPr>
          <p:cNvPr id="23" name="a5_rt"/>
          <p:cNvSpPr txBox="1"/>
          <p:nvPr/>
        </p:nvSpPr>
        <p:spPr>
          <a:xfrm>
            <a:off x="1554480" y="5138928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Moore (1965)  </a:t>
            </a:r>
            <a:pPr algn="l" indent="0" marL="0">
              <a:buNone/>
            </a:pPr>
            <a:r>
              <a:rPr lang="en-US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“Cramming more components onto integrated circuits”, Electronics.</a:t>
            </a:r>
            <a:endParaRPr lang="en-US" sz="1800" dirty="0"/>
          </a:p>
        </p:txBody>
      </p:sp>
      <p:sp>
        <p:nvSpPr>
          <p:cNvPr id="24" name="a8_n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reflect public information up to 2025. This field changes quickly, so check recent news before teaching.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Quantum">
  <a:themeElements>
    <a:clrScheme name="Quantum">
      <a:dk1>
        <a:srgbClr val="0B1030"/>
      </a:dk1>
      <a:lt1>
        <a:srgbClr val="FFFFFF"/>
      </a:lt1>
      <a:dk2>
        <a:srgbClr val="2A1B6E"/>
      </a:dk2>
      <a:lt2>
        <a:srgbClr val="ECEFFE"/>
      </a:lt2>
      <a:accent1>
        <a:srgbClr val="22D3EE"/>
      </a:accent1>
      <a:accent2>
        <a:srgbClr val="A78BFA"/>
      </a:accent2>
      <a:accent3>
        <a:srgbClr val="F472B6"/>
      </a:accent3>
      <a:accent4>
        <a:srgbClr val="FBBF24"/>
      </a:accent4>
      <a:accent5>
        <a:srgbClr val="34D399"/>
      </a:accent5>
      <a:accent6>
        <a:srgbClr val="60A5FA"/>
      </a:accent6>
      <a:hlink>
        <a:srgbClr val="6D28D9"/>
      </a:hlink>
      <a:folHlink>
        <a:srgbClr val="A78BFA"/>
      </a:folHlink>
    </a:clrScheme>
    <a:fontScheme name="Quantu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Computing: A New Way to Compute</dc:title>
  <dc:subject>Quantum Computing: A New Way to Compute</dc:subject>
  <dc:creator>Technology Dept.</dc:creator>
  <cp:lastModifiedBy>Technology Dept.</cp:lastModifiedBy>
  <cp:revision>1</cp:revision>
  <dcterms:created xsi:type="dcterms:W3CDTF">2026-10-08T08:44:02Z</dcterms:created>
  <dcterms:modified xsi:type="dcterms:W3CDTF">2026-10-08T08:44:02Z</dcterms:modified>
</cp:coreProperties>
</file>