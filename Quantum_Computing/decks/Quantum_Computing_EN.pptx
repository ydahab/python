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76862039-24aa-1e44-c92d-331f925c80a3}">
          <p14:sldIdLst>
            <p14:sldId id="256"/>
            <p14:sldId id="257"/>
          </p14:sldIdLst>
        </p14:section>
        <p14:section name="Why do we need it?" id="{7dfad861-3032-8113-c8e2-26dc16bf09ec}">
          <p14:sldIdLst>
            <p14:sldId id="258"/>
            <p14:sldId id="259"/>
            <p14:sldId id="260"/>
            <p14:sldId id="261"/>
          </p14:sldIdLst>
        </p14:section>
        <p14:section name="What is quantum computing?" id="{c3ff43be-c1f3-3db9-2ef9-0e8e026bfcfa}">
          <p14:sldIdLst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Applications &amp; benefits" id="{94a6a284-e775-b5b7-e01a-ebaf4cc0c513}">
          <p14:sldIdLst>
            <p14:sldId id="269"/>
            <p14:sldId id="270"/>
            <p14:sldId id="271"/>
            <p14:sldId id="272"/>
            <p14:sldId id="273"/>
          </p14:sldIdLst>
        </p14:section>
        <p14:section name="Quantum and the hardware industry" id="{28b9b9ec-f108-58ae-f507-dc901bad9e2d}">
          <p14:sldIdLst>
            <p14:sldId id="274"/>
            <p14:sldId id="275"/>
            <p14:sldId id="276"/>
            <p14:sldId id="277"/>
            <p14:sldId id="278"/>
            <p14:sldId id="279"/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Transistors per chip</c:v>
                </c:pt>
              </c:strCache>
            </c:strRef>
          </c:tx>
          <c:spPr>
            <a:solidFill>
              <a:srgbClr val="A78BFA"/>
            </a:solidFill>
            <a:ln w="38100" cap="flat">
              <a:solidFill>
                <a:srgbClr val="A78BFA"/>
              </a:solidFill>
              <a:prstDash val="solid"/>
              <a:round/>
            </a:ln>
            <a:effectLst/>
          </c:spPr>
          <c:invertIfNegative val="0"/>
          <c:dLbls>
            <c:numFmt formatCode="[&gt;=1000000000]0.0,,,&quot;B&quot;;[&gt;=1000000]0.0,,&quot;M&quot;;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B1030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10"/>
            <c:spPr>
              <a:solidFill>
                <a:srgbClr val="A78BFA"/>
              </a:solidFill>
              <a:ln w="9525" cap="flat">
                <a:solidFill>
                  <a:srgbClr val="A78BF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1971</c:v>
                  </c:pt>
                  <c:pt idx="1">
                    <c:v>1982</c:v>
                  </c:pt>
                  <c:pt idx="2">
                    <c:v>1993</c:v>
                  </c:pt>
                  <c:pt idx="3">
                    <c:v>2000</c:v>
                  </c:pt>
                  <c:pt idx="4">
                    <c:v>2006</c:v>
                  </c:pt>
                  <c:pt idx="5">
                    <c:v>2012</c:v>
                  </c:pt>
                  <c:pt idx="6">
                    <c:v>2017</c:v>
                  </c:pt>
                  <c:pt idx="7">
                    <c:v>2022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2300</c:v>
                </c:pt>
                <c:pt idx="1">
                  <c:v>134000</c:v>
                </c:pt>
                <c:pt idx="2">
                  <c:v>3100000</c:v>
                </c:pt>
                <c:pt idx="3">
                  <c:v>42000000</c:v>
                </c:pt>
                <c:pt idx="4">
                  <c:v>291000000</c:v>
                </c:pt>
                <c:pt idx="5">
                  <c:v>1400000000</c:v>
                </c:pt>
                <c:pt idx="6">
                  <c:v>19200000000</c:v>
                </c:pt>
                <c:pt idx="7">
                  <c:v>114000000000</c:v>
                </c:pt>
              </c:numCache>
            </c:numRef>
          </c:val>
          <c:smooth val="0"/>
        </c:ser>
        <c:dLbls>
          <c:numFmt formatCode="[&gt;=1000000000]0.0,,,&quot;B&quot;;[&gt;=1000000]0.0,,&quot;M&quot;;#,##0" sourceLinked="0"/>
          <c:txPr>
            <a:bodyPr/>
            <a:lstStyle/>
            <a:p>
              <a:pPr>
                <a:defRPr b="1" i="0" strike="noStrike" sz="1200" u="none">
                  <a:solidFill>
                    <a:srgbClr val="0B1030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B103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logBase val="10"/>
          <c:orientation val="minMax"/>
          <c:max val="1000000000000"/>
          <c:min val="1000"/>
        </c:scaling>
        <c:delete val="1"/>
        <c:axPos val="l"/>
        <c:majorGridlines>
          <c:spPr>
            <a:ln w="9525" cap="flat">
              <a:solidFill>
                <a:srgbClr val="CBD5F5"/>
              </a:solidFill>
              <a:prstDash val="solid"/>
              <a:round/>
            </a:ln>
          </c:spPr>
        </c:majorGridlines>
        <c:numFmt formatCode="[&gt;=1000000000]0,,,&quot;B&quot;;[&gt;=1000000]0,,&quot;M&quot;;0,&quot;K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B103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10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a question: your phone has about 15-20 billion transistors. Can chips keep shrinking forever? Today we meet the idea that may complement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parts, about 40-45 minutes with the activities.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1 sets the problem before we meet the solution idea.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out the log axis: a straight line means constant doubling. Intel 4004 = 2,300; 286 = 134 thousand; Pentium = 3.1 million; Pentium 4 = 42 million; Core 2 Duo = 291 million; Ivy Bridge quad-core = 1.4 billion; AMD EPYC (2017) = 19.2 billion; Apple M1 Ultra (2022) = 114 billion.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clear that classical chips are not dead. The idea of quantum computing is to solve some problems differently, not to speed up everything.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Electrons behave like waves of probability. A wave does not stop abruptly at a wall: a small part continues inside, and if the wall is thin enough it comes out the other side. The same quantum rules that cause these leaks also make quantum computers possible.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2: the core ideas. Keep analogies simple and be honest about their limits.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sphere is the Bloch sphere: north pole = 0, south pole = 1, any other point = a superposition.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most common misconception, so say it out loud. Entanglement analogy: two magic coins that always land the same way, though each alone is random.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2^50 = 1.13 x 10^15; at 16 bytes per complex number that is about 18 PB. 2^300 is about 2 x 10^90.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technology has won yet. Each has trade-offs in speed, accuracy, and how easy it is to scale.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systems use a dilution refrigerator. Temperatures are approximate; they differ between machines.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Qubit counts and error-correction milestones change quickly. Check recent news from IBM, Google, Quantinuum and others before class.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3: where quantum may help, and where it may 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Ask: which of these matters most for Egypt? Fertiliser, water, medicine and logistics make good local examples.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balanced: the benefits are real but problem-specific. Grover's search gives a square-root speed-up; Shor's factoring gives an exponential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NIST published FIPS 203 (ML-KEM), 204 (ML-DSA) and 205 (SLH-DSA) in August 2024. Recent research estimates RSA-2048 might fall to under a million noisy qubits; today's machines are far smaller.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Great discussion slide: ask students which myth they believed before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4 answers the question: is quantum the solution to the end of shrinking?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 the premise gently: quantum computing does not rescue Moore's law for everyday chips. It adds a new kind of processor.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Intel has demonstrated silicon spin-qubit chips made in its own factories. Superconducting qubit chips use fabrication steps similar to semiconductor manufacturing.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Bell-state circuit. Run it on a simulator in class (pip install qiskit qiskit-aer). Students can see the entanglement in the results.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Click to reveal each answer. Give students 20 seconds per question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groups five minutes, then share.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Suggested follow-up: a lab where students run the Bell-state circuit and plot the results.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676656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altLang="en-US" sz="4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4023360"/>
            <a:ext cx="6400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altLang="en-US" sz="22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931920" y="2103120"/>
            <a:ext cx="768096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alt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3931920" y="3611880"/>
            <a:ext cx="76809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altLang="en-US" sz="22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altLang="en-US" sz="3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100" dirty="0">
                <a:solidFill>
                  <a:schemeClr val="tx2"/>
                </a:solidFill>
              </a:rPr>
              <a:t>Quantum Computing  |  Secondary School Technology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alt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100" dirty="0">
                <a:solidFill>
                  <a:schemeClr val="bg2"/>
                </a:solidFill>
              </a:rPr>
              <a:t>Quantum Computing  |  Secondary School Technology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slideLayout" Target="../slideLayouts/slideLayout5.xml"/><Relationship Id="rId8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4_halo0"/>
          <p:cNvSpPr/>
          <p:nvPr/>
        </p:nvSpPr>
        <p:spPr>
          <a:xfrm>
            <a:off x="7223760" y="914400"/>
            <a:ext cx="5029200" cy="5029200"/>
          </a:xfrm>
          <a:prstGeom prst="ellipse">
            <a:avLst/>
          </a:prstGeom>
          <a:solidFill>
            <a:schemeClr val="accent1">
              <a:alpha val="0"/>
            </a:schemeClr>
          </a:solidFill>
          <a:ln w="19050">
            <a:solidFill>
              <a:schemeClr val="accent1">
                <a:alpha val="55000"/>
              </a:schemeClr>
            </a:solidFill>
            <a:prstDash val="solid"/>
          </a:ln>
        </p:spPr>
      </p:sp>
      <p:sp>
        <p:nvSpPr>
          <p:cNvPr id="4" name="a4_halo1"/>
          <p:cNvSpPr/>
          <p:nvPr/>
        </p:nvSpPr>
        <p:spPr>
          <a:xfrm>
            <a:off x="8028432" y="1719072"/>
            <a:ext cx="3419856" cy="3419856"/>
          </a:xfrm>
          <a:prstGeom prst="ellipse">
            <a:avLst/>
          </a:prstGeom>
          <a:solidFill>
            <a:schemeClr val="accent1">
              <a:alpha val="0"/>
            </a:schemeClr>
          </a:solidFill>
          <a:ln w="19050">
            <a:solidFill>
              <a:schemeClr val="accent2">
                <a:alpha val="55000"/>
              </a:schemeClr>
            </a:solidFill>
            <a:prstDash val="solid"/>
          </a:ln>
        </p:spPr>
      </p:sp>
      <p:sp>
        <p:nvSpPr>
          <p:cNvPr id="5" name="a4_halo2"/>
          <p:cNvSpPr/>
          <p:nvPr/>
        </p:nvSpPr>
        <p:spPr>
          <a:xfrm>
            <a:off x="8782812" y="2473452"/>
            <a:ext cx="1911096" cy="1911096"/>
          </a:xfrm>
          <a:prstGeom prst="ellipse">
            <a:avLst/>
          </a:prstGeom>
          <a:solidFill>
            <a:schemeClr val="accent1">
              <a:alpha val="0"/>
            </a:schemeClr>
          </a:solidFill>
          <a:ln w="19050">
            <a:solidFill>
              <a:schemeClr val="accent1">
                <a:alpha val="55000"/>
              </a:schemeClr>
            </a:solidFill>
            <a:prstDash val="solid"/>
          </a:ln>
        </p:spPr>
      </p:sp>
      <p:sp>
        <p:nvSpPr>
          <p:cNvPr id="6" name="a4_ico_core"/>
          <p:cNvSpPr/>
          <p:nvPr/>
        </p:nvSpPr>
        <p:spPr>
          <a:xfrm>
            <a:off x="9418320" y="31089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a4_ico_e0"/>
          <p:cNvSpPr/>
          <p:nvPr/>
        </p:nvSpPr>
        <p:spPr>
          <a:xfrm>
            <a:off x="11762249" y="2040557"/>
            <a:ext cx="365760" cy="36576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8" name="a4_ico_e1"/>
          <p:cNvSpPr/>
          <p:nvPr/>
        </p:nvSpPr>
        <p:spPr>
          <a:xfrm>
            <a:off x="8443628" y="4548654"/>
            <a:ext cx="310896" cy="310896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9" name="a4_ico_e2"/>
          <p:cNvSpPr/>
          <p:nvPr/>
        </p:nvSpPr>
        <p:spPr>
          <a:xfrm>
            <a:off x="10341187" y="3916565"/>
            <a:ext cx="256032" cy="25603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0" name="a1_pill"/>
          <p:cNvSpPr/>
          <p:nvPr/>
        </p:nvSpPr>
        <p:spPr>
          <a:xfrm>
            <a:off x="731520" y="914400"/>
            <a:ext cx="5120640" cy="4572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11" name="a1_pill_t"/>
          <p:cNvSpPr txBox="1"/>
          <p:nvPr/>
        </p:nvSpPr>
        <p:spPr>
          <a:xfrm>
            <a:off x="731520" y="9144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300" b="1" spc="100" kern="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 ·  SECONDARY SCHOOL</a:t>
            </a:r>
            <a:endParaRPr lang="en-US" sz="1300" dirty="0"/>
          </a:p>
        </p:txBody>
      </p:sp>
      <p:sp>
        <p:nvSpPr>
          <p:cNvPr id="12" name="Text 0"/>
          <p:cNvSpPr/>
          <p:nvPr>
            <p:ph idx="100" type="title" hasCustomPrompt="1"/>
          </p:nvPr>
        </p:nvSpPr>
        <p:spPr>
          <a:xfrm>
            <a:off x="731520" y="1828800"/>
            <a:ext cx="6766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altLang="en-US" sz="4600" b="1" dirty="0">
                <a:solidFill>
                  <a:schemeClr val="bg1"/>
                </a:solidFill>
              </a:rPr>
              <a:t>Quantum Computing</a:t>
            </a:r>
            <a:endParaRPr lang="en-US" sz="4600" dirty="0"/>
          </a:p>
        </p:txBody>
      </p:sp>
      <p:sp>
        <p:nvSpPr>
          <p:cNvPr id="13" name="Text 0"/>
          <p:cNvSpPr/>
          <p:nvPr>
            <p:ph idx="101" type="body" hasCustomPrompt="1"/>
          </p:nvPr>
        </p:nvSpPr>
        <p:spPr>
          <a:xfrm>
            <a:off x="731520" y="402336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200" dirty="0">
                <a:solidFill>
                  <a:schemeClr val="bg2"/>
                </a:solidFill>
              </a:rPr>
              <a:t>A new way to compute, and what it means for the chips of tomorrow</a:t>
            </a:r>
            <a:endParaRPr lang="en-US" sz="22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rippl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6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53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53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53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53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3400" b="1" dirty="0">
                <a:solidFill>
                  <a:schemeClr val="tx1"/>
                </a:solidFill>
              </a:rPr>
              <a:t>Today's journey</a:t>
            </a:r>
            <a:endParaRPr lang="en-US" sz="3400" dirty="0"/>
          </a:p>
        </p:txBody>
      </p:sp>
      <p:sp>
        <p:nvSpPr>
          <p:cNvPr id="4" name="a1_card"/>
          <p:cNvSpPr/>
          <p:nvPr/>
        </p:nvSpPr>
        <p:spPr>
          <a:xfrm>
            <a:off x="548640" y="1645920"/>
            <a:ext cx="2567864" cy="4023360"/>
          </a:xfrm>
          <a:prstGeom prst="roundRect">
            <a:avLst>
              <a:gd name="adj" fmla="val 6410"/>
            </a:avLst>
          </a:prstGeom>
          <a:solidFill>
            <a:schemeClr val="tx2"/>
          </a:solidFill>
          <a:ln/>
          <a:effectLst>
            <a:outerShdw sx="100000" sy="100000" kx="0" ky="0" algn="bl" rotWithShape="0" blurRad="152400" dist="38100" dir="5400000">
              <a:srgbClr val="000000">
                <a:alpha val="16000"/>
              </a:srgbClr>
            </a:outerShdw>
          </a:effectLst>
        </p:spPr>
      </p:sp>
      <p:sp>
        <p:nvSpPr>
          <p:cNvPr id="5" name="a1_ico_bg"/>
          <p:cNvSpPr/>
          <p:nvPr/>
        </p:nvSpPr>
        <p:spPr>
          <a:xfrm>
            <a:off x="868680" y="196596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a1_ico_img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3224" y="2200504"/>
            <a:ext cx="399593" cy="399593"/>
          </a:xfrm>
          <a:prstGeom prst="rect">
            <a:avLst/>
          </a:prstGeom>
        </p:spPr>
      </p:pic>
      <p:sp>
        <p:nvSpPr>
          <p:cNvPr id="7" name="a1_no"/>
          <p:cNvSpPr txBox="1"/>
          <p:nvPr/>
        </p:nvSpPr>
        <p:spPr>
          <a:xfrm>
            <a:off x="2156384" y="192024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44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4400" dirty="0"/>
          </a:p>
        </p:txBody>
      </p:sp>
      <p:sp>
        <p:nvSpPr>
          <p:cNvPr id="8" name="a1_head"/>
          <p:cNvSpPr txBox="1"/>
          <p:nvPr/>
        </p:nvSpPr>
        <p:spPr>
          <a:xfrm>
            <a:off x="868680" y="3246120"/>
            <a:ext cx="1927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do we need it?</a:t>
            </a:r>
            <a:endParaRPr lang="en-US" sz="2300" dirty="0"/>
          </a:p>
        </p:txBody>
      </p:sp>
      <p:sp>
        <p:nvSpPr>
          <p:cNvPr id="9" name="a1_body"/>
          <p:cNvSpPr txBox="1"/>
          <p:nvPr/>
        </p:nvSpPr>
        <p:spPr>
          <a:xfrm>
            <a:off x="868680" y="4160520"/>
            <a:ext cx="19277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limits of shrinking transistors (Moore's law).</a:t>
            </a:r>
            <a:endParaRPr lang="en-US" sz="1600" dirty="0"/>
          </a:p>
        </p:txBody>
      </p:sp>
      <p:sp>
        <p:nvSpPr>
          <p:cNvPr id="10" name="a2_card"/>
          <p:cNvSpPr/>
          <p:nvPr/>
        </p:nvSpPr>
        <p:spPr>
          <a:xfrm>
            <a:off x="3390824" y="1645920"/>
            <a:ext cx="2567864" cy="4023360"/>
          </a:xfrm>
          <a:prstGeom prst="roundRect">
            <a:avLst>
              <a:gd name="adj" fmla="val 641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52400" dist="38100" dir="5400000">
              <a:srgbClr val="000000">
                <a:alpha val="16000"/>
              </a:srgbClr>
            </a:outerShdw>
          </a:effectLst>
        </p:spPr>
      </p:sp>
      <p:sp>
        <p:nvSpPr>
          <p:cNvPr id="11" name="a2_ico_bg"/>
          <p:cNvSpPr/>
          <p:nvPr/>
        </p:nvSpPr>
        <p:spPr>
          <a:xfrm>
            <a:off x="3710864" y="1965960"/>
            <a:ext cx="868680" cy="8686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a2_ico_img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5407" y="2200504"/>
            <a:ext cx="399593" cy="399593"/>
          </a:xfrm>
          <a:prstGeom prst="rect">
            <a:avLst/>
          </a:prstGeom>
        </p:spPr>
      </p:pic>
      <p:sp>
        <p:nvSpPr>
          <p:cNvPr id="13" name="a2_no"/>
          <p:cNvSpPr txBox="1"/>
          <p:nvPr/>
        </p:nvSpPr>
        <p:spPr>
          <a:xfrm>
            <a:off x="4998568" y="192024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4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4400" dirty="0"/>
          </a:p>
        </p:txBody>
      </p:sp>
      <p:sp>
        <p:nvSpPr>
          <p:cNvPr id="14" name="a2_head"/>
          <p:cNvSpPr txBox="1"/>
          <p:nvPr/>
        </p:nvSpPr>
        <p:spPr>
          <a:xfrm>
            <a:off x="3710864" y="3246120"/>
            <a:ext cx="1927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3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it?</a:t>
            </a:r>
            <a:endParaRPr lang="en-US" sz="2300" dirty="0"/>
          </a:p>
        </p:txBody>
      </p:sp>
      <p:sp>
        <p:nvSpPr>
          <p:cNvPr id="15" name="a2_body"/>
          <p:cNvSpPr txBox="1"/>
          <p:nvPr/>
        </p:nvSpPr>
        <p:spPr>
          <a:xfrm>
            <a:off x="3710864" y="4160520"/>
            <a:ext cx="19277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Qubits, superposition, entanglement and interference.</a:t>
            </a:r>
            <a:endParaRPr lang="en-US" sz="1600" dirty="0"/>
          </a:p>
        </p:txBody>
      </p:sp>
      <p:sp>
        <p:nvSpPr>
          <p:cNvPr id="16" name="a3_card"/>
          <p:cNvSpPr/>
          <p:nvPr/>
        </p:nvSpPr>
        <p:spPr>
          <a:xfrm>
            <a:off x="6233008" y="1645920"/>
            <a:ext cx="2567864" cy="4023360"/>
          </a:xfrm>
          <a:prstGeom prst="roundRect">
            <a:avLst>
              <a:gd name="adj" fmla="val 6410"/>
            </a:avLst>
          </a:prstGeom>
          <a:solidFill>
            <a:schemeClr val="tx2"/>
          </a:solidFill>
          <a:ln/>
          <a:effectLst>
            <a:outerShdw sx="100000" sy="100000" kx="0" ky="0" algn="bl" rotWithShape="0" blurRad="152400" dist="38100" dir="5400000">
              <a:srgbClr val="000000">
                <a:alpha val="16000"/>
              </a:srgbClr>
            </a:outerShdw>
          </a:effectLst>
        </p:spPr>
      </p:sp>
      <p:sp>
        <p:nvSpPr>
          <p:cNvPr id="17" name="a3_ico_bg"/>
          <p:cNvSpPr/>
          <p:nvPr/>
        </p:nvSpPr>
        <p:spPr>
          <a:xfrm>
            <a:off x="6553048" y="1965960"/>
            <a:ext cx="868680" cy="8686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8" name="a3_ico_img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7591" y="2200504"/>
            <a:ext cx="399593" cy="399593"/>
          </a:xfrm>
          <a:prstGeom prst="rect">
            <a:avLst/>
          </a:prstGeom>
        </p:spPr>
      </p:pic>
      <p:sp>
        <p:nvSpPr>
          <p:cNvPr id="19" name="a3_no"/>
          <p:cNvSpPr txBox="1"/>
          <p:nvPr/>
        </p:nvSpPr>
        <p:spPr>
          <a:xfrm>
            <a:off x="7840751" y="192024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44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4400" dirty="0"/>
          </a:p>
        </p:txBody>
      </p:sp>
      <p:sp>
        <p:nvSpPr>
          <p:cNvPr id="20" name="a3_head"/>
          <p:cNvSpPr txBox="1"/>
          <p:nvPr/>
        </p:nvSpPr>
        <p:spPr>
          <a:xfrm>
            <a:off x="6553048" y="3246120"/>
            <a:ext cx="1927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and benefits</a:t>
            </a:r>
            <a:endParaRPr lang="en-US" sz="2300" dirty="0"/>
          </a:p>
        </p:txBody>
      </p:sp>
      <p:sp>
        <p:nvSpPr>
          <p:cNvPr id="21" name="a3_body"/>
          <p:cNvSpPr txBox="1"/>
          <p:nvPr/>
        </p:nvSpPr>
        <p:spPr>
          <a:xfrm>
            <a:off x="6553048" y="4160520"/>
            <a:ext cx="19277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Medicine, materials, security, optimisation.</a:t>
            </a:r>
            <a:endParaRPr lang="en-US" sz="1600" dirty="0"/>
          </a:p>
        </p:txBody>
      </p:sp>
      <p:sp>
        <p:nvSpPr>
          <p:cNvPr id="22" name="a4_card"/>
          <p:cNvSpPr/>
          <p:nvPr/>
        </p:nvSpPr>
        <p:spPr>
          <a:xfrm>
            <a:off x="9075191" y="1645920"/>
            <a:ext cx="2567864" cy="4023360"/>
          </a:xfrm>
          <a:prstGeom prst="roundRect">
            <a:avLst>
              <a:gd name="adj" fmla="val 641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52400" dist="38100" dir="5400000">
              <a:srgbClr val="000000">
                <a:alpha val="16000"/>
              </a:srgbClr>
            </a:outerShdw>
          </a:effectLst>
        </p:spPr>
      </p:sp>
      <p:sp>
        <p:nvSpPr>
          <p:cNvPr id="23" name="a4_ico_bg"/>
          <p:cNvSpPr/>
          <p:nvPr/>
        </p:nvSpPr>
        <p:spPr>
          <a:xfrm>
            <a:off x="9395231" y="1965960"/>
            <a:ext cx="868680" cy="86868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4" name="a4_ico_img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9775" y="2200504"/>
            <a:ext cx="399593" cy="399593"/>
          </a:xfrm>
          <a:prstGeom prst="rect">
            <a:avLst/>
          </a:prstGeom>
        </p:spPr>
      </p:pic>
      <p:sp>
        <p:nvSpPr>
          <p:cNvPr id="25" name="a4_no"/>
          <p:cNvSpPr txBox="1"/>
          <p:nvPr/>
        </p:nvSpPr>
        <p:spPr>
          <a:xfrm>
            <a:off x="10682935" y="192024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4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4400" dirty="0"/>
          </a:p>
        </p:txBody>
      </p:sp>
      <p:sp>
        <p:nvSpPr>
          <p:cNvPr id="26" name="a4_head"/>
          <p:cNvSpPr txBox="1"/>
          <p:nvPr/>
        </p:nvSpPr>
        <p:spPr>
          <a:xfrm>
            <a:off x="9395231" y="3246120"/>
            <a:ext cx="1927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3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industry</a:t>
            </a:r>
            <a:endParaRPr lang="en-US" sz="2300" dirty="0"/>
          </a:p>
        </p:txBody>
      </p:sp>
      <p:sp>
        <p:nvSpPr>
          <p:cNvPr id="27" name="a4_body"/>
          <p:cNvSpPr txBox="1"/>
          <p:nvPr/>
        </p:nvSpPr>
        <p:spPr>
          <a:xfrm>
            <a:off x="9395231" y="4160520"/>
            <a:ext cx="19277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quantum fits with the chips we build today.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53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53" presetClass="entr" presetSubtype="0" fill="hold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53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6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6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5" dur="6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53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53" presetClass="entr" presetSubtype="0" fill="hold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4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5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9" dur="6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3" dur="6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6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7" dur="6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5" grpId="0" animBg="1"/>
      <p:bldP spid="26" grpId="0" animBg="1"/>
      <p:bldP spid="2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5_halo"/>
          <p:cNvSpPr/>
          <p:nvPr/>
        </p:nvSpPr>
        <p:spPr>
          <a:xfrm>
            <a:off x="-1371600" y="3931920"/>
            <a:ext cx="4754880" cy="4754880"/>
          </a:xfrm>
          <a:prstGeom prst="ellipse">
            <a:avLst/>
          </a:prstGeom>
          <a:solidFill>
            <a:schemeClr val="accent1">
              <a:alpha val="18000"/>
            </a:schemeClr>
          </a:solidFill>
          <a:ln/>
        </p:spPr>
      </p:sp>
      <p:sp>
        <p:nvSpPr>
          <p:cNvPr id="4" name="a5_halo2"/>
          <p:cNvSpPr/>
          <p:nvPr/>
        </p:nvSpPr>
        <p:spPr>
          <a:xfrm>
            <a:off x="9692640" y="-1371600"/>
            <a:ext cx="3657600" cy="3657600"/>
          </a:xfrm>
          <a:prstGeom prst="ellipse">
            <a:avLst/>
          </a:prstGeom>
          <a:solidFill>
            <a:schemeClr val="accent2">
              <a:alpha val="20000"/>
            </a:schemeClr>
          </a:solidFill>
          <a:ln/>
        </p:spPr>
      </p:sp>
      <p:sp>
        <p:nvSpPr>
          <p:cNvPr id="5" name="a1_num"/>
          <p:cNvSpPr txBox="1"/>
          <p:nvPr/>
        </p:nvSpPr>
        <p:spPr>
          <a:xfrm>
            <a:off x="640080" y="1463040"/>
            <a:ext cx="3108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9000" b="1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90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3931920" y="2103120"/>
            <a:ext cx="7680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altLang="en-US" sz="4400" b="1" dirty="0">
                <a:solidFill>
                  <a:schemeClr val="bg1"/>
                </a:solidFill>
              </a:rPr>
              <a:t>Why do we need it?</a:t>
            </a:r>
            <a:endParaRPr lang="en-US" sz="44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3931920" y="36118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200" dirty="0">
                <a:solidFill>
                  <a:schemeClr val="bg2"/>
                </a:solidFill>
              </a:rPr>
              <a:t>The end of easy chip shrinking</a:t>
            </a:r>
            <a:endParaRPr lang="en-US" sz="22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300">
        <p14:prism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6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3400" b="1" dirty="0">
                <a:solidFill>
                  <a:schemeClr val="tx1"/>
                </a:solidFill>
              </a:rPr>
              <a:t>More transistors, every two years… until now</a:t>
            </a:r>
            <a:endParaRPr lang="en-US" sz="3400" dirty="0"/>
          </a:p>
        </p:txBody>
      </p:sp>
      <p:graphicFrame>
        <p:nvGraphicFramePr>
          <p:cNvPr id="4" name="a1_chart" descr=""/>
          <p:cNvGraphicFramePr/>
          <p:nvPr/>
        </p:nvGraphicFramePr>
        <p:xfrm>
          <a:off x="548640" y="1463040"/>
          <a:ext cx="704088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a2_card"/>
          <p:cNvSpPr/>
          <p:nvPr/>
        </p:nvSpPr>
        <p:spPr>
          <a:xfrm>
            <a:off x="7955280" y="1508760"/>
            <a:ext cx="3685032" cy="13716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/>
        </p:spPr>
      </p:sp>
      <p:sp>
        <p:nvSpPr>
          <p:cNvPr id="6" name="a2_big"/>
          <p:cNvSpPr txBox="1"/>
          <p:nvPr/>
        </p:nvSpPr>
        <p:spPr>
          <a:xfrm>
            <a:off x="8183880" y="1581912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9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Moore's law</a:t>
            </a:r>
            <a:endParaRPr lang="en-US" sz="1900" dirty="0"/>
          </a:p>
        </p:txBody>
      </p:sp>
      <p:sp>
        <p:nvSpPr>
          <p:cNvPr id="7" name="a2_text"/>
          <p:cNvSpPr txBox="1"/>
          <p:nvPr/>
        </p:nvSpPr>
        <p:spPr>
          <a:xfrm>
            <a:off x="8183880" y="210312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1965: the number of transistors on a chip doubles about every two years.</a:t>
            </a:r>
            <a:endParaRPr lang="en-US" sz="1400" dirty="0"/>
          </a:p>
        </p:txBody>
      </p:sp>
      <p:sp>
        <p:nvSpPr>
          <p:cNvPr id="8" name="a3_card"/>
          <p:cNvSpPr/>
          <p:nvPr/>
        </p:nvSpPr>
        <p:spPr>
          <a:xfrm>
            <a:off x="7955280" y="2990088"/>
            <a:ext cx="3685032" cy="13716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/>
        </p:spPr>
      </p:sp>
      <p:sp>
        <p:nvSpPr>
          <p:cNvPr id="9" name="a3_big"/>
          <p:cNvSpPr txBox="1"/>
          <p:nvPr/>
        </p:nvSpPr>
        <p:spPr>
          <a:xfrm>
            <a:off x="8183880" y="306324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9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2,300 → 114 billion</a:t>
            </a:r>
            <a:endParaRPr lang="en-US" sz="1900" dirty="0"/>
          </a:p>
        </p:txBody>
      </p:sp>
      <p:sp>
        <p:nvSpPr>
          <p:cNvPr id="10" name="a3_text"/>
          <p:cNvSpPr txBox="1"/>
          <p:nvPr/>
        </p:nvSpPr>
        <p:spPr>
          <a:xfrm>
            <a:off x="8183880" y="3584448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first microprocessor (Intel 4004, 1971) to Apple's M1 Ultra (2022).</a:t>
            </a:r>
            <a:endParaRPr lang="en-US" sz="1400" dirty="0"/>
          </a:p>
        </p:txBody>
      </p:sp>
      <p:sp>
        <p:nvSpPr>
          <p:cNvPr id="11" name="a4_card"/>
          <p:cNvSpPr/>
          <p:nvPr/>
        </p:nvSpPr>
        <p:spPr>
          <a:xfrm>
            <a:off x="7955280" y="4471416"/>
            <a:ext cx="3685032" cy="13716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/>
        </p:spPr>
      </p:sp>
      <p:sp>
        <p:nvSpPr>
          <p:cNvPr id="12" name="a4_big"/>
          <p:cNvSpPr txBox="1"/>
          <p:nvPr/>
        </p:nvSpPr>
        <p:spPr>
          <a:xfrm>
            <a:off x="8183880" y="4544568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9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it is slowing</a:t>
            </a:r>
            <a:endParaRPr lang="en-US" sz="1900" dirty="0"/>
          </a:p>
        </p:txBody>
      </p:sp>
      <p:sp>
        <p:nvSpPr>
          <p:cNvPr id="13" name="a4_text"/>
          <p:cNvSpPr txBox="1"/>
          <p:nvPr/>
        </p:nvSpPr>
        <p:spPr>
          <a:xfrm>
            <a:off x="8183880" y="5065776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Clock speeds have been stuck near 3-5 GHz since the mid-2000s.</a:t>
            </a:r>
            <a:endParaRPr lang="en-US" sz="1400" dirty="0"/>
          </a:p>
        </p:txBody>
      </p:sp>
      <p:sp>
        <p:nvSpPr>
          <p:cNvPr id="14" name="a6_source"/>
          <p:cNvSpPr txBox="1"/>
          <p:nvPr/>
        </p:nvSpPr>
        <p:spPr>
          <a:xfrm>
            <a:off x="548640" y="5989320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1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Approximate public figures for well-known processors. The vertical scale is logarithmic: each gridline is ×1,000.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3400" b="1" dirty="0">
                <a:solidFill>
                  <a:schemeClr val="tx1"/>
                </a:solidFill>
              </a:rPr>
              <a:t>Why shrinking is getting harder</a:t>
            </a:r>
            <a:endParaRPr lang="en-US" sz="3400" dirty="0"/>
          </a:p>
        </p:txBody>
      </p:sp>
      <p:sp>
        <p:nvSpPr>
          <p:cNvPr id="4" name="a1_card"/>
          <p:cNvSpPr/>
          <p:nvPr/>
        </p:nvSpPr>
        <p:spPr>
          <a:xfrm>
            <a:off x="548640" y="1600200"/>
            <a:ext cx="3515258" cy="3520440"/>
          </a:xfrm>
          <a:prstGeom prst="roundRect">
            <a:avLst>
              <a:gd name="adj" fmla="val 4682"/>
            </a:avLst>
          </a:prstGeom>
          <a:solidFill>
            <a:schemeClr val="bg2"/>
          </a:solidFill>
          <a:ln/>
        </p:spPr>
      </p:sp>
      <p:sp>
        <p:nvSpPr>
          <p:cNvPr id="5" name="a1_ico_bg"/>
          <p:cNvSpPr/>
          <p:nvPr/>
        </p:nvSpPr>
        <p:spPr>
          <a:xfrm>
            <a:off x="868680" y="187452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a1_ico_img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0879" y="2096719"/>
            <a:ext cx="378562" cy="378562"/>
          </a:xfrm>
          <a:prstGeom prst="rect">
            <a:avLst/>
          </a:prstGeom>
        </p:spPr>
      </p:pic>
      <p:sp>
        <p:nvSpPr>
          <p:cNvPr id="7" name="a1_head"/>
          <p:cNvSpPr txBox="1"/>
          <p:nvPr/>
        </p:nvSpPr>
        <p:spPr>
          <a:xfrm>
            <a:off x="868680" y="2788920"/>
            <a:ext cx="28751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2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Atoms are the limit</a:t>
            </a:r>
            <a:endParaRPr lang="en-US" sz="2200" dirty="0"/>
          </a:p>
        </p:txBody>
      </p:sp>
      <p:sp>
        <p:nvSpPr>
          <p:cNvPr id="8" name="a1_body"/>
          <p:cNvSpPr txBox="1"/>
          <p:nvPr/>
        </p:nvSpPr>
        <p:spPr>
          <a:xfrm>
            <a:off x="868680" y="3657600"/>
            <a:ext cx="287517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silicon atom is about 0.2 nm wide. The tiniest parts of a modern transistor are only tens of atoms across.</a:t>
            </a:r>
            <a:endParaRPr lang="en-US" sz="1600" dirty="0"/>
          </a:p>
        </p:txBody>
      </p:sp>
      <p:sp>
        <p:nvSpPr>
          <p:cNvPr id="9" name="a2_card"/>
          <p:cNvSpPr/>
          <p:nvPr/>
        </p:nvSpPr>
        <p:spPr>
          <a:xfrm>
            <a:off x="4338218" y="1600200"/>
            <a:ext cx="3515258" cy="3520440"/>
          </a:xfrm>
          <a:prstGeom prst="roundRect">
            <a:avLst>
              <a:gd name="adj" fmla="val 4682"/>
            </a:avLst>
          </a:prstGeom>
          <a:solidFill>
            <a:schemeClr val="bg2"/>
          </a:solidFill>
          <a:ln/>
        </p:spPr>
      </p:sp>
      <p:sp>
        <p:nvSpPr>
          <p:cNvPr id="10" name="a2_ico_bg"/>
          <p:cNvSpPr/>
          <p:nvPr/>
        </p:nvSpPr>
        <p:spPr>
          <a:xfrm>
            <a:off x="4658258" y="1874520"/>
            <a:ext cx="822960" cy="82296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1" name="a2_ico_img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0458" y="2096719"/>
            <a:ext cx="378562" cy="378562"/>
          </a:xfrm>
          <a:prstGeom prst="rect">
            <a:avLst/>
          </a:prstGeom>
        </p:spPr>
      </p:pic>
      <p:sp>
        <p:nvSpPr>
          <p:cNvPr id="12" name="a2_head"/>
          <p:cNvSpPr txBox="1"/>
          <p:nvPr/>
        </p:nvSpPr>
        <p:spPr>
          <a:xfrm>
            <a:off x="4658258" y="2788920"/>
            <a:ext cx="28751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2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2200" dirty="0"/>
          </a:p>
        </p:txBody>
      </p:sp>
      <p:sp>
        <p:nvSpPr>
          <p:cNvPr id="13" name="a2_body"/>
          <p:cNvSpPr txBox="1"/>
          <p:nvPr/>
        </p:nvSpPr>
        <p:spPr>
          <a:xfrm>
            <a:off x="4658258" y="3657600"/>
            <a:ext cx="287517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Billions of switches packed into a thumbnail-sized chip create intense heat that is hard to remove.</a:t>
            </a:r>
            <a:endParaRPr lang="en-US" sz="1600" dirty="0"/>
          </a:p>
        </p:txBody>
      </p:sp>
      <p:sp>
        <p:nvSpPr>
          <p:cNvPr id="14" name="a3_card"/>
          <p:cNvSpPr/>
          <p:nvPr/>
        </p:nvSpPr>
        <p:spPr>
          <a:xfrm>
            <a:off x="8127797" y="1600200"/>
            <a:ext cx="3515258" cy="3520440"/>
          </a:xfrm>
          <a:prstGeom prst="roundRect">
            <a:avLst>
              <a:gd name="adj" fmla="val 4682"/>
            </a:avLst>
          </a:prstGeom>
          <a:solidFill>
            <a:schemeClr val="bg2"/>
          </a:solidFill>
          <a:ln/>
        </p:spPr>
      </p:sp>
      <p:sp>
        <p:nvSpPr>
          <p:cNvPr id="15" name="a3_ico_bg"/>
          <p:cNvSpPr/>
          <p:nvPr/>
        </p:nvSpPr>
        <p:spPr>
          <a:xfrm>
            <a:off x="8447837" y="1874520"/>
            <a:ext cx="822960" cy="82296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6" name="a3_ico_img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0036" y="2096719"/>
            <a:ext cx="378562" cy="378562"/>
          </a:xfrm>
          <a:prstGeom prst="rect">
            <a:avLst/>
          </a:prstGeom>
        </p:spPr>
      </p:pic>
      <p:sp>
        <p:nvSpPr>
          <p:cNvPr id="17" name="a3_head"/>
          <p:cNvSpPr txBox="1"/>
          <p:nvPr/>
        </p:nvSpPr>
        <p:spPr>
          <a:xfrm>
            <a:off x="8447837" y="2788920"/>
            <a:ext cx="28751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2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 leaks</a:t>
            </a:r>
            <a:endParaRPr lang="en-US" sz="2200" dirty="0"/>
          </a:p>
        </p:txBody>
      </p:sp>
      <p:sp>
        <p:nvSpPr>
          <p:cNvPr id="18" name="a3_body"/>
          <p:cNvSpPr txBox="1"/>
          <p:nvPr/>
        </p:nvSpPr>
        <p:spPr>
          <a:xfrm>
            <a:off x="8447837" y="3657600"/>
            <a:ext cx="287517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this scale electrons can 'tunnel' through thin barriers (see next slide), so switches leak current.</a:t>
            </a:r>
            <a:endParaRPr lang="en-US" sz="1600" dirty="0"/>
          </a:p>
        </p:txBody>
      </p:sp>
      <p:sp>
        <p:nvSpPr>
          <p:cNvPr id="19" name="a4_note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6842"/>
            </a:avLst>
          </a:prstGeom>
          <a:solidFill>
            <a:schemeClr val="tx2"/>
          </a:solidFill>
          <a:ln/>
        </p:spPr>
      </p:sp>
      <p:pic>
        <p:nvPicPr>
          <p:cNvPr id="20" name="a4_note_ic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5550408"/>
            <a:ext cx="365760" cy="365760"/>
          </a:xfrm>
          <a:prstGeom prst="rect">
            <a:avLst/>
          </a:prstGeom>
        </p:spPr>
      </p:pic>
      <p:sp>
        <p:nvSpPr>
          <p:cNvPr id="21" name="a4_note_t"/>
          <p:cNvSpPr txBox="1"/>
          <p:nvPr/>
        </p:nvSpPr>
        <p:spPr>
          <a:xfrm>
            <a:off x="1463040" y="5303520"/>
            <a:ext cx="9814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7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Engineers still find tricks (3D stacking, chiplets, new materials). Quantum computing is a different path: not a faster chip, but a different kind of computer.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53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53" presetClass="entr" presetSubtype="0" fill="hold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53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53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5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9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6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6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8" grpId="0" animBg="1"/>
      <p:bldP spid="9" grpId="0" animBg="1"/>
      <p:bldP spid="10" grpId="0" animBg="1"/>
      <p:bldP spid="12" grpId="0" animBg="1"/>
      <p:bldP spid="13" grpId="0" animBg="1"/>
      <p:bldP spid="14" grpId="0" animBg="1"/>
      <p:bldP spid="15" grpId="0" animBg="1"/>
      <p:bldP spid="17" grpId="0" animBg="1"/>
      <p:bldP spid="18" grpId="0" animBg="1"/>
      <p:bldP spid="19" grpId="0" animBg="1"/>
      <p:bldP spid="2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3400" b="1" dirty="0">
                <a:solidFill>
                  <a:schemeClr val="tx1"/>
                </a:solidFill>
              </a:rPr>
              <a:t>Quantum tunnelling: electrons slipping through</a:t>
            </a:r>
            <a:endParaRPr lang="en-US" sz="3400" dirty="0"/>
          </a:p>
        </p:txBody>
      </p:sp>
      <p:sp>
        <p:nvSpPr>
          <p:cNvPr id="4" name="a1_card"/>
          <p:cNvSpPr/>
          <p:nvPr/>
        </p:nvSpPr>
        <p:spPr>
          <a:xfrm>
            <a:off x="548640" y="1463040"/>
            <a:ext cx="5440680" cy="2331720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/>
        </p:spPr>
      </p:sp>
      <p:sp>
        <p:nvSpPr>
          <p:cNvPr id="5" name="a1_head"/>
          <p:cNvSpPr txBox="1"/>
          <p:nvPr/>
        </p:nvSpPr>
        <p:spPr>
          <a:xfrm>
            <a:off x="868680" y="155448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9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thick barrier</a:t>
            </a:r>
            <a:endParaRPr lang="en-US" sz="1900" dirty="0"/>
          </a:p>
        </p:txBody>
      </p:sp>
      <p:sp>
        <p:nvSpPr>
          <p:cNvPr id="6" name="a1_barrier"/>
          <p:cNvSpPr/>
          <p:nvPr/>
        </p:nvSpPr>
        <p:spPr>
          <a:xfrm>
            <a:off x="2560320" y="2029968"/>
            <a:ext cx="1371600" cy="1188720"/>
          </a:xfrm>
          <a:prstGeom prst="rect">
            <a:avLst/>
          </a:prstGeom>
          <a:solidFill>
            <a:schemeClr val="accent3">
              <a:alpha val="75000"/>
            </a:schemeClr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a1_ico_wave"/>
          <p:cNvSpPr/>
          <p:nvPr/>
        </p:nvSpPr>
        <p:spPr>
          <a:xfrm>
            <a:off x="1051560" y="2029968"/>
            <a:ext cx="4617720" cy="1188720"/>
          </a:xfrm>
          <a:custGeom>
            <a:avLst/>
            <a:gdLst/>
            <a:ahLst/>
            <a:cxnLst/>
            <a:rect l="l" t="t" r="r" b="b"/>
            <a:pathLst>
              <a:path w="4617720" h="1188720">
                <a:moveTo>
                  <a:pt x="0" y="594360"/>
                </a:moveTo>
                <a:lnTo>
                  <a:pt x="28861" y="445999"/>
                </a:lnTo>
                <a:lnTo>
                  <a:pt x="57721" y="320673"/>
                </a:lnTo>
                <a:lnTo>
                  <a:pt x="86582" y="237839"/>
                </a:lnTo>
                <a:lnTo>
                  <a:pt x="115443" y="210359"/>
                </a:lnTo>
                <a:lnTo>
                  <a:pt x="144304" y="242500"/>
                </a:lnTo>
                <a:lnTo>
                  <a:pt x="173165" y="329270"/>
                </a:lnTo>
                <a:lnTo>
                  <a:pt x="202025" y="457199"/>
                </a:lnTo>
                <a:lnTo>
                  <a:pt x="230886" y="606423"/>
                </a:lnTo>
                <a:lnTo>
                  <a:pt x="259747" y="753775"/>
                </a:lnTo>
                <a:lnTo>
                  <a:pt x="288608" y="876375"/>
                </a:lnTo>
                <a:lnTo>
                  <a:pt x="317468" y="955190"/>
                </a:lnTo>
                <a:lnTo>
                  <a:pt x="346329" y="977982"/>
                </a:lnTo>
                <a:lnTo>
                  <a:pt x="375190" y="941212"/>
                </a:lnTo>
                <a:lnTo>
                  <a:pt x="404051" y="850590"/>
                </a:lnTo>
                <a:lnTo>
                  <a:pt x="432911" y="720186"/>
                </a:lnTo>
                <a:lnTo>
                  <a:pt x="461772" y="570245"/>
                </a:lnTo>
                <a:lnTo>
                  <a:pt x="490633" y="424049"/>
                </a:lnTo>
                <a:lnTo>
                  <a:pt x="519494" y="304296"/>
                </a:lnTo>
                <a:lnTo>
                  <a:pt x="548354" y="229578"/>
                </a:lnTo>
                <a:lnTo>
                  <a:pt x="577215" y="211496"/>
                </a:lnTo>
                <a:lnTo>
                  <a:pt x="606076" y="252858"/>
                </a:lnTo>
                <a:lnTo>
                  <a:pt x="634937" y="347242"/>
                </a:lnTo>
                <a:lnTo>
                  <a:pt x="663797" y="479994"/>
                </a:lnTo>
                <a:lnTo>
                  <a:pt x="692658" y="630502"/>
                </a:lnTo>
                <a:lnTo>
                  <a:pt x="721519" y="775399"/>
                </a:lnTo>
                <a:lnTo>
                  <a:pt x="750380" y="892188"/>
                </a:lnTo>
                <a:lnTo>
                  <a:pt x="779240" y="962735"/>
                </a:lnTo>
                <a:lnTo>
                  <a:pt x="808101" y="976089"/>
                </a:lnTo>
                <a:lnTo>
                  <a:pt x="836962" y="930175"/>
                </a:lnTo>
                <a:lnTo>
                  <a:pt x="865823" y="832122"/>
                </a:lnTo>
                <a:lnTo>
                  <a:pt x="894683" y="697154"/>
                </a:lnTo>
                <a:lnTo>
                  <a:pt x="923544" y="546226"/>
                </a:lnTo>
                <a:lnTo>
                  <a:pt x="952405" y="402772"/>
                </a:lnTo>
                <a:lnTo>
                  <a:pt x="981266" y="289063"/>
                </a:lnTo>
                <a:lnTo>
                  <a:pt x="1010126" y="222756"/>
                </a:lnTo>
                <a:lnTo>
                  <a:pt x="1038987" y="214143"/>
                </a:lnTo>
                <a:lnTo>
                  <a:pt x="1067848" y="264564"/>
                </a:lnTo>
                <a:lnTo>
                  <a:pt x="1096709" y="366189"/>
                </a:lnTo>
                <a:lnTo>
                  <a:pt x="1125569" y="503240"/>
                </a:lnTo>
                <a:lnTo>
                  <a:pt x="1154430" y="654438"/>
                </a:lnTo>
                <a:lnTo>
                  <a:pt x="1183291" y="796309"/>
                </a:lnTo>
                <a:lnTo>
                  <a:pt x="1212152" y="906825"/>
                </a:lnTo>
                <a:lnTo>
                  <a:pt x="1241012" y="968827"/>
                </a:lnTo>
                <a:lnTo>
                  <a:pt x="1269873" y="972689"/>
                </a:lnTo>
                <a:lnTo>
                  <a:pt x="1298734" y="917812"/>
                </a:lnTo>
                <a:lnTo>
                  <a:pt x="1327595" y="812715"/>
                </a:lnTo>
                <a:lnTo>
                  <a:pt x="1356455" y="673716"/>
                </a:lnTo>
                <a:lnTo>
                  <a:pt x="1385316" y="522397"/>
                </a:lnTo>
                <a:lnTo>
                  <a:pt x="1414177" y="382250"/>
                </a:lnTo>
                <a:lnTo>
                  <a:pt x="1443038" y="275036"/>
                </a:lnTo>
                <a:lnTo>
                  <a:pt x="1471898" y="217400"/>
                </a:lnTo>
                <a:lnTo>
                  <a:pt x="1500759" y="218291"/>
                </a:lnTo>
                <a:lnTo>
                  <a:pt x="1529620" y="294084"/>
                </a:lnTo>
                <a:lnTo>
                  <a:pt x="1558481" y="410992"/>
                </a:lnTo>
                <a:lnTo>
                  <a:pt x="1587341" y="539176"/>
                </a:lnTo>
                <a:lnTo>
                  <a:pt x="1616202" y="657948"/>
                </a:lnTo>
                <a:lnTo>
                  <a:pt x="1645063" y="750876"/>
                </a:lnTo>
                <a:lnTo>
                  <a:pt x="1673924" y="807645"/>
                </a:lnTo>
                <a:lnTo>
                  <a:pt x="1702784" y="824760"/>
                </a:lnTo>
                <a:lnTo>
                  <a:pt x="1731645" y="805126"/>
                </a:lnTo>
                <a:lnTo>
                  <a:pt x="1760506" y="756734"/>
                </a:lnTo>
                <a:lnTo>
                  <a:pt x="1789367" y="690766"/>
                </a:lnTo>
                <a:lnTo>
                  <a:pt x="1818227" y="619491"/>
                </a:lnTo>
                <a:lnTo>
                  <a:pt x="1847088" y="554277"/>
                </a:lnTo>
                <a:lnTo>
                  <a:pt x="1875949" y="504026"/>
                </a:lnTo>
                <a:lnTo>
                  <a:pt x="1904810" y="474178"/>
                </a:lnTo>
                <a:lnTo>
                  <a:pt x="1933670" y="466379"/>
                </a:lnTo>
                <a:lnTo>
                  <a:pt x="1962531" y="478759"/>
                </a:lnTo>
                <a:lnTo>
                  <a:pt x="1991392" y="506690"/>
                </a:lnTo>
                <a:lnTo>
                  <a:pt x="2020253" y="543862"/>
                </a:lnTo>
                <a:lnTo>
                  <a:pt x="2049113" y="583454"/>
                </a:lnTo>
                <a:lnTo>
                  <a:pt x="2077974" y="619223"/>
                </a:lnTo>
                <a:lnTo>
                  <a:pt x="2106835" y="646356"/>
                </a:lnTo>
                <a:lnTo>
                  <a:pt x="2135696" y="661991"/>
                </a:lnTo>
                <a:lnTo>
                  <a:pt x="2164556" y="665379"/>
                </a:lnTo>
                <a:lnTo>
                  <a:pt x="2193417" y="657698"/>
                </a:lnTo>
                <a:lnTo>
                  <a:pt x="2222278" y="641620"/>
                </a:lnTo>
                <a:lnTo>
                  <a:pt x="2251139" y="620702"/>
                </a:lnTo>
                <a:lnTo>
                  <a:pt x="2279999" y="598731"/>
                </a:lnTo>
                <a:lnTo>
                  <a:pt x="2308860" y="579133"/>
                </a:lnTo>
                <a:lnTo>
                  <a:pt x="2337721" y="564506"/>
                </a:lnTo>
                <a:lnTo>
                  <a:pt x="2366582" y="556350"/>
                </a:lnTo>
                <a:lnTo>
                  <a:pt x="2395442" y="554990"/>
                </a:lnTo>
                <a:lnTo>
                  <a:pt x="2424303" y="559694"/>
                </a:lnTo>
                <a:lnTo>
                  <a:pt x="2453164" y="568926"/>
                </a:lnTo>
                <a:lnTo>
                  <a:pt x="2482025" y="580683"/>
                </a:lnTo>
                <a:lnTo>
                  <a:pt x="2510885" y="592863"/>
                </a:lnTo>
                <a:lnTo>
                  <a:pt x="2539746" y="603589"/>
                </a:lnTo>
                <a:lnTo>
                  <a:pt x="2568607" y="611461"/>
                </a:lnTo>
                <a:lnTo>
                  <a:pt x="2597468" y="615696"/>
                </a:lnTo>
                <a:lnTo>
                  <a:pt x="2626328" y="616164"/>
                </a:lnTo>
                <a:lnTo>
                  <a:pt x="2655189" y="613312"/>
                </a:lnTo>
                <a:lnTo>
                  <a:pt x="2684050" y="608024"/>
                </a:lnTo>
                <a:lnTo>
                  <a:pt x="2712911" y="601424"/>
                </a:lnTo>
                <a:lnTo>
                  <a:pt x="2741771" y="594679"/>
                </a:lnTo>
                <a:lnTo>
                  <a:pt x="2770632" y="588814"/>
                </a:lnTo>
                <a:lnTo>
                  <a:pt x="2799493" y="584585"/>
                </a:lnTo>
                <a:lnTo>
                  <a:pt x="2828354" y="582398"/>
                </a:lnTo>
                <a:lnTo>
                  <a:pt x="2857214" y="582297"/>
                </a:lnTo>
                <a:lnTo>
                  <a:pt x="2886075" y="573240"/>
                </a:lnTo>
                <a:lnTo>
                  <a:pt x="2914936" y="578259"/>
                </a:lnTo>
                <a:lnTo>
                  <a:pt x="2943797" y="585778"/>
                </a:lnTo>
                <a:lnTo>
                  <a:pt x="2972657" y="594629"/>
                </a:lnTo>
                <a:lnTo>
                  <a:pt x="3001518" y="603439"/>
                </a:lnTo>
                <a:lnTo>
                  <a:pt x="3030379" y="610839"/>
                </a:lnTo>
                <a:lnTo>
                  <a:pt x="3059240" y="615680"/>
                </a:lnTo>
                <a:lnTo>
                  <a:pt x="3088100" y="617211"/>
                </a:lnTo>
                <a:lnTo>
                  <a:pt x="3116961" y="615195"/>
                </a:lnTo>
                <a:lnTo>
                  <a:pt x="3145822" y="609943"/>
                </a:lnTo>
                <a:lnTo>
                  <a:pt x="3174683" y="602272"/>
                </a:lnTo>
                <a:lnTo>
                  <a:pt x="3203543" y="593373"/>
                </a:lnTo>
                <a:lnTo>
                  <a:pt x="3232404" y="584627"/>
                </a:lnTo>
                <a:lnTo>
                  <a:pt x="3261265" y="577392"/>
                </a:lnTo>
                <a:lnTo>
                  <a:pt x="3290126" y="572791"/>
                </a:lnTo>
                <a:lnTo>
                  <a:pt x="3318986" y="571540"/>
                </a:lnTo>
                <a:lnTo>
                  <a:pt x="3347847" y="573831"/>
                </a:lnTo>
                <a:lnTo>
                  <a:pt x="3376708" y="579310"/>
                </a:lnTo>
                <a:lnTo>
                  <a:pt x="3405569" y="587125"/>
                </a:lnTo>
                <a:lnTo>
                  <a:pt x="3434429" y="596064"/>
                </a:lnTo>
                <a:lnTo>
                  <a:pt x="3463290" y="604738"/>
                </a:lnTo>
                <a:lnTo>
                  <a:pt x="3492151" y="611801"/>
                </a:lnTo>
                <a:lnTo>
                  <a:pt x="3521012" y="616156"/>
                </a:lnTo>
                <a:lnTo>
                  <a:pt x="3549872" y="617127"/>
                </a:lnTo>
                <a:lnTo>
                  <a:pt x="3578733" y="614563"/>
                </a:lnTo>
                <a:lnTo>
                  <a:pt x="3607594" y="608862"/>
                </a:lnTo>
                <a:lnTo>
                  <a:pt x="3636455" y="600910"/>
                </a:lnTo>
                <a:lnTo>
                  <a:pt x="3665315" y="591941"/>
                </a:lnTo>
                <a:lnTo>
                  <a:pt x="3694176" y="583347"/>
                </a:lnTo>
                <a:lnTo>
                  <a:pt x="3723037" y="576463"/>
                </a:lnTo>
                <a:lnTo>
                  <a:pt x="3751898" y="572358"/>
                </a:lnTo>
                <a:lnTo>
                  <a:pt x="3780758" y="571669"/>
                </a:lnTo>
                <a:lnTo>
                  <a:pt x="3809619" y="574503"/>
                </a:lnTo>
                <a:lnTo>
                  <a:pt x="3838480" y="580420"/>
                </a:lnTo>
                <a:lnTo>
                  <a:pt x="3867341" y="588501"/>
                </a:lnTo>
                <a:lnTo>
                  <a:pt x="3896201" y="597492"/>
                </a:lnTo>
                <a:lnTo>
                  <a:pt x="3925062" y="605997"/>
                </a:lnTo>
                <a:lnTo>
                  <a:pt x="3953923" y="612695"/>
                </a:lnTo>
                <a:lnTo>
                  <a:pt x="3982784" y="616546"/>
                </a:lnTo>
                <a:lnTo>
                  <a:pt x="4011644" y="616952"/>
                </a:lnTo>
                <a:lnTo>
                  <a:pt x="4040505" y="613851"/>
                </a:lnTo>
                <a:lnTo>
                  <a:pt x="4069366" y="607724"/>
                </a:lnTo>
                <a:lnTo>
                  <a:pt x="4098227" y="599522"/>
                </a:lnTo>
                <a:lnTo>
                  <a:pt x="4127087" y="590518"/>
                </a:lnTo>
                <a:lnTo>
                  <a:pt x="4155948" y="582111"/>
                </a:lnTo>
                <a:lnTo>
                  <a:pt x="4184809" y="575606"/>
                </a:lnTo>
                <a:lnTo>
                  <a:pt x="4213670" y="572012"/>
                </a:lnTo>
                <a:lnTo>
                  <a:pt x="4242530" y="571888"/>
                </a:lnTo>
                <a:lnTo>
                  <a:pt x="4271391" y="575253"/>
                </a:lnTo>
                <a:lnTo>
                  <a:pt x="4300252" y="581585"/>
                </a:lnTo>
                <a:lnTo>
                  <a:pt x="4329113" y="589900"/>
                </a:lnTo>
                <a:lnTo>
                  <a:pt x="4357973" y="598908"/>
                </a:lnTo>
                <a:lnTo>
                  <a:pt x="4386834" y="607209"/>
                </a:lnTo>
                <a:lnTo>
                  <a:pt x="4415695" y="613516"/>
                </a:lnTo>
                <a:lnTo>
                  <a:pt x="4444556" y="616848"/>
                </a:lnTo>
                <a:lnTo>
                  <a:pt x="4473416" y="616689"/>
                </a:lnTo>
                <a:lnTo>
                  <a:pt x="4502277" y="613063"/>
                </a:lnTo>
                <a:lnTo>
                  <a:pt x="4531138" y="606533"/>
                </a:lnTo>
                <a:lnTo>
                  <a:pt x="4559999" y="598113"/>
                </a:lnTo>
                <a:lnTo>
                  <a:pt x="4588859" y="589111"/>
                </a:lnTo>
                <a:lnTo>
                  <a:pt x="4617720" y="580923"/>
                </a:lnTo>
              </a:path>
            </a:pathLst>
          </a:custGeom>
          <a:solidFill>
            <a:schemeClr val="accent1">
              <a:alpha val="0"/>
            </a:schemeClr>
          </a:solidFill>
          <a:ln w="38100">
            <a:solidFill>
              <a:schemeClr val="accent1"/>
            </a:solidFill>
            <a:prstDash val="solid"/>
          </a:ln>
        </p:spPr>
      </p:sp>
      <p:sp>
        <p:nvSpPr>
          <p:cNvPr id="8" name="a1_ico_e"/>
          <p:cNvSpPr/>
          <p:nvPr/>
        </p:nvSpPr>
        <p:spPr>
          <a:xfrm>
            <a:off x="731520" y="2496312"/>
            <a:ext cx="256032" cy="256032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9" name="a1_cap"/>
          <p:cNvSpPr txBox="1"/>
          <p:nvPr/>
        </p:nvSpPr>
        <p:spPr>
          <a:xfrm>
            <a:off x="868680" y="3273552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electron wave fades away. It almost never crosses.</a:t>
            </a:r>
            <a:endParaRPr lang="en-US" sz="1600" dirty="0"/>
          </a:p>
        </p:txBody>
      </p:sp>
      <p:sp>
        <p:nvSpPr>
          <p:cNvPr id="10" name="a2_card"/>
          <p:cNvSpPr/>
          <p:nvPr/>
        </p:nvSpPr>
        <p:spPr>
          <a:xfrm>
            <a:off x="6199632" y="1463040"/>
            <a:ext cx="5440680" cy="2331720"/>
          </a:xfrm>
          <a:prstGeom prst="roundRect">
            <a:avLst>
              <a:gd name="adj" fmla="val 7843"/>
            </a:avLst>
          </a:prstGeom>
          <a:solidFill>
            <a:schemeClr val="tx2"/>
          </a:solidFill>
          <a:ln/>
        </p:spPr>
      </p:sp>
      <p:sp>
        <p:nvSpPr>
          <p:cNvPr id="11" name="a2_head"/>
          <p:cNvSpPr txBox="1"/>
          <p:nvPr/>
        </p:nvSpPr>
        <p:spPr>
          <a:xfrm>
            <a:off x="6519672" y="155448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9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barrier a few atoms thick</a:t>
            </a:r>
            <a:endParaRPr lang="en-US" sz="1900" dirty="0"/>
          </a:p>
        </p:txBody>
      </p:sp>
      <p:sp>
        <p:nvSpPr>
          <p:cNvPr id="12" name="a2_barrier"/>
          <p:cNvSpPr/>
          <p:nvPr/>
        </p:nvSpPr>
        <p:spPr>
          <a:xfrm>
            <a:off x="8805672" y="2029968"/>
            <a:ext cx="320040" cy="1188720"/>
          </a:xfrm>
          <a:prstGeom prst="rect">
            <a:avLst/>
          </a:prstGeom>
          <a:solidFill>
            <a:schemeClr val="accent3">
              <a:alpha val="75000"/>
            </a:schemeClr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3" name="a2_ico_wave"/>
          <p:cNvSpPr/>
          <p:nvPr/>
        </p:nvSpPr>
        <p:spPr>
          <a:xfrm>
            <a:off x="6702552" y="2029968"/>
            <a:ext cx="4617720" cy="1188720"/>
          </a:xfrm>
          <a:custGeom>
            <a:avLst/>
            <a:gdLst/>
            <a:ahLst/>
            <a:cxnLst/>
            <a:rect l="l" t="t" r="r" b="b"/>
            <a:pathLst>
              <a:path w="4617720" h="1188720">
                <a:moveTo>
                  <a:pt x="0" y="594360"/>
                </a:moveTo>
                <a:lnTo>
                  <a:pt x="28861" y="445999"/>
                </a:lnTo>
                <a:lnTo>
                  <a:pt x="57721" y="320673"/>
                </a:lnTo>
                <a:lnTo>
                  <a:pt x="86582" y="237839"/>
                </a:lnTo>
                <a:lnTo>
                  <a:pt x="115443" y="210359"/>
                </a:lnTo>
                <a:lnTo>
                  <a:pt x="144304" y="242500"/>
                </a:lnTo>
                <a:lnTo>
                  <a:pt x="173165" y="329270"/>
                </a:lnTo>
                <a:lnTo>
                  <a:pt x="202025" y="457199"/>
                </a:lnTo>
                <a:lnTo>
                  <a:pt x="230886" y="606423"/>
                </a:lnTo>
                <a:lnTo>
                  <a:pt x="259747" y="753775"/>
                </a:lnTo>
                <a:lnTo>
                  <a:pt x="288608" y="876375"/>
                </a:lnTo>
                <a:lnTo>
                  <a:pt x="317468" y="955190"/>
                </a:lnTo>
                <a:lnTo>
                  <a:pt x="346329" y="977982"/>
                </a:lnTo>
                <a:lnTo>
                  <a:pt x="375190" y="941212"/>
                </a:lnTo>
                <a:lnTo>
                  <a:pt x="404051" y="850590"/>
                </a:lnTo>
                <a:lnTo>
                  <a:pt x="432911" y="720186"/>
                </a:lnTo>
                <a:lnTo>
                  <a:pt x="461772" y="570245"/>
                </a:lnTo>
                <a:lnTo>
                  <a:pt x="490633" y="424049"/>
                </a:lnTo>
                <a:lnTo>
                  <a:pt x="519494" y="304296"/>
                </a:lnTo>
                <a:lnTo>
                  <a:pt x="548354" y="229578"/>
                </a:lnTo>
                <a:lnTo>
                  <a:pt x="577215" y="211496"/>
                </a:lnTo>
                <a:lnTo>
                  <a:pt x="606076" y="252858"/>
                </a:lnTo>
                <a:lnTo>
                  <a:pt x="634937" y="347242"/>
                </a:lnTo>
                <a:lnTo>
                  <a:pt x="663797" y="479994"/>
                </a:lnTo>
                <a:lnTo>
                  <a:pt x="692658" y="630502"/>
                </a:lnTo>
                <a:lnTo>
                  <a:pt x="721519" y="775399"/>
                </a:lnTo>
                <a:lnTo>
                  <a:pt x="750380" y="892188"/>
                </a:lnTo>
                <a:lnTo>
                  <a:pt x="779240" y="962735"/>
                </a:lnTo>
                <a:lnTo>
                  <a:pt x="808101" y="976089"/>
                </a:lnTo>
                <a:lnTo>
                  <a:pt x="836962" y="930175"/>
                </a:lnTo>
                <a:lnTo>
                  <a:pt x="865823" y="832122"/>
                </a:lnTo>
                <a:lnTo>
                  <a:pt x="894683" y="697154"/>
                </a:lnTo>
                <a:lnTo>
                  <a:pt x="923544" y="546226"/>
                </a:lnTo>
                <a:lnTo>
                  <a:pt x="952405" y="402772"/>
                </a:lnTo>
                <a:lnTo>
                  <a:pt x="981266" y="289063"/>
                </a:lnTo>
                <a:lnTo>
                  <a:pt x="1010126" y="222756"/>
                </a:lnTo>
                <a:lnTo>
                  <a:pt x="1038987" y="214143"/>
                </a:lnTo>
                <a:lnTo>
                  <a:pt x="1067848" y="264564"/>
                </a:lnTo>
                <a:lnTo>
                  <a:pt x="1096709" y="366189"/>
                </a:lnTo>
                <a:lnTo>
                  <a:pt x="1125569" y="503240"/>
                </a:lnTo>
                <a:lnTo>
                  <a:pt x="1154430" y="654438"/>
                </a:lnTo>
                <a:lnTo>
                  <a:pt x="1183291" y="796309"/>
                </a:lnTo>
                <a:lnTo>
                  <a:pt x="1212152" y="906825"/>
                </a:lnTo>
                <a:lnTo>
                  <a:pt x="1241012" y="968827"/>
                </a:lnTo>
                <a:lnTo>
                  <a:pt x="1269873" y="972689"/>
                </a:lnTo>
                <a:lnTo>
                  <a:pt x="1298734" y="917812"/>
                </a:lnTo>
                <a:lnTo>
                  <a:pt x="1327595" y="812715"/>
                </a:lnTo>
                <a:lnTo>
                  <a:pt x="1356455" y="673716"/>
                </a:lnTo>
                <a:lnTo>
                  <a:pt x="1385316" y="522397"/>
                </a:lnTo>
                <a:lnTo>
                  <a:pt x="1414177" y="382250"/>
                </a:lnTo>
                <a:lnTo>
                  <a:pt x="1443038" y="275036"/>
                </a:lnTo>
                <a:lnTo>
                  <a:pt x="1471898" y="217400"/>
                </a:lnTo>
                <a:lnTo>
                  <a:pt x="1500759" y="218291"/>
                </a:lnTo>
                <a:lnTo>
                  <a:pt x="1529620" y="277572"/>
                </a:lnTo>
                <a:lnTo>
                  <a:pt x="1558481" y="386036"/>
                </a:lnTo>
                <a:lnTo>
                  <a:pt x="1587341" y="526846"/>
                </a:lnTo>
                <a:lnTo>
                  <a:pt x="1616202" y="678137"/>
                </a:lnTo>
                <a:lnTo>
                  <a:pt x="1645063" y="816422"/>
                </a:lnTo>
                <a:lnTo>
                  <a:pt x="1673924" y="920229"/>
                </a:lnTo>
                <a:lnTo>
                  <a:pt x="1702784" y="973441"/>
                </a:lnTo>
                <a:lnTo>
                  <a:pt x="1731645" y="967797"/>
                </a:lnTo>
                <a:lnTo>
                  <a:pt x="1760506" y="904172"/>
                </a:lnTo>
                <a:lnTo>
                  <a:pt x="1789367" y="792447"/>
                </a:lnTo>
                <a:lnTo>
                  <a:pt x="1818227" y="649966"/>
                </a:lnTo>
                <a:lnTo>
                  <a:pt x="1847088" y="498851"/>
                </a:lnTo>
                <a:lnTo>
                  <a:pt x="1875949" y="362566"/>
                </a:lnTo>
                <a:lnTo>
                  <a:pt x="1904810" y="262269"/>
                </a:lnTo>
                <a:lnTo>
                  <a:pt x="1933670" y="213532"/>
                </a:lnTo>
                <a:lnTo>
                  <a:pt x="1962531" y="223924"/>
                </a:lnTo>
                <a:lnTo>
                  <a:pt x="1991392" y="291829"/>
                </a:lnTo>
                <a:lnTo>
                  <a:pt x="2020253" y="406706"/>
                </a:lnTo>
                <a:lnTo>
                  <a:pt x="2049113" y="550718"/>
                </a:lnTo>
                <a:lnTo>
                  <a:pt x="2077974" y="701506"/>
                </a:lnTo>
                <a:lnTo>
                  <a:pt x="2106835" y="830176"/>
                </a:lnTo>
                <a:lnTo>
                  <a:pt x="2135696" y="870655"/>
                </a:lnTo>
                <a:lnTo>
                  <a:pt x="2164556" y="855708"/>
                </a:lnTo>
                <a:lnTo>
                  <a:pt x="2193417" y="804319"/>
                </a:lnTo>
                <a:lnTo>
                  <a:pt x="2222278" y="735480"/>
                </a:lnTo>
                <a:lnTo>
                  <a:pt x="2251139" y="665213"/>
                </a:lnTo>
                <a:lnTo>
                  <a:pt x="2279999" y="604951"/>
                </a:lnTo>
                <a:lnTo>
                  <a:pt x="2308860" y="561127"/>
                </a:lnTo>
                <a:lnTo>
                  <a:pt x="2337721" y="535668"/>
                </a:lnTo>
                <a:lnTo>
                  <a:pt x="2366582" y="527046"/>
                </a:lnTo>
                <a:lnTo>
                  <a:pt x="2395442" y="531556"/>
                </a:lnTo>
                <a:lnTo>
                  <a:pt x="2424303" y="447293"/>
                </a:lnTo>
                <a:lnTo>
                  <a:pt x="2453164" y="478161"/>
                </a:lnTo>
                <a:lnTo>
                  <a:pt x="2482025" y="527071"/>
                </a:lnTo>
                <a:lnTo>
                  <a:pt x="2510885" y="586428"/>
                </a:lnTo>
                <a:lnTo>
                  <a:pt x="2539746" y="647016"/>
                </a:lnTo>
                <a:lnTo>
                  <a:pt x="2568607" y="699429"/>
                </a:lnTo>
                <a:lnTo>
                  <a:pt x="2597468" y="735529"/>
                </a:lnTo>
                <a:lnTo>
                  <a:pt x="2626328" y="749711"/>
                </a:lnTo>
                <a:lnTo>
                  <a:pt x="2655189" y="739773"/>
                </a:lnTo>
                <a:lnTo>
                  <a:pt x="2684050" y="707258"/>
                </a:lnTo>
                <a:lnTo>
                  <a:pt x="2712911" y="657214"/>
                </a:lnTo>
                <a:lnTo>
                  <a:pt x="2741771" y="597412"/>
                </a:lnTo>
                <a:lnTo>
                  <a:pt x="2770632" y="537136"/>
                </a:lnTo>
                <a:lnTo>
                  <a:pt x="2799493" y="485744"/>
                </a:lnTo>
                <a:lnTo>
                  <a:pt x="2828354" y="451216"/>
                </a:lnTo>
                <a:lnTo>
                  <a:pt x="2857214" y="438913"/>
                </a:lnTo>
                <a:lnTo>
                  <a:pt x="2886075" y="450745"/>
                </a:lnTo>
                <a:lnTo>
                  <a:pt x="2914936" y="484874"/>
                </a:lnTo>
                <a:lnTo>
                  <a:pt x="2943797" y="536002"/>
                </a:lnTo>
                <a:lnTo>
                  <a:pt x="2972657" y="596191"/>
                </a:lnTo>
                <a:lnTo>
                  <a:pt x="3001518" y="656096"/>
                </a:lnTo>
                <a:lnTo>
                  <a:pt x="3030379" y="706415"/>
                </a:lnTo>
                <a:lnTo>
                  <a:pt x="3059240" y="739337"/>
                </a:lnTo>
                <a:lnTo>
                  <a:pt x="3088100" y="749749"/>
                </a:lnTo>
                <a:lnTo>
                  <a:pt x="3116961" y="736036"/>
                </a:lnTo>
                <a:lnTo>
                  <a:pt x="3145822" y="700326"/>
                </a:lnTo>
                <a:lnTo>
                  <a:pt x="3174683" y="648163"/>
                </a:lnTo>
                <a:lnTo>
                  <a:pt x="3203543" y="587647"/>
                </a:lnTo>
                <a:lnTo>
                  <a:pt x="3232404" y="528173"/>
                </a:lnTo>
                <a:lnTo>
                  <a:pt x="3261265" y="478976"/>
                </a:lnTo>
                <a:lnTo>
                  <a:pt x="3290126" y="447693"/>
                </a:lnTo>
                <a:lnTo>
                  <a:pt x="3318986" y="439182"/>
                </a:lnTo>
                <a:lnTo>
                  <a:pt x="3347847" y="454763"/>
                </a:lnTo>
                <a:lnTo>
                  <a:pt x="3376708" y="492019"/>
                </a:lnTo>
                <a:lnTo>
                  <a:pt x="3405569" y="545164"/>
                </a:lnTo>
                <a:lnTo>
                  <a:pt x="3434429" y="605948"/>
                </a:lnTo>
                <a:lnTo>
                  <a:pt x="3463290" y="664932"/>
                </a:lnTo>
                <a:lnTo>
                  <a:pt x="3492151" y="712959"/>
                </a:lnTo>
                <a:lnTo>
                  <a:pt x="3521012" y="742573"/>
                </a:lnTo>
                <a:lnTo>
                  <a:pt x="3549872" y="749174"/>
                </a:lnTo>
                <a:lnTo>
                  <a:pt x="3578733" y="731740"/>
                </a:lnTo>
                <a:lnTo>
                  <a:pt x="3607594" y="692975"/>
                </a:lnTo>
                <a:lnTo>
                  <a:pt x="3636455" y="638900"/>
                </a:lnTo>
                <a:lnTo>
                  <a:pt x="3665315" y="577909"/>
                </a:lnTo>
                <a:lnTo>
                  <a:pt x="3694176" y="519472"/>
                </a:lnTo>
                <a:lnTo>
                  <a:pt x="3723037" y="472663"/>
                </a:lnTo>
                <a:lnTo>
                  <a:pt x="3751898" y="444748"/>
                </a:lnTo>
                <a:lnTo>
                  <a:pt x="3780758" y="440062"/>
                </a:lnTo>
                <a:lnTo>
                  <a:pt x="3809619" y="459333"/>
                </a:lnTo>
                <a:lnTo>
                  <a:pt x="3838480" y="499568"/>
                </a:lnTo>
                <a:lnTo>
                  <a:pt x="3867341" y="554520"/>
                </a:lnTo>
                <a:lnTo>
                  <a:pt x="3896201" y="615658"/>
                </a:lnTo>
                <a:lnTo>
                  <a:pt x="3925062" y="673489"/>
                </a:lnTo>
                <a:lnTo>
                  <a:pt x="3953923" y="719035"/>
                </a:lnTo>
                <a:lnTo>
                  <a:pt x="3982784" y="745223"/>
                </a:lnTo>
                <a:lnTo>
                  <a:pt x="4011644" y="747988"/>
                </a:lnTo>
                <a:lnTo>
                  <a:pt x="4040505" y="726901"/>
                </a:lnTo>
                <a:lnTo>
                  <a:pt x="4069366" y="685235"/>
                </a:lnTo>
                <a:lnTo>
                  <a:pt x="4098227" y="629460"/>
                </a:lnTo>
                <a:lnTo>
                  <a:pt x="4127087" y="568236"/>
                </a:lnTo>
                <a:lnTo>
                  <a:pt x="4155948" y="511067"/>
                </a:lnTo>
                <a:lnTo>
                  <a:pt x="4184809" y="466830"/>
                </a:lnTo>
                <a:lnTo>
                  <a:pt x="4213670" y="442394"/>
                </a:lnTo>
                <a:lnTo>
                  <a:pt x="4242530" y="441552"/>
                </a:lnTo>
                <a:lnTo>
                  <a:pt x="4271391" y="464435"/>
                </a:lnTo>
                <a:lnTo>
                  <a:pt x="4300252" y="507491"/>
                </a:lnTo>
                <a:lnTo>
                  <a:pt x="4329113" y="564034"/>
                </a:lnTo>
                <a:lnTo>
                  <a:pt x="4357973" y="625285"/>
                </a:lnTo>
                <a:lnTo>
                  <a:pt x="4386834" y="681735"/>
                </a:lnTo>
                <a:lnTo>
                  <a:pt x="4415695" y="724619"/>
                </a:lnTo>
                <a:lnTo>
                  <a:pt x="4444556" y="747279"/>
                </a:lnTo>
                <a:lnTo>
                  <a:pt x="4473416" y="746196"/>
                </a:lnTo>
                <a:lnTo>
                  <a:pt x="4502277" y="721540"/>
                </a:lnTo>
                <a:lnTo>
                  <a:pt x="4531138" y="677137"/>
                </a:lnTo>
                <a:lnTo>
                  <a:pt x="4559999" y="619883"/>
                </a:lnTo>
                <a:lnTo>
                  <a:pt x="4588859" y="558665"/>
                </a:lnTo>
                <a:lnTo>
                  <a:pt x="4617720" y="502990"/>
                </a:lnTo>
              </a:path>
            </a:pathLst>
          </a:custGeom>
          <a:solidFill>
            <a:schemeClr val="accent1">
              <a:alpha val="0"/>
            </a:schemeClr>
          </a:solidFill>
          <a:ln w="38100">
            <a:solidFill>
              <a:schemeClr val="accent1"/>
            </a:solidFill>
            <a:prstDash val="solid"/>
          </a:ln>
        </p:spPr>
      </p:sp>
      <p:sp>
        <p:nvSpPr>
          <p:cNvPr id="14" name="a2_ico_e"/>
          <p:cNvSpPr/>
          <p:nvPr/>
        </p:nvSpPr>
        <p:spPr>
          <a:xfrm>
            <a:off x="6382512" y="2496312"/>
            <a:ext cx="256032" cy="256032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5" name="a2_cap"/>
          <p:cNvSpPr txBox="1"/>
          <p:nvPr/>
        </p:nvSpPr>
        <p:spPr>
          <a:xfrm>
            <a:off x="6519672" y="3273552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of the wave leaks through. The electron can appear on the other side.</a:t>
            </a:r>
            <a:endParaRPr lang="en-US" sz="1600" dirty="0"/>
          </a:p>
        </p:txBody>
      </p:sp>
      <p:sp>
        <p:nvSpPr>
          <p:cNvPr id="16" name="a3_card"/>
          <p:cNvSpPr/>
          <p:nvPr/>
        </p:nvSpPr>
        <p:spPr>
          <a:xfrm>
            <a:off x="548640" y="3977640"/>
            <a:ext cx="5440680" cy="2148840"/>
          </a:xfrm>
          <a:prstGeom prst="roundRect">
            <a:avLst>
              <a:gd name="adj" fmla="val 8511"/>
            </a:avLst>
          </a:prstGeom>
          <a:solidFill>
            <a:schemeClr val="bg2"/>
          </a:solidFill>
          <a:ln/>
        </p:spPr>
      </p:sp>
      <p:sp>
        <p:nvSpPr>
          <p:cNvPr id="17" name="a3_ico_bg"/>
          <p:cNvSpPr/>
          <p:nvPr/>
        </p:nvSpPr>
        <p:spPr>
          <a:xfrm>
            <a:off x="868680" y="420624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a3_ico_img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190" y="4403750"/>
            <a:ext cx="336499" cy="336499"/>
          </a:xfrm>
          <a:prstGeom prst="rect">
            <a:avLst/>
          </a:prstGeom>
        </p:spPr>
      </p:pic>
      <p:sp>
        <p:nvSpPr>
          <p:cNvPr id="19" name="a3_head"/>
          <p:cNvSpPr txBox="1"/>
          <p:nvPr/>
        </p:nvSpPr>
        <p:spPr>
          <a:xfrm>
            <a:off x="1828800" y="416052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21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means inside a transistor</a:t>
            </a:r>
            <a:endParaRPr lang="en-US" sz="2100" dirty="0"/>
          </a:p>
        </p:txBody>
      </p:sp>
      <p:sp>
        <p:nvSpPr>
          <p:cNvPr id="20" name="a3_body"/>
          <p:cNvSpPr txBox="1"/>
          <p:nvPr/>
        </p:nvSpPr>
        <p:spPr>
          <a:xfrm>
            <a:off x="868680" y="502920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'barrier' is a thin insulating layer. When it is only a few atoms thick, some electrons leak through even when the switch is OFF. That wastes power and makes heat.</a:t>
            </a:r>
            <a:endParaRPr lang="en-US" sz="1500" dirty="0"/>
          </a:p>
        </p:txBody>
      </p:sp>
      <p:sp>
        <p:nvSpPr>
          <p:cNvPr id="21" name="a4_card"/>
          <p:cNvSpPr/>
          <p:nvPr/>
        </p:nvSpPr>
        <p:spPr>
          <a:xfrm>
            <a:off x="6199632" y="3977640"/>
            <a:ext cx="5440680" cy="2148840"/>
          </a:xfrm>
          <a:prstGeom prst="roundRect">
            <a:avLst>
              <a:gd name="adj" fmla="val 8511"/>
            </a:avLst>
          </a:prstGeom>
          <a:solidFill>
            <a:schemeClr val="accent4"/>
          </a:solidFill>
          <a:ln/>
        </p:spPr>
      </p:sp>
      <p:sp>
        <p:nvSpPr>
          <p:cNvPr id="22" name="a4_ico_bg"/>
          <p:cNvSpPr/>
          <p:nvPr/>
        </p:nvSpPr>
        <p:spPr>
          <a:xfrm>
            <a:off x="6519672" y="4206240"/>
            <a:ext cx="731520" cy="73152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23" name="a4_ico_img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7182" y="4403750"/>
            <a:ext cx="336499" cy="336499"/>
          </a:xfrm>
          <a:prstGeom prst="rect">
            <a:avLst/>
          </a:prstGeom>
        </p:spPr>
      </p:pic>
      <p:sp>
        <p:nvSpPr>
          <p:cNvPr id="24" name="a4_head"/>
          <p:cNvSpPr txBox="1"/>
          <p:nvPr/>
        </p:nvSpPr>
        <p:spPr>
          <a:xfrm>
            <a:off x="7479792" y="416052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21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engineers did</a:t>
            </a:r>
            <a:endParaRPr lang="en-US" sz="2100" dirty="0"/>
          </a:p>
        </p:txBody>
      </p:sp>
      <p:sp>
        <p:nvSpPr>
          <p:cNvPr id="25" name="a4_body"/>
          <p:cNvSpPr txBox="1"/>
          <p:nvPr/>
        </p:nvSpPr>
        <p:spPr>
          <a:xfrm>
            <a:off x="6519672" y="502920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insulating materials (high-k) and 3D transistor shapes (FinFET, gate-all-around) reduced the leaks. But every new shrink makes the problem harder again.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53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53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6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6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53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53" presetClass="entr" presetSubtype="0" fill="hold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5" dur="6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9" dur="6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9" grpId="0" animBg="1"/>
      <p:bldP spid="20" grpId="0" animBg="1"/>
      <p:bldP spid="21" grpId="0" animBg="1"/>
      <p:bldP spid="22" grpId="0" animBg="1"/>
      <p:bldP spid="24" grpId="0" animBg="1"/>
      <p:bldP spid="2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5_halo"/>
          <p:cNvSpPr/>
          <p:nvPr/>
        </p:nvSpPr>
        <p:spPr>
          <a:xfrm>
            <a:off x="-1371600" y="3931920"/>
            <a:ext cx="4754880" cy="4754880"/>
          </a:xfrm>
          <a:prstGeom prst="ellipse">
            <a:avLst/>
          </a:prstGeom>
          <a:solidFill>
            <a:schemeClr val="accent1">
              <a:alpha val="18000"/>
            </a:schemeClr>
          </a:solidFill>
          <a:ln/>
        </p:spPr>
      </p:sp>
      <p:sp>
        <p:nvSpPr>
          <p:cNvPr id="4" name="a5_halo2"/>
          <p:cNvSpPr/>
          <p:nvPr/>
        </p:nvSpPr>
        <p:spPr>
          <a:xfrm>
            <a:off x="9692640" y="-1371600"/>
            <a:ext cx="3657600" cy="3657600"/>
          </a:xfrm>
          <a:prstGeom prst="ellipse">
            <a:avLst/>
          </a:prstGeom>
          <a:solidFill>
            <a:schemeClr val="accent2">
              <a:alpha val="20000"/>
            </a:schemeClr>
          </a:solidFill>
          <a:ln/>
        </p:spPr>
      </p:sp>
      <p:sp>
        <p:nvSpPr>
          <p:cNvPr id="5" name="a1_num"/>
          <p:cNvSpPr txBox="1"/>
          <p:nvPr/>
        </p:nvSpPr>
        <p:spPr>
          <a:xfrm>
            <a:off x="640080" y="1463040"/>
            <a:ext cx="3108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9000" b="1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90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3931920" y="2103120"/>
            <a:ext cx="7680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altLang="en-US" sz="4400" b="1" dirty="0">
                <a:solidFill>
                  <a:schemeClr val="bg1"/>
                </a:solidFill>
              </a:rPr>
              <a:t>What is quantum computing?</a:t>
            </a:r>
            <a:endParaRPr lang="en-US" sz="44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3931920" y="36118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200" dirty="0">
                <a:solidFill>
                  <a:schemeClr val="bg2"/>
                </a:solidFill>
              </a:rPr>
              <a:t>Computing with the rules of the very small</a:t>
            </a:r>
            <a:endParaRPr lang="en-US" sz="22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300">
        <p14:prism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6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3400" b="1" dirty="0">
                <a:solidFill>
                  <a:schemeClr val="tx1"/>
                </a:solidFill>
              </a:rPr>
              <a:t>Bit vs. qubit</a:t>
            </a:r>
            <a:endParaRPr lang="en-US" sz="3400" dirty="0"/>
          </a:p>
        </p:txBody>
      </p:sp>
      <p:sp>
        <p:nvSpPr>
          <p:cNvPr id="4" name="a1_card"/>
          <p:cNvSpPr/>
          <p:nvPr/>
        </p:nvSpPr>
        <p:spPr>
          <a:xfrm>
            <a:off x="548640" y="1508760"/>
            <a:ext cx="5440680" cy="388620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5" name="a1_head"/>
          <p:cNvSpPr txBox="1"/>
          <p:nvPr/>
        </p:nvSpPr>
        <p:spPr>
          <a:xfrm>
            <a:off x="914400" y="1645920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23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bit</a:t>
            </a:r>
            <a:endParaRPr lang="en-US" sz="2300" dirty="0"/>
          </a:p>
        </p:txBody>
      </p:sp>
      <p:sp>
        <p:nvSpPr>
          <p:cNvPr id="6" name="a1_sw0"/>
          <p:cNvSpPr/>
          <p:nvPr/>
        </p:nvSpPr>
        <p:spPr>
          <a:xfrm>
            <a:off x="1371600" y="2514600"/>
            <a:ext cx="1645920" cy="1005840"/>
          </a:xfrm>
          <a:prstGeom prst="roundRect">
            <a:avLst>
              <a:gd name="adj" fmla="val 12727"/>
            </a:avLst>
          </a:prstGeom>
          <a:solidFill>
            <a:schemeClr val="accent1"/>
          </a:solidFill>
          <a:ln w="19050">
            <a:solidFill>
              <a:schemeClr val="tx2"/>
            </a:solidFill>
            <a:prstDash val="solid"/>
          </a:ln>
        </p:spPr>
      </p:sp>
      <p:sp>
        <p:nvSpPr>
          <p:cNvPr id="7" name="a1_swt0"/>
          <p:cNvSpPr txBox="1"/>
          <p:nvPr/>
        </p:nvSpPr>
        <p:spPr>
          <a:xfrm>
            <a:off x="1371600" y="25146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4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4400" dirty="0"/>
          </a:p>
        </p:txBody>
      </p:sp>
      <p:sp>
        <p:nvSpPr>
          <p:cNvPr id="8" name="a1_sw1"/>
          <p:cNvSpPr/>
          <p:nvPr/>
        </p:nvSpPr>
        <p:spPr>
          <a:xfrm>
            <a:off x="3383280" y="2514600"/>
            <a:ext cx="1645920" cy="1005840"/>
          </a:xfrm>
          <a:prstGeom prst="roundRect">
            <a:avLst>
              <a:gd name="adj" fmla="val 12727"/>
            </a:avLst>
          </a:prstGeom>
          <a:solidFill>
            <a:schemeClr val="bg1"/>
          </a:solidFill>
          <a:ln w="19050">
            <a:solidFill>
              <a:schemeClr val="tx2"/>
            </a:solidFill>
            <a:prstDash val="solid"/>
          </a:ln>
        </p:spPr>
      </p:sp>
      <p:sp>
        <p:nvSpPr>
          <p:cNvPr id="9" name="a1_swt1"/>
          <p:cNvSpPr txBox="1"/>
          <p:nvPr/>
        </p:nvSpPr>
        <p:spPr>
          <a:xfrm>
            <a:off x="3383280" y="25146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4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4400" dirty="0"/>
          </a:p>
        </p:txBody>
      </p:sp>
      <p:sp>
        <p:nvSpPr>
          <p:cNvPr id="10" name="a1_body"/>
          <p:cNvSpPr txBox="1"/>
          <p:nvPr/>
        </p:nvSpPr>
        <p:spPr>
          <a:xfrm>
            <a:off x="914400" y="4206240"/>
            <a:ext cx="4709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exactly 0 or 1, like a light switch: off or on. Every file on your phone is billions of bits.</a:t>
            </a:r>
            <a:endParaRPr lang="en-US" sz="1600" dirty="0"/>
          </a:p>
        </p:txBody>
      </p:sp>
      <p:sp>
        <p:nvSpPr>
          <p:cNvPr id="11" name="a2_card"/>
          <p:cNvSpPr/>
          <p:nvPr/>
        </p:nvSpPr>
        <p:spPr>
          <a:xfrm>
            <a:off x="6199632" y="1508760"/>
            <a:ext cx="5440680" cy="3886200"/>
          </a:xfrm>
          <a:prstGeom prst="roundRect">
            <a:avLst>
              <a:gd name="adj" fmla="val 4706"/>
            </a:avLst>
          </a:prstGeom>
          <a:solidFill>
            <a:schemeClr val="tx2"/>
          </a:solidFill>
          <a:ln/>
        </p:spPr>
      </p:sp>
      <p:sp>
        <p:nvSpPr>
          <p:cNvPr id="12" name="a2_head"/>
          <p:cNvSpPr txBox="1"/>
          <p:nvPr/>
        </p:nvSpPr>
        <p:spPr>
          <a:xfrm>
            <a:off x="6565392" y="1645920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23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 bit (qubit)</a:t>
            </a:r>
            <a:endParaRPr lang="en-US" sz="2300" dirty="0"/>
          </a:p>
        </p:txBody>
      </p:sp>
      <p:sp>
        <p:nvSpPr>
          <p:cNvPr id="13" name="a2_ico_sph"/>
          <p:cNvSpPr/>
          <p:nvPr/>
        </p:nvSpPr>
        <p:spPr>
          <a:xfrm>
            <a:off x="8261604" y="2542032"/>
            <a:ext cx="1316736" cy="1316736"/>
          </a:xfrm>
          <a:prstGeom prst="ellipse">
            <a:avLst/>
          </a:prstGeom>
          <a:solidFill>
            <a:schemeClr val="accent2">
              <a:alpha val="25000"/>
            </a:schemeClr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14" name="a2_eq"/>
          <p:cNvSpPr/>
          <p:nvPr/>
        </p:nvSpPr>
        <p:spPr>
          <a:xfrm>
            <a:off x="8261604" y="2999232"/>
            <a:ext cx="1316736" cy="402336"/>
          </a:xfrm>
          <a:prstGeom prst="ellipse">
            <a:avLst/>
          </a:prstGeom>
          <a:solidFill>
            <a:schemeClr val="accent2">
              <a:alpha val="0"/>
            </a:schemeClr>
          </a:solidFill>
          <a:ln w="12700">
            <a:solidFill>
              <a:schemeClr val="accent1">
                <a:alpha val="60000"/>
              </a:schemeClr>
            </a:solidFill>
            <a:prstDash val="solid"/>
          </a:ln>
        </p:spPr>
      </p:sp>
      <p:sp>
        <p:nvSpPr>
          <p:cNvPr id="15" name="a2_axis"/>
          <p:cNvSpPr/>
          <p:nvPr/>
        </p:nvSpPr>
        <p:spPr>
          <a:xfrm>
            <a:off x="8919972" y="2432304"/>
            <a:ext cx="0" cy="1536192"/>
          </a:xfrm>
          <a:prstGeom prst="line">
            <a:avLst/>
          </a:prstGeom>
          <a:noFill/>
          <a:ln w="15875">
            <a:solidFill>
              <a:schemeClr val="accent1">
                <a:alpha val="70000"/>
              </a:schemeClr>
            </a:solidFill>
            <a:prstDash val="solid"/>
          </a:ln>
        </p:spPr>
      </p:sp>
      <p:sp>
        <p:nvSpPr>
          <p:cNvPr id="16" name="a2_vec"/>
          <p:cNvSpPr/>
          <p:nvPr/>
        </p:nvSpPr>
        <p:spPr>
          <a:xfrm flipV="1">
            <a:off x="8919972" y="2697480"/>
            <a:ext cx="457200" cy="502920"/>
          </a:xfrm>
          <a:prstGeom prst="line">
            <a:avLst/>
          </a:prstGeom>
          <a:noFill/>
          <a:ln w="381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7" name="a2_l0"/>
          <p:cNvSpPr txBox="1"/>
          <p:nvPr/>
        </p:nvSpPr>
        <p:spPr>
          <a:xfrm>
            <a:off x="9029700" y="215798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|0⟩</a:t>
            </a:r>
            <a:endParaRPr lang="en-US" sz="1500" dirty="0"/>
          </a:p>
        </p:txBody>
      </p:sp>
      <p:sp>
        <p:nvSpPr>
          <p:cNvPr id="18" name="a2_l1"/>
          <p:cNvSpPr txBox="1"/>
          <p:nvPr/>
        </p:nvSpPr>
        <p:spPr>
          <a:xfrm>
            <a:off x="9029700" y="396849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|1⟩</a:t>
            </a:r>
            <a:endParaRPr lang="en-US" sz="1500" dirty="0"/>
          </a:p>
        </p:txBody>
      </p:sp>
      <p:sp>
        <p:nvSpPr>
          <p:cNvPr id="19" name="a2_body"/>
          <p:cNvSpPr txBox="1"/>
          <p:nvPr/>
        </p:nvSpPr>
        <p:spPr>
          <a:xfrm>
            <a:off x="6565392" y="4206240"/>
            <a:ext cx="4709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be 0, 1, or a blend of both (superposition). When measured it gives 0 or 1, with probabilities set by the blend.</a:t>
            </a:r>
            <a:endParaRPr lang="en-US" sz="1600" dirty="0"/>
          </a:p>
        </p:txBody>
      </p:sp>
      <p:sp>
        <p:nvSpPr>
          <p:cNvPr id="20" name="a3_note"/>
          <p:cNvSpPr/>
          <p:nvPr/>
        </p:nvSpPr>
        <p:spPr>
          <a:xfrm>
            <a:off x="548640" y="5532120"/>
            <a:ext cx="11094415" cy="685800"/>
          </a:xfrm>
          <a:prstGeom prst="roundRect">
            <a:avLst>
              <a:gd name="adj" fmla="val 21333"/>
            </a:avLst>
          </a:prstGeom>
          <a:solidFill>
            <a:schemeClr val="accent4"/>
          </a:solidFill>
          <a:ln/>
        </p:spPr>
      </p:sp>
      <p:sp>
        <p:nvSpPr>
          <p:cNvPr id="21" name="a3_note_t"/>
          <p:cNvSpPr txBox="1"/>
          <p:nvPr/>
        </p:nvSpPr>
        <p:spPr>
          <a:xfrm>
            <a:off x="914400" y="5532120"/>
            <a:ext cx="103628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7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of a spinning coin: while it spins it is not simply heads or tails. When it lands, you see one.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53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6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6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3400" b="1" dirty="0">
                <a:solidFill>
                  <a:schemeClr val="tx1"/>
                </a:solidFill>
              </a:rPr>
              <a:t>Three quantum ideas that power it</a:t>
            </a:r>
            <a:endParaRPr lang="en-US" sz="3400" dirty="0"/>
          </a:p>
        </p:txBody>
      </p:sp>
      <p:sp>
        <p:nvSpPr>
          <p:cNvPr id="4" name="a1_card"/>
          <p:cNvSpPr/>
          <p:nvPr/>
        </p:nvSpPr>
        <p:spPr>
          <a:xfrm>
            <a:off x="548640" y="1600200"/>
            <a:ext cx="3515258" cy="3520440"/>
          </a:xfrm>
          <a:prstGeom prst="roundRect">
            <a:avLst>
              <a:gd name="adj" fmla="val 4682"/>
            </a:avLst>
          </a:prstGeom>
          <a:solidFill>
            <a:schemeClr val="bg2"/>
          </a:solidFill>
          <a:ln/>
        </p:spPr>
      </p:sp>
      <p:sp>
        <p:nvSpPr>
          <p:cNvPr id="5" name="a1_ico_bg"/>
          <p:cNvSpPr/>
          <p:nvPr/>
        </p:nvSpPr>
        <p:spPr>
          <a:xfrm>
            <a:off x="868680" y="187452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a1_ico_img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0879" y="2096719"/>
            <a:ext cx="378562" cy="378562"/>
          </a:xfrm>
          <a:prstGeom prst="rect">
            <a:avLst/>
          </a:prstGeom>
        </p:spPr>
      </p:pic>
      <p:sp>
        <p:nvSpPr>
          <p:cNvPr id="7" name="a1_head"/>
          <p:cNvSpPr txBox="1"/>
          <p:nvPr/>
        </p:nvSpPr>
        <p:spPr>
          <a:xfrm>
            <a:off x="868680" y="2788920"/>
            <a:ext cx="28751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2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Superposition</a:t>
            </a:r>
            <a:endParaRPr lang="en-US" sz="2200" dirty="0"/>
          </a:p>
        </p:txBody>
      </p:sp>
      <p:sp>
        <p:nvSpPr>
          <p:cNvPr id="8" name="a1_body"/>
          <p:cNvSpPr txBox="1"/>
          <p:nvPr/>
        </p:nvSpPr>
        <p:spPr>
          <a:xfrm>
            <a:off x="868680" y="3657600"/>
            <a:ext cx="287517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qubit holds a blend of 0 and 1 until we measure it.</a:t>
            </a:r>
            <a:endParaRPr lang="en-US" sz="1600" dirty="0"/>
          </a:p>
        </p:txBody>
      </p:sp>
      <p:sp>
        <p:nvSpPr>
          <p:cNvPr id="9" name="a2_card"/>
          <p:cNvSpPr/>
          <p:nvPr/>
        </p:nvSpPr>
        <p:spPr>
          <a:xfrm>
            <a:off x="4338218" y="1600200"/>
            <a:ext cx="3515258" cy="3520440"/>
          </a:xfrm>
          <a:prstGeom prst="roundRect">
            <a:avLst>
              <a:gd name="adj" fmla="val 4682"/>
            </a:avLst>
          </a:prstGeom>
          <a:solidFill>
            <a:schemeClr val="bg2"/>
          </a:solidFill>
          <a:ln/>
        </p:spPr>
      </p:sp>
      <p:sp>
        <p:nvSpPr>
          <p:cNvPr id="10" name="a2_ico_bg"/>
          <p:cNvSpPr/>
          <p:nvPr/>
        </p:nvSpPr>
        <p:spPr>
          <a:xfrm>
            <a:off x="4658258" y="1874520"/>
            <a:ext cx="822960" cy="82296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1" name="a2_ico_img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0458" y="2096719"/>
            <a:ext cx="378562" cy="378562"/>
          </a:xfrm>
          <a:prstGeom prst="rect">
            <a:avLst/>
          </a:prstGeom>
        </p:spPr>
      </p:pic>
      <p:sp>
        <p:nvSpPr>
          <p:cNvPr id="12" name="a2_head"/>
          <p:cNvSpPr txBox="1"/>
          <p:nvPr/>
        </p:nvSpPr>
        <p:spPr>
          <a:xfrm>
            <a:off x="4658258" y="2788920"/>
            <a:ext cx="28751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2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Entanglement</a:t>
            </a:r>
            <a:endParaRPr lang="en-US" sz="2200" dirty="0"/>
          </a:p>
        </p:txBody>
      </p:sp>
      <p:sp>
        <p:nvSpPr>
          <p:cNvPr id="13" name="a2_body"/>
          <p:cNvSpPr txBox="1"/>
          <p:nvPr/>
        </p:nvSpPr>
        <p:spPr>
          <a:xfrm>
            <a:off x="4658258" y="3657600"/>
            <a:ext cx="287517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qubits can be linked so their results are connected, however far apart. No message travels faster than light.</a:t>
            </a:r>
            <a:endParaRPr lang="en-US" sz="1600" dirty="0"/>
          </a:p>
        </p:txBody>
      </p:sp>
      <p:sp>
        <p:nvSpPr>
          <p:cNvPr id="14" name="a3_card"/>
          <p:cNvSpPr/>
          <p:nvPr/>
        </p:nvSpPr>
        <p:spPr>
          <a:xfrm>
            <a:off x="8127797" y="1600200"/>
            <a:ext cx="3515258" cy="3520440"/>
          </a:xfrm>
          <a:prstGeom prst="roundRect">
            <a:avLst>
              <a:gd name="adj" fmla="val 4682"/>
            </a:avLst>
          </a:prstGeom>
          <a:solidFill>
            <a:schemeClr val="bg2"/>
          </a:solidFill>
          <a:ln/>
        </p:spPr>
      </p:sp>
      <p:sp>
        <p:nvSpPr>
          <p:cNvPr id="15" name="a3_ico_bg"/>
          <p:cNvSpPr/>
          <p:nvPr/>
        </p:nvSpPr>
        <p:spPr>
          <a:xfrm>
            <a:off x="8447837" y="1874520"/>
            <a:ext cx="822960" cy="82296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6" name="a3_ico_img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0036" y="2096719"/>
            <a:ext cx="378562" cy="378562"/>
          </a:xfrm>
          <a:prstGeom prst="rect">
            <a:avLst/>
          </a:prstGeom>
        </p:spPr>
      </p:pic>
      <p:sp>
        <p:nvSpPr>
          <p:cNvPr id="17" name="a3_head"/>
          <p:cNvSpPr txBox="1"/>
          <p:nvPr/>
        </p:nvSpPr>
        <p:spPr>
          <a:xfrm>
            <a:off x="8447837" y="2788920"/>
            <a:ext cx="28751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2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Interference</a:t>
            </a:r>
            <a:endParaRPr lang="en-US" sz="2200" dirty="0"/>
          </a:p>
        </p:txBody>
      </p:sp>
      <p:sp>
        <p:nvSpPr>
          <p:cNvPr id="18" name="a3_body"/>
          <p:cNvSpPr txBox="1"/>
          <p:nvPr/>
        </p:nvSpPr>
        <p:spPr>
          <a:xfrm>
            <a:off x="8447837" y="3657600"/>
            <a:ext cx="287517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Algorithms arrange the 'waves' so wrong answers cancel out and right answers get stronger.</a:t>
            </a:r>
            <a:endParaRPr lang="en-US" sz="1600" dirty="0"/>
          </a:p>
        </p:txBody>
      </p:sp>
      <p:sp>
        <p:nvSpPr>
          <p:cNvPr id="19" name="a4_note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6842"/>
            </a:avLst>
          </a:prstGeom>
          <a:solidFill>
            <a:schemeClr val="tx2"/>
          </a:solidFill>
          <a:ln/>
        </p:spPr>
      </p:sp>
      <p:pic>
        <p:nvPicPr>
          <p:cNvPr id="20" name="a4_note_ic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5550408"/>
            <a:ext cx="365760" cy="365760"/>
          </a:xfrm>
          <a:prstGeom prst="rect">
            <a:avLst/>
          </a:prstGeom>
        </p:spPr>
      </p:pic>
      <p:sp>
        <p:nvSpPr>
          <p:cNvPr id="21" name="a4_note_t"/>
          <p:cNvSpPr txBox="1"/>
          <p:nvPr/>
        </p:nvSpPr>
        <p:spPr>
          <a:xfrm>
            <a:off x="1463040" y="5303520"/>
            <a:ext cx="9814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7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Important: a quantum computer does NOT simply try every answer at once. The skill is in using interference to make the right answer likely.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53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53" presetClass="entr" presetSubtype="0" fill="hold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53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53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5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9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6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6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8" grpId="0" animBg="1"/>
      <p:bldP spid="9" grpId="0" animBg="1"/>
      <p:bldP spid="10" grpId="0" animBg="1"/>
      <p:bldP spid="12" grpId="0" animBg="1"/>
      <p:bldP spid="13" grpId="0" animBg="1"/>
      <p:bldP spid="14" grpId="0" animBg="1"/>
      <p:bldP spid="15" grpId="0" animBg="1"/>
      <p:bldP spid="17" grpId="0" animBg="1"/>
      <p:bldP spid="18" grpId="0" animBg="1"/>
      <p:bldP spid="19" grpId="0" animBg="1"/>
      <p:bldP spid="2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3400" b="1" dirty="0">
                <a:solidFill>
                  <a:schemeClr val="bg1"/>
                </a:solidFill>
              </a:rPr>
              <a:t>Why many qubits are so powerful</a:t>
            </a:r>
            <a:endParaRPr lang="en-US" sz="3400" dirty="0"/>
          </a:p>
        </p:txBody>
      </p:sp>
      <p:sp>
        <p:nvSpPr>
          <p:cNvPr id="4" name="a1_card"/>
          <p:cNvSpPr/>
          <p:nvPr/>
        </p:nvSpPr>
        <p:spPr>
          <a:xfrm>
            <a:off x="548640" y="1600200"/>
            <a:ext cx="3515258" cy="3291840"/>
          </a:xfrm>
          <a:prstGeom prst="roundRect">
            <a:avLst>
              <a:gd name="adj" fmla="val 5556"/>
            </a:avLst>
          </a:prstGeom>
          <a:solidFill>
            <a:schemeClr val="tx2"/>
          </a:solidFill>
          <a:ln/>
          <a:effectLst>
            <a:outerShdw sx="100000" sy="100000" kx="0" ky="0" algn="bl" rotWithShape="0" blurRad="152400" dist="38100" dir="5400000">
              <a:srgbClr val="000000">
                <a:alpha val="16000"/>
              </a:srgbClr>
            </a:outerShdw>
          </a:effectLst>
        </p:spPr>
      </p:sp>
      <p:sp>
        <p:nvSpPr>
          <p:cNvPr id="5" name="a1_q"/>
          <p:cNvSpPr txBox="1"/>
          <p:nvPr/>
        </p:nvSpPr>
        <p:spPr>
          <a:xfrm>
            <a:off x="822960" y="1783080"/>
            <a:ext cx="2966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20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qubits</a:t>
            </a:r>
            <a:endParaRPr lang="en-US" sz="2000" dirty="0"/>
          </a:p>
        </p:txBody>
      </p:sp>
      <p:sp>
        <p:nvSpPr>
          <p:cNvPr id="6" name="a1_big"/>
          <p:cNvSpPr txBox="1"/>
          <p:nvPr/>
        </p:nvSpPr>
        <p:spPr>
          <a:xfrm>
            <a:off x="822960" y="2377440"/>
            <a:ext cx="29666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40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1,024</a:t>
            </a:r>
            <a:endParaRPr lang="en-US" sz="4000" dirty="0"/>
          </a:p>
        </p:txBody>
      </p:sp>
      <p:sp>
        <p:nvSpPr>
          <p:cNvPr id="7" name="a1_text"/>
          <p:cNvSpPr txBox="1"/>
          <p:nvPr/>
        </p:nvSpPr>
        <p:spPr>
          <a:xfrm>
            <a:off x="822960" y="3703320"/>
            <a:ext cx="296661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states described at the same time (2¹⁰).</a:t>
            </a:r>
            <a:endParaRPr lang="en-US" sz="1600" dirty="0"/>
          </a:p>
        </p:txBody>
      </p:sp>
      <p:sp>
        <p:nvSpPr>
          <p:cNvPr id="8" name="a2_card"/>
          <p:cNvSpPr/>
          <p:nvPr/>
        </p:nvSpPr>
        <p:spPr>
          <a:xfrm>
            <a:off x="4338218" y="1600200"/>
            <a:ext cx="3515258" cy="3291840"/>
          </a:xfrm>
          <a:prstGeom prst="roundRect">
            <a:avLst>
              <a:gd name="adj" fmla="val 5556"/>
            </a:avLst>
          </a:prstGeom>
          <a:solidFill>
            <a:schemeClr val="tx2"/>
          </a:solidFill>
          <a:ln/>
          <a:effectLst>
            <a:outerShdw sx="100000" sy="100000" kx="0" ky="0" algn="bl" rotWithShape="0" blurRad="152400" dist="38100" dir="5400000">
              <a:srgbClr val="000000">
                <a:alpha val="16000"/>
              </a:srgbClr>
            </a:outerShdw>
          </a:effectLst>
        </p:spPr>
      </p:sp>
      <p:sp>
        <p:nvSpPr>
          <p:cNvPr id="9" name="a2_q"/>
          <p:cNvSpPr txBox="1"/>
          <p:nvPr/>
        </p:nvSpPr>
        <p:spPr>
          <a:xfrm>
            <a:off x="4612538" y="1783080"/>
            <a:ext cx="2966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20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qubits</a:t>
            </a:r>
            <a:endParaRPr lang="en-US" sz="2000" dirty="0"/>
          </a:p>
        </p:txBody>
      </p:sp>
      <p:sp>
        <p:nvSpPr>
          <p:cNvPr id="10" name="a2_big"/>
          <p:cNvSpPr txBox="1"/>
          <p:nvPr/>
        </p:nvSpPr>
        <p:spPr>
          <a:xfrm>
            <a:off x="4612538" y="2377440"/>
            <a:ext cx="29666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40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10</a:t>
            </a:r>
            <a:pPr algn="l" indent="0" marL="0">
              <a:buNone/>
            </a:pPr>
            <a:r>
              <a:rPr lang="en-US" altLang="en-US" sz="4000" b="1" baseline="300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4000" dirty="0"/>
          </a:p>
        </p:txBody>
      </p:sp>
      <p:sp>
        <p:nvSpPr>
          <p:cNvPr id="11" name="a2_text"/>
          <p:cNvSpPr txBox="1"/>
          <p:nvPr/>
        </p:nvSpPr>
        <p:spPr>
          <a:xfrm>
            <a:off x="4612538" y="3703320"/>
            <a:ext cx="296661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states. Simulating this on a normal computer needs about 18 petabytes of memory.</a:t>
            </a:r>
            <a:endParaRPr lang="en-US" sz="1600" dirty="0"/>
          </a:p>
        </p:txBody>
      </p:sp>
      <p:sp>
        <p:nvSpPr>
          <p:cNvPr id="12" name="a3_card"/>
          <p:cNvSpPr/>
          <p:nvPr/>
        </p:nvSpPr>
        <p:spPr>
          <a:xfrm>
            <a:off x="8127797" y="1600200"/>
            <a:ext cx="3515258" cy="3291840"/>
          </a:xfrm>
          <a:prstGeom prst="roundRect">
            <a:avLst>
              <a:gd name="adj" fmla="val 5556"/>
            </a:avLst>
          </a:prstGeom>
          <a:solidFill>
            <a:schemeClr val="tx2"/>
          </a:solidFill>
          <a:ln/>
          <a:effectLst>
            <a:outerShdw sx="100000" sy="100000" kx="0" ky="0" algn="bl" rotWithShape="0" blurRad="152400" dist="38100" dir="5400000">
              <a:srgbClr val="000000">
                <a:alpha val="16000"/>
              </a:srgbClr>
            </a:outerShdw>
          </a:effectLst>
        </p:spPr>
      </p:sp>
      <p:sp>
        <p:nvSpPr>
          <p:cNvPr id="13" name="a3_q"/>
          <p:cNvSpPr txBox="1"/>
          <p:nvPr/>
        </p:nvSpPr>
        <p:spPr>
          <a:xfrm>
            <a:off x="8402117" y="1783080"/>
            <a:ext cx="2966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20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qubits</a:t>
            </a:r>
            <a:endParaRPr lang="en-US" sz="2000" dirty="0"/>
          </a:p>
        </p:txBody>
      </p:sp>
      <p:sp>
        <p:nvSpPr>
          <p:cNvPr id="14" name="a3_big"/>
          <p:cNvSpPr txBox="1"/>
          <p:nvPr/>
        </p:nvSpPr>
        <p:spPr>
          <a:xfrm>
            <a:off x="8402117" y="2377440"/>
            <a:ext cx="29666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40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10</a:t>
            </a:r>
            <a:pPr algn="l" indent="0" marL="0">
              <a:buNone/>
            </a:pPr>
            <a:r>
              <a:rPr lang="en-US" altLang="en-US" sz="4000" b="1" baseline="300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</a:t>
            </a:r>
            <a:endParaRPr lang="en-US" sz="4000" dirty="0"/>
          </a:p>
        </p:txBody>
      </p:sp>
      <p:sp>
        <p:nvSpPr>
          <p:cNvPr id="15" name="a3_text"/>
          <p:cNvSpPr txBox="1"/>
          <p:nvPr/>
        </p:nvSpPr>
        <p:spPr>
          <a:xfrm>
            <a:off x="8402117" y="3703320"/>
            <a:ext cx="296661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states: more than the number of atoms in the observable universe (about 10⁸⁰).</a:t>
            </a:r>
            <a:endParaRPr lang="en-US" sz="1600" dirty="0"/>
          </a:p>
        </p:txBody>
      </p:sp>
      <p:sp>
        <p:nvSpPr>
          <p:cNvPr id="16" name="a4_note"/>
          <p:cNvSpPr/>
          <p:nvPr/>
        </p:nvSpPr>
        <p:spPr>
          <a:xfrm>
            <a:off x="548640" y="5166360"/>
            <a:ext cx="11094415" cy="960120"/>
          </a:xfrm>
          <a:prstGeom prst="roundRect">
            <a:avLst>
              <a:gd name="adj" fmla="val 15238"/>
            </a:avLst>
          </a:prstGeom>
          <a:solidFill>
            <a:schemeClr val="accent4"/>
          </a:solidFill>
          <a:ln/>
        </p:spPr>
      </p:sp>
      <p:sp>
        <p:nvSpPr>
          <p:cNvPr id="17" name="a4_note_t"/>
          <p:cNvSpPr txBox="1"/>
          <p:nvPr/>
        </p:nvSpPr>
        <p:spPr>
          <a:xfrm>
            <a:off x="914400" y="5166360"/>
            <a:ext cx="1036289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qubits describe 2ᴺ states. But more states does not mean every problem gets faster: only problems with the right structure.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300">
        <p14:vortex dir="r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3400" b="1" dirty="0">
                <a:solidFill>
                  <a:schemeClr val="tx1"/>
                </a:solidFill>
              </a:rPr>
              <a:t>How do we build a qubit?</a:t>
            </a:r>
            <a:endParaRPr lang="en-US" sz="3400" dirty="0"/>
          </a:p>
        </p:txBody>
      </p:sp>
      <p:sp>
        <p:nvSpPr>
          <p:cNvPr id="4" name="a1_card"/>
          <p:cNvSpPr/>
          <p:nvPr/>
        </p:nvSpPr>
        <p:spPr>
          <a:xfrm>
            <a:off x="548640" y="1508760"/>
            <a:ext cx="3527450" cy="219456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5" name="a1_ico_bg"/>
          <p:cNvSpPr/>
          <p:nvPr/>
        </p:nvSpPr>
        <p:spPr>
          <a:xfrm>
            <a:off x="777240" y="1709928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a1_ico_img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062" y="1882750"/>
            <a:ext cx="294437" cy="294437"/>
          </a:xfrm>
          <a:prstGeom prst="rect">
            <a:avLst/>
          </a:prstGeom>
        </p:spPr>
      </p:pic>
      <p:sp>
        <p:nvSpPr>
          <p:cNvPr id="7" name="a1_head"/>
          <p:cNvSpPr txBox="1"/>
          <p:nvPr/>
        </p:nvSpPr>
        <p:spPr>
          <a:xfrm>
            <a:off x="1554480" y="1673352"/>
            <a:ext cx="233873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7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Superconducting circuits</a:t>
            </a:r>
            <a:endParaRPr lang="en-US" sz="1700" dirty="0"/>
          </a:p>
        </p:txBody>
      </p:sp>
      <p:sp>
        <p:nvSpPr>
          <p:cNvPr id="8" name="a1_body"/>
          <p:cNvSpPr txBox="1"/>
          <p:nvPr/>
        </p:nvSpPr>
        <p:spPr>
          <a:xfrm>
            <a:off x="777240" y="2468880"/>
            <a:ext cx="30702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 circuits cooled near absolute zero. Used by IBM and Google.</a:t>
            </a:r>
            <a:endParaRPr lang="en-US" sz="1400" dirty="0"/>
          </a:p>
        </p:txBody>
      </p:sp>
      <p:sp>
        <p:nvSpPr>
          <p:cNvPr id="9" name="a1_tag"/>
          <p:cNvSpPr/>
          <p:nvPr/>
        </p:nvSpPr>
        <p:spPr>
          <a:xfrm>
            <a:off x="777240" y="3246120"/>
            <a:ext cx="2468880" cy="29260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0" name="a1_tag_t"/>
          <p:cNvSpPr txBox="1"/>
          <p:nvPr/>
        </p:nvSpPr>
        <p:spPr>
          <a:xfrm>
            <a:off x="777240" y="324612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common today</a:t>
            </a:r>
            <a:endParaRPr lang="en-US" sz="1200" dirty="0"/>
          </a:p>
        </p:txBody>
      </p:sp>
      <p:sp>
        <p:nvSpPr>
          <p:cNvPr id="11" name="a2_card"/>
          <p:cNvSpPr/>
          <p:nvPr/>
        </p:nvSpPr>
        <p:spPr>
          <a:xfrm>
            <a:off x="4332122" y="1508760"/>
            <a:ext cx="3527450" cy="219456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12" name="a2_ico_bg"/>
          <p:cNvSpPr/>
          <p:nvPr/>
        </p:nvSpPr>
        <p:spPr>
          <a:xfrm>
            <a:off x="4560722" y="1709928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3" name="a2_ico_img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3544" y="1882750"/>
            <a:ext cx="294437" cy="294437"/>
          </a:xfrm>
          <a:prstGeom prst="rect">
            <a:avLst/>
          </a:prstGeom>
        </p:spPr>
      </p:pic>
      <p:sp>
        <p:nvSpPr>
          <p:cNvPr id="14" name="a2_head"/>
          <p:cNvSpPr txBox="1"/>
          <p:nvPr/>
        </p:nvSpPr>
        <p:spPr>
          <a:xfrm>
            <a:off x="5337962" y="1673352"/>
            <a:ext cx="233873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7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Trapped ions</a:t>
            </a:r>
            <a:endParaRPr lang="en-US" sz="1700" dirty="0"/>
          </a:p>
        </p:txBody>
      </p:sp>
      <p:sp>
        <p:nvSpPr>
          <p:cNvPr id="15" name="a2_body"/>
          <p:cNvSpPr txBox="1"/>
          <p:nvPr/>
        </p:nvSpPr>
        <p:spPr>
          <a:xfrm>
            <a:off x="4560722" y="2468880"/>
            <a:ext cx="30702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Charged atoms held by electric fields and controlled by lasers. IonQ, Quantinuum.</a:t>
            </a:r>
            <a:endParaRPr lang="en-US" sz="1400" dirty="0"/>
          </a:p>
        </p:txBody>
      </p:sp>
      <p:sp>
        <p:nvSpPr>
          <p:cNvPr id="16" name="a2_tag"/>
          <p:cNvSpPr/>
          <p:nvPr/>
        </p:nvSpPr>
        <p:spPr>
          <a:xfrm>
            <a:off x="4560722" y="3246120"/>
            <a:ext cx="2468880" cy="29260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17" name="a2_tag_t"/>
          <p:cNvSpPr txBox="1"/>
          <p:nvPr/>
        </p:nvSpPr>
        <p:spPr>
          <a:xfrm>
            <a:off x="4560722" y="324612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accurate</a:t>
            </a:r>
            <a:endParaRPr lang="en-US" sz="1200" dirty="0"/>
          </a:p>
        </p:txBody>
      </p:sp>
      <p:sp>
        <p:nvSpPr>
          <p:cNvPr id="18" name="a3_card"/>
          <p:cNvSpPr/>
          <p:nvPr/>
        </p:nvSpPr>
        <p:spPr>
          <a:xfrm>
            <a:off x="8115605" y="1508760"/>
            <a:ext cx="3527450" cy="219456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19" name="a3_ico_bg"/>
          <p:cNvSpPr/>
          <p:nvPr/>
        </p:nvSpPr>
        <p:spPr>
          <a:xfrm>
            <a:off x="8344205" y="1709928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0" name="a3_ico_img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7026" y="1882750"/>
            <a:ext cx="294437" cy="294437"/>
          </a:xfrm>
          <a:prstGeom prst="rect">
            <a:avLst/>
          </a:prstGeom>
        </p:spPr>
      </p:pic>
      <p:sp>
        <p:nvSpPr>
          <p:cNvPr id="21" name="a3_head"/>
          <p:cNvSpPr txBox="1"/>
          <p:nvPr/>
        </p:nvSpPr>
        <p:spPr>
          <a:xfrm>
            <a:off x="9121445" y="1673352"/>
            <a:ext cx="233873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7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Photons</a:t>
            </a:r>
            <a:endParaRPr lang="en-US" sz="1700" dirty="0"/>
          </a:p>
        </p:txBody>
      </p:sp>
      <p:sp>
        <p:nvSpPr>
          <p:cNvPr id="22" name="a3_body"/>
          <p:cNvSpPr txBox="1"/>
          <p:nvPr/>
        </p:nvSpPr>
        <p:spPr>
          <a:xfrm>
            <a:off x="8344205" y="2468880"/>
            <a:ext cx="30702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Particles of light guided through chips. PsiQuantum, Xanadu.</a:t>
            </a:r>
            <a:endParaRPr lang="en-US" sz="1400" dirty="0"/>
          </a:p>
        </p:txBody>
      </p:sp>
      <p:sp>
        <p:nvSpPr>
          <p:cNvPr id="23" name="a3_tag"/>
          <p:cNvSpPr/>
          <p:nvPr/>
        </p:nvSpPr>
        <p:spPr>
          <a:xfrm>
            <a:off x="8344205" y="3246120"/>
            <a:ext cx="2468880" cy="29260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24" name="a3_tag_t"/>
          <p:cNvSpPr txBox="1"/>
          <p:nvPr/>
        </p:nvSpPr>
        <p:spPr>
          <a:xfrm>
            <a:off x="8344205" y="324612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at room temp</a:t>
            </a:r>
            <a:endParaRPr lang="en-US" sz="1200" dirty="0"/>
          </a:p>
        </p:txBody>
      </p:sp>
      <p:sp>
        <p:nvSpPr>
          <p:cNvPr id="25" name="a4_card"/>
          <p:cNvSpPr/>
          <p:nvPr/>
        </p:nvSpPr>
        <p:spPr>
          <a:xfrm>
            <a:off x="548640" y="3886200"/>
            <a:ext cx="3527450" cy="219456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26" name="a4_ico_bg"/>
          <p:cNvSpPr/>
          <p:nvPr/>
        </p:nvSpPr>
        <p:spPr>
          <a:xfrm>
            <a:off x="777240" y="4087368"/>
            <a:ext cx="640080" cy="64008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7" name="a4_ico_img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062" y="4260190"/>
            <a:ext cx="294437" cy="294437"/>
          </a:xfrm>
          <a:prstGeom prst="rect">
            <a:avLst/>
          </a:prstGeom>
        </p:spPr>
      </p:pic>
      <p:sp>
        <p:nvSpPr>
          <p:cNvPr id="28" name="a4_head"/>
          <p:cNvSpPr txBox="1"/>
          <p:nvPr/>
        </p:nvSpPr>
        <p:spPr>
          <a:xfrm>
            <a:off x="1554480" y="4050792"/>
            <a:ext cx="233873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7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 atoms</a:t>
            </a:r>
            <a:endParaRPr lang="en-US" sz="1700" dirty="0"/>
          </a:p>
        </p:txBody>
      </p:sp>
      <p:sp>
        <p:nvSpPr>
          <p:cNvPr id="29" name="a4_body"/>
          <p:cNvSpPr txBox="1"/>
          <p:nvPr/>
        </p:nvSpPr>
        <p:spPr>
          <a:xfrm>
            <a:off x="777240" y="4846320"/>
            <a:ext cx="30702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Atoms held in arrays by laser 'tweezers'. QuEra, Pasqal.</a:t>
            </a:r>
            <a:endParaRPr lang="en-US" sz="1400" dirty="0"/>
          </a:p>
        </p:txBody>
      </p:sp>
      <p:sp>
        <p:nvSpPr>
          <p:cNvPr id="30" name="a4_tag"/>
          <p:cNvSpPr/>
          <p:nvPr/>
        </p:nvSpPr>
        <p:spPr>
          <a:xfrm>
            <a:off x="777240" y="5623560"/>
            <a:ext cx="2468880" cy="292608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31" name="a4_tag_t"/>
          <p:cNvSpPr txBox="1"/>
          <p:nvPr/>
        </p:nvSpPr>
        <p:spPr>
          <a:xfrm>
            <a:off x="777240" y="562356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Scales well</a:t>
            </a:r>
            <a:endParaRPr lang="en-US" sz="1200" dirty="0"/>
          </a:p>
        </p:txBody>
      </p:sp>
      <p:sp>
        <p:nvSpPr>
          <p:cNvPr id="32" name="a5_card"/>
          <p:cNvSpPr/>
          <p:nvPr/>
        </p:nvSpPr>
        <p:spPr>
          <a:xfrm>
            <a:off x="4332122" y="3886200"/>
            <a:ext cx="3527450" cy="219456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33" name="a5_ico_bg"/>
          <p:cNvSpPr/>
          <p:nvPr/>
        </p:nvSpPr>
        <p:spPr>
          <a:xfrm>
            <a:off x="4560722" y="4087368"/>
            <a:ext cx="640080" cy="64008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34" name="a5_ico_img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3544" y="4260190"/>
            <a:ext cx="294437" cy="294437"/>
          </a:xfrm>
          <a:prstGeom prst="rect">
            <a:avLst/>
          </a:prstGeom>
        </p:spPr>
      </p:pic>
      <p:sp>
        <p:nvSpPr>
          <p:cNvPr id="35" name="a5_head"/>
          <p:cNvSpPr txBox="1"/>
          <p:nvPr/>
        </p:nvSpPr>
        <p:spPr>
          <a:xfrm>
            <a:off x="5337962" y="4050792"/>
            <a:ext cx="233873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7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Silicon spins</a:t>
            </a:r>
            <a:endParaRPr lang="en-US" sz="1700" dirty="0"/>
          </a:p>
        </p:txBody>
      </p:sp>
      <p:sp>
        <p:nvSpPr>
          <p:cNvPr id="36" name="a5_body"/>
          <p:cNvSpPr txBox="1"/>
          <p:nvPr/>
        </p:nvSpPr>
        <p:spPr>
          <a:xfrm>
            <a:off x="4560722" y="4846320"/>
            <a:ext cx="30702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Spin of single electrons in transistor-like devices. Intel and others.</a:t>
            </a:r>
            <a:endParaRPr lang="en-US" sz="1400" dirty="0"/>
          </a:p>
        </p:txBody>
      </p:sp>
      <p:sp>
        <p:nvSpPr>
          <p:cNvPr id="37" name="a5_tag"/>
          <p:cNvSpPr/>
          <p:nvPr/>
        </p:nvSpPr>
        <p:spPr>
          <a:xfrm>
            <a:off x="4560722" y="5623560"/>
            <a:ext cx="2468880" cy="292608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/>
        </p:spPr>
      </p:sp>
      <p:sp>
        <p:nvSpPr>
          <p:cNvPr id="38" name="a5_tag_t"/>
          <p:cNvSpPr txBox="1"/>
          <p:nvPr/>
        </p:nvSpPr>
        <p:spPr>
          <a:xfrm>
            <a:off x="4560722" y="562356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chip factories</a:t>
            </a:r>
            <a:endParaRPr lang="en-US" sz="1200" dirty="0"/>
          </a:p>
        </p:txBody>
      </p:sp>
      <p:sp>
        <p:nvSpPr>
          <p:cNvPr id="39" name="a6_card"/>
          <p:cNvSpPr/>
          <p:nvPr/>
        </p:nvSpPr>
        <p:spPr>
          <a:xfrm>
            <a:off x="8115605" y="3886200"/>
            <a:ext cx="3527450" cy="219456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40" name="a6_ico_bg"/>
          <p:cNvSpPr/>
          <p:nvPr/>
        </p:nvSpPr>
        <p:spPr>
          <a:xfrm>
            <a:off x="8344205" y="4087368"/>
            <a:ext cx="640080" cy="64008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41" name="a6_ico_img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17026" y="4260190"/>
            <a:ext cx="294437" cy="294437"/>
          </a:xfrm>
          <a:prstGeom prst="rect">
            <a:avLst/>
          </a:prstGeom>
        </p:spPr>
      </p:pic>
      <p:sp>
        <p:nvSpPr>
          <p:cNvPr id="42" name="a6_head"/>
          <p:cNvSpPr txBox="1"/>
          <p:nvPr/>
        </p:nvSpPr>
        <p:spPr>
          <a:xfrm>
            <a:off x="9121445" y="4050792"/>
            <a:ext cx="233873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7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Topological</a:t>
            </a:r>
            <a:endParaRPr lang="en-US" sz="1700" dirty="0"/>
          </a:p>
        </p:txBody>
      </p:sp>
      <p:sp>
        <p:nvSpPr>
          <p:cNvPr id="43" name="a6_body"/>
          <p:cNvSpPr txBox="1"/>
          <p:nvPr/>
        </p:nvSpPr>
        <p:spPr>
          <a:xfrm>
            <a:off x="8344205" y="4846320"/>
            <a:ext cx="30702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proposed, more stable qubit. Still being demonstrated and debated.</a:t>
            </a:r>
            <a:endParaRPr lang="en-US" sz="1400" dirty="0"/>
          </a:p>
        </p:txBody>
      </p:sp>
      <p:sp>
        <p:nvSpPr>
          <p:cNvPr id="44" name="a6_tag"/>
          <p:cNvSpPr/>
          <p:nvPr/>
        </p:nvSpPr>
        <p:spPr>
          <a:xfrm>
            <a:off x="8344205" y="5623560"/>
            <a:ext cx="2468880" cy="29260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</p:sp>
      <p:sp>
        <p:nvSpPr>
          <p:cNvPr id="45" name="a6_tag_t"/>
          <p:cNvSpPr txBox="1"/>
          <p:nvPr/>
        </p:nvSpPr>
        <p:spPr>
          <a:xfrm>
            <a:off x="8344205" y="562356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53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53" presetClass="entr" presetSubtype="0" fill="hold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53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53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6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5" dur="6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9" dur="6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3" dur="6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7" dur="6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53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1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53" presetClass="entr" presetSubtype="0" fill="hold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6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7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6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1" dur="6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6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5" dur="6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0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6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9" dur="6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6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3" dur="6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6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7" dur="6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3" presetID="53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1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2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8" presetID="53" presetClass="entr" presetSubtype="0" fill="hold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6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7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6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1" dur="6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6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6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5" dur="6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0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6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9" dur="6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4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6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3" dur="6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8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6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7" dur="6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3" presetID="53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1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2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8" presetID="53" presetClass="entr" presetSubtype="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6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7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2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0" dur="6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1" dur="6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6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6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5" dur="65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0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6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9" dur="65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4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2" dur="6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3" dur="65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2" grpId="0" animBg="1"/>
      <p:bldP spid="43" grpId="0" animBg="1"/>
      <p:bldP spid="44" grpId="0" animBg="1"/>
      <p:bldP spid="4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3400" b="1" dirty="0">
                <a:solidFill>
                  <a:schemeClr val="tx1"/>
                </a:solidFill>
              </a:rPr>
              <a:t>Inside a superconducting quantum computer</a:t>
            </a:r>
            <a:endParaRPr lang="en-US" sz="3400" dirty="0"/>
          </a:p>
        </p:txBody>
      </p:sp>
      <p:sp>
        <p:nvSpPr>
          <p:cNvPr id="4" name="a1_layer"/>
          <p:cNvSpPr/>
          <p:nvPr/>
        </p:nvSpPr>
        <p:spPr>
          <a:xfrm>
            <a:off x="548640" y="1554480"/>
            <a:ext cx="6035040" cy="804672"/>
          </a:xfrm>
          <a:prstGeom prst="roundRect">
            <a:avLst>
              <a:gd name="adj" fmla="val 11364"/>
            </a:avLst>
          </a:prstGeom>
          <a:solidFill>
            <a:schemeClr val="bg2"/>
          </a:solidFill>
          <a:ln/>
        </p:spPr>
      </p:sp>
      <p:sp>
        <p:nvSpPr>
          <p:cNvPr id="5" name="a1_temp"/>
          <p:cNvSpPr txBox="1"/>
          <p:nvPr/>
        </p:nvSpPr>
        <p:spPr>
          <a:xfrm>
            <a:off x="777240" y="1627632"/>
            <a:ext cx="5577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 20 °C</a:t>
            </a:r>
            <a:endParaRPr lang="en-US" sz="1600" dirty="0"/>
          </a:p>
        </p:txBody>
      </p:sp>
      <p:sp>
        <p:nvSpPr>
          <p:cNvPr id="6" name="a1_name"/>
          <p:cNvSpPr txBox="1"/>
          <p:nvPr/>
        </p:nvSpPr>
        <p:spPr>
          <a:xfrm>
            <a:off x="777240" y="1975104"/>
            <a:ext cx="5577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temperature: control computers and electronics</a:t>
            </a:r>
            <a:endParaRPr lang="en-US" sz="1400" dirty="0"/>
          </a:p>
        </p:txBody>
      </p:sp>
      <p:sp>
        <p:nvSpPr>
          <p:cNvPr id="7" name="a2_layer"/>
          <p:cNvSpPr/>
          <p:nvPr/>
        </p:nvSpPr>
        <p:spPr>
          <a:xfrm>
            <a:off x="822960" y="2450592"/>
            <a:ext cx="5486400" cy="804672"/>
          </a:xfrm>
          <a:prstGeom prst="roundRect">
            <a:avLst>
              <a:gd name="adj" fmla="val 11364"/>
            </a:avLst>
          </a:prstGeom>
          <a:solidFill>
            <a:schemeClr val="tx2">
              <a:alpha val="52000"/>
            </a:schemeClr>
          </a:solidFill>
          <a:ln/>
        </p:spPr>
      </p:sp>
      <p:sp>
        <p:nvSpPr>
          <p:cNvPr id="8" name="a2_temp"/>
          <p:cNvSpPr txBox="1"/>
          <p:nvPr/>
        </p:nvSpPr>
        <p:spPr>
          <a:xfrm>
            <a:off x="1051560" y="2523744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 −223 °C (50 K)</a:t>
            </a:r>
            <a:endParaRPr lang="en-US" sz="1600" dirty="0"/>
          </a:p>
        </p:txBody>
      </p:sp>
      <p:sp>
        <p:nvSpPr>
          <p:cNvPr id="9" name="a2_name"/>
          <p:cNvSpPr txBox="1"/>
          <p:nvPr/>
        </p:nvSpPr>
        <p:spPr>
          <a:xfrm>
            <a:off x="1051560" y="2871216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cooling stage</a:t>
            </a:r>
            <a:endParaRPr lang="en-US" sz="1400" dirty="0"/>
          </a:p>
        </p:txBody>
      </p:sp>
      <p:sp>
        <p:nvSpPr>
          <p:cNvPr id="10" name="a3_layer"/>
          <p:cNvSpPr/>
          <p:nvPr/>
        </p:nvSpPr>
        <p:spPr>
          <a:xfrm>
            <a:off x="1097280" y="3346704"/>
            <a:ext cx="4937760" cy="804672"/>
          </a:xfrm>
          <a:prstGeom prst="roundRect">
            <a:avLst>
              <a:gd name="adj" fmla="val 11364"/>
            </a:avLst>
          </a:prstGeom>
          <a:solidFill>
            <a:schemeClr val="tx2">
              <a:alpha val="65000"/>
            </a:schemeClr>
          </a:solidFill>
          <a:ln/>
        </p:spPr>
      </p:sp>
      <p:sp>
        <p:nvSpPr>
          <p:cNvPr id="11" name="a3_temp"/>
          <p:cNvSpPr txBox="1"/>
          <p:nvPr/>
        </p:nvSpPr>
        <p:spPr>
          <a:xfrm>
            <a:off x="1325880" y="3419856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 −269 °C (4 K)</a:t>
            </a:r>
            <a:endParaRPr lang="en-US" sz="1600" dirty="0"/>
          </a:p>
        </p:txBody>
      </p:sp>
      <p:sp>
        <p:nvSpPr>
          <p:cNvPr id="12" name="a3_name"/>
          <p:cNvSpPr txBox="1"/>
          <p:nvPr/>
        </p:nvSpPr>
        <p:spPr>
          <a:xfrm>
            <a:off x="1325880" y="376732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Amplifiers and wiring</a:t>
            </a:r>
            <a:endParaRPr lang="en-US" sz="1400" dirty="0"/>
          </a:p>
        </p:txBody>
      </p:sp>
      <p:sp>
        <p:nvSpPr>
          <p:cNvPr id="13" name="a4_layer"/>
          <p:cNvSpPr/>
          <p:nvPr/>
        </p:nvSpPr>
        <p:spPr>
          <a:xfrm>
            <a:off x="1371600" y="4242816"/>
            <a:ext cx="4389120" cy="804672"/>
          </a:xfrm>
          <a:prstGeom prst="roundRect">
            <a:avLst>
              <a:gd name="adj" fmla="val 11364"/>
            </a:avLst>
          </a:prstGeom>
          <a:solidFill>
            <a:schemeClr val="tx2">
              <a:alpha val="77000"/>
            </a:schemeClr>
          </a:solidFill>
          <a:ln/>
        </p:spPr>
      </p:sp>
      <p:sp>
        <p:nvSpPr>
          <p:cNvPr id="14" name="a4_temp"/>
          <p:cNvSpPr txBox="1"/>
          <p:nvPr/>
        </p:nvSpPr>
        <p:spPr>
          <a:xfrm>
            <a:off x="1600200" y="4315968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 −273.05 °C (0.1 K)</a:t>
            </a:r>
            <a:endParaRPr lang="en-US" sz="1600" dirty="0"/>
          </a:p>
        </p:txBody>
      </p:sp>
      <p:sp>
        <p:nvSpPr>
          <p:cNvPr id="15" name="a4_name"/>
          <p:cNvSpPr txBox="1"/>
          <p:nvPr/>
        </p:nvSpPr>
        <p:spPr>
          <a:xfrm>
            <a:off x="1600200" y="4663440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 plate</a:t>
            </a:r>
            <a:endParaRPr lang="en-US" sz="1400" dirty="0"/>
          </a:p>
        </p:txBody>
      </p:sp>
      <p:sp>
        <p:nvSpPr>
          <p:cNvPr id="16" name="a5_layer"/>
          <p:cNvSpPr/>
          <p:nvPr/>
        </p:nvSpPr>
        <p:spPr>
          <a:xfrm>
            <a:off x="1645920" y="5138928"/>
            <a:ext cx="3840480" cy="804672"/>
          </a:xfrm>
          <a:prstGeom prst="roundRect">
            <a:avLst>
              <a:gd name="adj" fmla="val 11364"/>
            </a:avLst>
          </a:prstGeom>
          <a:solidFill>
            <a:schemeClr val="accent1"/>
          </a:solidFill>
          <a:ln/>
        </p:spPr>
      </p:sp>
      <p:sp>
        <p:nvSpPr>
          <p:cNvPr id="17" name="a5_temp"/>
          <p:cNvSpPr txBox="1"/>
          <p:nvPr/>
        </p:nvSpPr>
        <p:spPr>
          <a:xfrm>
            <a:off x="1874520" y="521208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 −273.14 °C (15 mK)</a:t>
            </a:r>
            <a:endParaRPr lang="en-US" sz="1600" dirty="0"/>
          </a:p>
        </p:txBody>
      </p:sp>
      <p:sp>
        <p:nvSpPr>
          <p:cNvPr id="18" name="a5_name"/>
          <p:cNvSpPr txBox="1"/>
          <p:nvPr/>
        </p:nvSpPr>
        <p:spPr>
          <a:xfrm>
            <a:off x="1874520" y="5559552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quantum chip (qubits)</a:t>
            </a:r>
            <a:endParaRPr lang="en-US" sz="1400" dirty="0"/>
          </a:p>
        </p:txBody>
      </p:sp>
      <p:sp>
        <p:nvSpPr>
          <p:cNvPr id="19" name="a6_pc"/>
          <p:cNvSpPr/>
          <p:nvPr/>
        </p:nvSpPr>
        <p:spPr>
          <a:xfrm>
            <a:off x="6858000" y="1600200"/>
            <a:ext cx="4782312" cy="13716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/>
        </p:spPr>
      </p:sp>
      <p:sp>
        <p:nvSpPr>
          <p:cNvPr id="20" name="a6_ico_bg"/>
          <p:cNvSpPr/>
          <p:nvPr/>
        </p:nvSpPr>
        <p:spPr>
          <a:xfrm>
            <a:off x="7086600" y="192024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1" name="a6_ico_img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84110" y="2117750"/>
            <a:ext cx="336499" cy="336499"/>
          </a:xfrm>
          <a:prstGeom prst="rect">
            <a:avLst/>
          </a:prstGeom>
        </p:spPr>
      </p:pic>
      <p:sp>
        <p:nvSpPr>
          <p:cNvPr id="22" name="a6_pt"/>
          <p:cNvSpPr txBox="1"/>
          <p:nvPr/>
        </p:nvSpPr>
        <p:spPr>
          <a:xfrm>
            <a:off x="8046720" y="1673352"/>
            <a:ext cx="3474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Colder than outer space</a:t>
            </a:r>
            <a:endParaRPr lang="en-US" sz="18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space is about 2.7 K. The chip sits near 0.015 K.</a:t>
            </a:r>
            <a:endParaRPr lang="en-US" sz="1800" dirty="0"/>
          </a:p>
        </p:txBody>
      </p:sp>
      <p:sp>
        <p:nvSpPr>
          <p:cNvPr id="23" name="a7_pc"/>
          <p:cNvSpPr/>
          <p:nvPr/>
        </p:nvSpPr>
        <p:spPr>
          <a:xfrm>
            <a:off x="6858000" y="3108960"/>
            <a:ext cx="4782312" cy="13716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/>
        </p:spPr>
      </p:sp>
      <p:sp>
        <p:nvSpPr>
          <p:cNvPr id="24" name="a7_ico_bg"/>
          <p:cNvSpPr/>
          <p:nvPr/>
        </p:nvSpPr>
        <p:spPr>
          <a:xfrm>
            <a:off x="7086600" y="342900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5" name="a7_ico_img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4110" y="3626510"/>
            <a:ext cx="336499" cy="336499"/>
          </a:xfrm>
          <a:prstGeom prst="rect">
            <a:avLst/>
          </a:prstGeom>
        </p:spPr>
      </p:pic>
      <p:sp>
        <p:nvSpPr>
          <p:cNvPr id="26" name="a7_pt"/>
          <p:cNvSpPr txBox="1"/>
          <p:nvPr/>
        </p:nvSpPr>
        <p:spPr>
          <a:xfrm>
            <a:off x="8046720" y="3182112"/>
            <a:ext cx="3474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so cold?</a:t>
            </a:r>
            <a:endParaRPr lang="en-US" sz="18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 makes atoms jiggle and destroys fragile quantum states.</a:t>
            </a:r>
            <a:endParaRPr lang="en-US" sz="1800" dirty="0"/>
          </a:p>
        </p:txBody>
      </p:sp>
      <p:sp>
        <p:nvSpPr>
          <p:cNvPr id="27" name="a8_pc"/>
          <p:cNvSpPr/>
          <p:nvPr/>
        </p:nvSpPr>
        <p:spPr>
          <a:xfrm>
            <a:off x="6858000" y="4617720"/>
            <a:ext cx="4782312" cy="13716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/>
        </p:spPr>
      </p:sp>
      <p:sp>
        <p:nvSpPr>
          <p:cNvPr id="28" name="a8_ico_bg"/>
          <p:cNvSpPr/>
          <p:nvPr/>
        </p:nvSpPr>
        <p:spPr>
          <a:xfrm>
            <a:off x="7086600" y="4937760"/>
            <a:ext cx="731520" cy="7315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9" name="a8_ico_img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4110" y="5135270"/>
            <a:ext cx="336499" cy="336499"/>
          </a:xfrm>
          <a:prstGeom prst="rect">
            <a:avLst/>
          </a:prstGeom>
        </p:spPr>
      </p:pic>
      <p:sp>
        <p:nvSpPr>
          <p:cNvPr id="30" name="a8_pt"/>
          <p:cNvSpPr txBox="1"/>
          <p:nvPr/>
        </p:nvSpPr>
        <p:spPr>
          <a:xfrm>
            <a:off x="8046720" y="4690872"/>
            <a:ext cx="3474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fridge, not a PC</a:t>
            </a:r>
            <a:endParaRPr lang="en-US" sz="18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the machine is a dilution refrigerator, cables and control electronics.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53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53" presetClass="entr" presetSubtype="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6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42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5" dur="6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53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9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0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53" presetClass="entr" presetSubtype="0" fill="hold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4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5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9" dur="6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42" presetClass="entr" presetSubtype="0" fill="hold" grpId="0" nodeType="withEffect">
                                  <p:stCondLst>
                                    <p:cond delay="196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3" dur="6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53" presetClass="entr" presetSubtype="0" fill="hold" grpId="0" nodeType="withEffect">
                                  <p:stCondLst>
                                    <p:cond delay="196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7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4" presetID="53" presetClass="entr" presetSubtype="0" fill="hold" nodeType="withEffect">
                                  <p:stCondLst>
                                    <p:cond delay="196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3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42" presetClass="entr" presetSubtype="0" fill="hold" grpId="0" nodeType="withEffect">
                                  <p:stCondLst>
                                    <p:cond delay="196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6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7" dur="6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2" grpId="0" animBg="1"/>
      <p:bldP spid="23" grpId="0" animBg="1"/>
      <p:bldP spid="24" grpId="0" animBg="1"/>
      <p:bldP spid="26" grpId="0" animBg="1"/>
      <p:bldP spid="27" grpId="0" animBg="1"/>
      <p:bldP spid="28" grpId="0" animBg="1"/>
      <p:bldP spid="30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3400" b="1" dirty="0">
                <a:solidFill>
                  <a:schemeClr val="tx1"/>
                </a:solidFill>
              </a:rPr>
              <a:t>Challenges today</a:t>
            </a:r>
            <a:endParaRPr lang="en-US" sz="3400" dirty="0"/>
          </a:p>
        </p:txBody>
      </p:sp>
      <p:sp>
        <p:nvSpPr>
          <p:cNvPr id="4" name="a1_card"/>
          <p:cNvSpPr/>
          <p:nvPr/>
        </p:nvSpPr>
        <p:spPr>
          <a:xfrm>
            <a:off x="548640" y="1600200"/>
            <a:ext cx="3515258" cy="3520440"/>
          </a:xfrm>
          <a:prstGeom prst="roundRect">
            <a:avLst>
              <a:gd name="adj" fmla="val 4682"/>
            </a:avLst>
          </a:prstGeom>
          <a:solidFill>
            <a:schemeClr val="bg2"/>
          </a:solidFill>
          <a:ln/>
        </p:spPr>
      </p:sp>
      <p:sp>
        <p:nvSpPr>
          <p:cNvPr id="5" name="a1_ico_bg"/>
          <p:cNvSpPr/>
          <p:nvPr/>
        </p:nvSpPr>
        <p:spPr>
          <a:xfrm>
            <a:off x="868680" y="187452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a1_ico_img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0879" y="2096719"/>
            <a:ext cx="378562" cy="378562"/>
          </a:xfrm>
          <a:prstGeom prst="rect">
            <a:avLst/>
          </a:prstGeom>
        </p:spPr>
      </p:pic>
      <p:sp>
        <p:nvSpPr>
          <p:cNvPr id="7" name="a1_head"/>
          <p:cNvSpPr txBox="1"/>
          <p:nvPr/>
        </p:nvSpPr>
        <p:spPr>
          <a:xfrm>
            <a:off x="868680" y="2788920"/>
            <a:ext cx="28751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2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</a:t>
            </a:r>
            <a:endParaRPr lang="en-US" sz="2200" dirty="0"/>
          </a:p>
        </p:txBody>
      </p:sp>
      <p:sp>
        <p:nvSpPr>
          <p:cNvPr id="8" name="a1_body"/>
          <p:cNvSpPr txBox="1"/>
          <p:nvPr/>
        </p:nvSpPr>
        <p:spPr>
          <a:xfrm>
            <a:off x="868680" y="3657600"/>
            <a:ext cx="287517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Qubits lose their quantum state in tiny fractions of a second (decoherence).</a:t>
            </a:r>
            <a:endParaRPr lang="en-US" sz="1600" dirty="0"/>
          </a:p>
        </p:txBody>
      </p:sp>
      <p:sp>
        <p:nvSpPr>
          <p:cNvPr id="9" name="a2_card"/>
          <p:cNvSpPr/>
          <p:nvPr/>
        </p:nvSpPr>
        <p:spPr>
          <a:xfrm>
            <a:off x="4338218" y="1600200"/>
            <a:ext cx="3515258" cy="3520440"/>
          </a:xfrm>
          <a:prstGeom prst="roundRect">
            <a:avLst>
              <a:gd name="adj" fmla="val 4682"/>
            </a:avLst>
          </a:prstGeom>
          <a:solidFill>
            <a:schemeClr val="bg2"/>
          </a:solidFill>
          <a:ln/>
        </p:spPr>
      </p:sp>
      <p:sp>
        <p:nvSpPr>
          <p:cNvPr id="10" name="a2_ico_bg"/>
          <p:cNvSpPr/>
          <p:nvPr/>
        </p:nvSpPr>
        <p:spPr>
          <a:xfrm>
            <a:off x="4658258" y="1874520"/>
            <a:ext cx="822960" cy="82296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1" name="a2_ico_img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0458" y="2096719"/>
            <a:ext cx="378562" cy="378562"/>
          </a:xfrm>
          <a:prstGeom prst="rect">
            <a:avLst/>
          </a:prstGeom>
        </p:spPr>
      </p:pic>
      <p:sp>
        <p:nvSpPr>
          <p:cNvPr id="12" name="a2_head"/>
          <p:cNvSpPr txBox="1"/>
          <p:nvPr/>
        </p:nvSpPr>
        <p:spPr>
          <a:xfrm>
            <a:off x="4658258" y="2788920"/>
            <a:ext cx="28751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2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</a:t>
            </a:r>
            <a:endParaRPr lang="en-US" sz="2200" dirty="0"/>
          </a:p>
        </p:txBody>
      </p:sp>
      <p:sp>
        <p:nvSpPr>
          <p:cNvPr id="13" name="a2_body"/>
          <p:cNvSpPr txBox="1"/>
          <p:nvPr/>
        </p:nvSpPr>
        <p:spPr>
          <a:xfrm>
            <a:off x="4658258" y="3657600"/>
            <a:ext cx="287517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 error correction needs many physical qubits to make one reliable 'logical' qubit.</a:t>
            </a:r>
            <a:endParaRPr lang="en-US" sz="1600" dirty="0"/>
          </a:p>
        </p:txBody>
      </p:sp>
      <p:sp>
        <p:nvSpPr>
          <p:cNvPr id="14" name="a3_card"/>
          <p:cNvSpPr/>
          <p:nvPr/>
        </p:nvSpPr>
        <p:spPr>
          <a:xfrm>
            <a:off x="8127797" y="1600200"/>
            <a:ext cx="3515258" cy="3520440"/>
          </a:xfrm>
          <a:prstGeom prst="roundRect">
            <a:avLst>
              <a:gd name="adj" fmla="val 4682"/>
            </a:avLst>
          </a:prstGeom>
          <a:solidFill>
            <a:schemeClr val="bg2"/>
          </a:solidFill>
          <a:ln/>
        </p:spPr>
      </p:sp>
      <p:sp>
        <p:nvSpPr>
          <p:cNvPr id="15" name="a3_ico_bg"/>
          <p:cNvSpPr/>
          <p:nvPr/>
        </p:nvSpPr>
        <p:spPr>
          <a:xfrm>
            <a:off x="8447837" y="1874520"/>
            <a:ext cx="822960" cy="82296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6" name="a3_ico_img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0036" y="2096719"/>
            <a:ext cx="378562" cy="378562"/>
          </a:xfrm>
          <a:prstGeom prst="rect">
            <a:avLst/>
          </a:prstGeom>
        </p:spPr>
      </p:pic>
      <p:sp>
        <p:nvSpPr>
          <p:cNvPr id="17" name="a3_head"/>
          <p:cNvSpPr txBox="1"/>
          <p:nvPr/>
        </p:nvSpPr>
        <p:spPr>
          <a:xfrm>
            <a:off x="8447837" y="2788920"/>
            <a:ext cx="28751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2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</a:t>
            </a:r>
            <a:endParaRPr lang="en-US" sz="2200" dirty="0"/>
          </a:p>
        </p:txBody>
      </p:sp>
      <p:sp>
        <p:nvSpPr>
          <p:cNvPr id="18" name="a3_body"/>
          <p:cNvSpPr txBox="1"/>
          <p:nvPr/>
        </p:nvSpPr>
        <p:spPr>
          <a:xfrm>
            <a:off x="8447837" y="3657600"/>
            <a:ext cx="287517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machines have about 100 to 1,000+ physical qubits. Many useful tasks may need millions.</a:t>
            </a:r>
            <a:endParaRPr lang="en-US" sz="1600" dirty="0"/>
          </a:p>
        </p:txBody>
      </p:sp>
      <p:sp>
        <p:nvSpPr>
          <p:cNvPr id="19" name="a4_note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6842"/>
            </a:avLst>
          </a:prstGeom>
          <a:solidFill>
            <a:schemeClr val="tx2"/>
          </a:solidFill>
          <a:ln/>
        </p:spPr>
      </p:sp>
      <p:pic>
        <p:nvPicPr>
          <p:cNvPr id="20" name="a4_note_ic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5550408"/>
            <a:ext cx="365760" cy="365760"/>
          </a:xfrm>
          <a:prstGeom prst="rect">
            <a:avLst/>
          </a:prstGeom>
        </p:spPr>
      </p:pic>
      <p:sp>
        <p:nvSpPr>
          <p:cNvPr id="21" name="a4_note_t"/>
          <p:cNvSpPr txBox="1"/>
          <p:nvPr/>
        </p:nvSpPr>
        <p:spPr>
          <a:xfrm>
            <a:off x="1463040" y="5303520"/>
            <a:ext cx="9814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7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in the 'NISQ' era: Noisy, Intermediate-Scale Quantum. Progress is real and fast, but large fault-tolerant machines are still being built.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53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53" presetClass="entr" presetSubtype="0" fill="hold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53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53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5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9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6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6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8" grpId="0" animBg="1"/>
      <p:bldP spid="9" grpId="0" animBg="1"/>
      <p:bldP spid="10" grpId="0" animBg="1"/>
      <p:bldP spid="12" grpId="0" animBg="1"/>
      <p:bldP spid="13" grpId="0" animBg="1"/>
      <p:bldP spid="14" grpId="0" animBg="1"/>
      <p:bldP spid="15" grpId="0" animBg="1"/>
      <p:bldP spid="17" grpId="0" animBg="1"/>
      <p:bldP spid="18" grpId="0" animBg="1"/>
      <p:bldP spid="19" grpId="0" animBg="1"/>
      <p:bldP spid="2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5_halo"/>
          <p:cNvSpPr/>
          <p:nvPr/>
        </p:nvSpPr>
        <p:spPr>
          <a:xfrm>
            <a:off x="-1371600" y="3931920"/>
            <a:ext cx="4754880" cy="4754880"/>
          </a:xfrm>
          <a:prstGeom prst="ellipse">
            <a:avLst/>
          </a:prstGeom>
          <a:solidFill>
            <a:schemeClr val="accent1">
              <a:alpha val="18000"/>
            </a:schemeClr>
          </a:solidFill>
          <a:ln/>
        </p:spPr>
      </p:sp>
      <p:sp>
        <p:nvSpPr>
          <p:cNvPr id="4" name="a5_halo2"/>
          <p:cNvSpPr/>
          <p:nvPr/>
        </p:nvSpPr>
        <p:spPr>
          <a:xfrm>
            <a:off x="9692640" y="-1371600"/>
            <a:ext cx="3657600" cy="3657600"/>
          </a:xfrm>
          <a:prstGeom prst="ellipse">
            <a:avLst/>
          </a:prstGeom>
          <a:solidFill>
            <a:schemeClr val="accent2">
              <a:alpha val="20000"/>
            </a:schemeClr>
          </a:solidFill>
          <a:ln/>
        </p:spPr>
      </p:sp>
      <p:sp>
        <p:nvSpPr>
          <p:cNvPr id="5" name="a1_num"/>
          <p:cNvSpPr txBox="1"/>
          <p:nvPr/>
        </p:nvSpPr>
        <p:spPr>
          <a:xfrm>
            <a:off x="640080" y="1463040"/>
            <a:ext cx="3108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9000" b="1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90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3931920" y="2103120"/>
            <a:ext cx="7680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altLang="en-US" sz="4400" b="1" dirty="0">
                <a:solidFill>
                  <a:schemeClr val="bg1"/>
                </a:solidFill>
              </a:rPr>
              <a:t>Applications &amp; benefits</a:t>
            </a:r>
            <a:endParaRPr lang="en-US" sz="44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3931920" y="36118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200" dirty="0">
                <a:solidFill>
                  <a:schemeClr val="bg2"/>
                </a:solidFill>
              </a:rPr>
              <a:t>What could we do with it?</a:t>
            </a:r>
            <a:endParaRPr lang="en-US" sz="22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300">
        <p14:prism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6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3400" b="1" dirty="0">
                <a:solidFill>
                  <a:schemeClr val="tx1"/>
                </a:solidFill>
              </a:rPr>
              <a:t>Where could it help?</a:t>
            </a:r>
            <a:endParaRPr lang="en-US" sz="3400" dirty="0"/>
          </a:p>
        </p:txBody>
      </p:sp>
      <p:sp>
        <p:nvSpPr>
          <p:cNvPr id="4" name="a1_card"/>
          <p:cNvSpPr/>
          <p:nvPr/>
        </p:nvSpPr>
        <p:spPr>
          <a:xfrm>
            <a:off x="548640" y="1508760"/>
            <a:ext cx="3527450" cy="219456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5" name="a1_ico_bg"/>
          <p:cNvSpPr/>
          <p:nvPr/>
        </p:nvSpPr>
        <p:spPr>
          <a:xfrm>
            <a:off x="777240" y="1709928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a1_ico_img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062" y="1882750"/>
            <a:ext cx="294437" cy="294437"/>
          </a:xfrm>
          <a:prstGeom prst="rect">
            <a:avLst/>
          </a:prstGeom>
        </p:spPr>
      </p:pic>
      <p:sp>
        <p:nvSpPr>
          <p:cNvPr id="7" name="a1_head"/>
          <p:cNvSpPr txBox="1"/>
          <p:nvPr/>
        </p:nvSpPr>
        <p:spPr>
          <a:xfrm>
            <a:off x="1554480" y="1673352"/>
            <a:ext cx="233873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7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Medicine</a:t>
            </a:r>
            <a:endParaRPr lang="en-US" sz="1700" dirty="0"/>
          </a:p>
        </p:txBody>
      </p:sp>
      <p:sp>
        <p:nvSpPr>
          <p:cNvPr id="8" name="a1_body"/>
          <p:cNvSpPr txBox="1"/>
          <p:nvPr/>
        </p:nvSpPr>
        <p:spPr>
          <a:xfrm>
            <a:off x="777240" y="2468880"/>
            <a:ext cx="30702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 molecules exactly to design new drugs and understand disease.</a:t>
            </a:r>
            <a:endParaRPr lang="en-US" sz="1400" dirty="0"/>
          </a:p>
        </p:txBody>
      </p:sp>
      <p:sp>
        <p:nvSpPr>
          <p:cNvPr id="9" name="a1_tag"/>
          <p:cNvSpPr/>
          <p:nvPr/>
        </p:nvSpPr>
        <p:spPr>
          <a:xfrm>
            <a:off x="777240" y="3246120"/>
            <a:ext cx="2468880" cy="29260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0" name="a1_tag_t"/>
          <p:cNvSpPr txBox="1"/>
          <p:nvPr/>
        </p:nvSpPr>
        <p:spPr>
          <a:xfrm>
            <a:off x="777240" y="324612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Promising</a:t>
            </a:r>
            <a:endParaRPr lang="en-US" sz="1200" dirty="0"/>
          </a:p>
        </p:txBody>
      </p:sp>
      <p:sp>
        <p:nvSpPr>
          <p:cNvPr id="11" name="a2_card"/>
          <p:cNvSpPr/>
          <p:nvPr/>
        </p:nvSpPr>
        <p:spPr>
          <a:xfrm>
            <a:off x="4332122" y="1508760"/>
            <a:ext cx="3527450" cy="219456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12" name="a2_ico_bg"/>
          <p:cNvSpPr/>
          <p:nvPr/>
        </p:nvSpPr>
        <p:spPr>
          <a:xfrm>
            <a:off x="4560722" y="1709928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3" name="a2_ico_img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3544" y="1882750"/>
            <a:ext cx="294437" cy="294437"/>
          </a:xfrm>
          <a:prstGeom prst="rect">
            <a:avLst/>
          </a:prstGeom>
        </p:spPr>
      </p:pic>
      <p:sp>
        <p:nvSpPr>
          <p:cNvPr id="14" name="a2_head"/>
          <p:cNvSpPr txBox="1"/>
          <p:nvPr/>
        </p:nvSpPr>
        <p:spPr>
          <a:xfrm>
            <a:off x="5337962" y="1673352"/>
            <a:ext cx="233873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7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&amp; energy</a:t>
            </a:r>
            <a:endParaRPr lang="en-US" sz="1700" dirty="0"/>
          </a:p>
        </p:txBody>
      </p:sp>
      <p:sp>
        <p:nvSpPr>
          <p:cNvPr id="15" name="a2_body"/>
          <p:cNvSpPr txBox="1"/>
          <p:nvPr/>
        </p:nvSpPr>
        <p:spPr>
          <a:xfrm>
            <a:off x="4560722" y="2468880"/>
            <a:ext cx="30702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batteries, solar materials and catalysts, e.g. fertiliser with less energy.</a:t>
            </a:r>
            <a:endParaRPr lang="en-US" sz="1400" dirty="0"/>
          </a:p>
        </p:txBody>
      </p:sp>
      <p:sp>
        <p:nvSpPr>
          <p:cNvPr id="16" name="a2_tag"/>
          <p:cNvSpPr/>
          <p:nvPr/>
        </p:nvSpPr>
        <p:spPr>
          <a:xfrm>
            <a:off x="4560722" y="3246120"/>
            <a:ext cx="2468880" cy="29260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17" name="a2_tag_t"/>
          <p:cNvSpPr txBox="1"/>
          <p:nvPr/>
        </p:nvSpPr>
        <p:spPr>
          <a:xfrm>
            <a:off x="4560722" y="324612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Promising</a:t>
            </a:r>
            <a:endParaRPr lang="en-US" sz="1200" dirty="0"/>
          </a:p>
        </p:txBody>
      </p:sp>
      <p:sp>
        <p:nvSpPr>
          <p:cNvPr id="18" name="a3_card"/>
          <p:cNvSpPr/>
          <p:nvPr/>
        </p:nvSpPr>
        <p:spPr>
          <a:xfrm>
            <a:off x="8115605" y="1508760"/>
            <a:ext cx="3527450" cy="219456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19" name="a3_ico_bg"/>
          <p:cNvSpPr/>
          <p:nvPr/>
        </p:nvSpPr>
        <p:spPr>
          <a:xfrm>
            <a:off x="8344205" y="1709928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0" name="a3_ico_img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7026" y="1882750"/>
            <a:ext cx="294437" cy="294437"/>
          </a:xfrm>
          <a:prstGeom prst="rect">
            <a:avLst/>
          </a:prstGeom>
        </p:spPr>
      </p:pic>
      <p:sp>
        <p:nvSpPr>
          <p:cNvPr id="21" name="a3_head"/>
          <p:cNvSpPr txBox="1"/>
          <p:nvPr/>
        </p:nvSpPr>
        <p:spPr>
          <a:xfrm>
            <a:off x="9121445" y="1673352"/>
            <a:ext cx="233873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7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700" dirty="0"/>
          </a:p>
        </p:txBody>
      </p:sp>
      <p:sp>
        <p:nvSpPr>
          <p:cNvPr id="22" name="a3_body"/>
          <p:cNvSpPr txBox="1"/>
          <p:nvPr/>
        </p:nvSpPr>
        <p:spPr>
          <a:xfrm>
            <a:off x="8344205" y="2468880"/>
            <a:ext cx="30702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Could break today's encryption, and enables new, safer methods.</a:t>
            </a:r>
            <a:endParaRPr lang="en-US" sz="1400" dirty="0"/>
          </a:p>
        </p:txBody>
      </p:sp>
      <p:sp>
        <p:nvSpPr>
          <p:cNvPr id="23" name="a3_tag"/>
          <p:cNvSpPr/>
          <p:nvPr/>
        </p:nvSpPr>
        <p:spPr>
          <a:xfrm>
            <a:off x="8344205" y="3246120"/>
            <a:ext cx="2468880" cy="29260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24" name="a3_tag_t"/>
          <p:cNvSpPr txBox="1"/>
          <p:nvPr/>
        </p:nvSpPr>
        <p:spPr>
          <a:xfrm>
            <a:off x="8344205" y="324612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Long-term risk</a:t>
            </a:r>
            <a:endParaRPr lang="en-US" sz="1200" dirty="0"/>
          </a:p>
        </p:txBody>
      </p:sp>
      <p:sp>
        <p:nvSpPr>
          <p:cNvPr id="25" name="a4_card"/>
          <p:cNvSpPr/>
          <p:nvPr/>
        </p:nvSpPr>
        <p:spPr>
          <a:xfrm>
            <a:off x="548640" y="3886200"/>
            <a:ext cx="3527450" cy="219456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26" name="a4_ico_bg"/>
          <p:cNvSpPr/>
          <p:nvPr/>
        </p:nvSpPr>
        <p:spPr>
          <a:xfrm>
            <a:off x="777240" y="4087368"/>
            <a:ext cx="640080" cy="64008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7" name="a4_ico_img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062" y="4260190"/>
            <a:ext cx="294437" cy="294437"/>
          </a:xfrm>
          <a:prstGeom prst="rect">
            <a:avLst/>
          </a:prstGeom>
        </p:spPr>
      </p:pic>
      <p:sp>
        <p:nvSpPr>
          <p:cNvPr id="28" name="a4_head"/>
          <p:cNvSpPr txBox="1"/>
          <p:nvPr/>
        </p:nvSpPr>
        <p:spPr>
          <a:xfrm>
            <a:off x="1554480" y="4050792"/>
            <a:ext cx="233873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7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</a:t>
            </a:r>
            <a:endParaRPr lang="en-US" sz="1700" dirty="0"/>
          </a:p>
        </p:txBody>
      </p:sp>
      <p:sp>
        <p:nvSpPr>
          <p:cNvPr id="29" name="a4_body"/>
          <p:cNvSpPr txBox="1"/>
          <p:nvPr/>
        </p:nvSpPr>
        <p:spPr>
          <a:xfrm>
            <a:off x="777240" y="4846320"/>
            <a:ext cx="30702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Routes, timetables, supply chains and finance: the best option among huge numbers.</a:t>
            </a:r>
            <a:endParaRPr lang="en-US" sz="1400" dirty="0"/>
          </a:p>
        </p:txBody>
      </p:sp>
      <p:sp>
        <p:nvSpPr>
          <p:cNvPr id="30" name="a4_tag"/>
          <p:cNvSpPr/>
          <p:nvPr/>
        </p:nvSpPr>
        <p:spPr>
          <a:xfrm>
            <a:off x="777240" y="5623560"/>
            <a:ext cx="2468880" cy="292608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31" name="a4_tag_t"/>
          <p:cNvSpPr txBox="1"/>
          <p:nvPr/>
        </p:nvSpPr>
        <p:spPr>
          <a:xfrm>
            <a:off x="777240" y="562356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tested</a:t>
            </a:r>
            <a:endParaRPr lang="en-US" sz="1200" dirty="0"/>
          </a:p>
        </p:txBody>
      </p:sp>
      <p:sp>
        <p:nvSpPr>
          <p:cNvPr id="32" name="a5_card"/>
          <p:cNvSpPr/>
          <p:nvPr/>
        </p:nvSpPr>
        <p:spPr>
          <a:xfrm>
            <a:off x="4332122" y="3886200"/>
            <a:ext cx="3527450" cy="219456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33" name="a5_ico_bg"/>
          <p:cNvSpPr/>
          <p:nvPr/>
        </p:nvSpPr>
        <p:spPr>
          <a:xfrm>
            <a:off x="4560722" y="4087368"/>
            <a:ext cx="640080" cy="64008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34" name="a5_ico_img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3544" y="4260190"/>
            <a:ext cx="294437" cy="294437"/>
          </a:xfrm>
          <a:prstGeom prst="rect">
            <a:avLst/>
          </a:prstGeom>
        </p:spPr>
      </p:pic>
      <p:sp>
        <p:nvSpPr>
          <p:cNvPr id="35" name="a5_head"/>
          <p:cNvSpPr txBox="1"/>
          <p:nvPr/>
        </p:nvSpPr>
        <p:spPr>
          <a:xfrm>
            <a:off x="5337962" y="4050792"/>
            <a:ext cx="233873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7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Artificial intelligence</a:t>
            </a:r>
            <a:endParaRPr lang="en-US" sz="1700" dirty="0"/>
          </a:p>
        </p:txBody>
      </p:sp>
      <p:sp>
        <p:nvSpPr>
          <p:cNvPr id="36" name="a5_body"/>
          <p:cNvSpPr txBox="1"/>
          <p:nvPr/>
        </p:nvSpPr>
        <p:spPr>
          <a:xfrm>
            <a:off x="4560722" y="4846320"/>
            <a:ext cx="30702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Possible help with some learning tasks. Benefits are not yet proven.</a:t>
            </a:r>
            <a:endParaRPr lang="en-US" sz="1400" dirty="0"/>
          </a:p>
        </p:txBody>
      </p:sp>
      <p:sp>
        <p:nvSpPr>
          <p:cNvPr id="37" name="a5_tag"/>
          <p:cNvSpPr/>
          <p:nvPr/>
        </p:nvSpPr>
        <p:spPr>
          <a:xfrm>
            <a:off x="4560722" y="5623560"/>
            <a:ext cx="2468880" cy="292608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/>
        </p:spPr>
      </p:sp>
      <p:sp>
        <p:nvSpPr>
          <p:cNvPr id="38" name="a5_tag_t"/>
          <p:cNvSpPr txBox="1"/>
          <p:nvPr/>
        </p:nvSpPr>
        <p:spPr>
          <a:xfrm>
            <a:off x="4560722" y="562356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research</a:t>
            </a:r>
            <a:endParaRPr lang="en-US" sz="1200" dirty="0"/>
          </a:p>
        </p:txBody>
      </p:sp>
      <p:sp>
        <p:nvSpPr>
          <p:cNvPr id="39" name="a6_card"/>
          <p:cNvSpPr/>
          <p:nvPr/>
        </p:nvSpPr>
        <p:spPr>
          <a:xfrm>
            <a:off x="8115605" y="3886200"/>
            <a:ext cx="3527450" cy="219456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40" name="a6_ico_bg"/>
          <p:cNvSpPr/>
          <p:nvPr/>
        </p:nvSpPr>
        <p:spPr>
          <a:xfrm>
            <a:off x="8344205" y="4087368"/>
            <a:ext cx="640080" cy="64008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41" name="a6_ico_img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17026" y="4260190"/>
            <a:ext cx="294437" cy="294437"/>
          </a:xfrm>
          <a:prstGeom prst="rect">
            <a:avLst/>
          </a:prstGeom>
        </p:spPr>
      </p:pic>
      <p:sp>
        <p:nvSpPr>
          <p:cNvPr id="42" name="a6_head"/>
          <p:cNvSpPr txBox="1"/>
          <p:nvPr/>
        </p:nvSpPr>
        <p:spPr>
          <a:xfrm>
            <a:off x="9121445" y="4050792"/>
            <a:ext cx="233873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7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Science</a:t>
            </a:r>
            <a:endParaRPr lang="en-US" sz="1700" dirty="0"/>
          </a:p>
        </p:txBody>
      </p:sp>
      <p:sp>
        <p:nvSpPr>
          <p:cNvPr id="43" name="a6_body"/>
          <p:cNvSpPr txBox="1"/>
          <p:nvPr/>
        </p:nvSpPr>
        <p:spPr>
          <a:xfrm>
            <a:off x="8344205" y="4846320"/>
            <a:ext cx="30702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 particles and quantum systems that normal computers cannot.</a:t>
            </a:r>
            <a:endParaRPr lang="en-US" sz="1400" dirty="0"/>
          </a:p>
        </p:txBody>
      </p:sp>
      <p:sp>
        <p:nvSpPr>
          <p:cNvPr id="44" name="a6_tag"/>
          <p:cNvSpPr/>
          <p:nvPr/>
        </p:nvSpPr>
        <p:spPr>
          <a:xfrm>
            <a:off x="8344205" y="5623560"/>
            <a:ext cx="2468880" cy="29260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</p:sp>
      <p:sp>
        <p:nvSpPr>
          <p:cNvPr id="45" name="a6_tag_t"/>
          <p:cNvSpPr txBox="1"/>
          <p:nvPr/>
        </p:nvSpPr>
        <p:spPr>
          <a:xfrm>
            <a:off x="8344205" y="562356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53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53" presetClass="entr" presetSubtype="0" fill="hold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53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53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6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5" dur="6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9" dur="6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3" dur="6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7" dur="6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53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1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53" presetClass="entr" presetSubtype="0" fill="hold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6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7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6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1" dur="6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6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5" dur="6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0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6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9" dur="6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6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3" dur="6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6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7" dur="6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3" presetID="53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1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2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8" presetID="53" presetClass="entr" presetSubtype="0" fill="hold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6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7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6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1" dur="6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6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6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5" dur="6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0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6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9" dur="6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4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6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3" dur="6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8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6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7" dur="6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3" presetID="53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1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2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8" presetID="53" presetClass="entr" presetSubtype="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6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7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2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0" dur="6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1" dur="6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6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6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5" dur="65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0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6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9" dur="65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4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2" dur="6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3" dur="65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2" grpId="0" animBg="1"/>
      <p:bldP spid="43" grpId="0" animBg="1"/>
      <p:bldP spid="44" grpId="0" animBg="1"/>
      <p:bldP spid="4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3400" b="1" dirty="0">
                <a:solidFill>
                  <a:schemeClr val="tx1"/>
                </a:solidFill>
              </a:rPr>
              <a:t>Benefits of quantum computing</a:t>
            </a:r>
            <a:endParaRPr lang="en-US" sz="3400" dirty="0"/>
          </a:p>
        </p:txBody>
      </p:sp>
      <p:sp>
        <p:nvSpPr>
          <p:cNvPr id="4" name="a1_card"/>
          <p:cNvSpPr/>
          <p:nvPr/>
        </p:nvSpPr>
        <p:spPr>
          <a:xfrm>
            <a:off x="548640" y="1600200"/>
            <a:ext cx="2602154" cy="4297680"/>
          </a:xfrm>
          <a:prstGeom prst="roundRect">
            <a:avLst>
              <a:gd name="adj" fmla="val 6325"/>
            </a:avLst>
          </a:prstGeom>
          <a:solidFill>
            <a:schemeClr val="bg2"/>
          </a:solidFill>
          <a:ln/>
        </p:spPr>
      </p:sp>
      <p:sp>
        <p:nvSpPr>
          <p:cNvPr id="5" name="a1_ico_bg"/>
          <p:cNvSpPr/>
          <p:nvPr/>
        </p:nvSpPr>
        <p:spPr>
          <a:xfrm>
            <a:off x="868680" y="187452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a1_ico_img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0879" y="2096719"/>
            <a:ext cx="378562" cy="378562"/>
          </a:xfrm>
          <a:prstGeom prst="rect">
            <a:avLst/>
          </a:prstGeom>
        </p:spPr>
      </p:pic>
      <p:sp>
        <p:nvSpPr>
          <p:cNvPr id="7" name="a1_head"/>
          <p:cNvSpPr txBox="1"/>
          <p:nvPr/>
        </p:nvSpPr>
        <p:spPr>
          <a:xfrm>
            <a:off x="868680" y="2788920"/>
            <a:ext cx="19620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9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speed-ups</a:t>
            </a:r>
            <a:endParaRPr lang="en-US" sz="1900" dirty="0"/>
          </a:p>
        </p:txBody>
      </p:sp>
      <p:sp>
        <p:nvSpPr>
          <p:cNvPr id="8" name="a1_body"/>
          <p:cNvSpPr txBox="1"/>
          <p:nvPr/>
        </p:nvSpPr>
        <p:spPr>
          <a:xfrm>
            <a:off x="868680" y="3657600"/>
            <a:ext cx="196207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some problems, far fewer steps: factoring (exponential gain) or search (square-root gain).</a:t>
            </a:r>
            <a:endParaRPr lang="en-US" sz="1600" dirty="0"/>
          </a:p>
        </p:txBody>
      </p:sp>
      <p:sp>
        <p:nvSpPr>
          <p:cNvPr id="9" name="a2_card"/>
          <p:cNvSpPr/>
          <p:nvPr/>
        </p:nvSpPr>
        <p:spPr>
          <a:xfrm>
            <a:off x="3379394" y="1600200"/>
            <a:ext cx="2602154" cy="4297680"/>
          </a:xfrm>
          <a:prstGeom prst="roundRect">
            <a:avLst>
              <a:gd name="adj" fmla="val 6325"/>
            </a:avLst>
          </a:prstGeom>
          <a:solidFill>
            <a:schemeClr val="bg2"/>
          </a:solidFill>
          <a:ln/>
        </p:spPr>
      </p:sp>
      <p:sp>
        <p:nvSpPr>
          <p:cNvPr id="10" name="a2_ico_bg"/>
          <p:cNvSpPr/>
          <p:nvPr/>
        </p:nvSpPr>
        <p:spPr>
          <a:xfrm>
            <a:off x="3699434" y="1874520"/>
            <a:ext cx="822960" cy="82296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1" name="a2_ico_img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1633" y="2096719"/>
            <a:ext cx="378562" cy="378562"/>
          </a:xfrm>
          <a:prstGeom prst="rect">
            <a:avLst/>
          </a:prstGeom>
        </p:spPr>
      </p:pic>
      <p:sp>
        <p:nvSpPr>
          <p:cNvPr id="12" name="a2_head"/>
          <p:cNvSpPr txBox="1"/>
          <p:nvPr/>
        </p:nvSpPr>
        <p:spPr>
          <a:xfrm>
            <a:off x="3699434" y="2788920"/>
            <a:ext cx="19620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9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Simulating nature</a:t>
            </a:r>
            <a:endParaRPr lang="en-US" sz="1900" dirty="0"/>
          </a:p>
        </p:txBody>
      </p:sp>
      <p:sp>
        <p:nvSpPr>
          <p:cNvPr id="13" name="a2_body"/>
          <p:cNvSpPr txBox="1"/>
          <p:nvPr/>
        </p:nvSpPr>
        <p:spPr>
          <a:xfrm>
            <a:off x="3699434" y="3657600"/>
            <a:ext cx="196207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 systems are simulated by quantum systems: molecules and materials as they really behave.</a:t>
            </a:r>
            <a:endParaRPr lang="en-US" sz="1600" dirty="0"/>
          </a:p>
        </p:txBody>
      </p:sp>
      <p:sp>
        <p:nvSpPr>
          <p:cNvPr id="14" name="a3_card"/>
          <p:cNvSpPr/>
          <p:nvPr/>
        </p:nvSpPr>
        <p:spPr>
          <a:xfrm>
            <a:off x="6210148" y="1600200"/>
            <a:ext cx="2602154" cy="4297680"/>
          </a:xfrm>
          <a:prstGeom prst="roundRect">
            <a:avLst>
              <a:gd name="adj" fmla="val 6325"/>
            </a:avLst>
          </a:prstGeom>
          <a:solidFill>
            <a:schemeClr val="bg2"/>
          </a:solidFill>
          <a:ln/>
        </p:spPr>
      </p:sp>
      <p:sp>
        <p:nvSpPr>
          <p:cNvPr id="15" name="a3_ico_bg"/>
          <p:cNvSpPr/>
          <p:nvPr/>
        </p:nvSpPr>
        <p:spPr>
          <a:xfrm>
            <a:off x="6530188" y="1874520"/>
            <a:ext cx="822960" cy="82296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6" name="a3_ico_img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2387" y="2096719"/>
            <a:ext cx="378562" cy="378562"/>
          </a:xfrm>
          <a:prstGeom prst="rect">
            <a:avLst/>
          </a:prstGeom>
        </p:spPr>
      </p:pic>
      <p:sp>
        <p:nvSpPr>
          <p:cNvPr id="17" name="a3_head"/>
          <p:cNvSpPr txBox="1"/>
          <p:nvPr/>
        </p:nvSpPr>
        <p:spPr>
          <a:xfrm>
            <a:off x="6530188" y="2788920"/>
            <a:ext cx="19620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9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optimisation</a:t>
            </a:r>
            <a:endParaRPr lang="en-US" sz="1900" dirty="0"/>
          </a:p>
        </p:txBody>
      </p:sp>
      <p:sp>
        <p:nvSpPr>
          <p:cNvPr id="18" name="a3_body"/>
          <p:cNvSpPr txBox="1"/>
          <p:nvPr/>
        </p:nvSpPr>
        <p:spPr>
          <a:xfrm>
            <a:off x="6530188" y="3657600"/>
            <a:ext cx="196207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solutions in giant search spaces, such as logistics and scheduling.</a:t>
            </a:r>
            <a:endParaRPr lang="en-US" sz="1600" dirty="0"/>
          </a:p>
        </p:txBody>
      </p:sp>
      <p:sp>
        <p:nvSpPr>
          <p:cNvPr id="19" name="a4_card"/>
          <p:cNvSpPr/>
          <p:nvPr/>
        </p:nvSpPr>
        <p:spPr>
          <a:xfrm>
            <a:off x="9040901" y="1600200"/>
            <a:ext cx="2602154" cy="4297680"/>
          </a:xfrm>
          <a:prstGeom prst="roundRect">
            <a:avLst>
              <a:gd name="adj" fmla="val 6325"/>
            </a:avLst>
          </a:prstGeom>
          <a:solidFill>
            <a:schemeClr val="bg2"/>
          </a:solidFill>
          <a:ln/>
        </p:spPr>
      </p:sp>
      <p:sp>
        <p:nvSpPr>
          <p:cNvPr id="20" name="a4_ico_bg"/>
          <p:cNvSpPr/>
          <p:nvPr/>
        </p:nvSpPr>
        <p:spPr>
          <a:xfrm>
            <a:off x="9360941" y="1874520"/>
            <a:ext cx="822960" cy="82296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1" name="a4_ico_img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83141" y="2096719"/>
            <a:ext cx="378562" cy="378562"/>
          </a:xfrm>
          <a:prstGeom prst="rect">
            <a:avLst/>
          </a:prstGeom>
        </p:spPr>
      </p:pic>
      <p:sp>
        <p:nvSpPr>
          <p:cNvPr id="22" name="a4_head"/>
          <p:cNvSpPr txBox="1"/>
          <p:nvPr/>
        </p:nvSpPr>
        <p:spPr>
          <a:xfrm>
            <a:off x="9360941" y="2788920"/>
            <a:ext cx="19620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9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Possible energy savings</a:t>
            </a:r>
            <a:endParaRPr lang="en-US" sz="1900" dirty="0"/>
          </a:p>
        </p:txBody>
      </p:sp>
      <p:sp>
        <p:nvSpPr>
          <p:cNvPr id="23" name="a4_body"/>
          <p:cNvSpPr txBox="1"/>
          <p:nvPr/>
        </p:nvSpPr>
        <p:spPr>
          <a:xfrm>
            <a:off x="9360941" y="3657600"/>
            <a:ext cx="196207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some tasks, less energy than huge supercomputers. Still under research.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53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53" presetClass="entr" presetSubtype="0" fill="hold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53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53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5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9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53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53" presetClass="entr" presetSubtype="0" fill="hold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7" dur="6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6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8" grpId="0" animBg="1"/>
      <p:bldP spid="9" grpId="0" animBg="1"/>
      <p:bldP spid="10" grpId="0" animBg="1"/>
      <p:bldP spid="12" grpId="0" animBg="1"/>
      <p:bldP spid="13" grpId="0" animBg="1"/>
      <p:bldP spid="14" grpId="0" animBg="1"/>
      <p:bldP spid="15" grpId="0" animBg="1"/>
      <p:bldP spid="17" grpId="0" animBg="1"/>
      <p:bldP spid="18" grpId="0" animBg="1"/>
      <p:bldP spid="19" grpId="0" animBg="1"/>
      <p:bldP spid="20" grpId="0" animBg="1"/>
      <p:bldP spid="22" grpId="0" animBg="1"/>
      <p:bldP spid="2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3400" b="1" dirty="0">
                <a:solidFill>
                  <a:schemeClr val="tx1"/>
                </a:solidFill>
              </a:rPr>
              <a:t>Quantum and security</a:t>
            </a:r>
            <a:endParaRPr lang="en-US" sz="3400" dirty="0"/>
          </a:p>
        </p:txBody>
      </p:sp>
      <p:sp>
        <p:nvSpPr>
          <p:cNvPr id="4" name="a1_card"/>
          <p:cNvSpPr/>
          <p:nvPr/>
        </p:nvSpPr>
        <p:spPr>
          <a:xfrm>
            <a:off x="548640" y="1600200"/>
            <a:ext cx="3210458" cy="3291840"/>
          </a:xfrm>
          <a:prstGeom prst="roundRect">
            <a:avLst>
              <a:gd name="adj" fmla="val 5127"/>
            </a:avLst>
          </a:prstGeom>
          <a:solidFill>
            <a:schemeClr val="bg2"/>
          </a:solidFill>
          <a:ln/>
        </p:spPr>
      </p:sp>
      <p:sp>
        <p:nvSpPr>
          <p:cNvPr id="5" name="a1_ico_bg"/>
          <p:cNvSpPr/>
          <p:nvPr/>
        </p:nvSpPr>
        <p:spPr>
          <a:xfrm>
            <a:off x="1696669" y="182880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a1_ico_img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43557" y="2075688"/>
            <a:ext cx="420624" cy="420624"/>
          </a:xfrm>
          <a:prstGeom prst="rect">
            <a:avLst/>
          </a:prstGeom>
        </p:spPr>
      </p:pic>
      <p:sp>
        <p:nvSpPr>
          <p:cNvPr id="7" name="a1_label"/>
          <p:cNvSpPr txBox="1"/>
          <p:nvPr/>
        </p:nvSpPr>
        <p:spPr>
          <a:xfrm>
            <a:off x="777240" y="2926080"/>
            <a:ext cx="2753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21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2100" dirty="0"/>
          </a:p>
        </p:txBody>
      </p:sp>
      <p:sp>
        <p:nvSpPr>
          <p:cNvPr id="8" name="a1_text"/>
          <p:cNvSpPr txBox="1"/>
          <p:nvPr/>
        </p:nvSpPr>
        <p:spPr>
          <a:xfrm>
            <a:off x="777240" y="3474720"/>
            <a:ext cx="275325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RSA and elliptic-curve encryption protect banking, messages and websites.</a:t>
            </a:r>
            <a:endParaRPr lang="en-US" sz="1500" dirty="0"/>
          </a:p>
        </p:txBody>
      </p:sp>
      <p:pic>
        <p:nvPicPr>
          <p:cNvPr id="9" name="a1_arrow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1978" y="3063240"/>
            <a:ext cx="365760" cy="365760"/>
          </a:xfrm>
          <a:prstGeom prst="rect">
            <a:avLst/>
          </a:prstGeom>
        </p:spPr>
      </p:pic>
      <p:sp>
        <p:nvSpPr>
          <p:cNvPr id="10" name="a2_card"/>
          <p:cNvSpPr/>
          <p:nvPr/>
        </p:nvSpPr>
        <p:spPr>
          <a:xfrm>
            <a:off x="4490618" y="1600200"/>
            <a:ext cx="3210458" cy="3291840"/>
          </a:xfrm>
          <a:prstGeom prst="roundRect">
            <a:avLst>
              <a:gd name="adj" fmla="val 5127"/>
            </a:avLst>
          </a:prstGeom>
          <a:solidFill>
            <a:schemeClr val="tx2"/>
          </a:solidFill>
          <a:ln/>
        </p:spPr>
      </p:sp>
      <p:sp>
        <p:nvSpPr>
          <p:cNvPr id="11" name="a2_ico_bg"/>
          <p:cNvSpPr/>
          <p:nvPr/>
        </p:nvSpPr>
        <p:spPr>
          <a:xfrm>
            <a:off x="5638648" y="182880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a2_ico_img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5536" y="2075688"/>
            <a:ext cx="420624" cy="420624"/>
          </a:xfrm>
          <a:prstGeom prst="rect">
            <a:avLst/>
          </a:prstGeom>
        </p:spPr>
      </p:pic>
      <p:sp>
        <p:nvSpPr>
          <p:cNvPr id="13" name="a2_label"/>
          <p:cNvSpPr txBox="1"/>
          <p:nvPr/>
        </p:nvSpPr>
        <p:spPr>
          <a:xfrm>
            <a:off x="4719218" y="2926080"/>
            <a:ext cx="2753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21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threat</a:t>
            </a:r>
            <a:endParaRPr lang="en-US" sz="2100" dirty="0"/>
          </a:p>
        </p:txBody>
      </p:sp>
      <p:sp>
        <p:nvSpPr>
          <p:cNvPr id="14" name="a2_text"/>
          <p:cNvSpPr txBox="1"/>
          <p:nvPr/>
        </p:nvSpPr>
        <p:spPr>
          <a:xfrm>
            <a:off x="4719218" y="3474720"/>
            <a:ext cx="275325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15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Shor's algorithm on a large, error-corrected quantum computer could break them. Today's machines are far too small.</a:t>
            </a:r>
            <a:endParaRPr lang="en-US" sz="1500" dirty="0"/>
          </a:p>
        </p:txBody>
      </p:sp>
      <p:pic>
        <p:nvPicPr>
          <p:cNvPr id="15" name="a2_arrow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3957" y="3063240"/>
            <a:ext cx="365760" cy="365760"/>
          </a:xfrm>
          <a:prstGeom prst="rect">
            <a:avLst/>
          </a:prstGeom>
        </p:spPr>
      </p:pic>
      <p:sp>
        <p:nvSpPr>
          <p:cNvPr id="16" name="a3_card"/>
          <p:cNvSpPr/>
          <p:nvPr/>
        </p:nvSpPr>
        <p:spPr>
          <a:xfrm>
            <a:off x="8432597" y="1600200"/>
            <a:ext cx="3210458" cy="3291840"/>
          </a:xfrm>
          <a:prstGeom prst="roundRect">
            <a:avLst>
              <a:gd name="adj" fmla="val 5127"/>
            </a:avLst>
          </a:prstGeom>
          <a:solidFill>
            <a:schemeClr val="bg2"/>
          </a:solidFill>
          <a:ln/>
        </p:spPr>
      </p:sp>
      <p:sp>
        <p:nvSpPr>
          <p:cNvPr id="17" name="a3_ico_bg"/>
          <p:cNvSpPr/>
          <p:nvPr/>
        </p:nvSpPr>
        <p:spPr>
          <a:xfrm>
            <a:off x="9580626" y="1828800"/>
            <a:ext cx="914400" cy="9144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8" name="a3_ico_img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27514" y="2075688"/>
            <a:ext cx="420624" cy="420624"/>
          </a:xfrm>
          <a:prstGeom prst="rect">
            <a:avLst/>
          </a:prstGeom>
        </p:spPr>
      </p:pic>
      <p:sp>
        <p:nvSpPr>
          <p:cNvPr id="19" name="a3_label"/>
          <p:cNvSpPr txBox="1"/>
          <p:nvPr/>
        </p:nvSpPr>
        <p:spPr>
          <a:xfrm>
            <a:off x="8661197" y="2926080"/>
            <a:ext cx="2753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21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Solution, now</a:t>
            </a:r>
            <a:endParaRPr lang="en-US" sz="2100" dirty="0"/>
          </a:p>
        </p:txBody>
      </p:sp>
      <p:sp>
        <p:nvSpPr>
          <p:cNvPr id="20" name="a3_text"/>
          <p:cNvSpPr txBox="1"/>
          <p:nvPr/>
        </p:nvSpPr>
        <p:spPr>
          <a:xfrm>
            <a:off x="8661197" y="3474720"/>
            <a:ext cx="275325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'post-quantum' encryption standards (NIST, 2024) are already being rolled out.</a:t>
            </a:r>
            <a:endParaRPr lang="en-US" sz="1500" dirty="0"/>
          </a:p>
        </p:txBody>
      </p:sp>
      <p:sp>
        <p:nvSpPr>
          <p:cNvPr id="21" name="a4_note"/>
          <p:cNvSpPr/>
          <p:nvPr/>
        </p:nvSpPr>
        <p:spPr>
          <a:xfrm>
            <a:off x="548640" y="5166360"/>
            <a:ext cx="11094415" cy="960120"/>
          </a:xfrm>
          <a:prstGeom prst="roundRect">
            <a:avLst>
              <a:gd name="adj" fmla="val 15238"/>
            </a:avLst>
          </a:prstGeom>
          <a:solidFill>
            <a:schemeClr val="accent4"/>
          </a:solidFill>
          <a:ln/>
        </p:spPr>
      </p:sp>
      <p:sp>
        <p:nvSpPr>
          <p:cNvPr id="22" name="a4_note_t"/>
          <p:cNvSpPr txBox="1"/>
          <p:nvPr/>
        </p:nvSpPr>
        <p:spPr>
          <a:xfrm>
            <a:off x="914400" y="5166360"/>
            <a:ext cx="1036289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Attackers can 'harvest now, decrypt later': they store encrypted data today to open it in the future. That is why switching early matters.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100">
        <p14:conveyor dir="l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53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53" presetClass="entr" presetSubtype="0" fill="hold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53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6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6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5" dur="6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8" grpId="0" animBg="1"/>
      <p:bldP spid="10" grpId="0" animBg="1"/>
      <p:bldP spid="11" grpId="0" animBg="1"/>
      <p:bldP spid="13" grpId="0" animBg="1"/>
      <p:bldP spid="14" grpId="0" animBg="1"/>
      <p:bldP spid="16" grpId="0" animBg="1"/>
      <p:bldP spid="17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3400" b="1" dirty="0">
                <a:solidFill>
                  <a:schemeClr val="tx1"/>
                </a:solidFill>
              </a:rPr>
              <a:t>Myths and facts</a:t>
            </a:r>
            <a:endParaRPr lang="en-US" sz="3400" dirty="0"/>
          </a:p>
        </p:txBody>
      </p:sp>
      <p:sp>
        <p:nvSpPr>
          <p:cNvPr id="4" name="a1_ml"/>
          <p:cNvSpPr txBox="1"/>
          <p:nvPr/>
        </p:nvSpPr>
        <p:spPr>
          <a:xfrm>
            <a:off x="548640" y="1417320"/>
            <a:ext cx="5318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600" b="1" spc="300" kern="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600" dirty="0"/>
          </a:p>
        </p:txBody>
      </p:sp>
      <p:sp>
        <p:nvSpPr>
          <p:cNvPr id="5" name="a1_fl"/>
          <p:cNvSpPr txBox="1"/>
          <p:nvPr/>
        </p:nvSpPr>
        <p:spPr>
          <a:xfrm>
            <a:off x="6324448" y="1417320"/>
            <a:ext cx="5318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600" b="1" spc="300" kern="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600" dirty="0"/>
          </a:p>
        </p:txBody>
      </p:sp>
      <p:sp>
        <p:nvSpPr>
          <p:cNvPr id="6" name="a1_m"/>
          <p:cNvSpPr/>
          <p:nvPr/>
        </p:nvSpPr>
        <p:spPr>
          <a:xfrm>
            <a:off x="548640" y="1828800"/>
            <a:ext cx="5318608" cy="1371600"/>
          </a:xfrm>
          <a:prstGeom prst="roundRect">
            <a:avLst>
              <a:gd name="adj" fmla="val 9333"/>
            </a:avLst>
          </a:prstGeom>
          <a:solidFill>
            <a:schemeClr val="bg2"/>
          </a:solidFill>
          <a:ln/>
        </p:spPr>
      </p:sp>
      <p:pic>
        <p:nvPicPr>
          <p:cNvPr id="7" name="a1_ico_x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286000"/>
            <a:ext cx="457200" cy="457200"/>
          </a:xfrm>
          <a:prstGeom prst="rect">
            <a:avLst/>
          </a:prstGeom>
        </p:spPr>
      </p:pic>
      <p:sp>
        <p:nvSpPr>
          <p:cNvPr id="8" name="a1_mt"/>
          <p:cNvSpPr txBox="1"/>
          <p:nvPr/>
        </p:nvSpPr>
        <p:spPr>
          <a:xfrm>
            <a:off x="1463040" y="1828800"/>
            <a:ext cx="41298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 computers will replace our laptops and phones.</a:t>
            </a:r>
            <a:endParaRPr lang="en-US" sz="1800" dirty="0"/>
          </a:p>
        </p:txBody>
      </p:sp>
      <p:sp>
        <p:nvSpPr>
          <p:cNvPr id="9" name="a1_f"/>
          <p:cNvSpPr/>
          <p:nvPr/>
        </p:nvSpPr>
        <p:spPr>
          <a:xfrm>
            <a:off x="6324448" y="1828800"/>
            <a:ext cx="5318608" cy="1371600"/>
          </a:xfrm>
          <a:prstGeom prst="roundRect">
            <a:avLst>
              <a:gd name="adj" fmla="val 9333"/>
            </a:avLst>
          </a:prstGeom>
          <a:solidFill>
            <a:schemeClr val="tx2"/>
          </a:solidFill>
          <a:ln/>
        </p:spPr>
      </p:sp>
      <p:pic>
        <p:nvPicPr>
          <p:cNvPr id="10" name="a1_ico_v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768" y="2286000"/>
            <a:ext cx="457200" cy="457200"/>
          </a:xfrm>
          <a:prstGeom prst="rect">
            <a:avLst/>
          </a:prstGeom>
        </p:spPr>
      </p:pic>
      <p:sp>
        <p:nvSpPr>
          <p:cNvPr id="11" name="a1_ft"/>
          <p:cNvSpPr txBox="1"/>
          <p:nvPr/>
        </p:nvSpPr>
        <p:spPr>
          <a:xfrm>
            <a:off x="7238848" y="1828800"/>
            <a:ext cx="41298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7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will be specialised helpers for certain problems, working alongside classical computers.</a:t>
            </a:r>
            <a:endParaRPr lang="en-US" sz="1700" dirty="0"/>
          </a:p>
        </p:txBody>
      </p:sp>
      <p:sp>
        <p:nvSpPr>
          <p:cNvPr id="12" name="a2_m"/>
          <p:cNvSpPr/>
          <p:nvPr/>
        </p:nvSpPr>
        <p:spPr>
          <a:xfrm>
            <a:off x="548640" y="3383280"/>
            <a:ext cx="5318608" cy="1371600"/>
          </a:xfrm>
          <a:prstGeom prst="roundRect">
            <a:avLst>
              <a:gd name="adj" fmla="val 9333"/>
            </a:avLst>
          </a:prstGeom>
          <a:solidFill>
            <a:schemeClr val="bg2"/>
          </a:solidFill>
          <a:ln/>
        </p:spPr>
      </p:sp>
      <p:pic>
        <p:nvPicPr>
          <p:cNvPr id="13" name="a2_ico_x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840480"/>
            <a:ext cx="457200" cy="457200"/>
          </a:xfrm>
          <a:prstGeom prst="rect">
            <a:avLst/>
          </a:prstGeom>
        </p:spPr>
      </p:pic>
      <p:sp>
        <p:nvSpPr>
          <p:cNvPr id="14" name="a2_mt"/>
          <p:cNvSpPr txBox="1"/>
          <p:nvPr/>
        </p:nvSpPr>
        <p:spPr>
          <a:xfrm>
            <a:off x="1463040" y="3383280"/>
            <a:ext cx="41298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try every possible answer at once.</a:t>
            </a:r>
            <a:endParaRPr lang="en-US" sz="1800" dirty="0"/>
          </a:p>
        </p:txBody>
      </p:sp>
      <p:sp>
        <p:nvSpPr>
          <p:cNvPr id="15" name="a2_f"/>
          <p:cNvSpPr/>
          <p:nvPr/>
        </p:nvSpPr>
        <p:spPr>
          <a:xfrm>
            <a:off x="6324448" y="3383280"/>
            <a:ext cx="5318608" cy="1371600"/>
          </a:xfrm>
          <a:prstGeom prst="roundRect">
            <a:avLst>
              <a:gd name="adj" fmla="val 9333"/>
            </a:avLst>
          </a:prstGeom>
          <a:solidFill>
            <a:schemeClr val="tx2"/>
          </a:solidFill>
          <a:ln/>
        </p:spPr>
      </p:sp>
      <p:pic>
        <p:nvPicPr>
          <p:cNvPr id="16" name="a2_ico_v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768" y="3840480"/>
            <a:ext cx="457200" cy="457200"/>
          </a:xfrm>
          <a:prstGeom prst="rect">
            <a:avLst/>
          </a:prstGeom>
        </p:spPr>
      </p:pic>
      <p:sp>
        <p:nvSpPr>
          <p:cNvPr id="17" name="a2_ft"/>
          <p:cNvSpPr txBox="1"/>
          <p:nvPr/>
        </p:nvSpPr>
        <p:spPr>
          <a:xfrm>
            <a:off x="7238848" y="3383280"/>
            <a:ext cx="41298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7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use interference to make correct answers more likely. Big speed-ups exist only for some problems.</a:t>
            </a:r>
            <a:endParaRPr lang="en-US" sz="1700" dirty="0"/>
          </a:p>
        </p:txBody>
      </p:sp>
      <p:sp>
        <p:nvSpPr>
          <p:cNvPr id="18" name="a3_m"/>
          <p:cNvSpPr/>
          <p:nvPr/>
        </p:nvSpPr>
        <p:spPr>
          <a:xfrm>
            <a:off x="548640" y="4937760"/>
            <a:ext cx="5318608" cy="1371600"/>
          </a:xfrm>
          <a:prstGeom prst="roundRect">
            <a:avLst>
              <a:gd name="adj" fmla="val 9333"/>
            </a:avLst>
          </a:prstGeom>
          <a:solidFill>
            <a:schemeClr val="bg2"/>
          </a:solidFill>
          <a:ln/>
        </p:spPr>
      </p:sp>
      <p:pic>
        <p:nvPicPr>
          <p:cNvPr id="19" name="a3_ico_x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5394960"/>
            <a:ext cx="457200" cy="457200"/>
          </a:xfrm>
          <a:prstGeom prst="rect">
            <a:avLst/>
          </a:prstGeom>
        </p:spPr>
      </p:pic>
      <p:sp>
        <p:nvSpPr>
          <p:cNvPr id="20" name="a3_mt"/>
          <p:cNvSpPr txBox="1"/>
          <p:nvPr/>
        </p:nvSpPr>
        <p:spPr>
          <a:xfrm>
            <a:off x="1463040" y="4937760"/>
            <a:ext cx="41298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already beat normal computers at useful jobs.</a:t>
            </a:r>
            <a:endParaRPr lang="en-US" sz="1800" dirty="0"/>
          </a:p>
        </p:txBody>
      </p:sp>
      <p:sp>
        <p:nvSpPr>
          <p:cNvPr id="21" name="a3_f"/>
          <p:cNvSpPr/>
          <p:nvPr/>
        </p:nvSpPr>
        <p:spPr>
          <a:xfrm>
            <a:off x="6324448" y="4937760"/>
            <a:ext cx="5318608" cy="1371600"/>
          </a:xfrm>
          <a:prstGeom prst="roundRect">
            <a:avLst>
              <a:gd name="adj" fmla="val 9333"/>
            </a:avLst>
          </a:prstGeom>
          <a:solidFill>
            <a:schemeClr val="tx2"/>
          </a:solidFill>
          <a:ln/>
        </p:spPr>
      </p:sp>
      <p:pic>
        <p:nvPicPr>
          <p:cNvPr id="22" name="a3_ico_v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98768" y="5394960"/>
            <a:ext cx="457200" cy="457200"/>
          </a:xfrm>
          <a:prstGeom prst="rect">
            <a:avLst/>
          </a:prstGeom>
        </p:spPr>
      </p:pic>
      <p:sp>
        <p:nvSpPr>
          <p:cNvPr id="23" name="a3_ft"/>
          <p:cNvSpPr txBox="1"/>
          <p:nvPr/>
        </p:nvSpPr>
        <p:spPr>
          <a:xfrm>
            <a:off x="7238848" y="4937760"/>
            <a:ext cx="41298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7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Experiments show 'quantum advantage' on special tests. Practical advantage is still being pursued.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100">
        <p14:doors dir="ver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53" presetClass="entr" presetSubtype="0" fill="hold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53" presetClass="entr" presetSubtype="0" fill="hold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53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6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0" dur="6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53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9" dur="6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8" grpId="0" animBg="1"/>
      <p:bldP spid="9" grpId="0" animBg="1"/>
      <p:bldP spid="11" grpId="0" animBg="1"/>
      <p:bldP spid="12" grpId="0" animBg="1"/>
      <p:bldP spid="14" grpId="0" animBg="1"/>
      <p:bldP spid="15" grpId="0" animBg="1"/>
      <p:bldP spid="17" grpId="0" animBg="1"/>
      <p:bldP spid="18" grpId="0" animBg="1"/>
      <p:bldP spid="20" grpId="0" animBg="1"/>
      <p:bldP spid="21" grpId="0" animBg="1"/>
      <p:bldP spid="2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5_halo"/>
          <p:cNvSpPr/>
          <p:nvPr/>
        </p:nvSpPr>
        <p:spPr>
          <a:xfrm>
            <a:off x="-1371600" y="3931920"/>
            <a:ext cx="4754880" cy="4754880"/>
          </a:xfrm>
          <a:prstGeom prst="ellipse">
            <a:avLst/>
          </a:prstGeom>
          <a:solidFill>
            <a:schemeClr val="accent1">
              <a:alpha val="18000"/>
            </a:schemeClr>
          </a:solidFill>
          <a:ln/>
        </p:spPr>
      </p:sp>
      <p:sp>
        <p:nvSpPr>
          <p:cNvPr id="4" name="a5_halo2"/>
          <p:cNvSpPr/>
          <p:nvPr/>
        </p:nvSpPr>
        <p:spPr>
          <a:xfrm>
            <a:off x="9692640" y="-1371600"/>
            <a:ext cx="3657600" cy="3657600"/>
          </a:xfrm>
          <a:prstGeom prst="ellipse">
            <a:avLst/>
          </a:prstGeom>
          <a:solidFill>
            <a:schemeClr val="accent2">
              <a:alpha val="20000"/>
            </a:schemeClr>
          </a:solidFill>
          <a:ln/>
        </p:spPr>
      </p:sp>
      <p:sp>
        <p:nvSpPr>
          <p:cNvPr id="5" name="a1_num"/>
          <p:cNvSpPr txBox="1"/>
          <p:nvPr/>
        </p:nvSpPr>
        <p:spPr>
          <a:xfrm>
            <a:off x="640080" y="1463040"/>
            <a:ext cx="3108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9000" b="1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90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3931920" y="2103120"/>
            <a:ext cx="7680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altLang="en-US" sz="4400" b="1" dirty="0">
                <a:solidFill>
                  <a:schemeClr val="bg1"/>
                </a:solidFill>
              </a:rPr>
              <a:t>Quantum and the hardware industry</a:t>
            </a:r>
            <a:endParaRPr lang="en-US" sz="44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3931920" y="36118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200" dirty="0">
                <a:solidFill>
                  <a:schemeClr val="bg2"/>
                </a:solidFill>
              </a:rPr>
              <a:t>A partner for the chips we build today</a:t>
            </a:r>
            <a:endParaRPr lang="en-US" sz="22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300">
        <p14:prism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6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3400" b="1" dirty="0">
                <a:solidFill>
                  <a:schemeClr val="tx1"/>
                </a:solidFill>
              </a:rPr>
              <a:t>A partner, not a replacement</a:t>
            </a:r>
            <a:endParaRPr lang="en-US" sz="3400" dirty="0"/>
          </a:p>
        </p:txBody>
      </p:sp>
      <p:sp>
        <p:nvSpPr>
          <p:cNvPr id="4" name="a1_dc"/>
          <p:cNvSpPr/>
          <p:nvPr/>
        </p:nvSpPr>
        <p:spPr>
          <a:xfrm>
            <a:off x="548640" y="1554480"/>
            <a:ext cx="6766560" cy="4480560"/>
          </a:xfrm>
          <a:prstGeom prst="roundRect">
            <a:avLst>
              <a:gd name="adj" fmla="val 4082"/>
            </a:avLst>
          </a:prstGeom>
          <a:solidFill>
            <a:schemeClr val="bg2"/>
          </a:solidFill>
          <a:ln w="19050">
            <a:solidFill>
              <a:schemeClr val="tx2"/>
            </a:solidFill>
            <a:prstDash val="dash"/>
          </a:ln>
        </p:spPr>
      </p:sp>
      <p:sp>
        <p:nvSpPr>
          <p:cNvPr id="5" name="a1_dct"/>
          <p:cNvSpPr txBox="1"/>
          <p:nvPr/>
        </p:nvSpPr>
        <p:spPr>
          <a:xfrm>
            <a:off x="822960" y="164592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CENTRE / SUPERCOMPUTER</a:t>
            </a:r>
            <a:endParaRPr lang="en-US" sz="1600" dirty="0"/>
          </a:p>
        </p:txBody>
      </p:sp>
      <p:sp>
        <p:nvSpPr>
          <p:cNvPr id="6" name="a2_chip"/>
          <p:cNvSpPr/>
          <p:nvPr/>
        </p:nvSpPr>
        <p:spPr>
          <a:xfrm>
            <a:off x="822960" y="2286000"/>
            <a:ext cx="1920240" cy="338328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16000"/>
              </a:srgbClr>
            </a:outerShdw>
          </a:effectLst>
        </p:spPr>
      </p:sp>
      <p:sp>
        <p:nvSpPr>
          <p:cNvPr id="7" name="a2_ico_bg"/>
          <p:cNvSpPr/>
          <p:nvPr/>
        </p:nvSpPr>
        <p:spPr>
          <a:xfrm>
            <a:off x="1325880" y="246888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8" name="a2_ico_img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72768" y="2715768"/>
            <a:ext cx="420624" cy="420624"/>
          </a:xfrm>
          <a:prstGeom prst="rect">
            <a:avLst/>
          </a:prstGeom>
        </p:spPr>
      </p:pic>
      <p:sp>
        <p:nvSpPr>
          <p:cNvPr id="9" name="a2_nm"/>
          <p:cNvSpPr txBox="1"/>
          <p:nvPr/>
        </p:nvSpPr>
        <p:spPr>
          <a:xfrm>
            <a:off x="914400" y="35204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2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</a:t>
            </a:r>
            <a:endParaRPr lang="en-US" sz="2400" dirty="0"/>
          </a:p>
        </p:txBody>
      </p:sp>
      <p:sp>
        <p:nvSpPr>
          <p:cNvPr id="10" name="a2_tt"/>
          <p:cNvSpPr txBox="1"/>
          <p:nvPr/>
        </p:nvSpPr>
        <p:spPr>
          <a:xfrm>
            <a:off x="960120" y="4114800"/>
            <a:ext cx="1645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tasks and control</a:t>
            </a:r>
            <a:endParaRPr lang="en-US" sz="1400" dirty="0"/>
          </a:p>
        </p:txBody>
      </p:sp>
      <p:sp>
        <p:nvSpPr>
          <p:cNvPr id="11" name="a3_chip"/>
          <p:cNvSpPr/>
          <p:nvPr/>
        </p:nvSpPr>
        <p:spPr>
          <a:xfrm>
            <a:off x="2926080" y="2286000"/>
            <a:ext cx="1920240" cy="338328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16000"/>
              </a:srgbClr>
            </a:outerShdw>
          </a:effectLst>
        </p:spPr>
      </p:sp>
      <p:sp>
        <p:nvSpPr>
          <p:cNvPr id="12" name="a3_ico_bg"/>
          <p:cNvSpPr/>
          <p:nvPr/>
        </p:nvSpPr>
        <p:spPr>
          <a:xfrm>
            <a:off x="3429000" y="2468880"/>
            <a:ext cx="914400" cy="9144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3" name="a3_ico_img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5888" y="2715768"/>
            <a:ext cx="420624" cy="420624"/>
          </a:xfrm>
          <a:prstGeom prst="rect">
            <a:avLst/>
          </a:prstGeom>
        </p:spPr>
      </p:pic>
      <p:sp>
        <p:nvSpPr>
          <p:cNvPr id="14" name="a3_nm"/>
          <p:cNvSpPr txBox="1"/>
          <p:nvPr/>
        </p:nvSpPr>
        <p:spPr>
          <a:xfrm>
            <a:off x="3017520" y="35204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2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</a:t>
            </a:r>
            <a:endParaRPr lang="en-US" sz="2400" dirty="0"/>
          </a:p>
        </p:txBody>
      </p:sp>
      <p:sp>
        <p:nvSpPr>
          <p:cNvPr id="15" name="a3_tt"/>
          <p:cNvSpPr txBox="1"/>
          <p:nvPr/>
        </p:nvSpPr>
        <p:spPr>
          <a:xfrm>
            <a:off x="3063240" y="4114800"/>
            <a:ext cx="1645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Massively parallel maths and AI</a:t>
            </a:r>
            <a:endParaRPr lang="en-US" sz="1400" dirty="0"/>
          </a:p>
        </p:txBody>
      </p:sp>
      <p:sp>
        <p:nvSpPr>
          <p:cNvPr id="16" name="a4_chip"/>
          <p:cNvSpPr/>
          <p:nvPr/>
        </p:nvSpPr>
        <p:spPr>
          <a:xfrm>
            <a:off x="5029200" y="2286000"/>
            <a:ext cx="1920240" cy="338328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 w="381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16000"/>
              </a:srgbClr>
            </a:outerShdw>
          </a:effectLst>
        </p:spPr>
      </p:sp>
      <p:sp>
        <p:nvSpPr>
          <p:cNvPr id="17" name="a4_ico_bg"/>
          <p:cNvSpPr/>
          <p:nvPr/>
        </p:nvSpPr>
        <p:spPr>
          <a:xfrm>
            <a:off x="5532120" y="246888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a4_ico_img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9008" y="2715768"/>
            <a:ext cx="420624" cy="420624"/>
          </a:xfrm>
          <a:prstGeom prst="rect">
            <a:avLst/>
          </a:prstGeom>
        </p:spPr>
      </p:pic>
      <p:sp>
        <p:nvSpPr>
          <p:cNvPr id="19" name="a4_nm"/>
          <p:cNvSpPr txBox="1"/>
          <p:nvPr/>
        </p:nvSpPr>
        <p:spPr>
          <a:xfrm>
            <a:off x="5120640" y="35204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24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QPU</a:t>
            </a:r>
            <a:endParaRPr lang="en-US" sz="2400" dirty="0"/>
          </a:p>
        </p:txBody>
      </p:sp>
      <p:sp>
        <p:nvSpPr>
          <p:cNvPr id="20" name="a4_tt"/>
          <p:cNvSpPr txBox="1"/>
          <p:nvPr/>
        </p:nvSpPr>
        <p:spPr>
          <a:xfrm>
            <a:off x="5166360" y="4114800"/>
            <a:ext cx="1645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quantum problems</a:t>
            </a:r>
            <a:endParaRPr lang="en-US" sz="1400" dirty="0"/>
          </a:p>
        </p:txBody>
      </p:sp>
      <p:sp>
        <p:nvSpPr>
          <p:cNvPr id="21" name="a6_pc"/>
          <p:cNvSpPr/>
          <p:nvPr/>
        </p:nvSpPr>
        <p:spPr>
          <a:xfrm>
            <a:off x="7589520" y="1554480"/>
            <a:ext cx="4050792" cy="1417320"/>
          </a:xfrm>
          <a:prstGeom prst="roundRect">
            <a:avLst>
              <a:gd name="adj" fmla="val 10323"/>
            </a:avLst>
          </a:prstGeom>
          <a:solidFill>
            <a:schemeClr val="tx2"/>
          </a:solidFill>
          <a:ln/>
        </p:spPr>
      </p:sp>
      <p:sp>
        <p:nvSpPr>
          <p:cNvPr id="22" name="a6_pt"/>
          <p:cNvSpPr txBox="1"/>
          <p:nvPr/>
        </p:nvSpPr>
        <p:spPr>
          <a:xfrm>
            <a:off x="7818120" y="1600200"/>
            <a:ext cx="3611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8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keeps improving</a:t>
            </a:r>
            <a:endParaRPr lang="en-US" sz="18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stacking, chiplets and new materials continue to push chips forward.</a:t>
            </a:r>
            <a:endParaRPr lang="en-US" sz="1800" dirty="0"/>
          </a:p>
        </p:txBody>
      </p:sp>
      <p:sp>
        <p:nvSpPr>
          <p:cNvPr id="23" name="a7_pc"/>
          <p:cNvSpPr/>
          <p:nvPr/>
        </p:nvSpPr>
        <p:spPr>
          <a:xfrm>
            <a:off x="7589520" y="3108960"/>
            <a:ext cx="4050792" cy="1417320"/>
          </a:xfrm>
          <a:prstGeom prst="roundRect">
            <a:avLst>
              <a:gd name="adj" fmla="val 10323"/>
            </a:avLst>
          </a:prstGeom>
          <a:solidFill>
            <a:schemeClr val="tx2"/>
          </a:solidFill>
          <a:ln/>
        </p:spPr>
      </p:sp>
      <p:sp>
        <p:nvSpPr>
          <p:cNvPr id="24" name="a7_pt"/>
          <p:cNvSpPr txBox="1"/>
          <p:nvPr/>
        </p:nvSpPr>
        <p:spPr>
          <a:xfrm>
            <a:off x="7818120" y="3154680"/>
            <a:ext cx="3611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8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QPUs join as accelerators</a:t>
            </a:r>
            <a:endParaRPr lang="en-US" sz="18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as GPUs were added for graphics and AI, quantum processors will be added for specific jobs.</a:t>
            </a:r>
            <a:endParaRPr lang="en-US" sz="1800" dirty="0"/>
          </a:p>
        </p:txBody>
      </p:sp>
      <p:sp>
        <p:nvSpPr>
          <p:cNvPr id="25" name="a8_pc"/>
          <p:cNvSpPr/>
          <p:nvPr/>
        </p:nvSpPr>
        <p:spPr>
          <a:xfrm>
            <a:off x="7589520" y="4663440"/>
            <a:ext cx="4050792" cy="1417320"/>
          </a:xfrm>
          <a:prstGeom prst="roundRect">
            <a:avLst>
              <a:gd name="adj" fmla="val 10323"/>
            </a:avLst>
          </a:prstGeom>
          <a:solidFill>
            <a:schemeClr val="accent4"/>
          </a:solidFill>
          <a:ln/>
        </p:spPr>
      </p:sp>
      <p:sp>
        <p:nvSpPr>
          <p:cNvPr id="26" name="a8_pt"/>
          <p:cNvSpPr txBox="1"/>
          <p:nvPr/>
        </p:nvSpPr>
        <p:spPr>
          <a:xfrm>
            <a:off x="7818120" y="4709160"/>
            <a:ext cx="3611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is the future</a:t>
            </a:r>
            <a:endParaRPr lang="en-US" sz="18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chips prepare data and check results; the QPU handles the quantum part.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53" presetClass="entr" presetSubtype="0" fill="hold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53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53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53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0" fill="hold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6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6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5" dur="6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9" dur="6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3" dur="6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7" dur="6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1" dur="6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9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17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3400" b="1" dirty="0">
                <a:solidFill>
                  <a:schemeClr val="tx1"/>
                </a:solidFill>
              </a:rPr>
              <a:t>Quantum in the hardware industry</a:t>
            </a:r>
            <a:endParaRPr lang="en-US" sz="3400" dirty="0"/>
          </a:p>
        </p:txBody>
      </p:sp>
      <p:sp>
        <p:nvSpPr>
          <p:cNvPr id="4" name="a1_card"/>
          <p:cNvSpPr/>
          <p:nvPr/>
        </p:nvSpPr>
        <p:spPr>
          <a:xfrm>
            <a:off x="548640" y="1600200"/>
            <a:ext cx="2602154" cy="4297680"/>
          </a:xfrm>
          <a:prstGeom prst="roundRect">
            <a:avLst>
              <a:gd name="adj" fmla="val 6325"/>
            </a:avLst>
          </a:prstGeom>
          <a:solidFill>
            <a:schemeClr val="bg2"/>
          </a:solidFill>
          <a:ln/>
        </p:spPr>
      </p:sp>
      <p:sp>
        <p:nvSpPr>
          <p:cNvPr id="5" name="a1_ico_bg"/>
          <p:cNvSpPr/>
          <p:nvPr/>
        </p:nvSpPr>
        <p:spPr>
          <a:xfrm>
            <a:off x="868680" y="187452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a1_ico_img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0879" y="2096719"/>
            <a:ext cx="378562" cy="378562"/>
          </a:xfrm>
          <a:prstGeom prst="rect">
            <a:avLst/>
          </a:prstGeom>
        </p:spPr>
      </p:pic>
      <p:sp>
        <p:nvSpPr>
          <p:cNvPr id="7" name="a1_head"/>
          <p:cNvSpPr txBox="1"/>
          <p:nvPr/>
        </p:nvSpPr>
        <p:spPr>
          <a:xfrm>
            <a:off x="868680" y="2788920"/>
            <a:ext cx="19620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9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quantum machines</a:t>
            </a:r>
            <a:endParaRPr lang="en-US" sz="1900" dirty="0"/>
          </a:p>
        </p:txBody>
      </p:sp>
      <p:sp>
        <p:nvSpPr>
          <p:cNvPr id="8" name="a1_body"/>
          <p:cNvSpPr txBox="1"/>
          <p:nvPr/>
        </p:nvSpPr>
        <p:spPr>
          <a:xfrm>
            <a:off x="868680" y="3657600"/>
            <a:ext cx="196207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supply chain: cryogenics, microwave electronics, lasers, vacuum systems and special chips.</a:t>
            </a:r>
            <a:endParaRPr lang="en-US" sz="1600" dirty="0"/>
          </a:p>
        </p:txBody>
      </p:sp>
      <p:sp>
        <p:nvSpPr>
          <p:cNvPr id="9" name="a2_card"/>
          <p:cNvSpPr/>
          <p:nvPr/>
        </p:nvSpPr>
        <p:spPr>
          <a:xfrm>
            <a:off x="3379394" y="1600200"/>
            <a:ext cx="2602154" cy="4297680"/>
          </a:xfrm>
          <a:prstGeom prst="roundRect">
            <a:avLst>
              <a:gd name="adj" fmla="val 6325"/>
            </a:avLst>
          </a:prstGeom>
          <a:solidFill>
            <a:schemeClr val="bg2"/>
          </a:solidFill>
          <a:ln/>
        </p:spPr>
      </p:sp>
      <p:sp>
        <p:nvSpPr>
          <p:cNvPr id="10" name="a2_ico_bg"/>
          <p:cNvSpPr/>
          <p:nvPr/>
        </p:nvSpPr>
        <p:spPr>
          <a:xfrm>
            <a:off x="3699434" y="1874520"/>
            <a:ext cx="822960" cy="82296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1" name="a2_ico_img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1633" y="2096719"/>
            <a:ext cx="378562" cy="378562"/>
          </a:xfrm>
          <a:prstGeom prst="rect">
            <a:avLst/>
          </a:prstGeom>
        </p:spPr>
      </p:pic>
      <p:sp>
        <p:nvSpPr>
          <p:cNvPr id="12" name="a2_head"/>
          <p:cNvSpPr txBox="1"/>
          <p:nvPr/>
        </p:nvSpPr>
        <p:spPr>
          <a:xfrm>
            <a:off x="3699434" y="2788920"/>
            <a:ext cx="19620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9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today's fabs</a:t>
            </a:r>
            <a:endParaRPr lang="en-US" sz="1900" dirty="0"/>
          </a:p>
        </p:txBody>
      </p:sp>
      <p:sp>
        <p:nvSpPr>
          <p:cNvPr id="13" name="a2_body"/>
          <p:cNvSpPr txBox="1"/>
          <p:nvPr/>
        </p:nvSpPr>
        <p:spPr>
          <a:xfrm>
            <a:off x="3699434" y="3657600"/>
            <a:ext cx="196207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Silicon-spin and superconducting qubits can be made with chip-factory techniques.</a:t>
            </a:r>
            <a:endParaRPr lang="en-US" sz="1600" dirty="0"/>
          </a:p>
        </p:txBody>
      </p:sp>
      <p:sp>
        <p:nvSpPr>
          <p:cNvPr id="14" name="a3_card"/>
          <p:cNvSpPr/>
          <p:nvPr/>
        </p:nvSpPr>
        <p:spPr>
          <a:xfrm>
            <a:off x="6210148" y="1600200"/>
            <a:ext cx="2602154" cy="4297680"/>
          </a:xfrm>
          <a:prstGeom prst="roundRect">
            <a:avLst>
              <a:gd name="adj" fmla="val 6325"/>
            </a:avLst>
          </a:prstGeom>
          <a:solidFill>
            <a:schemeClr val="bg2"/>
          </a:solidFill>
          <a:ln/>
        </p:spPr>
      </p:sp>
      <p:sp>
        <p:nvSpPr>
          <p:cNvPr id="15" name="a3_ico_bg"/>
          <p:cNvSpPr/>
          <p:nvPr/>
        </p:nvSpPr>
        <p:spPr>
          <a:xfrm>
            <a:off x="6530188" y="1874520"/>
            <a:ext cx="822960" cy="82296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6" name="a3_ico_img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2387" y="2096719"/>
            <a:ext cx="378562" cy="378562"/>
          </a:xfrm>
          <a:prstGeom prst="rect">
            <a:avLst/>
          </a:prstGeom>
        </p:spPr>
      </p:pic>
      <p:sp>
        <p:nvSpPr>
          <p:cNvPr id="17" name="a3_head"/>
          <p:cNvSpPr txBox="1"/>
          <p:nvPr/>
        </p:nvSpPr>
        <p:spPr>
          <a:xfrm>
            <a:off x="6530188" y="2788920"/>
            <a:ext cx="19620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9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Designing better chips</a:t>
            </a:r>
            <a:endParaRPr lang="en-US" sz="1900" dirty="0"/>
          </a:p>
        </p:txBody>
      </p:sp>
      <p:sp>
        <p:nvSpPr>
          <p:cNvPr id="18" name="a3_body"/>
          <p:cNvSpPr txBox="1"/>
          <p:nvPr/>
        </p:nvSpPr>
        <p:spPr>
          <a:xfrm>
            <a:off x="6530188" y="3657600"/>
            <a:ext cx="196207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Simulating new materials and optimising layouts for classical chips. Early research.</a:t>
            </a:r>
            <a:endParaRPr lang="en-US" sz="1600" dirty="0"/>
          </a:p>
        </p:txBody>
      </p:sp>
      <p:sp>
        <p:nvSpPr>
          <p:cNvPr id="19" name="a4_card"/>
          <p:cNvSpPr/>
          <p:nvPr/>
        </p:nvSpPr>
        <p:spPr>
          <a:xfrm>
            <a:off x="9040901" y="1600200"/>
            <a:ext cx="2602154" cy="4297680"/>
          </a:xfrm>
          <a:prstGeom prst="roundRect">
            <a:avLst>
              <a:gd name="adj" fmla="val 6325"/>
            </a:avLst>
          </a:prstGeom>
          <a:solidFill>
            <a:schemeClr val="bg2"/>
          </a:solidFill>
          <a:ln/>
        </p:spPr>
      </p:sp>
      <p:sp>
        <p:nvSpPr>
          <p:cNvPr id="20" name="a4_ico_bg"/>
          <p:cNvSpPr/>
          <p:nvPr/>
        </p:nvSpPr>
        <p:spPr>
          <a:xfrm>
            <a:off x="9360941" y="1874520"/>
            <a:ext cx="822960" cy="82296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1" name="a4_ico_img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83141" y="2096719"/>
            <a:ext cx="378562" cy="378562"/>
          </a:xfrm>
          <a:prstGeom prst="rect">
            <a:avLst/>
          </a:prstGeom>
        </p:spPr>
      </p:pic>
      <p:sp>
        <p:nvSpPr>
          <p:cNvPr id="22" name="a4_head"/>
          <p:cNvSpPr txBox="1"/>
          <p:nvPr/>
        </p:nvSpPr>
        <p:spPr>
          <a:xfrm>
            <a:off x="9360941" y="2788920"/>
            <a:ext cx="19620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9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Securing hardware</a:t>
            </a:r>
            <a:endParaRPr lang="en-US" sz="1900" dirty="0"/>
          </a:p>
        </p:txBody>
      </p:sp>
      <p:sp>
        <p:nvSpPr>
          <p:cNvPr id="23" name="a4_body"/>
          <p:cNvSpPr txBox="1"/>
          <p:nvPr/>
        </p:nvSpPr>
        <p:spPr>
          <a:xfrm>
            <a:off x="9360941" y="3657600"/>
            <a:ext cx="196207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Post-quantum cryptography in chips, quantum random-number generators and quantum sensors.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53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53" presetClass="entr" presetSubtype="0" fill="hold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53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53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5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9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53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53" presetClass="entr" presetSubtype="0" fill="hold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7" dur="6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6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8" grpId="0" animBg="1"/>
      <p:bldP spid="9" grpId="0" animBg="1"/>
      <p:bldP spid="10" grpId="0" animBg="1"/>
      <p:bldP spid="12" grpId="0" animBg="1"/>
      <p:bldP spid="13" grpId="0" animBg="1"/>
      <p:bldP spid="14" grpId="0" animBg="1"/>
      <p:bldP spid="15" grpId="0" animBg="1"/>
      <p:bldP spid="17" grpId="0" animBg="1"/>
      <p:bldP spid="18" grpId="0" animBg="1"/>
      <p:bldP spid="19" grpId="0" animBg="1"/>
      <p:bldP spid="20" grpId="0" animBg="1"/>
      <p:bldP spid="22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3400" b="1" dirty="0">
                <a:solidFill>
                  <a:schemeClr val="tx1"/>
                </a:solidFill>
              </a:rPr>
              <a:t>Try it yourself: free, in Python</a:t>
            </a:r>
            <a:endParaRPr lang="en-US" sz="3400" dirty="0"/>
          </a:p>
        </p:txBody>
      </p:sp>
      <p:sp>
        <p:nvSpPr>
          <p:cNvPr id="4" name="a1_code"/>
          <p:cNvSpPr/>
          <p:nvPr/>
        </p:nvSpPr>
        <p:spPr>
          <a:xfrm>
            <a:off x="548640" y="1600200"/>
            <a:ext cx="6035040" cy="2807208"/>
          </a:xfrm>
          <a:prstGeom prst="roundRect">
            <a:avLst>
              <a:gd name="adj" fmla="val 4560"/>
            </a:avLst>
          </a:prstGeom>
          <a:solidFill>
            <a:schemeClr val="tx1"/>
          </a:solidFill>
          <a:ln/>
          <a:effectLst>
            <a:outerShdw sx="100000" sy="100000" kx="0" ky="0" algn="bl" rotWithShape="0" blurRad="152400" dist="38100" dir="5400000">
              <a:srgbClr val="000000">
                <a:alpha val="16000"/>
              </a:srgbClr>
            </a:outerShdw>
          </a:effectLst>
        </p:spPr>
      </p:sp>
      <p:sp>
        <p:nvSpPr>
          <p:cNvPr id="5" name="a1_dot"/>
          <p:cNvSpPr/>
          <p:nvPr/>
        </p:nvSpPr>
        <p:spPr>
          <a:xfrm>
            <a:off x="804672" y="1819656"/>
            <a:ext cx="137160" cy="13716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6" name="a1_dot"/>
          <p:cNvSpPr/>
          <p:nvPr/>
        </p:nvSpPr>
        <p:spPr>
          <a:xfrm>
            <a:off x="1042416" y="1819656"/>
            <a:ext cx="137160" cy="13716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7" name="a1_dot"/>
          <p:cNvSpPr/>
          <p:nvPr/>
        </p:nvSpPr>
        <p:spPr>
          <a:xfrm>
            <a:off x="1280160" y="1819656"/>
            <a:ext cx="137160" cy="13716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8" name="a1_code_t"/>
          <p:cNvSpPr txBox="1"/>
          <p:nvPr/>
        </p:nvSpPr>
        <p:spPr>
          <a:xfrm>
            <a:off x="868680" y="2240280"/>
            <a:ext cx="5394960" cy="1984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7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buNone/>
            </a:pPr>
            <a:r>
              <a:rPr lang="en-US" altLang="en-US" sz="17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qiskit </a:t>
            </a:r>
            <a:pPr algn="l" indent="0" marL="0">
              <a:buNone/>
            </a:pPr>
            <a:r>
              <a:rPr lang="en-US" altLang="en-US" sz="17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pPr algn="l" indent="0" marL="0">
              <a:buNone/>
            </a:pPr>
            <a:r>
              <a:rPr lang="en-US" altLang="en-US" sz="17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buNone/>
            </a:pPr>
            <a:r>
              <a:rPr lang="en-US" altLang="en-US" sz="17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QuantumCircuit</a:t>
            </a:r>
            <a:endParaRPr lang="en-US" sz="1700" dirty="0"/>
          </a:p>
          <a:p>
            <a:pPr algn="l" indent="0" marL="0">
              <a:buNone/>
            </a:pPr>
            <a:r>
              <a:rPr lang="en-US" altLang="en-US" sz="17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700" dirty="0"/>
          </a:p>
          <a:p>
            <a:pPr algn="l" indent="0" marL="0">
              <a:buNone/>
            </a:pPr>
            <a:r>
              <a:rPr lang="en-US" altLang="en-US" sz="17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qc = </a:t>
            </a:r>
            <a:pPr algn="l" indent="0" marL="0">
              <a:buNone/>
            </a:pPr>
            <a:r>
              <a:rPr lang="en-US" altLang="en-US" sz="17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QuantumCircuit</a:t>
            </a:r>
            <a:pPr algn="l" indent="0" marL="0">
              <a:buNone/>
            </a:pPr>
            <a:r>
              <a:rPr lang="en-US" altLang="en-US" sz="17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buNone/>
            </a:pPr>
            <a:r>
              <a:rPr lang="en-US" altLang="en-US" sz="17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algn="l" indent="0" marL="0">
              <a:buNone/>
            </a:pPr>
            <a:r>
              <a:rPr lang="en-US" altLang="en-US" sz="17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700" dirty="0"/>
          </a:p>
          <a:p>
            <a:pPr algn="l" indent="0" marL="0">
              <a:buNone/>
            </a:pPr>
            <a:r>
              <a:rPr lang="en-US" altLang="en-US" sz="17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qc.</a:t>
            </a:r>
            <a:pPr algn="l" indent="0" marL="0">
              <a:buNone/>
            </a:pPr>
            <a:r>
              <a:rPr lang="en-US" altLang="en-US" sz="17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</a:t>
            </a:r>
            <a:pPr algn="l" indent="0" marL="0">
              <a:buNone/>
            </a:pPr>
            <a:r>
              <a:rPr lang="en-US" altLang="en-US" sz="17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buNone/>
            </a:pPr>
            <a:r>
              <a:rPr lang="en-US" altLang="en-US" sz="17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algn="l" indent="0" marL="0">
              <a:buNone/>
            </a:pPr>
            <a:r>
              <a:rPr lang="en-US" altLang="en-US" sz="17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       </a:t>
            </a:r>
            <a:pPr algn="l" indent="0" marL="0">
              <a:buNone/>
            </a:pPr>
            <a:r>
              <a:rPr lang="en-US" altLang="en-US" sz="17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superposition</a:t>
            </a:r>
            <a:endParaRPr lang="en-US" sz="1700" dirty="0"/>
          </a:p>
          <a:p>
            <a:pPr algn="l" indent="0" marL="0">
              <a:buNone/>
            </a:pPr>
            <a:r>
              <a:rPr lang="en-US" altLang="en-US" sz="17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qc.</a:t>
            </a:r>
            <a:pPr algn="l" indent="0" marL="0">
              <a:buNone/>
            </a:pPr>
            <a:r>
              <a:rPr lang="en-US" altLang="en-US" sz="17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cx</a:t>
            </a:r>
            <a:pPr algn="l" indent="0" marL="0">
              <a:buNone/>
            </a:pPr>
            <a:r>
              <a:rPr lang="en-US" altLang="en-US" sz="17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buNone/>
            </a:pPr>
            <a:r>
              <a:rPr lang="en-US" altLang="en-US" sz="17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algn="l" indent="0" marL="0">
              <a:buNone/>
            </a:pPr>
            <a:r>
              <a:rPr lang="en-US" altLang="en-US" sz="17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algn="l" indent="0" marL="0">
              <a:buNone/>
            </a:pPr>
            <a:r>
              <a:rPr lang="en-US" altLang="en-US" sz="17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algn="l" indent="0" marL="0">
              <a:buNone/>
            </a:pPr>
            <a:r>
              <a:rPr lang="en-US" altLang="en-US" sz="17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   </a:t>
            </a:r>
            <a:pPr algn="l" indent="0" marL="0">
              <a:buNone/>
            </a:pPr>
            <a:r>
              <a:rPr lang="en-US" altLang="en-US" sz="17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entangle</a:t>
            </a:r>
            <a:endParaRPr lang="en-US" sz="1700" dirty="0"/>
          </a:p>
          <a:p>
            <a:pPr algn="l" indent="0" marL="0">
              <a:buNone/>
            </a:pPr>
            <a:r>
              <a:rPr lang="en-US" altLang="en-US" sz="17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qc.</a:t>
            </a:r>
            <a:pPr algn="l" indent="0" marL="0">
              <a:buNone/>
            </a:pPr>
            <a:r>
              <a:rPr lang="en-US" altLang="en-US" sz="17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measure_all</a:t>
            </a:r>
            <a:pPr algn="l" indent="0" marL="0">
              <a:buNone/>
            </a:pPr>
            <a:r>
              <a:rPr lang="en-US" altLang="en-US" sz="17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endParaRPr lang="en-US" sz="1700" dirty="0"/>
          </a:p>
          <a:p>
            <a:pPr algn="l" indent="0" marL="0">
              <a:buNone/>
            </a:pPr>
            <a:r>
              <a:rPr lang="en-US" altLang="en-US" sz="17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print(qc)</a:t>
            </a:r>
            <a:endParaRPr lang="en-US" sz="1700" dirty="0"/>
          </a:p>
        </p:txBody>
      </p:sp>
      <p:sp>
        <p:nvSpPr>
          <p:cNvPr id="9" name="a2_pc"/>
          <p:cNvSpPr/>
          <p:nvPr/>
        </p:nvSpPr>
        <p:spPr>
          <a:xfrm>
            <a:off x="6858000" y="1600200"/>
            <a:ext cx="4782312" cy="13716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/>
        </p:spPr>
      </p:sp>
      <p:sp>
        <p:nvSpPr>
          <p:cNvPr id="10" name="a2_ico_bg"/>
          <p:cNvSpPr/>
          <p:nvPr/>
        </p:nvSpPr>
        <p:spPr>
          <a:xfrm>
            <a:off x="7086600" y="192024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a2_ico_img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84110" y="2117750"/>
            <a:ext cx="336499" cy="336499"/>
          </a:xfrm>
          <a:prstGeom prst="rect">
            <a:avLst/>
          </a:prstGeom>
        </p:spPr>
      </p:pic>
      <p:sp>
        <p:nvSpPr>
          <p:cNvPr id="12" name="a2_pt"/>
          <p:cNvSpPr txBox="1"/>
          <p:nvPr/>
        </p:nvSpPr>
        <p:spPr>
          <a:xfrm>
            <a:off x="8046720" y="1673352"/>
            <a:ext cx="3474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Qiskit (IBM), free</a:t>
            </a:r>
            <a:endParaRPr lang="en-US" sz="18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circuits in Python and run them on simulators or real quantum computers over the cloud.</a:t>
            </a:r>
            <a:endParaRPr lang="en-US" sz="1800" dirty="0"/>
          </a:p>
        </p:txBody>
      </p:sp>
      <p:sp>
        <p:nvSpPr>
          <p:cNvPr id="13" name="a3_pc"/>
          <p:cNvSpPr/>
          <p:nvPr/>
        </p:nvSpPr>
        <p:spPr>
          <a:xfrm>
            <a:off x="6858000" y="3081528"/>
            <a:ext cx="4782312" cy="13716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/>
        </p:spPr>
      </p:sp>
      <p:sp>
        <p:nvSpPr>
          <p:cNvPr id="14" name="a3_ico_bg"/>
          <p:cNvSpPr/>
          <p:nvPr/>
        </p:nvSpPr>
        <p:spPr>
          <a:xfrm>
            <a:off x="7086600" y="3401568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5" name="a3_ico_img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4110" y="3599078"/>
            <a:ext cx="336499" cy="336499"/>
          </a:xfrm>
          <a:prstGeom prst="rect">
            <a:avLst/>
          </a:prstGeom>
        </p:spPr>
      </p:pic>
      <p:sp>
        <p:nvSpPr>
          <p:cNvPr id="16" name="a3_pt"/>
          <p:cNvSpPr txBox="1"/>
          <p:nvPr/>
        </p:nvSpPr>
        <p:spPr>
          <a:xfrm>
            <a:off x="8046720" y="3154680"/>
            <a:ext cx="3474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h(0)</a:t>
            </a:r>
            <a:endParaRPr lang="en-US" sz="18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Puts qubit 0 in superposition: 0 and 1 with equal chance.</a:t>
            </a:r>
            <a:endParaRPr lang="en-US" sz="1800" dirty="0"/>
          </a:p>
        </p:txBody>
      </p:sp>
      <p:sp>
        <p:nvSpPr>
          <p:cNvPr id="17" name="a4_pc"/>
          <p:cNvSpPr/>
          <p:nvPr/>
        </p:nvSpPr>
        <p:spPr>
          <a:xfrm>
            <a:off x="6858000" y="4562856"/>
            <a:ext cx="4782312" cy="13716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/>
        </p:spPr>
      </p:sp>
      <p:sp>
        <p:nvSpPr>
          <p:cNvPr id="18" name="a4_ico_bg"/>
          <p:cNvSpPr/>
          <p:nvPr/>
        </p:nvSpPr>
        <p:spPr>
          <a:xfrm>
            <a:off x="7086600" y="4882896"/>
            <a:ext cx="731520" cy="7315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9" name="a4_ico_img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4110" y="5080406"/>
            <a:ext cx="336499" cy="336499"/>
          </a:xfrm>
          <a:prstGeom prst="rect">
            <a:avLst/>
          </a:prstGeom>
        </p:spPr>
      </p:pic>
      <p:sp>
        <p:nvSpPr>
          <p:cNvPr id="20" name="a4_pt"/>
          <p:cNvSpPr txBox="1"/>
          <p:nvPr/>
        </p:nvSpPr>
        <p:spPr>
          <a:xfrm>
            <a:off x="8046720" y="4636008"/>
            <a:ext cx="3474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cx(0, 1)</a:t>
            </a:r>
            <a:endParaRPr lang="en-US" sz="18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Entangles qubit 1 with qubit 0. Results: 00 or 11, about half each, never 01 or 10.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53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53" presetClass="entr" presetSubtype="0" fill="hold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5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53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53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53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53" presetClass="entr" presetSubtype="0" fill="hold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6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2" grpId="0" animBg="1"/>
      <p:bldP spid="13" grpId="0" animBg="1"/>
      <p:bldP spid="14" grpId="0" animBg="1"/>
      <p:bldP spid="16" grpId="0" animBg="1"/>
      <p:bldP spid="17" grpId="0" animBg="1"/>
      <p:bldP spid="18" grpId="0" animBg="1"/>
      <p:bldP spid="20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3400" b="1" dirty="0">
                <a:solidFill>
                  <a:schemeClr val="tx1"/>
                </a:solidFill>
              </a:rPr>
              <a:t>Check your understanding</a:t>
            </a:r>
            <a:endParaRPr lang="en-US" sz="3400" dirty="0"/>
          </a:p>
        </p:txBody>
      </p:sp>
      <p:sp>
        <p:nvSpPr>
          <p:cNvPr id="4" name="a1_q"/>
          <p:cNvSpPr/>
          <p:nvPr/>
        </p:nvSpPr>
        <p:spPr>
          <a:xfrm>
            <a:off x="548640" y="1508760"/>
            <a:ext cx="11094415" cy="1417320"/>
          </a:xfrm>
          <a:prstGeom prst="roundRect">
            <a:avLst>
              <a:gd name="adj" fmla="val 10323"/>
            </a:avLst>
          </a:prstGeom>
          <a:solidFill>
            <a:schemeClr val="bg2"/>
          </a:solidFill>
          <a:ln/>
        </p:spPr>
      </p:sp>
      <p:sp>
        <p:nvSpPr>
          <p:cNvPr id="5" name="a1_ico_n"/>
          <p:cNvSpPr/>
          <p:nvPr/>
        </p:nvSpPr>
        <p:spPr>
          <a:xfrm>
            <a:off x="822960" y="18745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a1_ico_nt"/>
          <p:cNvSpPr txBox="1"/>
          <p:nvPr/>
        </p:nvSpPr>
        <p:spPr>
          <a:xfrm>
            <a:off x="822960" y="18745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2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a1_qt"/>
          <p:cNvSpPr txBox="1"/>
          <p:nvPr/>
        </p:nvSpPr>
        <p:spPr>
          <a:xfrm>
            <a:off x="1737360" y="1554480"/>
            <a:ext cx="96313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21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can a qubit be that a classical bit cannot?</a:t>
            </a:r>
            <a:endParaRPr lang="en-US" sz="2100" dirty="0"/>
          </a:p>
        </p:txBody>
      </p:sp>
      <p:sp>
        <p:nvSpPr>
          <p:cNvPr id="8" name="k1_ans"/>
          <p:cNvSpPr/>
          <p:nvPr/>
        </p:nvSpPr>
        <p:spPr>
          <a:xfrm>
            <a:off x="1737360" y="2258568"/>
            <a:ext cx="9631375" cy="566928"/>
          </a:xfrm>
          <a:prstGeom prst="roundRect">
            <a:avLst>
              <a:gd name="adj" fmla="val 19355"/>
            </a:avLst>
          </a:prstGeom>
          <a:solidFill>
            <a:schemeClr val="tx2"/>
          </a:solidFill>
          <a:ln/>
        </p:spPr>
      </p:sp>
      <p:sp>
        <p:nvSpPr>
          <p:cNvPr id="9" name="k1_ans_t"/>
          <p:cNvSpPr txBox="1"/>
          <p:nvPr/>
        </p:nvSpPr>
        <p:spPr>
          <a:xfrm>
            <a:off x="1965960" y="2258568"/>
            <a:ext cx="91741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7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blend of 0 and 1 (superposition) until it is measured.</a:t>
            </a:r>
            <a:endParaRPr lang="en-US" sz="1700" dirty="0"/>
          </a:p>
        </p:txBody>
      </p:sp>
      <p:sp>
        <p:nvSpPr>
          <p:cNvPr id="10" name="a2_q"/>
          <p:cNvSpPr/>
          <p:nvPr/>
        </p:nvSpPr>
        <p:spPr>
          <a:xfrm>
            <a:off x="548640" y="3063240"/>
            <a:ext cx="11094415" cy="1417320"/>
          </a:xfrm>
          <a:prstGeom prst="roundRect">
            <a:avLst>
              <a:gd name="adj" fmla="val 10323"/>
            </a:avLst>
          </a:prstGeom>
          <a:solidFill>
            <a:schemeClr val="bg2"/>
          </a:solidFill>
          <a:ln/>
        </p:spPr>
      </p:sp>
      <p:sp>
        <p:nvSpPr>
          <p:cNvPr id="11" name="a2_ico_n"/>
          <p:cNvSpPr/>
          <p:nvPr/>
        </p:nvSpPr>
        <p:spPr>
          <a:xfrm>
            <a:off x="822960" y="342900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a2_ico_nt"/>
          <p:cNvSpPr txBox="1"/>
          <p:nvPr/>
        </p:nvSpPr>
        <p:spPr>
          <a:xfrm>
            <a:off x="822960" y="34290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2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600" dirty="0"/>
          </a:p>
        </p:txBody>
      </p:sp>
      <p:sp>
        <p:nvSpPr>
          <p:cNvPr id="13" name="a2_qt"/>
          <p:cNvSpPr txBox="1"/>
          <p:nvPr/>
        </p:nvSpPr>
        <p:spPr>
          <a:xfrm>
            <a:off x="1737360" y="3108960"/>
            <a:ext cx="96313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21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are superconducting quantum computers cooled to about −273 °C?</a:t>
            </a:r>
            <a:endParaRPr lang="en-US" sz="2100" dirty="0"/>
          </a:p>
        </p:txBody>
      </p:sp>
      <p:sp>
        <p:nvSpPr>
          <p:cNvPr id="14" name="k2_ans"/>
          <p:cNvSpPr/>
          <p:nvPr/>
        </p:nvSpPr>
        <p:spPr>
          <a:xfrm>
            <a:off x="1737360" y="3813048"/>
            <a:ext cx="9631375" cy="566928"/>
          </a:xfrm>
          <a:prstGeom prst="roundRect">
            <a:avLst>
              <a:gd name="adj" fmla="val 19355"/>
            </a:avLst>
          </a:prstGeom>
          <a:solidFill>
            <a:schemeClr val="tx2"/>
          </a:solidFill>
          <a:ln/>
        </p:spPr>
      </p:sp>
      <p:sp>
        <p:nvSpPr>
          <p:cNvPr id="15" name="k2_ans_t"/>
          <p:cNvSpPr txBox="1"/>
          <p:nvPr/>
        </p:nvSpPr>
        <p:spPr>
          <a:xfrm>
            <a:off x="1965960" y="3813048"/>
            <a:ext cx="91741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7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 destroys the fragile quantum states (decoherence).</a:t>
            </a:r>
            <a:endParaRPr lang="en-US" sz="1700" dirty="0"/>
          </a:p>
        </p:txBody>
      </p:sp>
      <p:sp>
        <p:nvSpPr>
          <p:cNvPr id="16" name="a3_q"/>
          <p:cNvSpPr/>
          <p:nvPr/>
        </p:nvSpPr>
        <p:spPr>
          <a:xfrm>
            <a:off x="548640" y="4617720"/>
            <a:ext cx="11094415" cy="1417320"/>
          </a:xfrm>
          <a:prstGeom prst="roundRect">
            <a:avLst>
              <a:gd name="adj" fmla="val 10323"/>
            </a:avLst>
          </a:prstGeom>
          <a:solidFill>
            <a:schemeClr val="bg2"/>
          </a:solidFill>
          <a:ln/>
        </p:spPr>
      </p:sp>
      <p:sp>
        <p:nvSpPr>
          <p:cNvPr id="17" name="a3_ico_n"/>
          <p:cNvSpPr/>
          <p:nvPr/>
        </p:nvSpPr>
        <p:spPr>
          <a:xfrm>
            <a:off x="822960" y="4983480"/>
            <a:ext cx="685800" cy="68580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8" name="a3_ico_nt"/>
          <p:cNvSpPr txBox="1"/>
          <p:nvPr/>
        </p:nvSpPr>
        <p:spPr>
          <a:xfrm>
            <a:off x="822960" y="49834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2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600" dirty="0"/>
          </a:p>
        </p:txBody>
      </p:sp>
      <p:sp>
        <p:nvSpPr>
          <p:cNvPr id="19" name="a3_qt"/>
          <p:cNvSpPr txBox="1"/>
          <p:nvPr/>
        </p:nvSpPr>
        <p:spPr>
          <a:xfrm>
            <a:off x="1737360" y="4663440"/>
            <a:ext cx="96313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21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 quantum computers replace the CPU in your phone?</a:t>
            </a:r>
            <a:endParaRPr lang="en-US" sz="2100" dirty="0"/>
          </a:p>
        </p:txBody>
      </p:sp>
      <p:sp>
        <p:nvSpPr>
          <p:cNvPr id="20" name="k3_ans"/>
          <p:cNvSpPr/>
          <p:nvPr/>
        </p:nvSpPr>
        <p:spPr>
          <a:xfrm>
            <a:off x="1737360" y="5367528"/>
            <a:ext cx="9631375" cy="566928"/>
          </a:xfrm>
          <a:prstGeom prst="roundRect">
            <a:avLst>
              <a:gd name="adj" fmla="val 19355"/>
            </a:avLst>
          </a:prstGeom>
          <a:solidFill>
            <a:schemeClr val="tx2"/>
          </a:solidFill>
          <a:ln/>
        </p:spPr>
      </p:sp>
      <p:sp>
        <p:nvSpPr>
          <p:cNvPr id="21" name="k3_ans_t"/>
          <p:cNvSpPr txBox="1"/>
          <p:nvPr/>
        </p:nvSpPr>
        <p:spPr>
          <a:xfrm>
            <a:off x="1965960" y="5367528"/>
            <a:ext cx="91741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7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No. They will work alongside classical chips on specific problems.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100">
        <p14:doors dir="ver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53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53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53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53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7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3" dur="6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7" dur="6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3400" b="1" dirty="0">
                <a:solidFill>
                  <a:schemeClr val="bg1"/>
                </a:solidFill>
              </a:rPr>
              <a:t>Key takeaways</a:t>
            </a:r>
            <a:endParaRPr lang="en-US" sz="3400" dirty="0"/>
          </a:p>
        </p:txBody>
      </p:sp>
      <p:pic>
        <p:nvPicPr>
          <p:cNvPr id="4" name="a1_ico_ck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457200" cy="457200"/>
          </a:xfrm>
          <a:prstGeom prst="rect">
            <a:avLst/>
          </a:prstGeom>
        </p:spPr>
      </p:pic>
      <p:sp>
        <p:nvSpPr>
          <p:cNvPr id="5" name="a1_tt"/>
          <p:cNvSpPr txBox="1"/>
          <p:nvPr/>
        </p:nvSpPr>
        <p:spPr>
          <a:xfrm>
            <a:off x="1280160" y="1554480"/>
            <a:ext cx="6583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9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Shrinking transistors is hitting physical limits: atoms, heat and quantum leaks.</a:t>
            </a:r>
            <a:endParaRPr lang="en-US" sz="1900" dirty="0"/>
          </a:p>
        </p:txBody>
      </p:sp>
      <p:pic>
        <p:nvPicPr>
          <p:cNvPr id="6" name="a2_ico_ck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496312"/>
            <a:ext cx="457200" cy="457200"/>
          </a:xfrm>
          <a:prstGeom prst="rect">
            <a:avLst/>
          </a:prstGeom>
        </p:spPr>
      </p:pic>
      <p:sp>
        <p:nvSpPr>
          <p:cNvPr id="7" name="a2_tt"/>
          <p:cNvSpPr txBox="1"/>
          <p:nvPr/>
        </p:nvSpPr>
        <p:spPr>
          <a:xfrm>
            <a:off x="1280160" y="2450592"/>
            <a:ext cx="6583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9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Qubits use superposition, entanglement and interference.</a:t>
            </a:r>
            <a:endParaRPr lang="en-US" sz="1900" dirty="0"/>
          </a:p>
        </p:txBody>
      </p:sp>
      <p:pic>
        <p:nvPicPr>
          <p:cNvPr id="8" name="a3_ico_ck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392424"/>
            <a:ext cx="457200" cy="457200"/>
          </a:xfrm>
          <a:prstGeom prst="rect">
            <a:avLst/>
          </a:prstGeom>
        </p:spPr>
      </p:pic>
      <p:sp>
        <p:nvSpPr>
          <p:cNvPr id="9" name="a3_tt"/>
          <p:cNvSpPr txBox="1"/>
          <p:nvPr/>
        </p:nvSpPr>
        <p:spPr>
          <a:xfrm>
            <a:off x="1280160" y="3346704"/>
            <a:ext cx="6583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9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promise in chemistry, materials, security and optimisation.</a:t>
            </a:r>
            <a:endParaRPr lang="en-US" sz="1900" dirty="0"/>
          </a:p>
        </p:txBody>
      </p:sp>
      <p:pic>
        <p:nvPicPr>
          <p:cNvPr id="10" name="a4_ico_ck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288536"/>
            <a:ext cx="457200" cy="457200"/>
          </a:xfrm>
          <a:prstGeom prst="rect">
            <a:avLst/>
          </a:prstGeom>
        </p:spPr>
      </p:pic>
      <p:sp>
        <p:nvSpPr>
          <p:cNvPr id="11" name="a4_tt"/>
          <p:cNvSpPr txBox="1"/>
          <p:nvPr/>
        </p:nvSpPr>
        <p:spPr>
          <a:xfrm>
            <a:off x="1280160" y="4242816"/>
            <a:ext cx="6583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9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machines are noisy and small, but progress is fast.</a:t>
            </a:r>
            <a:endParaRPr lang="en-US" sz="1900" dirty="0"/>
          </a:p>
        </p:txBody>
      </p:sp>
      <p:pic>
        <p:nvPicPr>
          <p:cNvPr id="12" name="a5_ico_ck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5184648"/>
            <a:ext cx="457200" cy="457200"/>
          </a:xfrm>
          <a:prstGeom prst="rect">
            <a:avLst/>
          </a:prstGeom>
        </p:spPr>
      </p:pic>
      <p:sp>
        <p:nvSpPr>
          <p:cNvPr id="13" name="a5_tt"/>
          <p:cNvSpPr txBox="1"/>
          <p:nvPr/>
        </p:nvSpPr>
        <p:spPr>
          <a:xfrm>
            <a:off x="1280160" y="5138928"/>
            <a:ext cx="6583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9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 computers will be partners to CPUs and GPUs, not replacements.</a:t>
            </a:r>
            <a:endParaRPr lang="en-US" sz="1900" dirty="0"/>
          </a:p>
        </p:txBody>
      </p:sp>
      <p:sp>
        <p:nvSpPr>
          <p:cNvPr id="14" name="a6_dc"/>
          <p:cNvSpPr/>
          <p:nvPr/>
        </p:nvSpPr>
        <p:spPr>
          <a:xfrm>
            <a:off x="8229600" y="1554480"/>
            <a:ext cx="3410712" cy="4526280"/>
          </a:xfrm>
          <a:prstGeom prst="roundRect">
            <a:avLst>
              <a:gd name="adj" fmla="val 5362"/>
            </a:avLst>
          </a:prstGeom>
          <a:solidFill>
            <a:schemeClr val="accent4"/>
          </a:solidFill>
          <a:ln/>
          <a:effectLst>
            <a:outerShdw sx="100000" sy="100000" kx="0" ky="0" algn="bl" rotWithShape="0" blurRad="152400" dist="38100" dir="5400000">
              <a:srgbClr val="000000">
                <a:alpha val="16000"/>
              </a:srgbClr>
            </a:outerShdw>
          </a:effectLst>
        </p:spPr>
      </p:sp>
      <p:pic>
        <p:nvPicPr>
          <p:cNvPr id="15" name="a6_ico_dc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95360" y="1874520"/>
            <a:ext cx="640080" cy="640080"/>
          </a:xfrm>
          <a:prstGeom prst="rect">
            <a:avLst/>
          </a:prstGeom>
        </p:spPr>
      </p:pic>
      <p:sp>
        <p:nvSpPr>
          <p:cNvPr id="16" name="a6_dl"/>
          <p:cNvSpPr txBox="1"/>
          <p:nvPr/>
        </p:nvSpPr>
        <p:spPr>
          <a:xfrm>
            <a:off x="8595360" y="26974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500" b="1" spc="300" kern="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</a:t>
            </a:r>
            <a:endParaRPr lang="en-US" sz="1500" dirty="0"/>
          </a:p>
        </p:txBody>
      </p:sp>
      <p:sp>
        <p:nvSpPr>
          <p:cNvPr id="17" name="a6_dt"/>
          <p:cNvSpPr txBox="1"/>
          <p:nvPr/>
        </p:nvSpPr>
        <p:spPr>
          <a:xfrm>
            <a:off x="8595360" y="315468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problem in Egypt (fertiliser, water, traffic, medicine…) could benefit most from quantum computing? Why?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300">
        <p14:vortex dir="r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5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53" presetClass="entr" presetSubtype="0" fill="hold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53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53" presetClass="entr" presetSubtype="0" fill="hold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53" presetClass="entr" presetSubtype="0" fill="hold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53" presetClass="entr" presetSubtype="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5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9" grpId="0" animBg="1"/>
      <p:bldP spid="11" grpId="0" animBg="1"/>
      <p:bldP spid="13" grpId="0" animBg="1"/>
      <p:bldP spid="14" grpId="0" animBg="1"/>
      <p:bldP spid="16" grpId="0" animBg="1"/>
      <p:bldP spid="17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3400" b="1" dirty="0">
                <a:solidFill>
                  <a:schemeClr val="tx1"/>
                </a:solidFill>
              </a:rPr>
              <a:t>Learn more</a:t>
            </a:r>
            <a:endParaRPr lang="en-US" sz="3400" dirty="0"/>
          </a:p>
        </p:txBody>
      </p:sp>
      <p:sp>
        <p:nvSpPr>
          <p:cNvPr id="4" name="a1_r"/>
          <p:cNvSpPr/>
          <p:nvPr/>
        </p:nvSpPr>
        <p:spPr>
          <a:xfrm>
            <a:off x="548640" y="1554480"/>
            <a:ext cx="11094415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5" name="a1_ico_bg"/>
          <p:cNvSpPr/>
          <p:nvPr/>
        </p:nvSpPr>
        <p:spPr>
          <a:xfrm>
            <a:off x="731520" y="1673352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a1_ico_img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9653" y="1821485"/>
            <a:ext cx="252374" cy="252374"/>
          </a:xfrm>
          <a:prstGeom prst="rect">
            <a:avLst/>
          </a:prstGeom>
        </p:spPr>
      </p:pic>
      <p:sp>
        <p:nvSpPr>
          <p:cNvPr id="7" name="a1_rt"/>
          <p:cNvSpPr txBox="1"/>
          <p:nvPr/>
        </p:nvSpPr>
        <p:spPr>
          <a:xfrm>
            <a:off x="1554480" y="1554480"/>
            <a:ext cx="98142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Quantum Learning  </a:t>
            </a:r>
            <a:pPr algn="l" indent="0" marL="0">
              <a:buNone/>
            </a:pPr>
            <a:r>
              <a:rPr lang="en-US" alt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courses and Qiskit tutorials.</a:t>
            </a:r>
            <a:endParaRPr lang="en-US" sz="1800" dirty="0"/>
          </a:p>
        </p:txBody>
      </p:sp>
      <p:sp>
        <p:nvSpPr>
          <p:cNvPr id="8" name="a2_r"/>
          <p:cNvSpPr/>
          <p:nvPr/>
        </p:nvSpPr>
        <p:spPr>
          <a:xfrm>
            <a:off x="548640" y="2450592"/>
            <a:ext cx="11094415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9" name="a2_ico_bg"/>
          <p:cNvSpPr/>
          <p:nvPr/>
        </p:nvSpPr>
        <p:spPr>
          <a:xfrm>
            <a:off x="731520" y="2569464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0" name="a2_ico_img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653" y="2717597"/>
            <a:ext cx="252374" cy="252374"/>
          </a:xfrm>
          <a:prstGeom prst="rect">
            <a:avLst/>
          </a:prstGeom>
        </p:spPr>
      </p:pic>
      <p:sp>
        <p:nvSpPr>
          <p:cNvPr id="11" name="a2_rt"/>
          <p:cNvSpPr txBox="1"/>
          <p:nvPr/>
        </p:nvSpPr>
        <p:spPr>
          <a:xfrm>
            <a:off x="1554480" y="2450592"/>
            <a:ext cx="98142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Quantum AI  </a:t>
            </a:r>
            <a:pPr algn="l" indent="0" marL="0">
              <a:buNone/>
            </a:pPr>
            <a:r>
              <a:rPr lang="en-US" alt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news and explainers.</a:t>
            </a:r>
            <a:endParaRPr lang="en-US" sz="1800" dirty="0"/>
          </a:p>
        </p:txBody>
      </p:sp>
      <p:sp>
        <p:nvSpPr>
          <p:cNvPr id="12" name="a3_r"/>
          <p:cNvSpPr/>
          <p:nvPr/>
        </p:nvSpPr>
        <p:spPr>
          <a:xfrm>
            <a:off x="548640" y="3346704"/>
            <a:ext cx="11094415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13" name="a3_ico_bg"/>
          <p:cNvSpPr/>
          <p:nvPr/>
        </p:nvSpPr>
        <p:spPr>
          <a:xfrm>
            <a:off x="731520" y="3465576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4" name="a3_ico_img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653" y="3613709"/>
            <a:ext cx="252374" cy="252374"/>
          </a:xfrm>
          <a:prstGeom prst="rect">
            <a:avLst/>
          </a:prstGeom>
        </p:spPr>
      </p:pic>
      <p:sp>
        <p:nvSpPr>
          <p:cNvPr id="15" name="a3_rt"/>
          <p:cNvSpPr txBox="1"/>
          <p:nvPr/>
        </p:nvSpPr>
        <p:spPr>
          <a:xfrm>
            <a:off x="1554480" y="3346704"/>
            <a:ext cx="98142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 Post-Quantum Cryptography  </a:t>
            </a:r>
            <a:pPr algn="l" indent="0" marL="0">
              <a:buNone/>
            </a:pPr>
            <a:r>
              <a:rPr lang="en-US" alt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 for quantum-safe encryption.</a:t>
            </a:r>
            <a:endParaRPr lang="en-US" sz="1800" dirty="0"/>
          </a:p>
        </p:txBody>
      </p:sp>
      <p:sp>
        <p:nvSpPr>
          <p:cNvPr id="16" name="a4_r"/>
          <p:cNvSpPr/>
          <p:nvPr/>
        </p:nvSpPr>
        <p:spPr>
          <a:xfrm>
            <a:off x="548640" y="4242816"/>
            <a:ext cx="11094415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17" name="a4_ico_bg"/>
          <p:cNvSpPr/>
          <p:nvPr/>
        </p:nvSpPr>
        <p:spPr>
          <a:xfrm>
            <a:off x="731520" y="4361688"/>
            <a:ext cx="548640" cy="54864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8" name="a4_ico_img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9653" y="4509821"/>
            <a:ext cx="252374" cy="252374"/>
          </a:xfrm>
          <a:prstGeom prst="rect">
            <a:avLst/>
          </a:prstGeom>
        </p:spPr>
      </p:pic>
      <p:sp>
        <p:nvSpPr>
          <p:cNvPr id="19" name="a4_rt"/>
          <p:cNvSpPr txBox="1"/>
          <p:nvPr/>
        </p:nvSpPr>
        <p:spPr>
          <a:xfrm>
            <a:off x="1554480" y="4242816"/>
            <a:ext cx="98142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Nature, Quanta Magazine  </a:t>
            </a:r>
            <a:pPr algn="l" indent="0" marL="0">
              <a:buNone/>
            </a:pPr>
            <a:r>
              <a:rPr lang="en-US" alt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accessible articles on quantum computing.</a:t>
            </a:r>
            <a:endParaRPr lang="en-US" sz="1800" dirty="0"/>
          </a:p>
        </p:txBody>
      </p:sp>
      <p:sp>
        <p:nvSpPr>
          <p:cNvPr id="20" name="a5_r"/>
          <p:cNvSpPr/>
          <p:nvPr/>
        </p:nvSpPr>
        <p:spPr>
          <a:xfrm>
            <a:off x="548640" y="5138928"/>
            <a:ext cx="11094415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21" name="a5_ico_bg"/>
          <p:cNvSpPr/>
          <p:nvPr/>
        </p:nvSpPr>
        <p:spPr>
          <a:xfrm>
            <a:off x="731520" y="5257800"/>
            <a:ext cx="548640" cy="54864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22" name="a5_ico_img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9653" y="5405933"/>
            <a:ext cx="252374" cy="252374"/>
          </a:xfrm>
          <a:prstGeom prst="rect">
            <a:avLst/>
          </a:prstGeom>
        </p:spPr>
      </p:pic>
      <p:sp>
        <p:nvSpPr>
          <p:cNvPr id="23" name="a5_rt"/>
          <p:cNvSpPr txBox="1"/>
          <p:nvPr/>
        </p:nvSpPr>
        <p:spPr>
          <a:xfrm>
            <a:off x="1554480" y="5138928"/>
            <a:ext cx="98142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G. Moore (1965)  </a:t>
            </a:r>
            <a:pPr algn="l" indent="0" marL="0">
              <a:buNone/>
            </a:pPr>
            <a:r>
              <a:rPr lang="en-US" alt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“Cramming more components onto integrated circuits”, Electronics.</a:t>
            </a:r>
            <a:endParaRPr lang="en-US" sz="1800" dirty="0"/>
          </a:p>
        </p:txBody>
      </p:sp>
      <p:sp>
        <p:nvSpPr>
          <p:cNvPr id="24" name="a8_n"/>
          <p:cNvSpPr txBox="1"/>
          <p:nvPr/>
        </p:nvSpPr>
        <p:spPr>
          <a:xfrm>
            <a:off x="548640" y="59893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3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Facts reflect public information up to 2025. This field changes quickly, so check recent news before teaching.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53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53" presetClass="entr" presetSubtype="0" fill="hold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53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53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7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53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53" presetClass="entr" presetSubtype="0" fill="hold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5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9" dur="6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53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53" presetClass="entr" presetSubtype="0" fill="hold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9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3" dur="6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7" dur="6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8" grpId="0" animBg="1"/>
      <p:bldP spid="9" grpId="0" animBg="1"/>
      <p:bldP spid="11" grpId="0" animBg="1"/>
      <p:bldP spid="12" grpId="0" animBg="1"/>
      <p:bldP spid="13" grpId="0" animBg="1"/>
      <p:bldP spid="15" grpId="0" animBg="1"/>
      <p:bldP spid="16" grpId="0" animBg="1"/>
      <p:bldP spid="17" grpId="0" animBg="1"/>
      <p:bldP spid="19" grpId="0" animBg="1"/>
      <p:bldP spid="20" grpId="0" animBg="1"/>
      <p:bldP spid="21" grpId="0" animBg="1"/>
      <p:bldP spid="23" grpId="0" animBg="1"/>
      <p:bldP spid="24" grpId="0" animBg="1"/>
    </p:bldLst>
  </p:timing>
</p:sld>
</file>

<file path=ppt/theme/theme1.xml><?xml version="1.0" encoding="utf-8"?>
<a:theme xmlns:a="http://schemas.openxmlformats.org/drawingml/2006/main" name="Quantum">
  <a:themeElements>
    <a:clrScheme name="Quantum">
      <a:dk1>
        <a:srgbClr val="0B1030"/>
      </a:dk1>
      <a:lt1>
        <a:srgbClr val="FFFFFF"/>
      </a:lt1>
      <a:dk2>
        <a:srgbClr val="2A1B6E"/>
      </a:dk2>
      <a:lt2>
        <a:srgbClr val="ECEFFE"/>
      </a:lt2>
      <a:accent1>
        <a:srgbClr val="22D3EE"/>
      </a:accent1>
      <a:accent2>
        <a:srgbClr val="A78BFA"/>
      </a:accent2>
      <a:accent3>
        <a:srgbClr val="F472B6"/>
      </a:accent3>
      <a:accent4>
        <a:srgbClr val="FBBF24"/>
      </a:accent4>
      <a:accent5>
        <a:srgbClr val="34D399"/>
      </a:accent5>
      <a:accent6>
        <a:srgbClr val="60A5FA"/>
      </a:accent6>
      <a:hlink>
        <a:srgbClr val="6D28D9"/>
      </a:hlink>
      <a:folHlink>
        <a:srgbClr val="A78BFA"/>
      </a:folHlink>
    </a:clrScheme>
    <a:fontScheme name="Quantum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Quantum Computing: A New Way to Compute</dc:title>
  <dc:subject>Quantum Computing: A New Way to Compute</dc:subject>
  <dc:creator>Technology Dept.</dc:creator>
  <cp:lastModifiedBy>Technology Dept.</cp:lastModifiedBy>
  <cp:revision>1</cp:revision>
  <dcterms:created xsi:type="dcterms:W3CDTF">2026-10-08T08:48:29Z</dcterms:created>
  <dcterms:modified xsi:type="dcterms:W3CDTF">2026-10-08T08:48:29Z</dcterms:modified>
</cp:coreProperties>
</file>